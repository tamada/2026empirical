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524" r:id="rId3"/>
    <p:sldId id="404" r:id="rId4"/>
    <p:sldId id="406" r:id="rId5"/>
    <p:sldId id="413" r:id="rId6"/>
    <p:sldId id="412" r:id="rId7"/>
    <p:sldId id="408" r:id="rId8"/>
    <p:sldId id="414" r:id="rId9"/>
    <p:sldId id="409" r:id="rId10"/>
    <p:sldId id="416" r:id="rId11"/>
    <p:sldId id="417" r:id="rId12"/>
    <p:sldId id="526" r:id="rId13"/>
    <p:sldId id="527" r:id="rId14"/>
    <p:sldId id="528" r:id="rId15"/>
    <p:sldId id="411" r:id="rId16"/>
    <p:sldId id="287" r:id="rId17"/>
    <p:sldId id="401" r:id="rId18"/>
    <p:sldId id="402" r:id="rId19"/>
    <p:sldId id="305" r:id="rId20"/>
    <p:sldId id="525" r:id="rId2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FF"/>
    <a:srgbClr val="027D01"/>
    <a:srgbClr val="FFC5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044"/>
    <p:restoredTop sz="81096"/>
  </p:normalViewPr>
  <p:slideViewPr>
    <p:cSldViewPr snapToGrid="0" snapToObjects="1">
      <p:cViewPr varScale="1">
        <p:scale>
          <a:sx n="97" d="100"/>
          <a:sy n="97" d="100"/>
        </p:scale>
        <p:origin x="54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9E0D3F-88AC-AC4C-A850-A113E8478B35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6FEFE4-0067-BE4A-AB74-27D08C1697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8888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103FE-3D04-2660-E2D3-0177F4F72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24271AA-BA4A-8375-62ED-948D378D09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3A5F140-5792-BDFB-04E7-ECD42C22CE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1C15930-96FF-677A-2C2D-7F3E198988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6FEFE4-0067-BE4A-AB74-27D08C169751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42902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6FEFE4-0067-BE4A-AB74-27D08C169751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72233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967E0-C427-D4D3-1E5D-397CFC427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78E05B0-9455-0633-74F9-960EF7DFBC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279134F-D3B6-6CDE-0CE8-AFD849C2AF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97AC63A-BF2D-FEA6-0912-82F73CE4E0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6FEFE4-0067-BE4A-AB74-27D08C169751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6554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BAE3F1-6860-34FB-F2AC-E3181A6AF2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4CD0B15-C8B7-00F7-DBE9-D3AD533D27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4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AC3DEB-6E35-D2D0-EABA-F8A19BBDE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2025-05-02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8835D15-762E-39B0-0A6F-14EFF50BD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65DFDF9-92D5-0273-6AA5-EE561AF63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4306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8965E4-8E20-9D46-6D12-F877A919C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623E8D2-3A17-78BF-F4C2-CDF62ACF4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8D23703-4802-F8D8-D9BF-C6ABE5C8A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2025-05-02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3C5D23-A2A0-1968-4ACC-1B1357A44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2682BA-033D-1B7D-4861-DDD343E91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4067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29F4E9-7F37-2DF8-78B9-30C3125A5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65BF7F8-9D3C-A422-471A-C8A1E82F8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120F65-AA40-72A0-770D-E19A2FA9B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2025-05-02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6681911-2B29-A9AD-E565-FF8CD6242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3A1582B-A53B-0238-DBDB-FB5DBFD8A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7362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4232BC-8A6A-9D3A-A1D9-3080F812A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F82D8DC-6AD4-FA7E-3F14-DB7C79ACDA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3DE28B2-EF25-CC14-3531-75FEF0B68A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B3A7B7E-A26D-8BA6-BB1E-8237CE6F2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2025-05-02</a:t>
            </a:r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CB7E107-84C7-8B82-2567-9E3F90103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57C7FA1-4591-F30A-BC2B-286C70E63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5956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054A32-DEA7-69BE-B62E-A62243835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7BEF868-DDA1-C4EB-6743-489DC5FCD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D539B8F-A2A1-CF4F-742C-F6839C57B8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513E432-90C9-F616-1A3C-AE747080A9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CAA48B9-2830-0B1B-940E-B2239ADE25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1B4728E-F8C1-F17A-C937-B880D97E8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2025-05-02</a:t>
            </a:r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F3C6BA5-320F-AD96-EF9C-4688CD1C2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91151E6-2A46-0BFB-C19C-182A2D46D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1560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FFCE36-69F6-8D82-66E2-2BE7E5650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B3D72AD-5495-9467-9401-F6186DDB3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2025-05-02</a:t>
            </a:r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D62EC51-A3D5-EC3F-7813-ADEA4FCAF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3AA073C-2BE4-2466-8413-FEE9DE4DE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6364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4254B13-A92B-C641-0C83-88C8E8C09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2025-05-02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0A961BE-BDDF-24BF-A624-7B4A792F8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E82A63C-7150-3E3B-E0A7-4FAFA23A7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4179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8DCBFD-B9B9-C88D-4AF2-DA5E9D146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020645C-911D-D877-789A-4ABCA1607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035085C-0945-616B-1D39-35150C87EB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45E25B3-F458-1F25-BA2A-10D3E7E26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2025-05-02</a:t>
            </a:r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209217E-3F73-CCE8-77EF-A52308AC8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10295A2-6412-27A3-80DB-4DC7AF9FA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979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AA11E3-5007-3320-F7E6-691E1139D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3AA4DA3-E363-0E1A-C5EE-67CFA080E1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CD13344-E496-4753-C58C-D01D8C7BC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156EEBB-B395-8892-612D-06BBEE164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2025-05-02</a:t>
            </a:r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1A73243-636B-AD34-97B8-096CAB4BD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21AB26F-070D-AA48-1A17-487ABD430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0743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99E654-7E7E-36B3-ADB0-3093EC9FF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79AB095-4BA5-2299-C02F-2E56585C27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B78716-480A-7430-C0FA-4F0DC0168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2025-05-02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6B42CF7-BBCD-5D04-D7AD-CBC09AA58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D8D3898-C8CD-BE96-524B-6C3F92111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7145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81886E9-6CAD-71F6-5345-FA13967037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72359E1-F40F-3D47-6DF2-882BD86EA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118D548-5283-77D1-F67F-6EC5C16A5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2025-05-02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8CD1D05-E6FD-9267-0EA3-57EE28C4F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833F417-24E0-EE42-C260-DDADA437A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3176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2F236BC-AAF6-B861-739B-86FA34313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550FC96-8BC7-5FBA-D355-BCF93438E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6AD1E11-9D31-C316-E911-911DC842E1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altLang="ja-JP"/>
              <a:t>2025-05-02</a:t>
            </a:r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552398-2A83-C162-F251-7C27A4C850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2060AB-9F59-AB6D-F6F6-574D92AC70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fld id="{0B8845E4-5C92-A046-BB66-E5D9CC995B08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52976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660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40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d-m/github-push-actio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refinery.github.io/github-without-command-line/doi/" TargetMode="External"/><Relationship Id="rId2" Type="http://schemas.openxmlformats.org/officeDocument/2006/relationships/hyperlink" Target="https://docs.github.com/ja/repositories/archiving-a-github-repository/referencing-and-citing-content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B5784E-BEC4-EB82-3848-F83C83012E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/>
              <a:t>エンピリカル</a:t>
            </a:r>
            <a:br>
              <a:rPr lang="en-US" altLang="ja-JP" dirty="0"/>
            </a:br>
            <a:r>
              <a:rPr lang="ja-JP" altLang="en-US"/>
              <a:t>ソフトウェア工学</a:t>
            </a:r>
            <a:br>
              <a:rPr lang="en-US" altLang="ja-JP" dirty="0"/>
            </a:br>
            <a:r>
              <a:rPr lang="ja-JP" altLang="en-US"/>
              <a:t>第</a:t>
            </a:r>
            <a:r>
              <a:rPr lang="en-US" altLang="ja-JP" dirty="0"/>
              <a:t>04</a:t>
            </a:r>
            <a:r>
              <a:rPr lang="ja-JP" altLang="en-US"/>
              <a:t>回</a:t>
            </a:r>
            <a:r>
              <a:rPr lang="en-US" altLang="ja-JP" dirty="0"/>
              <a:t> CI/CD (2/2)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B687755-EB78-813E-2AE5-266F2715E1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2026-05-01</a:t>
            </a:r>
          </a:p>
          <a:p>
            <a:r>
              <a:rPr lang="ja-JP" altLang="en-US"/>
              <a:t>玉田</a:t>
            </a:r>
            <a:r>
              <a:rPr lang="en-US" altLang="ja-JP" dirty="0"/>
              <a:t> </a:t>
            </a:r>
            <a:r>
              <a:rPr lang="ja-JP" altLang="en-US"/>
              <a:t>春昭</a:t>
            </a:r>
            <a:endParaRPr kumimoji="1"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75A0BDC-22A6-7CC7-0358-1C2E09153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2025-05-02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5D24184-6358-A3E9-85F2-F35BC4F15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8042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B1183-6512-0658-DC7D-F8E4A7930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A51D8F-FDF9-382E-7936-64DC19F94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講義スケジュール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CB59F76-C9FE-E21A-CF33-A028C2689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2026-04-24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0190477-ABC1-A732-486F-13A636F61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2</a:t>
            </a:fld>
            <a:endParaRPr kumimoji="1" lang="ja-JP" altLang="en-US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F42A339A-46C2-3EC3-01AD-55697C9B38A0}"/>
              </a:ext>
            </a:extLst>
          </p:cNvPr>
          <p:cNvGrpSpPr/>
          <p:nvPr/>
        </p:nvGrpSpPr>
        <p:grpSpPr>
          <a:xfrm>
            <a:off x="838200" y="1342345"/>
            <a:ext cx="4680000" cy="720000"/>
            <a:chOff x="838200" y="1690688"/>
            <a:chExt cx="4680000" cy="720000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309D41AD-E3E8-669D-BC06-DD15F69A7B85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" name="角丸四角形 5">
              <a:extLst>
                <a:ext uri="{FF2B5EF4-FFF2-40B4-BE49-F238E27FC236}">
                  <a16:creationId xmlns:a16="http://schemas.microsoft.com/office/drawing/2014/main" id="{CF520076-C3F6-E6CE-210A-0D98F1B4FFCD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2026-04-10 (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Fri</a:t>
              </a:r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01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D77194F2-AE43-8638-D2AA-EA64890ACCF5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0" name="角丸四角形 9">
              <a:extLst>
                <a:ext uri="{FF2B5EF4-FFF2-40B4-BE49-F238E27FC236}">
                  <a16:creationId xmlns:a16="http://schemas.microsoft.com/office/drawing/2014/main" id="{02CA2F63-F1DC-D507-E4BD-F8404588EE87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全体説明</a:t>
              </a:r>
              <a:endParaRPr kumimoji="1"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55A44585-9B19-2EFA-3154-8C14BBFDE224}"/>
              </a:ext>
            </a:extLst>
          </p:cNvPr>
          <p:cNvGrpSpPr/>
          <p:nvPr/>
        </p:nvGrpSpPr>
        <p:grpSpPr>
          <a:xfrm>
            <a:off x="838200" y="4500137"/>
            <a:ext cx="4680000" cy="720000"/>
            <a:chOff x="838200" y="1690688"/>
            <a:chExt cx="4680000" cy="720000"/>
          </a:xfrm>
        </p:grpSpPr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E4B23564-1458-946C-945B-DA77FB32F05F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9" name="角丸四角形 28">
              <a:extLst>
                <a:ext uri="{FF2B5EF4-FFF2-40B4-BE49-F238E27FC236}">
                  <a16:creationId xmlns:a16="http://schemas.microsoft.com/office/drawing/2014/main" id="{9BFA32EC-4154-A944-E1BD-F8EDF6FB6047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2026-05-15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05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2B40C7EA-A9F0-F1FE-BFA4-890F0CE79EB6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1" name="角丸四角形 30">
              <a:extLst>
                <a:ext uri="{FF2B5EF4-FFF2-40B4-BE49-F238E27FC236}">
                  <a16:creationId xmlns:a16="http://schemas.microsoft.com/office/drawing/2014/main" id="{C3204CE9-635B-B6A4-F4F5-59AA3FA471B0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プログラミング（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2ADA5E8F-EA1C-A9F1-171C-C4147D5111EF}"/>
              </a:ext>
            </a:extLst>
          </p:cNvPr>
          <p:cNvGrpSpPr/>
          <p:nvPr/>
        </p:nvGrpSpPr>
        <p:grpSpPr>
          <a:xfrm>
            <a:off x="838200" y="5289585"/>
            <a:ext cx="4680000" cy="720000"/>
            <a:chOff x="838200" y="1690688"/>
            <a:chExt cx="4680000" cy="720000"/>
          </a:xfrm>
        </p:grpSpPr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CD1158B1-7C9D-FF28-EB60-E43223242176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4" name="角丸四角形 33">
              <a:extLst>
                <a:ext uri="{FF2B5EF4-FFF2-40B4-BE49-F238E27FC236}">
                  <a16:creationId xmlns:a16="http://schemas.microsoft.com/office/drawing/2014/main" id="{05E11F0E-665A-1CCE-201D-B7ACABDA3332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2026-05-22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06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781C07F9-0E22-E229-16EE-1CCCC0BCBEBA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6" name="角丸四角形 35">
              <a:extLst>
                <a:ext uri="{FF2B5EF4-FFF2-40B4-BE49-F238E27FC236}">
                  <a16:creationId xmlns:a16="http://schemas.microsoft.com/office/drawing/2014/main" id="{DD198E45-A400-1BBF-89BE-F6EDE6E57120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プログラミング（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DCAD5903-56CC-C164-4686-71AC1F98563D}"/>
              </a:ext>
            </a:extLst>
          </p:cNvPr>
          <p:cNvGrpSpPr/>
          <p:nvPr/>
        </p:nvGrpSpPr>
        <p:grpSpPr>
          <a:xfrm>
            <a:off x="838200" y="6079032"/>
            <a:ext cx="4680000" cy="720000"/>
            <a:chOff x="838200" y="1690688"/>
            <a:chExt cx="4680000" cy="720000"/>
          </a:xfrm>
        </p:grpSpPr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C5CBD32D-49F4-679F-0765-0B7BB13B8455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9" name="角丸四角形 38">
              <a:extLst>
                <a:ext uri="{FF2B5EF4-FFF2-40B4-BE49-F238E27FC236}">
                  <a16:creationId xmlns:a16="http://schemas.microsoft.com/office/drawing/2014/main" id="{7ECBBF9C-A3A7-9541-CC9D-E06CD00F15F4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2026-05-29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07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D7E5A798-EC59-B471-6D50-8F3528F187A7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1" name="角丸四角形 40">
              <a:extLst>
                <a:ext uri="{FF2B5EF4-FFF2-40B4-BE49-F238E27FC236}">
                  <a16:creationId xmlns:a16="http://schemas.microsoft.com/office/drawing/2014/main" id="{535908C0-42E8-7BC7-028D-AD00E63F5F71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プログラミング（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3/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kumimoji="1"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自動テスト（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4D2B1A6D-1148-C863-5481-34CB4BB19023}"/>
              </a:ext>
            </a:extLst>
          </p:cNvPr>
          <p:cNvGrpSpPr/>
          <p:nvPr/>
        </p:nvGrpSpPr>
        <p:grpSpPr>
          <a:xfrm>
            <a:off x="6673800" y="1342345"/>
            <a:ext cx="4680000" cy="720000"/>
            <a:chOff x="838200" y="1690688"/>
            <a:chExt cx="4680000" cy="720000"/>
          </a:xfrm>
        </p:grpSpPr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43955E4B-AAA9-ADF3-8EE0-6276796531EA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4" name="角丸四角形 43">
              <a:extLst>
                <a:ext uri="{FF2B5EF4-FFF2-40B4-BE49-F238E27FC236}">
                  <a16:creationId xmlns:a16="http://schemas.microsoft.com/office/drawing/2014/main" id="{311E5817-72E5-6A99-90D3-BA4E54C180D5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2026-06-05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08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5" name="正方形/長方形 44">
              <a:extLst>
                <a:ext uri="{FF2B5EF4-FFF2-40B4-BE49-F238E27FC236}">
                  <a16:creationId xmlns:a16="http://schemas.microsoft.com/office/drawing/2014/main" id="{C624E98C-2448-E467-ABEF-2BD16D99E32F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6" name="角丸四角形 45">
              <a:extLst>
                <a:ext uri="{FF2B5EF4-FFF2-40B4-BE49-F238E27FC236}">
                  <a16:creationId xmlns:a16="http://schemas.microsoft.com/office/drawing/2014/main" id="{B4D19F41-ACB8-0456-C664-A44C844AFF34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自動テスト（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62" name="グループ化 61">
            <a:extLst>
              <a:ext uri="{FF2B5EF4-FFF2-40B4-BE49-F238E27FC236}">
                <a16:creationId xmlns:a16="http://schemas.microsoft.com/office/drawing/2014/main" id="{01153808-5448-59E9-2529-11A7C522D29F}"/>
              </a:ext>
            </a:extLst>
          </p:cNvPr>
          <p:cNvGrpSpPr/>
          <p:nvPr/>
        </p:nvGrpSpPr>
        <p:grpSpPr>
          <a:xfrm>
            <a:off x="6673800" y="2131793"/>
            <a:ext cx="4680000" cy="720000"/>
            <a:chOff x="838200" y="1690688"/>
            <a:chExt cx="4680000" cy="720000"/>
          </a:xfrm>
        </p:grpSpPr>
        <p:sp>
          <p:nvSpPr>
            <p:cNvPr id="63" name="正方形/長方形 62">
              <a:extLst>
                <a:ext uri="{FF2B5EF4-FFF2-40B4-BE49-F238E27FC236}">
                  <a16:creationId xmlns:a16="http://schemas.microsoft.com/office/drawing/2014/main" id="{6BB426D7-690D-6B2A-46E9-6B37DB9AEF0E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4" name="角丸四角形 63">
              <a:extLst>
                <a:ext uri="{FF2B5EF4-FFF2-40B4-BE49-F238E27FC236}">
                  <a16:creationId xmlns:a16="http://schemas.microsoft.com/office/drawing/2014/main" id="{B835DFD1-002E-5377-CA57-78957DF011D7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2026-06-12 (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Fri</a:t>
              </a:r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09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5" name="正方形/長方形 64">
              <a:extLst>
                <a:ext uri="{FF2B5EF4-FFF2-40B4-BE49-F238E27FC236}">
                  <a16:creationId xmlns:a16="http://schemas.microsoft.com/office/drawing/2014/main" id="{C66AC1F3-F8ED-DD5A-8B5C-CD5A2286D6C7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6" name="角丸四角形 65">
              <a:extLst>
                <a:ext uri="{FF2B5EF4-FFF2-40B4-BE49-F238E27FC236}">
                  <a16:creationId xmlns:a16="http://schemas.microsoft.com/office/drawing/2014/main" id="{3BF222F9-09A8-72CE-449B-EB1BF1CAADBE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自動テスト（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3/3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9918CDC8-892E-EAEB-77B9-05C902C2B959}"/>
              </a:ext>
            </a:extLst>
          </p:cNvPr>
          <p:cNvGrpSpPr/>
          <p:nvPr/>
        </p:nvGrpSpPr>
        <p:grpSpPr>
          <a:xfrm>
            <a:off x="6673800" y="2921241"/>
            <a:ext cx="4680000" cy="720000"/>
            <a:chOff x="838200" y="1690688"/>
            <a:chExt cx="4680000" cy="720000"/>
          </a:xfrm>
        </p:grpSpPr>
        <p:sp>
          <p:nvSpPr>
            <p:cNvPr id="68" name="正方形/長方形 67">
              <a:extLst>
                <a:ext uri="{FF2B5EF4-FFF2-40B4-BE49-F238E27FC236}">
                  <a16:creationId xmlns:a16="http://schemas.microsoft.com/office/drawing/2014/main" id="{7508CD17-1CC5-FED3-2BD2-99379E48D748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9" name="角丸四角形 68">
              <a:extLst>
                <a:ext uri="{FF2B5EF4-FFF2-40B4-BE49-F238E27FC236}">
                  <a16:creationId xmlns:a16="http://schemas.microsoft.com/office/drawing/2014/main" id="{A73541E5-F13B-38E1-4202-6FE847E6ECCF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2026-06-19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10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id="{CEAE641A-DEE4-AFDD-A4C4-9706D5953965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1" name="角丸四角形 70">
              <a:extLst>
                <a:ext uri="{FF2B5EF4-FFF2-40B4-BE49-F238E27FC236}">
                  <a16:creationId xmlns:a16="http://schemas.microsoft.com/office/drawing/2014/main" id="{DAEA4FB4-67E3-8D51-018D-60DE20487ADB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ドキュメント（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72" name="グループ化 71">
            <a:extLst>
              <a:ext uri="{FF2B5EF4-FFF2-40B4-BE49-F238E27FC236}">
                <a16:creationId xmlns:a16="http://schemas.microsoft.com/office/drawing/2014/main" id="{D5EF1609-65E4-B8E1-4F6B-3B7615127A9A}"/>
              </a:ext>
            </a:extLst>
          </p:cNvPr>
          <p:cNvGrpSpPr/>
          <p:nvPr/>
        </p:nvGrpSpPr>
        <p:grpSpPr>
          <a:xfrm>
            <a:off x="6673800" y="3710689"/>
            <a:ext cx="4680000" cy="720000"/>
            <a:chOff x="838200" y="1690688"/>
            <a:chExt cx="4680000" cy="720000"/>
          </a:xfrm>
        </p:grpSpPr>
        <p:sp>
          <p:nvSpPr>
            <p:cNvPr id="73" name="正方形/長方形 72">
              <a:extLst>
                <a:ext uri="{FF2B5EF4-FFF2-40B4-BE49-F238E27FC236}">
                  <a16:creationId xmlns:a16="http://schemas.microsoft.com/office/drawing/2014/main" id="{D8EA1489-5979-6521-A328-A60F1CCC5AC0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4" name="角丸四角形 73">
              <a:extLst>
                <a:ext uri="{FF2B5EF4-FFF2-40B4-BE49-F238E27FC236}">
                  <a16:creationId xmlns:a16="http://schemas.microsoft.com/office/drawing/2014/main" id="{495BC841-2AFB-8CAF-1C61-2F10768F6185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2026-06-26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11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5" name="正方形/長方形 74">
              <a:extLst>
                <a:ext uri="{FF2B5EF4-FFF2-40B4-BE49-F238E27FC236}">
                  <a16:creationId xmlns:a16="http://schemas.microsoft.com/office/drawing/2014/main" id="{867454CA-7A0C-4890-069B-DD1A6628B956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6" name="角丸四角形 75">
              <a:extLst>
                <a:ext uri="{FF2B5EF4-FFF2-40B4-BE49-F238E27FC236}">
                  <a16:creationId xmlns:a16="http://schemas.microsoft.com/office/drawing/2014/main" id="{00A4FBD7-CBFB-150F-D541-E303F666A738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ドキュメント（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kumimoji="1"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77" name="グループ化 76">
            <a:extLst>
              <a:ext uri="{FF2B5EF4-FFF2-40B4-BE49-F238E27FC236}">
                <a16:creationId xmlns:a16="http://schemas.microsoft.com/office/drawing/2014/main" id="{CB9498AE-3F20-F11E-3F63-799D23E0B5CE}"/>
              </a:ext>
            </a:extLst>
          </p:cNvPr>
          <p:cNvGrpSpPr/>
          <p:nvPr/>
        </p:nvGrpSpPr>
        <p:grpSpPr>
          <a:xfrm>
            <a:off x="6673800" y="4500137"/>
            <a:ext cx="4680000" cy="720000"/>
            <a:chOff x="838200" y="1690688"/>
            <a:chExt cx="4680000" cy="720000"/>
          </a:xfrm>
        </p:grpSpPr>
        <p:sp>
          <p:nvSpPr>
            <p:cNvPr id="78" name="正方形/長方形 77">
              <a:extLst>
                <a:ext uri="{FF2B5EF4-FFF2-40B4-BE49-F238E27FC236}">
                  <a16:creationId xmlns:a16="http://schemas.microsoft.com/office/drawing/2014/main" id="{04EB4FF7-E963-053F-AF5A-2348C728C2E5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9" name="角丸四角形 78">
              <a:extLst>
                <a:ext uri="{FF2B5EF4-FFF2-40B4-BE49-F238E27FC236}">
                  <a16:creationId xmlns:a16="http://schemas.microsoft.com/office/drawing/2014/main" id="{6CC565EF-6E65-5E44-6D71-9B41DB0CFCAA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2026-07-03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12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0" name="正方形/長方形 79">
              <a:extLst>
                <a:ext uri="{FF2B5EF4-FFF2-40B4-BE49-F238E27FC236}">
                  <a16:creationId xmlns:a16="http://schemas.microsoft.com/office/drawing/2014/main" id="{2823BFF7-D473-CD9C-E3F8-9D749FD85539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1" name="角丸四角形 80">
              <a:extLst>
                <a:ext uri="{FF2B5EF4-FFF2-40B4-BE49-F238E27FC236}">
                  <a16:creationId xmlns:a16="http://schemas.microsoft.com/office/drawing/2014/main" id="{91C50EFE-0288-9881-2176-38F44844EE41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Docker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1/1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82" name="グループ化 81">
            <a:extLst>
              <a:ext uri="{FF2B5EF4-FFF2-40B4-BE49-F238E27FC236}">
                <a16:creationId xmlns:a16="http://schemas.microsoft.com/office/drawing/2014/main" id="{0AD65692-51D4-88BA-F7E8-1E4A78C40961}"/>
              </a:ext>
            </a:extLst>
          </p:cNvPr>
          <p:cNvGrpSpPr/>
          <p:nvPr/>
        </p:nvGrpSpPr>
        <p:grpSpPr>
          <a:xfrm>
            <a:off x="6673800" y="5289585"/>
            <a:ext cx="4680000" cy="720000"/>
            <a:chOff x="838200" y="1690688"/>
            <a:chExt cx="4680000" cy="720000"/>
          </a:xfrm>
        </p:grpSpPr>
        <p:sp>
          <p:nvSpPr>
            <p:cNvPr id="83" name="正方形/長方形 82">
              <a:extLst>
                <a:ext uri="{FF2B5EF4-FFF2-40B4-BE49-F238E27FC236}">
                  <a16:creationId xmlns:a16="http://schemas.microsoft.com/office/drawing/2014/main" id="{01B3E597-394B-D74D-9078-D44695068163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4" name="角丸四角形 83">
              <a:extLst>
                <a:ext uri="{FF2B5EF4-FFF2-40B4-BE49-F238E27FC236}">
                  <a16:creationId xmlns:a16="http://schemas.microsoft.com/office/drawing/2014/main" id="{A215599A-28ED-DB07-B5FA-3DD206391BA3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2026-07-10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13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5" name="正方形/長方形 84">
              <a:extLst>
                <a:ext uri="{FF2B5EF4-FFF2-40B4-BE49-F238E27FC236}">
                  <a16:creationId xmlns:a16="http://schemas.microsoft.com/office/drawing/2014/main" id="{C97D0E3A-93D3-67E6-EFEB-4DFF19BEC836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6" name="角丸四角形 85">
              <a:extLst>
                <a:ext uri="{FF2B5EF4-FFF2-40B4-BE49-F238E27FC236}">
                  <a16:creationId xmlns:a16="http://schemas.microsoft.com/office/drawing/2014/main" id="{5A296795-372C-7CCB-58B9-A86CC0A67BBE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補完（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1/1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kumimoji="1"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Homebrew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1/1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87" name="グループ化 86">
            <a:extLst>
              <a:ext uri="{FF2B5EF4-FFF2-40B4-BE49-F238E27FC236}">
                <a16:creationId xmlns:a16="http://schemas.microsoft.com/office/drawing/2014/main" id="{D81BE804-E16B-87D7-504E-67AB8B62C97A}"/>
              </a:ext>
            </a:extLst>
          </p:cNvPr>
          <p:cNvGrpSpPr/>
          <p:nvPr/>
        </p:nvGrpSpPr>
        <p:grpSpPr>
          <a:xfrm>
            <a:off x="6673800" y="6079032"/>
            <a:ext cx="4680000" cy="720000"/>
            <a:chOff x="838200" y="1690688"/>
            <a:chExt cx="4680000" cy="720000"/>
          </a:xfrm>
        </p:grpSpPr>
        <p:sp>
          <p:nvSpPr>
            <p:cNvPr id="88" name="正方形/長方形 87">
              <a:extLst>
                <a:ext uri="{FF2B5EF4-FFF2-40B4-BE49-F238E27FC236}">
                  <a16:creationId xmlns:a16="http://schemas.microsoft.com/office/drawing/2014/main" id="{6B60994E-5176-C20D-8651-CE224A51F50D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9" name="角丸四角形 88">
              <a:extLst>
                <a:ext uri="{FF2B5EF4-FFF2-40B4-BE49-F238E27FC236}">
                  <a16:creationId xmlns:a16="http://schemas.microsoft.com/office/drawing/2014/main" id="{8D2FB71C-B113-1D61-5842-4F626BFE3A43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2026-07-17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14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0" name="正方形/長方形 89">
              <a:extLst>
                <a:ext uri="{FF2B5EF4-FFF2-40B4-BE49-F238E27FC236}">
                  <a16:creationId xmlns:a16="http://schemas.microsoft.com/office/drawing/2014/main" id="{C5EA67EA-3CED-9AB3-9598-6081C148C867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1" name="角丸四角形 90">
              <a:extLst>
                <a:ext uri="{FF2B5EF4-FFF2-40B4-BE49-F238E27FC236}">
                  <a16:creationId xmlns:a16="http://schemas.microsoft.com/office/drawing/2014/main" id="{445C71F6-28F0-7498-2B63-EB47F71C6AD6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成果物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の発表会</a:t>
              </a:r>
              <a:endParaRPr kumimoji="1" lang="ja-JP" altLang="en-US" sz="16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9B5FB344-382A-1A2A-B1F6-EF0C09E8EF94}"/>
              </a:ext>
            </a:extLst>
          </p:cNvPr>
          <p:cNvGrpSpPr/>
          <p:nvPr/>
        </p:nvGrpSpPr>
        <p:grpSpPr>
          <a:xfrm>
            <a:off x="838200" y="2131793"/>
            <a:ext cx="4680000" cy="720000"/>
            <a:chOff x="838200" y="1690688"/>
            <a:chExt cx="4680000" cy="720000"/>
          </a:xfrm>
        </p:grpSpPr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8D24976C-9EE6-979A-EFB4-14E4F2A62643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4" name="角丸四角形 13">
              <a:extLst>
                <a:ext uri="{FF2B5EF4-FFF2-40B4-BE49-F238E27FC236}">
                  <a16:creationId xmlns:a16="http://schemas.microsoft.com/office/drawing/2014/main" id="{FAF6134F-9BA9-AD22-EDEA-17F08C78C213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2026-04-17 (Fru)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02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7FE1D876-6096-1371-7C1E-DBEC35FCEB41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6" name="角丸四角形 15">
              <a:extLst>
                <a:ext uri="{FF2B5EF4-FFF2-40B4-BE49-F238E27FC236}">
                  <a16:creationId xmlns:a16="http://schemas.microsoft.com/office/drawing/2014/main" id="{96FAAE3A-8F25-A7C2-72CC-6A9E4743A86D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Usage/README</a:t>
              </a:r>
              <a:endParaRPr kumimoji="1" lang="ja-JP" altLang="en-US" sz="16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79D8C4C7-4421-16F2-D935-91A6476A130D}"/>
              </a:ext>
            </a:extLst>
          </p:cNvPr>
          <p:cNvGrpSpPr/>
          <p:nvPr/>
        </p:nvGrpSpPr>
        <p:grpSpPr>
          <a:xfrm>
            <a:off x="838200" y="2921241"/>
            <a:ext cx="4680000" cy="720000"/>
            <a:chOff x="838200" y="1690688"/>
            <a:chExt cx="4680000" cy="720000"/>
          </a:xfrm>
        </p:grpSpPr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46150746-669C-2E95-CE3D-CB8B337F7B31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9" name="角丸四角形 18">
              <a:extLst>
                <a:ext uri="{FF2B5EF4-FFF2-40B4-BE49-F238E27FC236}">
                  <a16:creationId xmlns:a16="http://schemas.microsoft.com/office/drawing/2014/main" id="{92BEF3FC-EC0C-60CE-5FC0-4D153E072915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2026-04-24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03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029E2A65-8350-6BC5-FA09-5C2FF480D784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1" name="角丸四角形 20">
              <a:extLst>
                <a:ext uri="{FF2B5EF4-FFF2-40B4-BE49-F238E27FC236}">
                  <a16:creationId xmlns:a16="http://schemas.microsoft.com/office/drawing/2014/main" id="{FD409111-474C-9CCC-2522-3C3F1DA513B7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CI/CD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68AB438-07B4-287E-EBB5-3CA610848DBC}"/>
              </a:ext>
            </a:extLst>
          </p:cNvPr>
          <p:cNvSpPr/>
          <p:nvPr/>
        </p:nvSpPr>
        <p:spPr>
          <a:xfrm>
            <a:off x="712199" y="1300478"/>
            <a:ext cx="10777435" cy="5557521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3CCC46EF-A9E8-557D-F0F2-CC3F8197BA35}"/>
              </a:ext>
            </a:extLst>
          </p:cNvPr>
          <p:cNvGrpSpPr/>
          <p:nvPr/>
        </p:nvGrpSpPr>
        <p:grpSpPr>
          <a:xfrm>
            <a:off x="838200" y="3710689"/>
            <a:ext cx="4680000" cy="720000"/>
            <a:chOff x="838200" y="1690688"/>
            <a:chExt cx="4680000" cy="720000"/>
          </a:xfrm>
        </p:grpSpPr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4DE9BF90-249D-526A-39EA-E19A2B0C6CBC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4" name="角丸四角形 23">
              <a:extLst>
                <a:ext uri="{FF2B5EF4-FFF2-40B4-BE49-F238E27FC236}">
                  <a16:creationId xmlns:a16="http://schemas.microsoft.com/office/drawing/2014/main" id="{D3EFFB42-D554-43A7-11D9-39C5AD4BA479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2026-05-01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04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3C53E9F6-4BAF-1884-4C1D-EF496B8CFF40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6" name="角丸四角形 25">
              <a:extLst>
                <a:ext uri="{FF2B5EF4-FFF2-40B4-BE49-F238E27FC236}">
                  <a16:creationId xmlns:a16="http://schemas.microsoft.com/office/drawing/2014/main" id="{41F08E94-A580-E68C-A3C9-A3CB990036D4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CI/CD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6769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768A1A-AB4C-9A1E-E25E-138C5A1D3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Continuous</a:t>
            </a:r>
            <a:br>
              <a:rPr kumimoji="1" lang="en-US" altLang="ja-JP" dirty="0"/>
            </a:br>
            <a:r>
              <a:rPr kumimoji="1" lang="en-US" altLang="ja-JP" dirty="0"/>
              <a:t>Delivery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54A1578-8AED-DE69-84E9-CD96C211A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95991" cy="466725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ja-JP" altLang="en-US"/>
              <a:t>特定のブランチの</a:t>
            </a:r>
            <a:r>
              <a:rPr kumimoji="1" lang="en-US" altLang="ja-JP" dirty="0"/>
              <a:t>push</a:t>
            </a:r>
            <a:r>
              <a:rPr kumimoji="1" lang="ja-JP" altLang="en-US"/>
              <a:t>によりプロダクトをリリースする．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kumimoji="1" lang="ja-JP" altLang="en-US"/>
              <a:t>行うべきこと．</a:t>
            </a:r>
            <a:endParaRPr kumimoji="1" lang="en-US" altLang="ja-JP" dirty="0"/>
          </a:p>
          <a:p>
            <a:pPr marL="1398588" lvl="2" indent="-484188">
              <a:lnSpc>
                <a:spcPct val="120000"/>
              </a:lnSpc>
              <a:buFont typeface="+mj-lt"/>
              <a:buAutoNum type="arabicPeriod"/>
            </a:pPr>
            <a:r>
              <a:rPr lang="ja-JP" altLang="en-US"/>
              <a:t>バージョンを新しいものに更新する．</a:t>
            </a:r>
            <a:endParaRPr lang="en-US" altLang="ja-JP" dirty="0"/>
          </a:p>
          <a:p>
            <a:pPr marL="1398588" lvl="2" indent="-484188">
              <a:lnSpc>
                <a:spcPct val="120000"/>
              </a:lnSpc>
              <a:buFont typeface="+mj-lt"/>
              <a:buAutoNum type="arabicPeriod"/>
            </a:pPr>
            <a:r>
              <a:rPr kumimoji="1" lang="ja-JP" altLang="en-US"/>
              <a:t>リリースに必要なファイルを作成する．</a:t>
            </a:r>
            <a:endParaRPr kumimoji="1" lang="en-US" altLang="ja-JP" dirty="0"/>
          </a:p>
          <a:p>
            <a:pPr marL="1398588" lvl="2" indent="-484188">
              <a:lnSpc>
                <a:spcPct val="120000"/>
              </a:lnSpc>
              <a:buFont typeface="+mj-lt"/>
              <a:buAutoNum type="arabicPeriod"/>
            </a:pPr>
            <a:r>
              <a:rPr lang="ja-JP" altLang="en-US"/>
              <a:t>リリースファイルを作成する．</a:t>
            </a:r>
            <a:endParaRPr lang="en-US" altLang="ja-JP" dirty="0"/>
          </a:p>
          <a:p>
            <a:pPr marL="1398588" lvl="2" indent="-484188">
              <a:lnSpc>
                <a:spcPct val="120000"/>
              </a:lnSpc>
              <a:buFont typeface="+mj-lt"/>
              <a:buAutoNum type="arabicPeriod"/>
            </a:pPr>
            <a:r>
              <a:rPr kumimoji="1" lang="ja-JP" altLang="en-US"/>
              <a:t>タグを付ける．</a:t>
            </a:r>
            <a:endParaRPr kumimoji="1" lang="en-US" altLang="ja-JP" dirty="0"/>
          </a:p>
          <a:p>
            <a:pPr marL="1398588" lvl="2" indent="-484188">
              <a:lnSpc>
                <a:spcPct val="120000"/>
              </a:lnSpc>
              <a:buFont typeface="+mj-lt"/>
              <a:buAutoNum type="arabicPeriod"/>
            </a:pPr>
            <a:r>
              <a:rPr kumimoji="1" lang="ja-JP" altLang="en-US"/>
              <a:t>リリースページを作成する．</a:t>
            </a:r>
            <a:endParaRPr kumimoji="1" lang="en-US" altLang="ja-JP" dirty="0"/>
          </a:p>
          <a:p>
            <a:pPr marL="1398588" lvl="2" indent="-484188">
              <a:lnSpc>
                <a:spcPct val="120000"/>
              </a:lnSpc>
              <a:buFont typeface="+mj-lt"/>
              <a:buAutoNum type="arabicPeriod"/>
            </a:pPr>
            <a:r>
              <a:rPr lang="ja-JP" altLang="en-US"/>
              <a:t>リリースページにリリースファイルをアップロードする．</a:t>
            </a:r>
            <a:endParaRPr lang="en-US" altLang="ja-JP" dirty="0"/>
          </a:p>
          <a:p>
            <a:pPr marL="1398588" lvl="2" indent="-484188">
              <a:lnSpc>
                <a:spcPct val="120000"/>
              </a:lnSpc>
              <a:buFont typeface="+mj-lt"/>
              <a:buAutoNum type="arabicPeriod"/>
            </a:pPr>
            <a:r>
              <a:rPr kumimoji="1" lang="en-US" altLang="ja-JP" dirty="0"/>
              <a:t>DOI</a:t>
            </a:r>
            <a:r>
              <a:rPr kumimoji="1" lang="ja-JP" altLang="en-US"/>
              <a:t>を発行する．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297E224-1D2A-D58D-46D4-F77A7725A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2025-05-02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25D1D89-2B8A-FB98-A1DF-D7A758B16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9952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B808C-82CE-756F-3244-018E27BEC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9AD3BE-6D4E-1B70-EC8F-F90D0D7E2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Continuous</a:t>
            </a:r>
            <a:br>
              <a:rPr kumimoji="1" lang="en-US" altLang="ja-JP" dirty="0"/>
            </a:br>
            <a:r>
              <a:rPr kumimoji="1" lang="en-US" altLang="ja-JP" dirty="0"/>
              <a:t>Delivery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B134C5F-4F09-8C09-15A7-DD2B257BA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95991" cy="466725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ja-JP" altLang="en-US"/>
              <a:t>特定のブランチの</a:t>
            </a:r>
            <a:r>
              <a:rPr kumimoji="1" lang="en-US" altLang="ja-JP" dirty="0"/>
              <a:t>push</a:t>
            </a:r>
            <a:r>
              <a:rPr kumimoji="1" lang="ja-JP" altLang="en-US"/>
              <a:t>によりプロダクトをリリースする．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kumimoji="1" lang="ja-JP" altLang="en-US"/>
              <a:t>行うべきこと．</a:t>
            </a:r>
            <a:endParaRPr kumimoji="1" lang="en-US" altLang="ja-JP" dirty="0"/>
          </a:p>
          <a:p>
            <a:pPr marL="1398588" lvl="2" indent="-484188">
              <a:lnSpc>
                <a:spcPct val="120000"/>
              </a:lnSpc>
              <a:buFont typeface="+mj-lt"/>
              <a:buAutoNum type="arabicPeriod"/>
            </a:pPr>
            <a:r>
              <a:rPr lang="ja-JP" altLang="en-US"/>
              <a:t>バージョンを新しいものに更新する．</a:t>
            </a:r>
            <a:endParaRPr lang="en-US" altLang="ja-JP" dirty="0"/>
          </a:p>
          <a:p>
            <a:pPr marL="1398588" lvl="2" indent="-484188">
              <a:lnSpc>
                <a:spcPct val="120000"/>
              </a:lnSpc>
              <a:buFont typeface="+mj-lt"/>
              <a:buAutoNum type="arabicPeriod"/>
            </a:pPr>
            <a:r>
              <a:rPr kumimoji="1" lang="ja-JP" altLang="en-US"/>
              <a:t>リリースに必要なファイルを作成する．</a:t>
            </a:r>
            <a:endParaRPr kumimoji="1" lang="en-US" altLang="ja-JP" dirty="0"/>
          </a:p>
          <a:p>
            <a:pPr marL="1398588" lvl="2" indent="-484188">
              <a:lnSpc>
                <a:spcPct val="120000"/>
              </a:lnSpc>
              <a:buFont typeface="+mj-lt"/>
              <a:buAutoNum type="arabicPeriod"/>
            </a:pPr>
            <a:r>
              <a:rPr lang="ja-JP" altLang="en-US"/>
              <a:t>リリースファイルを作成する．</a:t>
            </a:r>
            <a:endParaRPr lang="en-US" altLang="ja-JP" dirty="0"/>
          </a:p>
          <a:p>
            <a:pPr marL="1398588" lvl="2" indent="-484188">
              <a:lnSpc>
                <a:spcPct val="120000"/>
              </a:lnSpc>
              <a:buFont typeface="+mj-lt"/>
              <a:buAutoNum type="arabicPeriod"/>
            </a:pPr>
            <a:r>
              <a:rPr kumimoji="1" lang="ja-JP" altLang="en-US"/>
              <a:t>タグを付ける．</a:t>
            </a:r>
            <a:endParaRPr kumimoji="1" lang="en-US" altLang="ja-JP" dirty="0"/>
          </a:p>
          <a:p>
            <a:pPr marL="1398588" lvl="2" indent="-484188">
              <a:lnSpc>
                <a:spcPct val="120000"/>
              </a:lnSpc>
              <a:buFont typeface="+mj-lt"/>
              <a:buAutoNum type="arabicPeriod"/>
            </a:pPr>
            <a:r>
              <a:rPr kumimoji="1" lang="ja-JP" altLang="en-US"/>
              <a:t>リリースページを作成する．</a:t>
            </a:r>
            <a:endParaRPr kumimoji="1" lang="en-US" altLang="ja-JP" dirty="0"/>
          </a:p>
          <a:p>
            <a:pPr marL="1398588" lvl="2" indent="-484188">
              <a:lnSpc>
                <a:spcPct val="120000"/>
              </a:lnSpc>
              <a:buFont typeface="+mj-lt"/>
              <a:buAutoNum type="arabicPeriod"/>
            </a:pPr>
            <a:r>
              <a:rPr lang="ja-JP" altLang="en-US"/>
              <a:t>リリースページにリリースファイルをアップロードする．</a:t>
            </a:r>
            <a:endParaRPr lang="en-US" altLang="ja-JP" dirty="0"/>
          </a:p>
          <a:p>
            <a:pPr marL="1398588" lvl="2" indent="-484188">
              <a:lnSpc>
                <a:spcPct val="120000"/>
              </a:lnSpc>
              <a:buFont typeface="+mj-lt"/>
              <a:buAutoNum type="arabicPeriod"/>
            </a:pPr>
            <a:r>
              <a:rPr kumimoji="1" lang="en-US" altLang="ja-JP" dirty="0"/>
              <a:t>DOI</a:t>
            </a:r>
            <a:r>
              <a:rPr kumimoji="1" lang="ja-JP" altLang="en-US"/>
              <a:t>を発行する．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E31CC57-688A-E872-B00D-FAD9E0BE0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2025-05-02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003E121-5CD2-C6D5-E4BC-1B9BD3D30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4</a:t>
            </a:fld>
            <a:endParaRPr kumimoji="1" lang="ja-JP" altLang="en-US"/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5D3FF552-6574-4B2A-711A-F50C35A03A4A}"/>
              </a:ext>
            </a:extLst>
          </p:cNvPr>
          <p:cNvGrpSpPr/>
          <p:nvPr/>
        </p:nvGrpSpPr>
        <p:grpSpPr>
          <a:xfrm>
            <a:off x="7802217" y="681037"/>
            <a:ext cx="3551583" cy="869167"/>
            <a:chOff x="8166651" y="2806149"/>
            <a:chExt cx="3551583" cy="869167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7" name="三角形 6">
              <a:extLst>
                <a:ext uri="{FF2B5EF4-FFF2-40B4-BE49-F238E27FC236}">
                  <a16:creationId xmlns:a16="http://schemas.microsoft.com/office/drawing/2014/main" id="{D8B335AF-BAC7-BB11-4653-B1737368364B}"/>
                </a:ext>
              </a:extLst>
            </p:cNvPr>
            <p:cNvSpPr/>
            <p:nvPr/>
          </p:nvSpPr>
          <p:spPr>
            <a:xfrm rot="13500000">
              <a:off x="9033280" y="2775316"/>
              <a:ext cx="360000" cy="14400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角丸四角形 7">
              <a:extLst>
                <a:ext uri="{FF2B5EF4-FFF2-40B4-BE49-F238E27FC236}">
                  <a16:creationId xmlns:a16="http://schemas.microsoft.com/office/drawing/2014/main" id="{0FAB4F86-D45B-8AF2-77A2-E022D177F384}"/>
                </a:ext>
              </a:extLst>
            </p:cNvPr>
            <p:cNvSpPr/>
            <p:nvPr/>
          </p:nvSpPr>
          <p:spPr>
            <a:xfrm>
              <a:off x="8166651" y="2806149"/>
              <a:ext cx="3551583" cy="622852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2800" dirty="0">
                  <a:solidFill>
                    <a:sysClr val="windowText" lastClr="0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</a:t>
              </a:r>
              <a:r>
                <a:rPr kumimoji="1" lang="en-US" altLang="ja-JP" sz="2800" dirty="0">
                  <a:solidFill>
                    <a:sysClr val="windowText" lastClr="0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eleases/</a:t>
              </a:r>
              <a:r>
                <a:rPr kumimoji="1" lang="en-US" altLang="ja-JP" sz="2800" dirty="0" err="1">
                  <a:solidFill>
                    <a:sysClr val="windowText" lastClr="0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vX.Y.Z</a:t>
              </a:r>
              <a:endParaRPr kumimoji="1" lang="ja-JP" altLang="en-US" sz="280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99452BE4-FD7B-4969-0BC2-BA4779FCDD0D}"/>
              </a:ext>
            </a:extLst>
          </p:cNvPr>
          <p:cNvGrpSpPr/>
          <p:nvPr/>
        </p:nvGrpSpPr>
        <p:grpSpPr>
          <a:xfrm>
            <a:off x="7802216" y="2569201"/>
            <a:ext cx="3551584" cy="979715"/>
            <a:chOff x="7802215" y="2571868"/>
            <a:chExt cx="3551584" cy="979715"/>
          </a:xfrm>
        </p:grpSpPr>
        <p:sp>
          <p:nvSpPr>
            <p:cNvPr id="10" name="三角形 9">
              <a:extLst>
                <a:ext uri="{FF2B5EF4-FFF2-40B4-BE49-F238E27FC236}">
                  <a16:creationId xmlns:a16="http://schemas.microsoft.com/office/drawing/2014/main" id="{72BB38A0-AF8C-DCC8-89BA-1BC18705037D}"/>
                </a:ext>
              </a:extLst>
            </p:cNvPr>
            <p:cNvSpPr/>
            <p:nvPr/>
          </p:nvSpPr>
          <p:spPr>
            <a:xfrm rot="16200000">
              <a:off x="7982215" y="2701725"/>
              <a:ext cx="360000" cy="720000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角丸四角形 10">
              <a:extLst>
                <a:ext uri="{FF2B5EF4-FFF2-40B4-BE49-F238E27FC236}">
                  <a16:creationId xmlns:a16="http://schemas.microsoft.com/office/drawing/2014/main" id="{46405B12-4F5B-CDAC-1D65-6056E364A3DC}"/>
                </a:ext>
              </a:extLst>
            </p:cNvPr>
            <p:cNvSpPr/>
            <p:nvPr/>
          </p:nvSpPr>
          <p:spPr>
            <a:xfrm>
              <a:off x="8162216" y="2571868"/>
              <a:ext cx="3191583" cy="979715"/>
            </a:xfrm>
            <a:prstGeom prst="roundRect">
              <a:avLst>
                <a:gd name="adj" fmla="val 9372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ja-JP" dirty="0" err="1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README.md</a:t>
              </a:r>
              <a:endParaRPr lang="en-US" altLang="ja-JP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ja-JP" dirty="0" err="1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Cargo.toml</a:t>
              </a:r>
              <a:endParaRPr lang="en-US" altLang="ja-JP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  <a:cs typeface="Consolas" panose="020B0609020204030204" pitchFamily="49" charset="0"/>
                </a:rPr>
                <a:t>ドキュメント（</a:t>
              </a:r>
              <a:r>
                <a:rPr lang="en-US" altLang="ja-JP" dirty="0">
                  <a:solidFill>
                    <a:schemeClr val="tx1"/>
                  </a:solidFill>
                  <a:latin typeface="Consolas" panose="020B0609020204030204" pitchFamily="49" charset="0"/>
                  <a:ea typeface="Meiryo" panose="020B0604030504040204" pitchFamily="34" charset="-128"/>
                  <a:cs typeface="Consolas" panose="020B0609020204030204" pitchFamily="49" charset="0"/>
                </a:rPr>
                <a:t>docs</a:t>
              </a:r>
              <a:r>
                <a:rPr lang="ja-JP" altLang="en-US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  <a:cs typeface="Consolas" panose="020B0609020204030204" pitchFamily="49" charset="0"/>
                </a:rPr>
                <a:t>）</a:t>
              </a:r>
              <a:endParaRPr kumimoji="1" lang="ja-JP" altLang="en-US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Consolas" panose="020B0609020204030204" pitchFamily="49" charset="0"/>
              </a:endParaRPr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79CDBFCB-CACC-3480-55CA-930CF39A9DE9}"/>
              </a:ext>
            </a:extLst>
          </p:cNvPr>
          <p:cNvGrpSpPr/>
          <p:nvPr/>
        </p:nvGrpSpPr>
        <p:grpSpPr>
          <a:xfrm>
            <a:off x="7656443" y="3730337"/>
            <a:ext cx="3697357" cy="851279"/>
            <a:chOff x="7656442" y="2499573"/>
            <a:chExt cx="3697357" cy="851279"/>
          </a:xfrm>
        </p:grpSpPr>
        <p:sp>
          <p:nvSpPr>
            <p:cNvPr id="13" name="三角形 12">
              <a:extLst>
                <a:ext uri="{FF2B5EF4-FFF2-40B4-BE49-F238E27FC236}">
                  <a16:creationId xmlns:a16="http://schemas.microsoft.com/office/drawing/2014/main" id="{66A38C47-4560-39F8-3012-2500EA51BC8A}"/>
                </a:ext>
              </a:extLst>
            </p:cNvPr>
            <p:cNvSpPr/>
            <p:nvPr/>
          </p:nvSpPr>
          <p:spPr>
            <a:xfrm rot="18000000">
              <a:off x="7836442" y="2319573"/>
              <a:ext cx="360000" cy="720000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角丸四角形 13">
              <a:extLst>
                <a:ext uri="{FF2B5EF4-FFF2-40B4-BE49-F238E27FC236}">
                  <a16:creationId xmlns:a16="http://schemas.microsoft.com/office/drawing/2014/main" id="{BE308CC7-D7E4-430D-A00C-59E2CB33C88F}"/>
                </a:ext>
              </a:extLst>
            </p:cNvPr>
            <p:cNvSpPr/>
            <p:nvPr/>
          </p:nvSpPr>
          <p:spPr>
            <a:xfrm>
              <a:off x="8162216" y="2571868"/>
              <a:ext cx="3191583" cy="778984"/>
            </a:xfrm>
            <a:prstGeom prst="roundRect">
              <a:avLst>
                <a:gd name="adj" fmla="val 9372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  <a:cs typeface="Consolas" panose="020B0609020204030204" pitchFamily="49" charset="0"/>
                </a:rPr>
                <a:t>補完ファイル</a:t>
              </a:r>
              <a:endParaRPr lang="en-US" altLang="ja-JP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Consolas" panose="020B0609020204030204" pitchFamily="49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kumimoji="1" lang="ja-JP" altLang="en-US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  <a:cs typeface="Consolas" panose="020B0609020204030204" pitchFamily="49" charset="0"/>
                </a:rPr>
                <a:t>ドキュメント</a:t>
              </a:r>
              <a:endParaRPr kumimoji="1" lang="en-US" altLang="ja-JP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Consolas" panose="020B0609020204030204" pitchFamily="49" charset="0"/>
              </a:endParaRPr>
            </a:p>
          </p:txBody>
        </p:sp>
      </p:grp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B9C4BCE-FF26-E2FC-8AF7-7EC0BE6F667A}"/>
              </a:ext>
            </a:extLst>
          </p:cNvPr>
          <p:cNvSpPr/>
          <p:nvPr/>
        </p:nvSpPr>
        <p:spPr>
          <a:xfrm>
            <a:off x="7614671" y="3667216"/>
            <a:ext cx="3901467" cy="1100742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48B91ADB-E0CC-3DDB-E99A-84B26D60835D}"/>
              </a:ext>
            </a:extLst>
          </p:cNvPr>
          <p:cNvSpPr/>
          <p:nvPr/>
        </p:nvSpPr>
        <p:spPr>
          <a:xfrm>
            <a:off x="1382896" y="5536686"/>
            <a:ext cx="3901467" cy="591064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9649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E183F1-BB7B-3214-8D6A-B279A8E29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ビルドツールで行うこと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8DBEEC9-104E-0CFE-4D46-27FE14C16B9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ja-JP" altLang="en-US"/>
              <a:t>ビルドする，</a:t>
            </a:r>
            <a:endParaRPr kumimoji="1" lang="en-US" altLang="ja-JP" dirty="0"/>
          </a:p>
          <a:p>
            <a:pPr>
              <a:lnSpc>
                <a:spcPct val="120000"/>
              </a:lnSpc>
            </a:pPr>
            <a:r>
              <a:rPr lang="ja-JP" altLang="en-US"/>
              <a:t>テストする，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kumimoji="1" lang="ja-JP" altLang="en-US"/>
              <a:t>バージョン番号を更新する，</a:t>
            </a:r>
            <a:endParaRPr kumimoji="1" lang="en-US" altLang="ja-JP" dirty="0"/>
          </a:p>
          <a:p>
            <a:pPr>
              <a:lnSpc>
                <a:spcPct val="120000"/>
              </a:lnSpc>
            </a:pPr>
            <a:r>
              <a:rPr kumimoji="1" lang="ja-JP" altLang="en-US"/>
              <a:t>配布ファイルを用意する，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kumimoji="1" lang="ja-JP" altLang="en-US"/>
              <a:t>各プラットフォーム向けのビルドを実施する</a:t>
            </a:r>
            <a:r>
              <a:rPr lang="ja-JP" altLang="en-US"/>
              <a:t>，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kumimoji="1" lang="ja-JP" altLang="en-US"/>
              <a:t>配布ファイル</a:t>
            </a:r>
            <a:r>
              <a:rPr lang="ja-JP" altLang="en-US"/>
              <a:t>を</a:t>
            </a:r>
            <a:r>
              <a:rPr kumimoji="1" lang="ja-JP" altLang="en-US"/>
              <a:t>アップロードする，</a:t>
            </a:r>
            <a:endParaRPr kumimoji="1" lang="en-US" altLang="ja-JP" dirty="0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79154D58-0466-17A2-C899-C03FF26F516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ja-JP" dirty="0"/>
              <a:t>CI/CD</a:t>
            </a:r>
            <a:r>
              <a:rPr lang="ja-JP" altLang="en-US"/>
              <a:t>で行っても良い．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ビルドツールで行えることはできる限りビルドツールで行った方が良い．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en-US" altLang="ja-JP" dirty="0"/>
              <a:t>CI/CD</a:t>
            </a:r>
            <a:r>
              <a:rPr lang="ja-JP" altLang="en-US"/>
              <a:t>スクリプトはデバッグが難しい．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コミットや</a:t>
            </a:r>
            <a:r>
              <a:rPr lang="en-US" altLang="ja-JP" dirty="0"/>
              <a:t>push</a:t>
            </a:r>
            <a:r>
              <a:rPr lang="ja-JP" altLang="en-US"/>
              <a:t>など</a:t>
            </a:r>
            <a:r>
              <a:rPr lang="en-US" altLang="ja-JP" dirty="0"/>
              <a:t>GitHub</a:t>
            </a:r>
            <a:r>
              <a:rPr lang="ja-JP" altLang="en-US"/>
              <a:t>に関することは</a:t>
            </a:r>
            <a:r>
              <a:rPr lang="en-US" altLang="ja-JP" dirty="0"/>
              <a:t>CI/CD</a:t>
            </a:r>
            <a:r>
              <a:rPr lang="ja-JP" altLang="en-US"/>
              <a:t>スクリプトで行う？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5DBCA42-04A3-00E2-49CB-243061C8A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2025-05-02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9561431-F177-E9FB-630F-50FF1BB50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9086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18478-70C0-EB09-6FF8-74CC950F5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D6BC58-97CB-C48B-2521-F70B755A0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配布ファイルを用意する．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D24FF6A-950C-FC7D-EEBD-56EB157B0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kumimoji="1" lang="ja-JP" altLang="en-US"/>
              <a:t>各プラットフォーム向けに用意する．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kumimoji="1" lang="en-US" altLang="ja-JP" dirty="0"/>
              <a:t>Windows, Linux, macOS</a:t>
            </a:r>
          </a:p>
          <a:p>
            <a:pPr lvl="1">
              <a:lnSpc>
                <a:spcPct val="120000"/>
              </a:lnSpc>
            </a:pPr>
            <a:r>
              <a:rPr lang="en-US" altLang="ja-JP" dirty="0"/>
              <a:t>ARM</a:t>
            </a:r>
            <a:r>
              <a:rPr lang="ja-JP" altLang="en-US"/>
              <a:t>チップ</a:t>
            </a:r>
            <a:r>
              <a:rPr lang="en-US" altLang="ja-JP" dirty="0"/>
              <a:t> (aarch64, arm64), Intel</a:t>
            </a:r>
            <a:r>
              <a:rPr lang="ja-JP" altLang="en-US"/>
              <a:t>チップ</a:t>
            </a:r>
            <a:r>
              <a:rPr lang="en-US" altLang="ja-JP" dirty="0"/>
              <a:t> (x86_64, amd64)</a:t>
            </a:r>
          </a:p>
          <a:p>
            <a:pPr>
              <a:lnSpc>
                <a:spcPct val="120000"/>
              </a:lnSpc>
            </a:pPr>
            <a:r>
              <a:rPr lang="en-US" altLang="ja-JP" dirty="0"/>
              <a:t>Rust</a:t>
            </a:r>
            <a:r>
              <a:rPr kumimoji="1" lang="ja-JP" altLang="en-US"/>
              <a:t>はクロスコンパイル</a:t>
            </a:r>
            <a:r>
              <a:rPr lang="ja-JP" altLang="en-US"/>
              <a:t>が</a:t>
            </a:r>
            <a:r>
              <a:rPr kumimoji="1" lang="ja-JP" altLang="en-US"/>
              <a:t>容易である．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ただ、失敗する場合もある。</a:t>
            </a:r>
            <a:endParaRPr kumimoji="1"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</a:pPr>
            <a:endParaRPr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926976-0FDD-2435-CCC4-31F9DAE45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2025-05-02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91CED7A-6B18-E0B4-9D64-AF1D8876D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5097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8AC3A-7433-5A3A-623A-5C85F1760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EA6CB8B-7348-3103-DBA3-4E7432F0A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2025-05-02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E240A47-864A-551A-2C35-32E7BD99F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7</a:t>
            </a:fld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725D4C6-636D-1941-C15C-8487AA36DC22}"/>
              </a:ext>
            </a:extLst>
          </p:cNvPr>
          <p:cNvSpPr txBox="1"/>
          <p:nvPr/>
        </p:nvSpPr>
        <p:spPr>
          <a:xfrm>
            <a:off x="341450" y="302359"/>
            <a:ext cx="11509099" cy="673517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update version</a:t>
            </a:r>
            <a:b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on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push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branches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- 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releases/v*</a:t>
            </a: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jobs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update-version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runs-on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ubuntu-latest</a:t>
            </a:r>
            <a:b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steps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- </a:t>
            </a: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Git Tag Name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id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vars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run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echo "branch=${</a:t>
            </a:r>
            <a:r>
              <a:rPr lang="en" altLang="ja-JP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GITHUB_REF#refs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/heads/}" &gt;&gt; $GITHUB_OUTPUT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echo "tag=${GITHUB_REF##**/v}" &gt;&gt; $GITHUB_OUTPUT</a:t>
            </a:r>
            <a:b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- </a:t>
            </a: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Checkout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uses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actions/checkout@v4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with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ref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${{ </a:t>
            </a:r>
            <a:r>
              <a:rPr lang="en" altLang="ja-JP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steps.vars.outputs.branch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}}</a:t>
            </a: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fetch-depth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- </a:t>
            </a: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Initialize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run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git config --global </a:t>
            </a:r>
            <a:r>
              <a:rPr lang="en" altLang="ja-JP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user.name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"GitHub Actions"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git config --global </a:t>
            </a:r>
            <a:r>
              <a:rPr lang="en" altLang="ja-JP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user.email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"</a:t>
            </a:r>
            <a:r>
              <a:rPr lang="en" altLang="ja-JP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action@github.com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" altLang="ja-JP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auth_header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="$(git config --local --get </a:t>
            </a:r>
            <a:r>
              <a:rPr lang="en" altLang="ja-JP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http.https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://</a:t>
            </a:r>
            <a:r>
              <a:rPr lang="en" altLang="ja-JP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github.com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/.</a:t>
            </a:r>
            <a:r>
              <a:rPr lang="en" altLang="ja-JP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extraheader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)"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git submodule sync --recursive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git -c "</a:t>
            </a:r>
            <a:r>
              <a:rPr lang="en" altLang="ja-JP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http.extraheader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=$</a:t>
            </a:r>
            <a:r>
              <a:rPr lang="en" altLang="ja-JP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auth_header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 -c </a:t>
            </a:r>
            <a:r>
              <a:rPr lang="en" altLang="ja-JP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protocol.version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=2 submodule update --</a:t>
            </a:r>
            <a:r>
              <a:rPr lang="en" altLang="ja-JP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--force --recursive --depth=1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- </a:t>
            </a: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update version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id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update_version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run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just </a:t>
            </a:r>
            <a:r>
              <a:rPr lang="en" altLang="ja-JP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update_version</a:t>
            </a:r>
            <a:r>
              <a:rPr lang="en" altLang="ja-JP" sz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${{ </a:t>
            </a:r>
            <a:r>
              <a:rPr lang="en" altLang="ja-JP" sz="12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steps.vars.outputs.tag</a:t>
            </a:r>
            <a:r>
              <a:rPr lang="en" altLang="ja-JP" sz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}}</a:t>
            </a:r>
            <a:endParaRPr lang="en" altLang="ja-JP" sz="1200" b="0" dirty="0">
              <a:solidFill>
                <a:srgbClr val="0000F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git commit -a -m "update version to ${{ </a:t>
            </a:r>
            <a:r>
              <a:rPr lang="en" altLang="ja-JP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steps.vars.outputs.tag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}}" || true</a:t>
            </a:r>
            <a:b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- </a:t>
            </a: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Push branch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uses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ad-m/</a:t>
            </a:r>
            <a:r>
              <a:rPr lang="en" altLang="ja-JP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github-push-action@master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with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" altLang="ja-JP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github_token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${{ </a:t>
            </a:r>
            <a:r>
              <a:rPr lang="en" altLang="ja-JP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secrets.GITHUB_TOKEN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}}</a:t>
            </a: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branch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${{ </a:t>
            </a:r>
            <a:r>
              <a:rPr lang="en" altLang="ja-JP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steps.vars.outputs.branch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}}</a:t>
            </a:r>
          </a:p>
        </p:txBody>
      </p:sp>
      <p:sp>
        <p:nvSpPr>
          <p:cNvPr id="10" name="タイトル 1">
            <a:extLst>
              <a:ext uri="{FF2B5EF4-FFF2-40B4-BE49-F238E27FC236}">
                <a16:creationId xmlns:a16="http://schemas.microsoft.com/office/drawing/2014/main" id="{0441F8B9-394E-A0C6-FFCA-F192436E4D60}"/>
              </a:ext>
            </a:extLst>
          </p:cNvPr>
          <p:cNvSpPr txBox="1">
            <a:spLocks/>
          </p:cNvSpPr>
          <p:nvPr/>
        </p:nvSpPr>
        <p:spPr>
          <a:xfrm>
            <a:off x="5702532" y="302359"/>
            <a:ext cx="741495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60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j-cs"/>
              </a:defRPr>
            </a:lvl1pPr>
          </a:lstStyle>
          <a:p>
            <a:r>
              <a:rPr lang="en-US" altLang="ja-JP" sz="3600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altLang="ja-JP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github</a:t>
            </a:r>
            <a:r>
              <a:rPr lang="en-US" altLang="ja-JP" sz="3600" dirty="0">
                <a:latin typeface="Consolas" panose="020B0609020204030204" pitchFamily="49" charset="0"/>
                <a:cs typeface="Consolas" panose="020B0609020204030204" pitchFamily="49" charset="0"/>
              </a:rPr>
              <a:t>/workflows/</a:t>
            </a:r>
            <a:br>
              <a:rPr lang="en-US" altLang="ja-JP" sz="4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ja-JP" sz="4400" dirty="0">
                <a:latin typeface="Consolas" panose="020B0609020204030204" pitchFamily="49" charset="0"/>
                <a:cs typeface="Consolas" panose="020B0609020204030204" pitchFamily="49" charset="0"/>
              </a:rPr>
              <a:t>update-</a:t>
            </a:r>
            <a:r>
              <a:rPr lang="en-US" altLang="ja-JP" sz="4400" dirty="0" err="1">
                <a:latin typeface="Consolas" panose="020B0609020204030204" pitchFamily="49" charset="0"/>
                <a:cs typeface="Consolas" panose="020B0609020204030204" pitchFamily="49" charset="0"/>
              </a:rPr>
              <a:t>version.yaml</a:t>
            </a:r>
            <a:endParaRPr lang="ja-JP" altLang="en-US" sz="44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9239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C258C-D1F5-68B2-8222-67ABD99CE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63C073-B1B6-47CA-8BB7-E2A3DE899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66120" cy="1325563"/>
          </a:xfrm>
        </p:spPr>
        <p:txBody>
          <a:bodyPr/>
          <a:lstStyle/>
          <a:p>
            <a:r>
              <a:rPr kumimoji="1" lang="en-US" altLang="ja-JP" sz="3600" dirty="0"/>
              <a:t>GitHub Actions</a:t>
            </a:r>
            <a:br>
              <a:rPr kumimoji="1" lang="en-US" altLang="ja-JP" dirty="0"/>
            </a:br>
            <a:r>
              <a:rPr kumimoji="1" lang="en-US" altLang="ja-JP" sz="5400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kumimoji="1" lang="en-US" altLang="ja-JP" sz="5400" dirty="0" err="1">
                <a:latin typeface="Consolas" panose="020B0609020204030204" pitchFamily="49" charset="0"/>
                <a:cs typeface="Consolas" panose="020B0609020204030204" pitchFamily="49" charset="0"/>
              </a:rPr>
              <a:t>github</a:t>
            </a:r>
            <a:r>
              <a:rPr kumimoji="1" lang="en-US" altLang="ja-JP" sz="5400" dirty="0">
                <a:latin typeface="Consolas" panose="020B0609020204030204" pitchFamily="49" charset="0"/>
                <a:cs typeface="Consolas" panose="020B0609020204030204" pitchFamily="49" charset="0"/>
              </a:rPr>
              <a:t>/workflows/</a:t>
            </a:r>
            <a:br>
              <a:rPr kumimoji="1" lang="en-US" altLang="ja-JP" sz="5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kumimoji="1" lang="en-US" altLang="ja-JP" sz="5400" dirty="0">
                <a:latin typeface="Consolas" panose="020B0609020204030204" pitchFamily="49" charset="0"/>
                <a:cs typeface="Consolas" panose="020B0609020204030204" pitchFamily="49" charset="0"/>
              </a:rPr>
              <a:t>update-</a:t>
            </a:r>
            <a:r>
              <a:rPr kumimoji="1" lang="en-US" altLang="ja-JP" sz="5400" dirty="0" err="1">
                <a:latin typeface="Consolas" panose="020B0609020204030204" pitchFamily="49" charset="0"/>
                <a:cs typeface="Consolas" panose="020B0609020204030204" pitchFamily="49" charset="0"/>
              </a:rPr>
              <a:t>version.yaml</a:t>
            </a:r>
            <a:endParaRPr kumimoji="1" lang="ja-JP" altLang="en-US" sz="54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B1D602B-02F8-56B3-524E-8CAACBBC6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2025-05-02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C1060CC-C874-EB84-F696-30C4B1DF2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8</a:t>
            </a:fld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B88482A-5DA9-FFA8-B37D-2A9FB3B6816B}"/>
              </a:ext>
            </a:extLst>
          </p:cNvPr>
          <p:cNvSpPr txBox="1"/>
          <p:nvPr/>
        </p:nvSpPr>
        <p:spPr>
          <a:xfrm>
            <a:off x="341450" y="302359"/>
            <a:ext cx="11509099" cy="655564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update version</a:t>
            </a:r>
            <a:b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on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push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branches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- 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releases/v*</a:t>
            </a:r>
            <a:b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jobs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update-version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runs-on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ubuntu-latest</a:t>
            </a:r>
            <a:b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steps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- </a:t>
            </a: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Git Tag Name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id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vars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run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echo "branch=${</a:t>
            </a:r>
            <a:r>
              <a:rPr lang="en" altLang="ja-JP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GITHUB_REF#refs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/heads/}" &gt;&gt; $GITHUB_OUTPUT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echo "tag=${GITHUB_REF##**/v}" &gt;&gt; $GITHUB_OUTPUT</a:t>
            </a:r>
            <a:b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- </a:t>
            </a: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Checkout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uses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actions/checkout@v4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with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ref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${{ </a:t>
            </a:r>
            <a:r>
              <a:rPr lang="en" altLang="ja-JP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steps.vars.outputs.branch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}}</a:t>
            </a: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fetch-depth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- </a:t>
            </a: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Initialize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run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git config --global </a:t>
            </a:r>
            <a:r>
              <a:rPr lang="en" altLang="ja-JP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user.name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"GitHub Actions"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git config --global </a:t>
            </a:r>
            <a:r>
              <a:rPr lang="en" altLang="ja-JP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user.email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"</a:t>
            </a:r>
            <a:r>
              <a:rPr lang="en" altLang="ja-JP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action@github.com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" altLang="ja-JP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auth_header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="$(git config --local --get </a:t>
            </a:r>
            <a:r>
              <a:rPr lang="en" altLang="ja-JP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http.https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://</a:t>
            </a:r>
            <a:r>
              <a:rPr lang="en" altLang="ja-JP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github.com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/.</a:t>
            </a:r>
            <a:r>
              <a:rPr lang="en" altLang="ja-JP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extraheader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)"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git submodule sync --recursive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git -c "</a:t>
            </a:r>
            <a:r>
              <a:rPr lang="en" altLang="ja-JP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http.extraheader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=$</a:t>
            </a:r>
            <a:r>
              <a:rPr lang="en" altLang="ja-JP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auth_header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 -c </a:t>
            </a:r>
            <a:r>
              <a:rPr lang="en" altLang="ja-JP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protocol.version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=2 submodule update --</a:t>
            </a:r>
            <a:r>
              <a:rPr lang="en" altLang="ja-JP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--force --recursive --depth=1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- </a:t>
            </a: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update version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id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update_version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run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en" altLang="ja-JP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sh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.</a:t>
            </a:r>
            <a:r>
              <a:rPr lang="en" altLang="ja-JP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github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/scripts</a:t>
            </a:r>
            <a:r>
              <a:rPr lang="en" altLang="ja-JP" sz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" altLang="ja-JP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update_version.sh</a:t>
            </a:r>
            <a:r>
              <a:rPr lang="en" altLang="ja-JP" sz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${{ </a:t>
            </a:r>
            <a:r>
              <a:rPr lang="en" altLang="ja-JP" sz="12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steps.vars.outputs.tag</a:t>
            </a:r>
            <a:r>
              <a:rPr lang="en" altLang="ja-JP" sz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}}</a:t>
            </a:r>
            <a:endParaRPr lang="en" altLang="ja-JP" sz="1200" b="0" dirty="0">
              <a:solidFill>
                <a:srgbClr val="0000F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git commit -a -m "update version to ${{ </a:t>
            </a:r>
            <a:r>
              <a:rPr lang="en" altLang="ja-JP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steps.vars.outputs.tag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}}" || true</a:t>
            </a:r>
            <a:b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- </a:t>
            </a: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Push branch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uses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ad-m/</a:t>
            </a:r>
            <a:r>
              <a:rPr lang="en" altLang="ja-JP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github-push-action@master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with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" altLang="ja-JP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github_token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${{ </a:t>
            </a:r>
            <a:r>
              <a:rPr lang="en" altLang="ja-JP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secrets.GITHUB_TOKEN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}}</a:t>
            </a:r>
          </a:p>
          <a:p>
            <a:pPr>
              <a:lnSpc>
                <a:spcPts val="1350"/>
              </a:lnSpc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branch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${{ </a:t>
            </a:r>
            <a:r>
              <a:rPr lang="en" altLang="ja-JP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steps.vars.outputs.branch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}}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4084A6F-42AB-1F40-411A-D49CB1120DB8}"/>
              </a:ext>
            </a:extLst>
          </p:cNvPr>
          <p:cNvSpPr/>
          <p:nvPr/>
        </p:nvSpPr>
        <p:spPr>
          <a:xfrm>
            <a:off x="397771" y="564339"/>
            <a:ext cx="1815341" cy="68825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2AE21D76-F790-4D3F-54A5-2DE610892CD4}"/>
              </a:ext>
            </a:extLst>
          </p:cNvPr>
          <p:cNvGrpSpPr/>
          <p:nvPr/>
        </p:nvGrpSpPr>
        <p:grpSpPr>
          <a:xfrm>
            <a:off x="2269433" y="365125"/>
            <a:ext cx="3362741" cy="1086678"/>
            <a:chOff x="2269433" y="365125"/>
            <a:chExt cx="3362741" cy="1086678"/>
          </a:xfrm>
        </p:grpSpPr>
        <p:sp>
          <p:nvSpPr>
            <p:cNvPr id="3" name="角丸四角形 2">
              <a:extLst>
                <a:ext uri="{FF2B5EF4-FFF2-40B4-BE49-F238E27FC236}">
                  <a16:creationId xmlns:a16="http://schemas.microsoft.com/office/drawing/2014/main" id="{DCB56A32-7D00-0DD4-F551-FFD5F5AB8A22}"/>
                </a:ext>
              </a:extLst>
            </p:cNvPr>
            <p:cNvSpPr/>
            <p:nvPr/>
          </p:nvSpPr>
          <p:spPr>
            <a:xfrm>
              <a:off x="3101008" y="365125"/>
              <a:ext cx="2531166" cy="1086678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「</a:t>
              </a:r>
              <a:r>
                <a:rPr kumimoji="1" lang="en-US" altLang="ja-JP" dirty="0">
                  <a:solidFill>
                    <a:schemeClr val="tx1"/>
                  </a:solidFill>
                  <a:latin typeface="Consolas" panose="020B0609020204030204" pitchFamily="49" charset="0"/>
                  <a:ea typeface="Meiryo" panose="020B0604030504040204" pitchFamily="34" charset="-128"/>
                  <a:cs typeface="Consolas" panose="020B0609020204030204" pitchFamily="49" charset="0"/>
                </a:rPr>
                <a:t>releases/v*</a:t>
              </a:r>
              <a:r>
                <a:rPr kumimoji="1" lang="ja-JP" altLang="en-US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」というブランチが</a:t>
              </a:r>
              <a:r>
                <a:rPr kumimoji="1" lang="en-US" altLang="ja-JP" dirty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push</a:t>
              </a:r>
              <a:r>
                <a:rPr kumimoji="1" lang="ja-JP" altLang="en-US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された時に起動する．</a:t>
              </a:r>
            </a:p>
          </p:txBody>
        </p:sp>
        <p:sp>
          <p:nvSpPr>
            <p:cNvPr id="9" name="三角形 8">
              <a:extLst>
                <a:ext uri="{FF2B5EF4-FFF2-40B4-BE49-F238E27FC236}">
                  <a16:creationId xmlns:a16="http://schemas.microsoft.com/office/drawing/2014/main" id="{E7C93EB7-7E19-C7CD-27D6-7C2F73CCDA4D}"/>
                </a:ext>
              </a:extLst>
            </p:cNvPr>
            <p:cNvSpPr/>
            <p:nvPr/>
          </p:nvSpPr>
          <p:spPr>
            <a:xfrm rot="16200000">
              <a:off x="2546633" y="451265"/>
              <a:ext cx="360000" cy="914400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AB80A26-3F94-447A-51A3-22484979B7EE}"/>
              </a:ext>
            </a:extLst>
          </p:cNvPr>
          <p:cNvSpPr/>
          <p:nvPr/>
        </p:nvSpPr>
        <p:spPr>
          <a:xfrm>
            <a:off x="881383" y="1952668"/>
            <a:ext cx="5452915" cy="9000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E0027FD6-7A99-844A-9EB5-C8250941CDF5}"/>
              </a:ext>
            </a:extLst>
          </p:cNvPr>
          <p:cNvGrpSpPr/>
          <p:nvPr/>
        </p:nvGrpSpPr>
        <p:grpSpPr>
          <a:xfrm>
            <a:off x="6334298" y="1859329"/>
            <a:ext cx="3707477" cy="1086678"/>
            <a:chOff x="2269433" y="365125"/>
            <a:chExt cx="3707477" cy="1086678"/>
          </a:xfrm>
        </p:grpSpPr>
        <p:sp>
          <p:nvSpPr>
            <p:cNvPr id="13" name="角丸四角形 12">
              <a:extLst>
                <a:ext uri="{FF2B5EF4-FFF2-40B4-BE49-F238E27FC236}">
                  <a16:creationId xmlns:a16="http://schemas.microsoft.com/office/drawing/2014/main" id="{75A2C175-39BF-2E83-C771-896095FA4E00}"/>
                </a:ext>
              </a:extLst>
            </p:cNvPr>
            <p:cNvSpPr/>
            <p:nvPr/>
          </p:nvSpPr>
          <p:spPr>
            <a:xfrm>
              <a:off x="3101008" y="365125"/>
              <a:ext cx="2875902" cy="1086678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ブランチ名からバージョン番号を取ってきて変数に入れている．</a:t>
              </a:r>
            </a:p>
          </p:txBody>
        </p:sp>
        <p:sp>
          <p:nvSpPr>
            <p:cNvPr id="14" name="三角形 13">
              <a:extLst>
                <a:ext uri="{FF2B5EF4-FFF2-40B4-BE49-F238E27FC236}">
                  <a16:creationId xmlns:a16="http://schemas.microsoft.com/office/drawing/2014/main" id="{93B55BD5-B419-08A2-D49A-211B1ACE68FD}"/>
                </a:ext>
              </a:extLst>
            </p:cNvPr>
            <p:cNvSpPr/>
            <p:nvPr/>
          </p:nvSpPr>
          <p:spPr>
            <a:xfrm rot="16200000">
              <a:off x="2546633" y="451265"/>
              <a:ext cx="360000" cy="914400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2DDA1950-9D72-89D1-6419-4EEF89ECA7C9}"/>
              </a:ext>
            </a:extLst>
          </p:cNvPr>
          <p:cNvSpPr/>
          <p:nvPr/>
        </p:nvSpPr>
        <p:spPr>
          <a:xfrm>
            <a:off x="881383" y="3694543"/>
            <a:ext cx="10241046" cy="12960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EF3FA9E1-84B4-649F-1364-29DDF4012FD0}"/>
              </a:ext>
            </a:extLst>
          </p:cNvPr>
          <p:cNvGrpSpPr/>
          <p:nvPr/>
        </p:nvGrpSpPr>
        <p:grpSpPr>
          <a:xfrm>
            <a:off x="7270281" y="3429000"/>
            <a:ext cx="3506377" cy="758933"/>
            <a:chOff x="2373841" y="729571"/>
            <a:chExt cx="3506377" cy="758933"/>
          </a:xfrm>
        </p:grpSpPr>
        <p:sp>
          <p:nvSpPr>
            <p:cNvPr id="18" name="三角形 17">
              <a:extLst>
                <a:ext uri="{FF2B5EF4-FFF2-40B4-BE49-F238E27FC236}">
                  <a16:creationId xmlns:a16="http://schemas.microsoft.com/office/drawing/2014/main" id="{7B81DB37-DF4B-0A95-97DE-28E379E6981E}"/>
                </a:ext>
              </a:extLst>
            </p:cNvPr>
            <p:cNvSpPr/>
            <p:nvPr/>
          </p:nvSpPr>
          <p:spPr>
            <a:xfrm rot="14400000">
              <a:off x="2651041" y="851304"/>
              <a:ext cx="360000" cy="914400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角丸四角形 16">
              <a:extLst>
                <a:ext uri="{FF2B5EF4-FFF2-40B4-BE49-F238E27FC236}">
                  <a16:creationId xmlns:a16="http://schemas.microsoft.com/office/drawing/2014/main" id="{2DF3B0C1-6FDD-C5CE-E870-FF25AFA5E8FD}"/>
                </a:ext>
              </a:extLst>
            </p:cNvPr>
            <p:cNvSpPr/>
            <p:nvPr/>
          </p:nvSpPr>
          <p:spPr>
            <a:xfrm>
              <a:off x="3004316" y="729571"/>
              <a:ext cx="2875902" cy="722232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dirty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Git</a:t>
              </a:r>
              <a:r>
                <a:rPr kumimoji="1" lang="ja-JP" altLang="en-US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のコミット名などを設定している．</a:t>
              </a:r>
            </a:p>
          </p:txBody>
        </p:sp>
      </p:grp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36321B2-A474-5586-1B4E-75D74C2CD5D9}"/>
              </a:ext>
            </a:extLst>
          </p:cNvPr>
          <p:cNvSpPr/>
          <p:nvPr/>
        </p:nvSpPr>
        <p:spPr>
          <a:xfrm>
            <a:off x="890056" y="4980230"/>
            <a:ext cx="10241046" cy="9000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42F7A2AC-D3BC-4BEE-E3C2-50FEE6EDA23D}"/>
              </a:ext>
            </a:extLst>
          </p:cNvPr>
          <p:cNvGrpSpPr/>
          <p:nvPr/>
        </p:nvGrpSpPr>
        <p:grpSpPr>
          <a:xfrm>
            <a:off x="8506149" y="5167312"/>
            <a:ext cx="3685851" cy="1325563"/>
            <a:chOff x="2194367" y="693744"/>
            <a:chExt cx="3685851" cy="1325563"/>
          </a:xfrm>
        </p:grpSpPr>
        <p:sp>
          <p:nvSpPr>
            <p:cNvPr id="21" name="三角形 20">
              <a:extLst>
                <a:ext uri="{FF2B5EF4-FFF2-40B4-BE49-F238E27FC236}">
                  <a16:creationId xmlns:a16="http://schemas.microsoft.com/office/drawing/2014/main" id="{5A1AEF0D-659B-7597-85AA-A1374D72D38E}"/>
                </a:ext>
              </a:extLst>
            </p:cNvPr>
            <p:cNvSpPr/>
            <p:nvPr/>
          </p:nvSpPr>
          <p:spPr>
            <a:xfrm rot="16200000">
              <a:off x="2471567" y="647587"/>
              <a:ext cx="360000" cy="914400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角丸四角形 21">
              <a:extLst>
                <a:ext uri="{FF2B5EF4-FFF2-40B4-BE49-F238E27FC236}">
                  <a16:creationId xmlns:a16="http://schemas.microsoft.com/office/drawing/2014/main" id="{F91471EE-BF79-05E6-FBF2-B676C95D5E28}"/>
                </a:ext>
              </a:extLst>
            </p:cNvPr>
            <p:cNvSpPr/>
            <p:nvPr/>
          </p:nvSpPr>
          <p:spPr>
            <a:xfrm>
              <a:off x="3004316" y="693744"/>
              <a:ext cx="2875902" cy="1325563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バージョン番号を更新し，コミットしている．コミットが常に成功するよう</a:t>
              </a:r>
              <a:r>
                <a:rPr kumimoji="1" lang="en-US" altLang="ja-JP" dirty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 || true </a:t>
              </a:r>
              <a:r>
                <a:rPr kumimoji="1" lang="ja-JP" altLang="en-US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を付けている．</a:t>
              </a:r>
            </a:p>
          </p:txBody>
        </p:sp>
      </p:grp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9EE550-2F52-BFBE-9370-F52671F0B02F}"/>
              </a:ext>
            </a:extLst>
          </p:cNvPr>
          <p:cNvSpPr/>
          <p:nvPr/>
        </p:nvSpPr>
        <p:spPr>
          <a:xfrm>
            <a:off x="901674" y="5872210"/>
            <a:ext cx="4368595" cy="93459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3F781FAB-0888-7AF8-0C6D-F73D75B726EF}"/>
              </a:ext>
            </a:extLst>
          </p:cNvPr>
          <p:cNvGrpSpPr/>
          <p:nvPr/>
        </p:nvGrpSpPr>
        <p:grpSpPr>
          <a:xfrm>
            <a:off x="4938221" y="6028401"/>
            <a:ext cx="3567928" cy="722232"/>
            <a:chOff x="2373841" y="945912"/>
            <a:chExt cx="3567928" cy="722232"/>
          </a:xfrm>
        </p:grpSpPr>
        <p:sp>
          <p:nvSpPr>
            <p:cNvPr id="26" name="三角形 25">
              <a:extLst>
                <a:ext uri="{FF2B5EF4-FFF2-40B4-BE49-F238E27FC236}">
                  <a16:creationId xmlns:a16="http://schemas.microsoft.com/office/drawing/2014/main" id="{8AE62781-432E-612E-4665-E12033F57195}"/>
                </a:ext>
              </a:extLst>
            </p:cNvPr>
            <p:cNvSpPr/>
            <p:nvPr/>
          </p:nvSpPr>
          <p:spPr>
            <a:xfrm rot="16200000">
              <a:off x="2651041" y="851304"/>
              <a:ext cx="360000" cy="914400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角丸四角形 26">
              <a:extLst>
                <a:ext uri="{FF2B5EF4-FFF2-40B4-BE49-F238E27FC236}">
                  <a16:creationId xmlns:a16="http://schemas.microsoft.com/office/drawing/2014/main" id="{E9AD36DD-83DB-ABC1-2DDE-7186D2FC1BF1}"/>
                </a:ext>
              </a:extLst>
            </p:cNvPr>
            <p:cNvSpPr/>
            <p:nvPr/>
          </p:nvSpPr>
          <p:spPr>
            <a:xfrm>
              <a:off x="3065867" y="945912"/>
              <a:ext cx="2875902" cy="722232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変更をリポジトリに</a:t>
              </a:r>
              <a:r>
                <a:rPr kumimoji="1" lang="en-US" altLang="ja-JP" dirty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push</a:t>
              </a:r>
              <a:r>
                <a:rPr kumimoji="1" lang="ja-JP" altLang="en-US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している．</a:t>
              </a:r>
            </a:p>
          </p:txBody>
        </p:sp>
      </p:grpSp>
      <p:sp>
        <p:nvSpPr>
          <p:cNvPr id="30" name="タイトル 1">
            <a:extLst>
              <a:ext uri="{FF2B5EF4-FFF2-40B4-BE49-F238E27FC236}">
                <a16:creationId xmlns:a16="http://schemas.microsoft.com/office/drawing/2014/main" id="{C82AD70E-2212-A93D-F9AC-55BB070028AE}"/>
              </a:ext>
            </a:extLst>
          </p:cNvPr>
          <p:cNvSpPr txBox="1">
            <a:spLocks/>
          </p:cNvSpPr>
          <p:nvPr/>
        </p:nvSpPr>
        <p:spPr>
          <a:xfrm>
            <a:off x="5702532" y="302359"/>
            <a:ext cx="741495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60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j-cs"/>
              </a:defRPr>
            </a:lvl1pPr>
          </a:lstStyle>
          <a:p>
            <a:r>
              <a:rPr lang="en-US" altLang="ja-JP" sz="3600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altLang="ja-JP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github</a:t>
            </a:r>
            <a:r>
              <a:rPr lang="en-US" altLang="ja-JP" sz="3600" dirty="0">
                <a:latin typeface="Consolas" panose="020B0609020204030204" pitchFamily="49" charset="0"/>
                <a:cs typeface="Consolas" panose="020B0609020204030204" pitchFamily="49" charset="0"/>
              </a:rPr>
              <a:t>/workflows/</a:t>
            </a:r>
            <a:br>
              <a:rPr lang="en-US" altLang="ja-JP" sz="4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ja-JP" sz="4400" dirty="0">
                <a:latin typeface="Consolas" panose="020B0609020204030204" pitchFamily="49" charset="0"/>
                <a:cs typeface="Consolas" panose="020B0609020204030204" pitchFamily="49" charset="0"/>
              </a:rPr>
              <a:t>update-</a:t>
            </a:r>
            <a:r>
              <a:rPr lang="en-US" altLang="ja-JP" sz="4400" dirty="0" err="1">
                <a:latin typeface="Consolas" panose="020B0609020204030204" pitchFamily="49" charset="0"/>
                <a:cs typeface="Consolas" panose="020B0609020204030204" pitchFamily="49" charset="0"/>
              </a:rPr>
              <a:t>version.yaml</a:t>
            </a:r>
            <a:endParaRPr lang="ja-JP" altLang="en-US" sz="44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555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5" grpId="0" animBg="1"/>
      <p:bldP spid="19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CA9D49-5F3D-6777-321D-1CA3C7620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プロジェクト</a:t>
            </a:r>
            <a:br>
              <a:rPr kumimoji="1" lang="en-US" altLang="ja-JP" dirty="0"/>
            </a:br>
            <a:r>
              <a:rPr kumimoji="1" lang="ja-JP" altLang="en-US"/>
              <a:t>の設定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43B2D20-0E4C-72DC-1FFE-62D40D78D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26013" cy="4161393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ja-JP" altLang="en-US"/>
              <a:t>プロジェクト</a:t>
            </a:r>
            <a:r>
              <a:rPr lang="en-US" altLang="ja-JP" dirty="0"/>
              <a:t> &gt; Settings &gt; Actions &gt; General &gt; Workflow permissions</a:t>
            </a:r>
          </a:p>
          <a:p>
            <a:pPr lvl="1">
              <a:lnSpc>
                <a:spcPct val="120000"/>
              </a:lnSpc>
            </a:pPr>
            <a:r>
              <a:rPr lang="en-US" altLang="ja-JP" dirty="0"/>
              <a:t>Read and write permissions</a:t>
            </a:r>
            <a:r>
              <a:rPr lang="ja-JP" altLang="en-US"/>
              <a:t>にチェックを入れる．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kumimoji="1" lang="en-US" altLang="ja-JP" dirty="0"/>
              <a:t>GitHu</a:t>
            </a:r>
            <a:r>
              <a:rPr lang="en-US" altLang="ja-JP" dirty="0"/>
              <a:t>b Actions</a:t>
            </a:r>
            <a:r>
              <a:rPr lang="ja-JP" altLang="en-US"/>
              <a:t>からリポジトリを更新するために必要となる．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endParaRPr kumimoji="1"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D14C70B-F21B-A0E4-F1F9-E90645C70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2025-05-02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C3CD3F9-B4D2-3A03-7285-52F4A3BE0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9</a:t>
            </a:fld>
            <a:endParaRPr kumimoji="1" lang="ja-JP" altLang="en-US"/>
          </a:p>
        </p:txBody>
      </p:sp>
      <p:pic>
        <p:nvPicPr>
          <p:cNvPr id="1026" name="Picture 2" descr="Settings-Workflow Permissions">
            <a:extLst>
              <a:ext uri="{FF2B5EF4-FFF2-40B4-BE49-F238E27FC236}">
                <a16:creationId xmlns:a16="http://schemas.microsoft.com/office/drawing/2014/main" id="{FD97D823-5F00-F00E-EE1D-0E5EC78D23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4213" y="0"/>
            <a:ext cx="64277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A3184E3-8DD4-ACCC-EE5F-9C14AA70376D}"/>
              </a:ext>
            </a:extLst>
          </p:cNvPr>
          <p:cNvSpPr txBox="1"/>
          <p:nvPr/>
        </p:nvSpPr>
        <p:spPr>
          <a:xfrm>
            <a:off x="838200" y="59870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  <a:hlinkClick r:id="rId3"/>
              </a:rPr>
              <a:t>https://github.com/ad-m/github-push-action</a:t>
            </a:r>
            <a:endParaRPr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3834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9E1DA73-8B60-3445-5DBD-21ADC2F55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2025-05-02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EEF9853-FFA3-2A97-4C6F-6CCEB9B3B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10</a:t>
            </a:fld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4447A12-A708-921F-A0D1-26DBA8C2A510}"/>
              </a:ext>
            </a:extLst>
          </p:cNvPr>
          <p:cNvSpPr txBox="1"/>
          <p:nvPr/>
        </p:nvSpPr>
        <p:spPr>
          <a:xfrm>
            <a:off x="838200" y="1410355"/>
            <a:ext cx="8085868" cy="54476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publish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on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ja-JP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pull_request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branches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- 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types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[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closed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jobs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setup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runs-on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ubuntu-latest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" altLang="ja-JP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# runs only the branch name starts with 'release/v' and the pull request is merged.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if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startsWith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ja-JP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github.head_ref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" altLang="ja-JP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'releases/v'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&amp;&amp; </a:t>
            </a:r>
            <a:r>
              <a:rPr lang="en" altLang="ja-JP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github.event.pull_request.merged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== true</a:t>
            </a:r>
          </a:p>
          <a:p>
            <a:pPr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outputs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tag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${{ </a:t>
            </a:r>
            <a:r>
              <a:rPr lang="en" altLang="ja-JP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steps.vars.outputs.tag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}}</a:t>
            </a:r>
          </a:p>
          <a:p>
            <a:pPr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" altLang="ja-JP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upload_url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${{ </a:t>
            </a:r>
            <a:r>
              <a:rPr lang="en" altLang="ja-JP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steps.create_release.outputs.upload_url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}}</a:t>
            </a:r>
          </a:p>
          <a:p>
            <a:pPr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steps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- </a:t>
            </a: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Git Tag name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id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vars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run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echo "tag=${GITHUB_HEAD_REF##*/v}" &gt;&gt; $GITHUB_OUTPUT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- </a:t>
            </a: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Create release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id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create_release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uses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actions/create-release@v1.0.0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env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GITHUB_TOKEN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${{ </a:t>
            </a:r>
            <a:r>
              <a:rPr lang="en" altLang="ja-JP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secrets.GITHUB_TOKEN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}}</a:t>
            </a:r>
          </a:p>
          <a:p>
            <a:pPr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with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" altLang="ja-JP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tag_name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${{ </a:t>
            </a:r>
            <a:r>
              <a:rPr lang="en" altLang="ja-JP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steps.vars.outputs.tag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}}</a:t>
            </a:r>
          </a:p>
          <a:p>
            <a:pPr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" altLang="ja-JP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release_name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Release v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${{ </a:t>
            </a:r>
            <a:r>
              <a:rPr lang="en" altLang="ja-JP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steps.vars.outputs.tag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}}</a:t>
            </a:r>
          </a:p>
          <a:p>
            <a:pPr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draft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prerelease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9CF239D-C702-D401-271C-59282BF36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1717" y="381750"/>
            <a:ext cx="8850284" cy="1325563"/>
          </a:xfrm>
        </p:spPr>
        <p:txBody>
          <a:bodyPr/>
          <a:lstStyle/>
          <a:p>
            <a:r>
              <a:rPr lang="en-US" altLang="ja-JP" sz="3600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altLang="ja-JP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github</a:t>
            </a:r>
            <a:r>
              <a:rPr lang="en-US" altLang="ja-JP" sz="3600" dirty="0">
                <a:latin typeface="Consolas" panose="020B0609020204030204" pitchFamily="49" charset="0"/>
                <a:cs typeface="Consolas" panose="020B0609020204030204" pitchFamily="49" charset="0"/>
              </a:rPr>
              <a:t>/workflows/</a:t>
            </a:r>
            <a:b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publish.yaml</a:t>
            </a:r>
            <a:r>
              <a:rPr lang="ja-JP" altLang="en-US">
                <a:cs typeface="Consolas" panose="020B0609020204030204" pitchFamily="49" charset="0"/>
              </a:rPr>
              <a:t>（</a:t>
            </a:r>
            <a:r>
              <a:rPr lang="en-US" altLang="ja-JP" dirty="0">
                <a:cs typeface="Consolas" panose="020B0609020204030204" pitchFamily="49" charset="0"/>
              </a:rPr>
              <a:t>1/2</a:t>
            </a:r>
            <a:r>
              <a:rPr lang="ja-JP" altLang="en-US">
                <a:cs typeface="Consolas" panose="020B0609020204030204" pitchFamily="49" charset="0"/>
              </a:rPr>
              <a:t>）</a:t>
            </a:r>
            <a:endParaRPr kumimoji="1" lang="ja-JP" altLang="en-US">
              <a:cs typeface="Consolas" panose="020B0609020204030204" pitchFamily="49" charset="0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BA9BD9D-1ADB-2762-196E-909470130059}"/>
              </a:ext>
            </a:extLst>
          </p:cNvPr>
          <p:cNvSpPr/>
          <p:nvPr/>
        </p:nvSpPr>
        <p:spPr>
          <a:xfrm>
            <a:off x="878222" y="1642819"/>
            <a:ext cx="1815341" cy="9360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2E318F23-726E-C430-BF56-27C8FDB12540}"/>
              </a:ext>
            </a:extLst>
          </p:cNvPr>
          <p:cNvGrpSpPr/>
          <p:nvPr/>
        </p:nvGrpSpPr>
        <p:grpSpPr>
          <a:xfrm>
            <a:off x="2733585" y="1749149"/>
            <a:ext cx="3051688" cy="723340"/>
            <a:chOff x="2269433" y="546794"/>
            <a:chExt cx="3051688" cy="723340"/>
          </a:xfrm>
        </p:grpSpPr>
        <p:sp>
          <p:nvSpPr>
            <p:cNvPr id="13" name="角丸四角形 12">
              <a:extLst>
                <a:ext uri="{FF2B5EF4-FFF2-40B4-BE49-F238E27FC236}">
                  <a16:creationId xmlns:a16="http://schemas.microsoft.com/office/drawing/2014/main" id="{170A7DA3-C258-1D7A-12A9-63E65B466B58}"/>
                </a:ext>
              </a:extLst>
            </p:cNvPr>
            <p:cNvSpPr/>
            <p:nvPr/>
          </p:nvSpPr>
          <p:spPr>
            <a:xfrm>
              <a:off x="3117248" y="546794"/>
              <a:ext cx="2203873" cy="723340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プルリクエストがクローズされたら．</a:t>
              </a:r>
              <a:endParaRPr kumimoji="1" lang="ja-JP" altLang="en-US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4" name="三角形 13">
              <a:extLst>
                <a:ext uri="{FF2B5EF4-FFF2-40B4-BE49-F238E27FC236}">
                  <a16:creationId xmlns:a16="http://schemas.microsoft.com/office/drawing/2014/main" id="{E17FAA3A-D506-D4A0-6BCE-A3A26B3A0286}"/>
                </a:ext>
              </a:extLst>
            </p:cNvPr>
            <p:cNvSpPr/>
            <p:nvPr/>
          </p:nvSpPr>
          <p:spPr>
            <a:xfrm rot="16200000">
              <a:off x="2546633" y="451265"/>
              <a:ext cx="360000" cy="914400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191DB8A-178C-155A-E2DF-FA121D8CFA31}"/>
              </a:ext>
            </a:extLst>
          </p:cNvPr>
          <p:cNvSpPr/>
          <p:nvPr/>
        </p:nvSpPr>
        <p:spPr>
          <a:xfrm>
            <a:off x="1151198" y="2919585"/>
            <a:ext cx="7772870" cy="58150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73F484AC-B671-E8FC-D71A-74AE9259BC1C}"/>
              </a:ext>
            </a:extLst>
          </p:cNvPr>
          <p:cNvGrpSpPr/>
          <p:nvPr/>
        </p:nvGrpSpPr>
        <p:grpSpPr>
          <a:xfrm>
            <a:off x="5819969" y="1717869"/>
            <a:ext cx="3669291" cy="1145901"/>
            <a:chOff x="2197097" y="351480"/>
            <a:chExt cx="2871527" cy="1145901"/>
          </a:xfrm>
        </p:grpSpPr>
        <p:sp>
          <p:nvSpPr>
            <p:cNvPr id="18" name="三角形 17">
              <a:extLst>
                <a:ext uri="{FF2B5EF4-FFF2-40B4-BE49-F238E27FC236}">
                  <a16:creationId xmlns:a16="http://schemas.microsoft.com/office/drawing/2014/main" id="{A1FF123F-D531-4049-1ED2-70C435B01928}"/>
                </a:ext>
              </a:extLst>
            </p:cNvPr>
            <p:cNvSpPr/>
            <p:nvPr/>
          </p:nvSpPr>
          <p:spPr>
            <a:xfrm rot="14400000">
              <a:off x="2474297" y="788707"/>
              <a:ext cx="360000" cy="914400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角丸四角形 16">
              <a:extLst>
                <a:ext uri="{FF2B5EF4-FFF2-40B4-BE49-F238E27FC236}">
                  <a16:creationId xmlns:a16="http://schemas.microsoft.com/office/drawing/2014/main" id="{6BBB5ACD-7FE6-0E9A-DB16-EA18B37035B7}"/>
                </a:ext>
              </a:extLst>
            </p:cNvPr>
            <p:cNvSpPr/>
            <p:nvPr/>
          </p:nvSpPr>
          <p:spPr>
            <a:xfrm>
              <a:off x="2864751" y="351480"/>
              <a:ext cx="2203873" cy="1145901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「</a:t>
              </a:r>
              <a:r>
                <a:rPr lang="en-US" altLang="ja-JP" dirty="0">
                  <a:solidFill>
                    <a:schemeClr val="tx1"/>
                  </a:solidFill>
                  <a:latin typeface="Consolas" panose="020B0609020204030204" pitchFamily="49" charset="0"/>
                  <a:ea typeface="Meiryo" panose="020B0604030504040204" pitchFamily="34" charset="-128"/>
                  <a:cs typeface="Consolas" panose="020B0609020204030204" pitchFamily="49" charset="0"/>
                </a:rPr>
                <a:t>releases/v*</a:t>
              </a:r>
              <a:r>
                <a:rPr lang="ja-JP" altLang="en-US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」というブランチで，プルリクエストがマージされたら．</a:t>
              </a:r>
              <a:endParaRPr kumimoji="1" lang="ja-JP" altLang="en-US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74326FB-6AE1-2DCB-2662-07CD7B4FFA17}"/>
              </a:ext>
            </a:extLst>
          </p:cNvPr>
          <p:cNvSpPr/>
          <p:nvPr/>
        </p:nvSpPr>
        <p:spPr>
          <a:xfrm>
            <a:off x="1151198" y="3485968"/>
            <a:ext cx="5521912" cy="58150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262E4EB5-5594-65D0-E429-1877207AEFD9}"/>
              </a:ext>
            </a:extLst>
          </p:cNvPr>
          <p:cNvGrpSpPr/>
          <p:nvPr/>
        </p:nvGrpSpPr>
        <p:grpSpPr>
          <a:xfrm>
            <a:off x="6555341" y="3612559"/>
            <a:ext cx="5099103" cy="756000"/>
            <a:chOff x="2269433" y="546794"/>
            <a:chExt cx="5099103" cy="756000"/>
          </a:xfrm>
        </p:grpSpPr>
        <p:sp>
          <p:nvSpPr>
            <p:cNvPr id="21" name="角丸四角形 20">
              <a:extLst>
                <a:ext uri="{FF2B5EF4-FFF2-40B4-BE49-F238E27FC236}">
                  <a16:creationId xmlns:a16="http://schemas.microsoft.com/office/drawing/2014/main" id="{AEEFBBDF-88E6-3736-1623-F4FBB51E1000}"/>
                </a:ext>
              </a:extLst>
            </p:cNvPr>
            <p:cNvSpPr/>
            <p:nvPr/>
          </p:nvSpPr>
          <p:spPr>
            <a:xfrm>
              <a:off x="3117248" y="546794"/>
              <a:ext cx="4251288" cy="756000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このジョブの出力となる変数．以降のステップで出力される内容を表す．</a:t>
              </a:r>
              <a:endParaRPr kumimoji="1" lang="ja-JP" altLang="en-US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2" name="三角形 21">
              <a:extLst>
                <a:ext uri="{FF2B5EF4-FFF2-40B4-BE49-F238E27FC236}">
                  <a16:creationId xmlns:a16="http://schemas.microsoft.com/office/drawing/2014/main" id="{CE789645-6435-3D0F-412B-78A4412A34B9}"/>
                </a:ext>
              </a:extLst>
            </p:cNvPr>
            <p:cNvSpPr/>
            <p:nvPr/>
          </p:nvSpPr>
          <p:spPr>
            <a:xfrm rot="16200000">
              <a:off x="2546633" y="451265"/>
              <a:ext cx="360000" cy="914400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11A5E91B-217A-CD0E-71BB-558D2D99715D}"/>
              </a:ext>
            </a:extLst>
          </p:cNvPr>
          <p:cNvSpPr/>
          <p:nvPr/>
        </p:nvSpPr>
        <p:spPr>
          <a:xfrm>
            <a:off x="1151198" y="4202400"/>
            <a:ext cx="5521912" cy="7560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BC596962-BDE3-B8D5-CEB0-4CD11FBC2731}"/>
              </a:ext>
            </a:extLst>
          </p:cNvPr>
          <p:cNvGrpSpPr/>
          <p:nvPr/>
        </p:nvGrpSpPr>
        <p:grpSpPr>
          <a:xfrm>
            <a:off x="6555341" y="4406006"/>
            <a:ext cx="5099103" cy="735470"/>
            <a:chOff x="2269433" y="665168"/>
            <a:chExt cx="5099103" cy="735470"/>
          </a:xfrm>
        </p:grpSpPr>
        <p:sp>
          <p:nvSpPr>
            <p:cNvPr id="25" name="角丸四角形 24">
              <a:extLst>
                <a:ext uri="{FF2B5EF4-FFF2-40B4-BE49-F238E27FC236}">
                  <a16:creationId xmlns:a16="http://schemas.microsoft.com/office/drawing/2014/main" id="{6DCBF823-BD62-C122-2D3A-ABC4CD26B89C}"/>
                </a:ext>
              </a:extLst>
            </p:cNvPr>
            <p:cNvSpPr/>
            <p:nvPr/>
          </p:nvSpPr>
          <p:spPr>
            <a:xfrm>
              <a:off x="3117248" y="665168"/>
              <a:ext cx="4251288" cy="735470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ブランチ名からバージョン番号（タグ名）を取り出している．</a:t>
              </a:r>
              <a:endParaRPr kumimoji="1" lang="ja-JP" altLang="en-US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6" name="三角形 25">
              <a:extLst>
                <a:ext uri="{FF2B5EF4-FFF2-40B4-BE49-F238E27FC236}">
                  <a16:creationId xmlns:a16="http://schemas.microsoft.com/office/drawing/2014/main" id="{4BA3C402-75D7-CC0B-A1FA-4C47114CBE5E}"/>
                </a:ext>
              </a:extLst>
            </p:cNvPr>
            <p:cNvSpPr/>
            <p:nvPr/>
          </p:nvSpPr>
          <p:spPr>
            <a:xfrm rot="16200000">
              <a:off x="2546633" y="451265"/>
              <a:ext cx="360000" cy="914400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749FE511-B9CB-08F5-BA07-03A32F88B0A7}"/>
              </a:ext>
            </a:extLst>
          </p:cNvPr>
          <p:cNvSpPr/>
          <p:nvPr/>
        </p:nvSpPr>
        <p:spPr>
          <a:xfrm>
            <a:off x="1134573" y="4958400"/>
            <a:ext cx="5521912" cy="18996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E132953A-7BE2-B8C3-5BC6-A5637ACB755A}"/>
              </a:ext>
            </a:extLst>
          </p:cNvPr>
          <p:cNvGrpSpPr/>
          <p:nvPr/>
        </p:nvGrpSpPr>
        <p:grpSpPr>
          <a:xfrm>
            <a:off x="6538716" y="5178923"/>
            <a:ext cx="5099103" cy="759912"/>
            <a:chOff x="2269433" y="640726"/>
            <a:chExt cx="5099103" cy="759912"/>
          </a:xfrm>
        </p:grpSpPr>
        <p:sp>
          <p:nvSpPr>
            <p:cNvPr id="30" name="角丸四角形 29">
              <a:extLst>
                <a:ext uri="{FF2B5EF4-FFF2-40B4-BE49-F238E27FC236}">
                  <a16:creationId xmlns:a16="http://schemas.microsoft.com/office/drawing/2014/main" id="{77251204-924A-B9A9-4E8A-F710F03E53BD}"/>
                </a:ext>
              </a:extLst>
            </p:cNvPr>
            <p:cNvSpPr/>
            <p:nvPr/>
          </p:nvSpPr>
          <p:spPr>
            <a:xfrm>
              <a:off x="3117248" y="640726"/>
              <a:ext cx="4251288" cy="759912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リリースページを作成している．</a:t>
              </a:r>
              <a:endParaRPr kumimoji="1" lang="ja-JP" altLang="en-US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1" name="三角形 30">
              <a:extLst>
                <a:ext uri="{FF2B5EF4-FFF2-40B4-BE49-F238E27FC236}">
                  <a16:creationId xmlns:a16="http://schemas.microsoft.com/office/drawing/2014/main" id="{14430196-C7F5-A841-830A-37E200BD1463}"/>
                </a:ext>
              </a:extLst>
            </p:cNvPr>
            <p:cNvSpPr/>
            <p:nvPr/>
          </p:nvSpPr>
          <p:spPr>
            <a:xfrm rot="16200000">
              <a:off x="2546633" y="451265"/>
              <a:ext cx="360000" cy="914400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96552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5" grpId="0" animBg="1"/>
      <p:bldP spid="19" grpId="0" animBg="1"/>
      <p:bldP spid="23" grpId="0" animBg="1"/>
      <p:bldP spid="2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4AFFB-9969-4FCA-3E66-BCE119B8F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B7308F9-9EA8-222A-23C7-E1236B22A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2025-05-02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77E2DBC-265B-3A3B-7F93-800E7A93F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11</a:t>
            </a:fld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01D2269-E04D-E45C-E0F3-15121394D304}"/>
              </a:ext>
            </a:extLst>
          </p:cNvPr>
          <p:cNvSpPr txBox="1"/>
          <p:nvPr/>
        </p:nvSpPr>
        <p:spPr>
          <a:xfrm>
            <a:off x="456323" y="1410355"/>
            <a:ext cx="10897477" cy="54476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publish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runs-on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ubuntu-latest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needs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setup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outputs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tag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${{ </a:t>
            </a:r>
            <a:r>
              <a:rPr lang="en" altLang="ja-JP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needs.setup.outputs.tag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}}</a:t>
            </a:r>
          </a:p>
          <a:p>
            <a:pPr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" altLang="ja-JP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upload_url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${{ </a:t>
            </a:r>
            <a:r>
              <a:rPr lang="en" altLang="ja-JP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needs.setup.outputs.upload_url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}}</a:t>
            </a:r>
          </a:p>
          <a:p>
            <a:pPr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steps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- </a:t>
            </a: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uses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extractions/setup-just@v3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with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just-version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'1.40.0'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- </a:t>
            </a: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Checkout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uses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actions/checkout@v4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with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ref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fetch-depth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# Fetch all history for .</a:t>
            </a:r>
            <a:r>
              <a:rPr lang="en" altLang="ja-JP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GitInfo</a:t>
            </a:r>
            <a:r>
              <a:rPr lang="en" altLang="ja-JP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and .</a:t>
            </a:r>
            <a:r>
              <a:rPr lang="en" altLang="ja-JP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Lastmod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- </a:t>
            </a: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Initialize Git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shell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bash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run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git config --global </a:t>
            </a:r>
            <a:r>
              <a:rPr lang="en" altLang="ja-JP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user.name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"GitHub Actions"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git config --global </a:t>
            </a:r>
            <a:r>
              <a:rPr lang="en" altLang="ja-JP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user.email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"</a:t>
            </a:r>
            <a:r>
              <a:rPr lang="en" altLang="ja-JP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action@github.com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" altLang="ja-JP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auth_header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="$(git config --local --get </a:t>
            </a:r>
            <a:r>
              <a:rPr lang="en" altLang="ja-JP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http.https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://</a:t>
            </a:r>
            <a:r>
              <a:rPr lang="en" altLang="ja-JP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github.com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/.</a:t>
            </a:r>
            <a:r>
              <a:rPr lang="en" altLang="ja-JP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extraheader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)"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git submodule sync --recursive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git -c "</a:t>
            </a:r>
            <a:r>
              <a:rPr lang="en" altLang="ja-JP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http.extraheader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=$</a:t>
            </a:r>
            <a:r>
              <a:rPr lang="en" altLang="ja-JP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auth_header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 -c </a:t>
            </a:r>
            <a:r>
              <a:rPr lang="en" altLang="ja-JP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protocol.version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=2 submodule update --</a:t>
            </a:r>
            <a:r>
              <a:rPr lang="en" altLang="ja-JP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--force --recursive --depth=1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- </a:t>
            </a: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Create distribution files.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env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GITHUB_TOKEN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${{ </a:t>
            </a:r>
            <a:r>
              <a:rPr lang="en" altLang="ja-JP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secrets.GITHUB_TOKEN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}}</a:t>
            </a:r>
          </a:p>
          <a:p>
            <a:pPr>
              <a:buNone/>
            </a:pPr>
            <a:r>
              <a:rPr lang="en" altLang="ja-JP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run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" altLang="ja-JP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sh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.</a:t>
            </a:r>
            <a:r>
              <a:rPr lang="en" altLang="ja-JP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github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/scripts/</a:t>
            </a:r>
            <a:r>
              <a:rPr lang="en" altLang="ja-JP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make_distribution_files</a:t>
            </a:r>
            <a:endParaRPr lang="en" altLang="ja-JP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" altLang="ja-JP" sz="12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sh</a:t>
            </a:r>
            <a:r>
              <a:rPr lang="en" altLang="ja-JP" sz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.</a:t>
            </a:r>
            <a:r>
              <a:rPr lang="en" altLang="ja-JP" sz="12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github</a:t>
            </a:r>
            <a:r>
              <a:rPr lang="en" altLang="ja-JP" sz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/scripts/</a:t>
            </a:r>
            <a:r>
              <a:rPr lang="en" altLang="ja-JP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upload_assets</a:t>
            </a:r>
            <a:r>
              <a:rPr lang="en" altLang="ja-JP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v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${{ </a:t>
            </a:r>
            <a:r>
              <a:rPr lang="en" altLang="ja-JP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needs.setup.outputs.tag</a:t>
            </a:r>
            <a:r>
              <a:rPr lang="en" altLang="ja-JP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}}</a:t>
            </a:r>
            <a:endParaRPr lang="ja-JP" altLang="en-US" sz="120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F0DB55F-A735-5FA3-FC35-AD63FCB57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1717" y="381750"/>
            <a:ext cx="8850284" cy="1325563"/>
          </a:xfrm>
        </p:spPr>
        <p:txBody>
          <a:bodyPr/>
          <a:lstStyle/>
          <a:p>
            <a:r>
              <a:rPr lang="en-US" altLang="ja-JP" sz="3600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altLang="ja-JP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github</a:t>
            </a:r>
            <a:r>
              <a:rPr lang="en-US" altLang="ja-JP" sz="3600" dirty="0">
                <a:latin typeface="Consolas" panose="020B0609020204030204" pitchFamily="49" charset="0"/>
                <a:cs typeface="Consolas" panose="020B0609020204030204" pitchFamily="49" charset="0"/>
              </a:rPr>
              <a:t>/workflows/</a:t>
            </a:r>
            <a:b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publish.yaml</a:t>
            </a:r>
            <a:r>
              <a:rPr lang="ja-JP" altLang="en-US">
                <a:cs typeface="Consolas" panose="020B0609020204030204" pitchFamily="49" charset="0"/>
              </a:rPr>
              <a:t>（</a:t>
            </a:r>
            <a:r>
              <a:rPr lang="en-US" altLang="ja-JP" dirty="0">
                <a:cs typeface="Consolas" panose="020B0609020204030204" pitchFamily="49" charset="0"/>
              </a:rPr>
              <a:t>2/2</a:t>
            </a:r>
            <a:r>
              <a:rPr lang="ja-JP" altLang="en-US">
                <a:cs typeface="Consolas" panose="020B0609020204030204" pitchFamily="49" charset="0"/>
              </a:rPr>
              <a:t>）</a:t>
            </a:r>
            <a:endParaRPr kumimoji="1" lang="ja-JP" altLang="en-US">
              <a:cs typeface="Consolas" panose="020B0609020204030204" pitchFamily="49" charset="0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4EE867D-2F1A-249F-0F3A-DB8723D2D84B}"/>
              </a:ext>
            </a:extLst>
          </p:cNvPr>
          <p:cNvSpPr/>
          <p:nvPr/>
        </p:nvSpPr>
        <p:spPr>
          <a:xfrm>
            <a:off x="687284" y="1822820"/>
            <a:ext cx="5040000" cy="7560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156D154B-233D-A36F-541B-B10E3877E82F}"/>
              </a:ext>
            </a:extLst>
          </p:cNvPr>
          <p:cNvGrpSpPr/>
          <p:nvPr/>
        </p:nvGrpSpPr>
        <p:grpSpPr>
          <a:xfrm>
            <a:off x="5741972" y="1682292"/>
            <a:ext cx="5597137" cy="1037054"/>
            <a:chOff x="2254743" y="546793"/>
            <a:chExt cx="5597137" cy="1037054"/>
          </a:xfrm>
        </p:grpSpPr>
        <p:sp>
          <p:nvSpPr>
            <p:cNvPr id="8" name="角丸四角形 7">
              <a:extLst>
                <a:ext uri="{FF2B5EF4-FFF2-40B4-BE49-F238E27FC236}">
                  <a16:creationId xmlns:a16="http://schemas.microsoft.com/office/drawing/2014/main" id="{035B20BA-D088-DDA6-E931-3A8A8DD87352}"/>
                </a:ext>
              </a:extLst>
            </p:cNvPr>
            <p:cNvSpPr/>
            <p:nvPr/>
          </p:nvSpPr>
          <p:spPr>
            <a:xfrm>
              <a:off x="3102557" y="546793"/>
              <a:ext cx="4749323" cy="1037054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ja-JP" dirty="0">
                  <a:solidFill>
                    <a:schemeClr val="tx1"/>
                  </a:solidFill>
                  <a:latin typeface="Consolas" panose="020B0609020204030204" pitchFamily="49" charset="0"/>
                  <a:ea typeface="Meiryo" panose="020B0604030504040204" pitchFamily="34" charset="-128"/>
                  <a:cs typeface="Consolas" panose="020B0609020204030204" pitchFamily="49" charset="0"/>
                </a:rPr>
                <a:t>setup</a:t>
              </a:r>
              <a:r>
                <a:rPr lang="ja-JP" altLang="en-US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ジョブが終わったら実行される．</a:t>
              </a:r>
              <a:endParaRPr lang="en-US" altLang="ja-JP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r>
                <a:rPr lang="en-US" altLang="ja-JP" dirty="0">
                  <a:solidFill>
                    <a:schemeClr val="tx1"/>
                  </a:solidFill>
                  <a:latin typeface="Consolas" panose="020B0609020204030204" pitchFamily="49" charset="0"/>
                  <a:ea typeface="Meiryo" panose="020B0604030504040204" pitchFamily="34" charset="-128"/>
                  <a:cs typeface="Consolas" panose="020B0609020204030204" pitchFamily="49" charset="0"/>
                </a:rPr>
                <a:t>o</a:t>
              </a:r>
              <a:r>
                <a:rPr kumimoji="1" lang="en-US" altLang="ja-JP" dirty="0">
                  <a:solidFill>
                    <a:schemeClr val="tx1"/>
                  </a:solidFill>
                  <a:latin typeface="Consolas" panose="020B0609020204030204" pitchFamily="49" charset="0"/>
                  <a:ea typeface="Meiryo" panose="020B0604030504040204" pitchFamily="34" charset="-128"/>
                  <a:cs typeface="Consolas" panose="020B0609020204030204" pitchFamily="49" charset="0"/>
                </a:rPr>
                <a:t>utputs</a:t>
              </a:r>
              <a:r>
                <a:rPr kumimoji="1" lang="ja-JP" altLang="en-US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は今の段階では不要だが，今後のために載せている．</a:t>
              </a:r>
            </a:p>
          </p:txBody>
        </p:sp>
        <p:sp>
          <p:nvSpPr>
            <p:cNvPr id="9" name="三角形 8">
              <a:extLst>
                <a:ext uri="{FF2B5EF4-FFF2-40B4-BE49-F238E27FC236}">
                  <a16:creationId xmlns:a16="http://schemas.microsoft.com/office/drawing/2014/main" id="{033F4F4C-7B91-E8A7-543B-47E3AD90CD3B}"/>
                </a:ext>
              </a:extLst>
            </p:cNvPr>
            <p:cNvSpPr/>
            <p:nvPr/>
          </p:nvSpPr>
          <p:spPr>
            <a:xfrm rot="16200000">
              <a:off x="2531943" y="608121"/>
              <a:ext cx="360000" cy="914400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A4DAD25-79D9-E785-44C0-E3D8EE67665B}"/>
              </a:ext>
            </a:extLst>
          </p:cNvPr>
          <p:cNvSpPr/>
          <p:nvPr/>
        </p:nvSpPr>
        <p:spPr>
          <a:xfrm>
            <a:off x="687283" y="5672362"/>
            <a:ext cx="5040000" cy="118563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B903229A-E776-AD94-6706-718B9AE1CF1B}"/>
              </a:ext>
            </a:extLst>
          </p:cNvPr>
          <p:cNvGrpSpPr/>
          <p:nvPr/>
        </p:nvGrpSpPr>
        <p:grpSpPr>
          <a:xfrm>
            <a:off x="5741972" y="5746653"/>
            <a:ext cx="5597138" cy="1037054"/>
            <a:chOff x="2269433" y="546794"/>
            <a:chExt cx="5597138" cy="1037054"/>
          </a:xfrm>
        </p:grpSpPr>
        <p:sp>
          <p:nvSpPr>
            <p:cNvPr id="13" name="角丸四角形 12">
              <a:extLst>
                <a:ext uri="{FF2B5EF4-FFF2-40B4-BE49-F238E27FC236}">
                  <a16:creationId xmlns:a16="http://schemas.microsoft.com/office/drawing/2014/main" id="{952DC693-98A5-31E8-AF9E-356CCB2A8DDD}"/>
                </a:ext>
              </a:extLst>
            </p:cNvPr>
            <p:cNvSpPr/>
            <p:nvPr/>
          </p:nvSpPr>
          <p:spPr>
            <a:xfrm>
              <a:off x="3117248" y="546794"/>
              <a:ext cx="4749323" cy="1037054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シェルスクリプトで配布ファイルを作成し，アップロードしている．</a:t>
              </a:r>
              <a:endParaRPr kumimoji="1" lang="ja-JP" altLang="en-US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4" name="三角形 13">
              <a:extLst>
                <a:ext uri="{FF2B5EF4-FFF2-40B4-BE49-F238E27FC236}">
                  <a16:creationId xmlns:a16="http://schemas.microsoft.com/office/drawing/2014/main" id="{DA90E387-FAAA-E856-129A-1C72D5656A70}"/>
                </a:ext>
              </a:extLst>
            </p:cNvPr>
            <p:cNvSpPr/>
            <p:nvPr/>
          </p:nvSpPr>
          <p:spPr>
            <a:xfrm rot="16200000">
              <a:off x="2546633" y="608121"/>
              <a:ext cx="360000" cy="914400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36927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74E2E1-FA66-EF4A-9E8B-EA3049573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/>
          <a:lstStyle/>
          <a:p>
            <a:r>
              <a:rPr kumimoji="1" lang="en-US" altLang="ja-JP" sz="4800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kumimoji="1" lang="en-US" altLang="ja-JP" sz="4800" dirty="0" err="1">
                <a:latin typeface="Consolas" panose="020B0609020204030204" pitchFamily="49" charset="0"/>
                <a:cs typeface="Consolas" panose="020B0609020204030204" pitchFamily="49" charset="0"/>
              </a:rPr>
              <a:t>github</a:t>
            </a:r>
            <a:r>
              <a:rPr kumimoji="1" lang="en-US" altLang="ja-JP" sz="4800" dirty="0">
                <a:latin typeface="Consolas" panose="020B0609020204030204" pitchFamily="49" charset="0"/>
                <a:cs typeface="Consolas" panose="020B0609020204030204" pitchFamily="49" charset="0"/>
              </a:rPr>
              <a:t>/scripts/</a:t>
            </a:r>
            <a:br>
              <a:rPr kumimoji="1" lang="en-US" altLang="ja-JP" sz="4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kumimoji="1" lang="en-US" altLang="ja-JP" sz="4800" dirty="0" err="1">
                <a:latin typeface="Consolas" panose="020B0609020204030204" pitchFamily="49" charset="0"/>
                <a:cs typeface="Consolas" panose="020B0609020204030204" pitchFamily="49" charset="0"/>
              </a:rPr>
              <a:t>update_version.sh</a:t>
            </a:r>
            <a:endParaRPr kumimoji="1" lang="ja-JP" altLang="en-US" sz="48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77EBB4-4E22-F513-2BD3-A90748080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CE34B2F-EE9C-533D-B9A0-1ACF5A269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2025-05-02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36AF419-35E7-DCA7-1FC1-50AF6B93B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12</a:t>
            </a:fld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9F3F2DB-22AC-D7C0-1836-097427B0F6BB}"/>
              </a:ext>
            </a:extLst>
          </p:cNvPr>
          <p:cNvSpPr txBox="1"/>
          <p:nvPr/>
        </p:nvSpPr>
        <p:spPr>
          <a:xfrm>
            <a:off x="838200" y="1825625"/>
            <a:ext cx="10948831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#! /bin/</a:t>
            </a:r>
            <a:r>
              <a:rPr lang="en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sh</a:t>
            </a:r>
            <a:endParaRPr lang="en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FROM_VERSION=`grep '^version = ' </a:t>
            </a:r>
            <a:r>
              <a:rPr lang="en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Cargo.toml</a:t>
            </a:r>
            <a:r>
              <a:rPr lang="en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 | sed 's/version = "\(.*\)"/\1/g'`</a:t>
            </a:r>
          </a:p>
          <a:p>
            <a:r>
              <a:rPr lang="en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TO_VERSION=$1</a:t>
            </a:r>
          </a:p>
          <a:p>
            <a:endParaRPr lang="en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sed "s/^version = \".*\"/version = \"$TO_VERSION\"/" </a:t>
            </a:r>
            <a:r>
              <a:rPr lang="en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Cargo.toml</a:t>
            </a:r>
            <a:r>
              <a:rPr lang="en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 &gt; a ; mv a </a:t>
            </a:r>
            <a:r>
              <a:rPr lang="en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Cargo.toml</a:t>
            </a:r>
            <a:endParaRPr lang="en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# sed "s/\$FROM_VERSION/$TO_VERSION/g" templates/</a:t>
            </a:r>
            <a:r>
              <a:rPr lang="en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README.md</a:t>
            </a:r>
            <a:r>
              <a:rPr lang="en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 &gt; a ; mv a </a:t>
            </a:r>
            <a:r>
              <a:rPr lang="en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README.md</a:t>
            </a:r>
            <a:endParaRPr kumimoji="1" lang="ja-JP" alt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7279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4942E2-9C0B-A0EB-C210-CE766994F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800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altLang="ja-JP" sz="4800" dirty="0" err="1">
                <a:latin typeface="Consolas" panose="020B0609020204030204" pitchFamily="49" charset="0"/>
                <a:cs typeface="Consolas" panose="020B0609020204030204" pitchFamily="49" charset="0"/>
              </a:rPr>
              <a:t>github</a:t>
            </a:r>
            <a:r>
              <a:rPr lang="en-US" altLang="ja-JP" sz="4800" dirty="0">
                <a:latin typeface="Consolas" panose="020B0609020204030204" pitchFamily="49" charset="0"/>
                <a:cs typeface="Consolas" panose="020B0609020204030204" pitchFamily="49" charset="0"/>
              </a:rPr>
              <a:t>/scripts/</a:t>
            </a:r>
            <a:b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ja-JP" sz="4800" dirty="0" err="1">
                <a:latin typeface="Consolas" panose="020B0609020204030204" pitchFamily="49" charset="0"/>
                <a:cs typeface="Consolas" panose="020B0609020204030204" pitchFamily="49" charset="0"/>
              </a:rPr>
              <a:t>make_distribution_files.sh</a:t>
            </a:r>
            <a:endParaRPr kumimoji="1" lang="ja-JP" altLang="en-US" sz="480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EC64C91-6493-E7FA-B48D-75517492A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F6D1655-523A-F661-015F-B9704B5D0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2025-05-02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BABA4CC-4E4C-A40E-1A02-F51C33C15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13</a:t>
            </a:fld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CEE3231-4C87-5CB0-2AF9-67A5B65190FB}"/>
              </a:ext>
            </a:extLst>
          </p:cNvPr>
          <p:cNvSpPr txBox="1"/>
          <p:nvPr/>
        </p:nvSpPr>
        <p:spPr>
          <a:xfrm>
            <a:off x="838200" y="1825625"/>
            <a:ext cx="6896440" cy="31393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#! /bin/</a:t>
            </a:r>
            <a:r>
              <a:rPr lang="en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sh</a:t>
            </a:r>
            <a:endParaRPr lang="en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TAG=$1</a:t>
            </a:r>
          </a:p>
          <a:p>
            <a:r>
              <a:rPr lang="en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PRODUCT_NAME=</a:t>
            </a:r>
            <a:r>
              <a:rPr lang="en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lis</a:t>
            </a:r>
            <a:endParaRPr lang="en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RELEASE=$PRODUCT_NAME-$TAG-arm64-darwin</a:t>
            </a:r>
          </a:p>
          <a:p>
            <a:endParaRPr lang="en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cargo build --release</a:t>
            </a:r>
          </a:p>
          <a:p>
            <a:r>
              <a:rPr lang="en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mkdir</a:t>
            </a:r>
            <a:r>
              <a:rPr lang="en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 -p </a:t>
            </a:r>
            <a:r>
              <a:rPr lang="en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dist</a:t>
            </a:r>
            <a:r>
              <a:rPr lang="en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/$RELEASE</a:t>
            </a:r>
          </a:p>
          <a:p>
            <a:r>
              <a:rPr lang="en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cp LICENSE </a:t>
            </a:r>
            <a:r>
              <a:rPr lang="en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README.md</a:t>
            </a:r>
            <a:r>
              <a:rPr lang="en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 target/release/</a:t>
            </a:r>
            <a:r>
              <a:rPr lang="en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lis</a:t>
            </a:r>
            <a:r>
              <a:rPr lang="en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dist</a:t>
            </a:r>
            <a:r>
              <a:rPr lang="en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/$RELEASE</a:t>
            </a:r>
          </a:p>
          <a:p>
            <a:endParaRPr lang="en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tar </a:t>
            </a:r>
            <a:r>
              <a:rPr lang="en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cvfz</a:t>
            </a:r>
            <a:r>
              <a:rPr lang="en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dist</a:t>
            </a:r>
            <a:r>
              <a:rPr lang="en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/$</a:t>
            </a:r>
            <a:r>
              <a:rPr lang="en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RELEASE.tar.gz</a:t>
            </a:r>
            <a:r>
              <a:rPr lang="en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 -C </a:t>
            </a:r>
            <a:r>
              <a:rPr lang="en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dist</a:t>
            </a:r>
            <a:r>
              <a:rPr lang="en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 $RELEASE</a:t>
            </a:r>
            <a:endParaRPr kumimoji="1" lang="ja-JP" alt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471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DA2874-0510-7F3C-A691-24B06FDD6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800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altLang="ja-JP" sz="4800" dirty="0" err="1">
                <a:latin typeface="Consolas" panose="020B0609020204030204" pitchFamily="49" charset="0"/>
                <a:cs typeface="Consolas" panose="020B0609020204030204" pitchFamily="49" charset="0"/>
              </a:rPr>
              <a:t>github</a:t>
            </a:r>
            <a:r>
              <a:rPr lang="en-US" altLang="ja-JP" sz="4800" dirty="0">
                <a:latin typeface="Consolas" panose="020B0609020204030204" pitchFamily="49" charset="0"/>
                <a:cs typeface="Consolas" panose="020B0609020204030204" pitchFamily="49" charset="0"/>
              </a:rPr>
              <a:t>/scripts/</a:t>
            </a:r>
            <a:br>
              <a:rPr lang="en-US" altLang="ja-JP" sz="4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ja-JP" sz="4800" dirty="0" err="1">
                <a:latin typeface="Consolas" panose="020B0609020204030204" pitchFamily="49" charset="0"/>
                <a:cs typeface="Consolas" panose="020B0609020204030204" pitchFamily="49" charset="0"/>
              </a:rPr>
              <a:t>upload_assets.sh</a:t>
            </a:r>
            <a:endParaRPr kumimoji="1" lang="ja-JP" altLang="en-US" sz="480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668119D-1A8B-8551-1383-72DBEC4EE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E91373E-8B9B-A4E3-45B6-D7C0739F6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2025-05-02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D52D4A4-77A0-2E01-A912-7F91F636F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14</a:t>
            </a:fld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76EE2AF-3119-73C6-CA0B-EA38AF693D72}"/>
              </a:ext>
            </a:extLst>
          </p:cNvPr>
          <p:cNvSpPr txBox="1"/>
          <p:nvPr/>
        </p:nvSpPr>
        <p:spPr>
          <a:xfrm>
            <a:off x="838200" y="1825625"/>
            <a:ext cx="4996881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#! /bin/</a:t>
            </a:r>
            <a:r>
              <a:rPr lang="en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sh</a:t>
            </a:r>
            <a:endParaRPr lang="en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TAG=$1</a:t>
            </a:r>
          </a:p>
          <a:p>
            <a:endParaRPr lang="en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for </a:t>
            </a:r>
            <a:r>
              <a:rPr lang="en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 in </a:t>
            </a:r>
            <a:r>
              <a:rPr lang="en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dist</a:t>
            </a:r>
            <a:r>
              <a:rPr lang="en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/*.</a:t>
            </a:r>
            <a:r>
              <a:rPr lang="en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tar.gz</a:t>
            </a:r>
            <a:endParaRPr lang="en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do</a:t>
            </a:r>
          </a:p>
          <a:p>
            <a:r>
              <a:rPr lang="en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    echo "Uploading $</a:t>
            </a:r>
            <a:r>
              <a:rPr lang="en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 to $UPLOAD_URL"</a:t>
            </a:r>
          </a:p>
          <a:p>
            <a:r>
              <a:rPr lang="en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gh</a:t>
            </a:r>
            <a:r>
              <a:rPr lang="en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 release upload </a:t>
            </a:r>
            <a:r>
              <a:rPr lang="en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v$TAG</a:t>
            </a:r>
            <a:r>
              <a:rPr lang="en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 $</a:t>
            </a:r>
            <a:r>
              <a:rPr lang="en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endParaRPr lang="en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done</a:t>
            </a:r>
            <a:endParaRPr kumimoji="1" lang="ja-JP" alt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5275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42FA4-689C-9D7B-98F2-9CCED951E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876B7EB6-6609-768D-8A70-46882896CA6F}"/>
              </a:ext>
            </a:extLst>
          </p:cNvPr>
          <p:cNvGrpSpPr/>
          <p:nvPr/>
        </p:nvGrpSpPr>
        <p:grpSpPr>
          <a:xfrm>
            <a:off x="7802216" y="2569201"/>
            <a:ext cx="3551584" cy="979715"/>
            <a:chOff x="7802215" y="2571868"/>
            <a:chExt cx="3551584" cy="979715"/>
          </a:xfrm>
        </p:grpSpPr>
        <p:sp>
          <p:nvSpPr>
            <p:cNvPr id="10" name="三角形 9">
              <a:extLst>
                <a:ext uri="{FF2B5EF4-FFF2-40B4-BE49-F238E27FC236}">
                  <a16:creationId xmlns:a16="http://schemas.microsoft.com/office/drawing/2014/main" id="{C7B57E04-64D4-7C63-33FC-06BA634A0C08}"/>
                </a:ext>
              </a:extLst>
            </p:cNvPr>
            <p:cNvSpPr/>
            <p:nvPr/>
          </p:nvSpPr>
          <p:spPr>
            <a:xfrm rot="16200000">
              <a:off x="7982215" y="2701725"/>
              <a:ext cx="360000" cy="720000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角丸四角形 10">
              <a:extLst>
                <a:ext uri="{FF2B5EF4-FFF2-40B4-BE49-F238E27FC236}">
                  <a16:creationId xmlns:a16="http://schemas.microsoft.com/office/drawing/2014/main" id="{83388EB3-E4DE-A02D-8FAB-D6E7F5DF0833}"/>
                </a:ext>
              </a:extLst>
            </p:cNvPr>
            <p:cNvSpPr/>
            <p:nvPr/>
          </p:nvSpPr>
          <p:spPr>
            <a:xfrm>
              <a:off x="8162216" y="2571868"/>
              <a:ext cx="3191583" cy="979715"/>
            </a:xfrm>
            <a:prstGeom prst="roundRect">
              <a:avLst>
                <a:gd name="adj" fmla="val 9372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ja-JP" dirty="0" err="1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README.md</a:t>
              </a:r>
              <a:endParaRPr lang="en-US" altLang="ja-JP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kumimoji="1" lang="en-US" altLang="ja-JP" dirty="0" err="1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src</a:t>
              </a:r>
              <a:r>
                <a:rPr lang="en-US" altLang="ja-JP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/main/</a:t>
              </a:r>
              <a:r>
                <a:rPr lang="en-US" altLang="ja-JP" dirty="0" err="1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version.go</a:t>
              </a:r>
              <a:endParaRPr lang="en-US" altLang="ja-JP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  <a:cs typeface="Consolas" panose="020B0609020204030204" pitchFamily="49" charset="0"/>
                </a:rPr>
                <a:t>ドキュメント（</a:t>
              </a:r>
              <a:r>
                <a:rPr lang="en-US" altLang="ja-JP" dirty="0">
                  <a:solidFill>
                    <a:schemeClr val="tx1"/>
                  </a:solidFill>
                  <a:latin typeface="Consolas" panose="020B0609020204030204" pitchFamily="49" charset="0"/>
                  <a:ea typeface="Meiryo" panose="020B0604030504040204" pitchFamily="34" charset="-128"/>
                  <a:cs typeface="Consolas" panose="020B0609020204030204" pitchFamily="49" charset="0"/>
                </a:rPr>
                <a:t>docs</a:t>
              </a:r>
              <a:r>
                <a:rPr lang="ja-JP" altLang="en-US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  <a:cs typeface="Consolas" panose="020B0609020204030204" pitchFamily="49" charset="0"/>
                </a:rPr>
                <a:t>）</a:t>
              </a:r>
              <a:endParaRPr kumimoji="1" lang="ja-JP" altLang="en-US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Consolas" panose="020B0609020204030204" pitchFamily="49" charset="0"/>
              </a:endParaRPr>
            </a:p>
          </p:txBody>
        </p: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5F637662-DEC0-7566-0EAB-05A2D9803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Continuous</a:t>
            </a:r>
            <a:br>
              <a:rPr kumimoji="1" lang="en-US" altLang="ja-JP" dirty="0"/>
            </a:br>
            <a:r>
              <a:rPr kumimoji="1" lang="en-US" altLang="ja-JP" dirty="0"/>
              <a:t>Delivery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2E85F9E-427B-4554-C51D-EEA60C1B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95991" cy="466725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ja-JP" altLang="en-US"/>
              <a:t>特定のブランチの</a:t>
            </a:r>
            <a:r>
              <a:rPr kumimoji="1" lang="en-US" altLang="ja-JP" dirty="0"/>
              <a:t>push</a:t>
            </a:r>
            <a:r>
              <a:rPr kumimoji="1" lang="ja-JP" altLang="en-US"/>
              <a:t>によりプロダクトをリリースする．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kumimoji="1" lang="ja-JP" altLang="en-US"/>
              <a:t>行うべきこと．</a:t>
            </a:r>
            <a:endParaRPr kumimoji="1" lang="en-US" altLang="ja-JP" dirty="0"/>
          </a:p>
          <a:p>
            <a:pPr marL="1398588" lvl="2" indent="-484188">
              <a:lnSpc>
                <a:spcPct val="120000"/>
              </a:lnSpc>
              <a:buFont typeface="+mj-lt"/>
              <a:buAutoNum type="arabicPeriod"/>
            </a:pPr>
            <a:r>
              <a:rPr lang="ja-JP" altLang="en-US"/>
              <a:t>バージョンを新しいものに更新する．</a:t>
            </a:r>
            <a:endParaRPr lang="en-US" altLang="ja-JP" dirty="0"/>
          </a:p>
          <a:p>
            <a:pPr marL="1398588" lvl="2" indent="-484188">
              <a:lnSpc>
                <a:spcPct val="120000"/>
              </a:lnSpc>
              <a:buFont typeface="+mj-lt"/>
              <a:buAutoNum type="arabicPeriod"/>
            </a:pPr>
            <a:r>
              <a:rPr kumimoji="1" lang="ja-JP" altLang="en-US"/>
              <a:t>リリースに必要なファイルを作成する．</a:t>
            </a:r>
            <a:endParaRPr kumimoji="1" lang="en-US" altLang="ja-JP" dirty="0"/>
          </a:p>
          <a:p>
            <a:pPr marL="1398588" lvl="2" indent="-484188">
              <a:lnSpc>
                <a:spcPct val="120000"/>
              </a:lnSpc>
              <a:buFont typeface="+mj-lt"/>
              <a:buAutoNum type="arabicPeriod"/>
            </a:pPr>
            <a:r>
              <a:rPr lang="ja-JP" altLang="en-US"/>
              <a:t>リリースファイルを作成する．</a:t>
            </a:r>
            <a:endParaRPr lang="en-US" altLang="ja-JP" dirty="0"/>
          </a:p>
          <a:p>
            <a:pPr marL="1398588" lvl="2" indent="-484188">
              <a:lnSpc>
                <a:spcPct val="120000"/>
              </a:lnSpc>
              <a:buFont typeface="+mj-lt"/>
              <a:buAutoNum type="arabicPeriod"/>
            </a:pPr>
            <a:r>
              <a:rPr kumimoji="1" lang="ja-JP" altLang="en-US"/>
              <a:t>タグを付ける．</a:t>
            </a:r>
            <a:endParaRPr kumimoji="1" lang="en-US" altLang="ja-JP" dirty="0"/>
          </a:p>
          <a:p>
            <a:pPr marL="1398588" lvl="2" indent="-484188">
              <a:lnSpc>
                <a:spcPct val="120000"/>
              </a:lnSpc>
              <a:buFont typeface="+mj-lt"/>
              <a:buAutoNum type="arabicPeriod"/>
            </a:pPr>
            <a:r>
              <a:rPr kumimoji="1" lang="ja-JP" altLang="en-US"/>
              <a:t>リリースページを作成する．</a:t>
            </a:r>
            <a:endParaRPr kumimoji="1" lang="en-US" altLang="ja-JP" dirty="0"/>
          </a:p>
          <a:p>
            <a:pPr marL="1398588" lvl="2" indent="-484188">
              <a:lnSpc>
                <a:spcPct val="120000"/>
              </a:lnSpc>
              <a:buFont typeface="+mj-lt"/>
              <a:buAutoNum type="arabicPeriod"/>
            </a:pPr>
            <a:r>
              <a:rPr lang="ja-JP" altLang="en-US"/>
              <a:t>リリースページにリリースファイルをアップロードする．</a:t>
            </a:r>
            <a:endParaRPr lang="en-US" altLang="ja-JP" dirty="0"/>
          </a:p>
          <a:p>
            <a:pPr marL="1398588" lvl="2" indent="-484188">
              <a:lnSpc>
                <a:spcPct val="120000"/>
              </a:lnSpc>
              <a:buFont typeface="+mj-lt"/>
              <a:buAutoNum type="arabicPeriod"/>
            </a:pPr>
            <a:r>
              <a:rPr kumimoji="1" lang="en-US" altLang="ja-JP" dirty="0"/>
              <a:t>DOI</a:t>
            </a:r>
            <a:r>
              <a:rPr kumimoji="1" lang="ja-JP" altLang="en-US"/>
              <a:t>を発行する．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896E7D6-FE06-96BE-589E-92FF893F9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2025-05-02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DA7794B-B0B2-D625-2BAD-30AD23943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15</a:t>
            </a:fld>
            <a:endParaRPr kumimoji="1" lang="ja-JP" altLang="en-US"/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EF45F79C-CE6D-4D15-D927-044A681267D7}"/>
              </a:ext>
            </a:extLst>
          </p:cNvPr>
          <p:cNvGrpSpPr/>
          <p:nvPr/>
        </p:nvGrpSpPr>
        <p:grpSpPr>
          <a:xfrm>
            <a:off x="7802217" y="681037"/>
            <a:ext cx="3551583" cy="869167"/>
            <a:chOff x="8166651" y="2806149"/>
            <a:chExt cx="3551583" cy="869167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7" name="三角形 6">
              <a:extLst>
                <a:ext uri="{FF2B5EF4-FFF2-40B4-BE49-F238E27FC236}">
                  <a16:creationId xmlns:a16="http://schemas.microsoft.com/office/drawing/2014/main" id="{316EAC6C-9BC1-F95D-8DF2-4E315F8C8AF0}"/>
                </a:ext>
              </a:extLst>
            </p:cNvPr>
            <p:cNvSpPr/>
            <p:nvPr/>
          </p:nvSpPr>
          <p:spPr>
            <a:xfrm rot="13500000">
              <a:off x="9033280" y="2775316"/>
              <a:ext cx="360000" cy="14400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角丸四角形 7">
              <a:extLst>
                <a:ext uri="{FF2B5EF4-FFF2-40B4-BE49-F238E27FC236}">
                  <a16:creationId xmlns:a16="http://schemas.microsoft.com/office/drawing/2014/main" id="{0B585F55-0EFC-8137-77E0-0314263C1673}"/>
                </a:ext>
              </a:extLst>
            </p:cNvPr>
            <p:cNvSpPr/>
            <p:nvPr/>
          </p:nvSpPr>
          <p:spPr>
            <a:xfrm>
              <a:off x="8166651" y="2806149"/>
              <a:ext cx="3551583" cy="622852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2800" dirty="0">
                  <a:solidFill>
                    <a:sysClr val="windowText" lastClr="0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</a:t>
              </a:r>
              <a:r>
                <a:rPr kumimoji="1" lang="en-US" altLang="ja-JP" sz="2800" dirty="0">
                  <a:solidFill>
                    <a:sysClr val="windowText" lastClr="0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eleases/</a:t>
              </a:r>
              <a:r>
                <a:rPr kumimoji="1" lang="en-US" altLang="ja-JP" sz="2800" dirty="0" err="1">
                  <a:solidFill>
                    <a:sysClr val="windowText" lastClr="0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vX.Y.Z</a:t>
              </a:r>
              <a:endParaRPr kumimoji="1" lang="ja-JP" altLang="en-US" sz="280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088FD5B3-1915-F5DE-194E-E97E22E91E35}"/>
              </a:ext>
            </a:extLst>
          </p:cNvPr>
          <p:cNvGrpSpPr/>
          <p:nvPr/>
        </p:nvGrpSpPr>
        <p:grpSpPr>
          <a:xfrm>
            <a:off x="7656443" y="3730337"/>
            <a:ext cx="3697357" cy="851279"/>
            <a:chOff x="7656442" y="2499573"/>
            <a:chExt cx="3697357" cy="851279"/>
          </a:xfrm>
        </p:grpSpPr>
        <p:sp>
          <p:nvSpPr>
            <p:cNvPr id="13" name="三角形 12">
              <a:extLst>
                <a:ext uri="{FF2B5EF4-FFF2-40B4-BE49-F238E27FC236}">
                  <a16:creationId xmlns:a16="http://schemas.microsoft.com/office/drawing/2014/main" id="{30FE8E01-7FCE-8297-79B6-62392C4B58CE}"/>
                </a:ext>
              </a:extLst>
            </p:cNvPr>
            <p:cNvSpPr/>
            <p:nvPr/>
          </p:nvSpPr>
          <p:spPr>
            <a:xfrm rot="18000000">
              <a:off x="7836442" y="2319573"/>
              <a:ext cx="360000" cy="720000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角丸四角形 13">
              <a:extLst>
                <a:ext uri="{FF2B5EF4-FFF2-40B4-BE49-F238E27FC236}">
                  <a16:creationId xmlns:a16="http://schemas.microsoft.com/office/drawing/2014/main" id="{A06278D9-92AB-7F3F-65C2-4D36A38A2E67}"/>
                </a:ext>
              </a:extLst>
            </p:cNvPr>
            <p:cNvSpPr/>
            <p:nvPr/>
          </p:nvSpPr>
          <p:spPr>
            <a:xfrm>
              <a:off x="8162216" y="2571868"/>
              <a:ext cx="3191583" cy="778984"/>
            </a:xfrm>
            <a:prstGeom prst="roundRect">
              <a:avLst>
                <a:gd name="adj" fmla="val 9372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  <a:cs typeface="Consolas" panose="020B0609020204030204" pitchFamily="49" charset="0"/>
                </a:rPr>
                <a:t>補完ファイル</a:t>
              </a:r>
              <a:endParaRPr lang="en-US" altLang="ja-JP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Consolas" panose="020B0609020204030204" pitchFamily="49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kumimoji="1" lang="ja-JP" altLang="en-US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  <a:cs typeface="Consolas" panose="020B0609020204030204" pitchFamily="49" charset="0"/>
                </a:rPr>
                <a:t>ドキュメント</a:t>
              </a:r>
              <a:endParaRPr kumimoji="1" lang="en-US" altLang="ja-JP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Consolas" panose="020B0609020204030204" pitchFamily="49" charset="0"/>
              </a:endParaRPr>
            </a:p>
          </p:txBody>
        </p:sp>
      </p:grp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011694A-0508-3897-C200-A872F92271E6}"/>
              </a:ext>
            </a:extLst>
          </p:cNvPr>
          <p:cNvSpPr/>
          <p:nvPr/>
        </p:nvSpPr>
        <p:spPr>
          <a:xfrm>
            <a:off x="623857" y="1724436"/>
            <a:ext cx="11210333" cy="3826132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4538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2FA061-9EB9-CE5A-F5DB-69C0C8EA2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DOI</a:t>
            </a:r>
            <a:br>
              <a:rPr kumimoji="1" lang="en-US" altLang="ja-JP" dirty="0"/>
            </a:br>
            <a:r>
              <a:rPr kumimoji="1" lang="en-US" altLang="ja-JP" sz="4400" dirty="0"/>
              <a:t>(</a:t>
            </a:r>
            <a:r>
              <a:rPr lang="en-US" altLang="ja-JP" sz="4400" dirty="0"/>
              <a:t>Digital Object Identifier)</a:t>
            </a:r>
            <a:endParaRPr kumimoji="1" lang="ja-JP" altLang="en-US" sz="440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5C34C3-266B-1B8F-130C-F282B522E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ja-JP" altLang="en-US"/>
              <a:t>インターネット上のオブジェクトに恒久的に与えられる</a:t>
            </a:r>
            <a:r>
              <a:rPr kumimoji="1" lang="en-US" altLang="ja-JP" dirty="0"/>
              <a:t>ID</a:t>
            </a:r>
            <a:r>
              <a:rPr kumimoji="1" lang="ja-JP" altLang="en-US"/>
              <a:t>のこと．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論文などに与えられることが多い．</a:t>
            </a:r>
            <a:endParaRPr lang="en-US" altLang="ja-JP" dirty="0"/>
          </a:p>
          <a:p>
            <a:pPr lvl="2">
              <a:lnSpc>
                <a:spcPct val="120000"/>
              </a:lnSpc>
            </a:pPr>
            <a:r>
              <a:rPr lang="en-US" altLang="ja-JP" dirty="0"/>
              <a:t>URL</a:t>
            </a:r>
            <a:r>
              <a:rPr lang="ja-JP" altLang="en-US"/>
              <a:t>はサーバの移転やサイトの改築により変わる恐れがある．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kumimoji="1" lang="ja-JP" altLang="en-US"/>
              <a:t>ソフトウェアにも</a:t>
            </a:r>
            <a:r>
              <a:rPr lang="en-US" altLang="ja-JP" dirty="0"/>
              <a:t>DOI</a:t>
            </a:r>
            <a:r>
              <a:rPr lang="ja-JP" altLang="en-US"/>
              <a:t>を与えられる．</a:t>
            </a:r>
            <a:endParaRPr lang="en-US" altLang="ja-JP" dirty="0"/>
          </a:p>
          <a:p>
            <a:pPr lvl="2">
              <a:lnSpc>
                <a:spcPct val="120000"/>
              </a:lnSpc>
            </a:pPr>
            <a:r>
              <a:rPr lang="ja-JP" altLang="en-US">
                <a:hlinkClick r:id="rId2"/>
              </a:rPr>
              <a:t>コンテンツを参照して引用する．</a:t>
            </a:r>
            <a:endParaRPr lang="en-US" altLang="ja-JP" dirty="0"/>
          </a:p>
          <a:p>
            <a:pPr lvl="2">
              <a:lnSpc>
                <a:spcPct val="120000"/>
              </a:lnSpc>
            </a:pPr>
            <a:r>
              <a:rPr lang="en" altLang="ja-JP" dirty="0">
                <a:hlinkClick r:id="rId3"/>
              </a:rPr>
              <a:t>Making your project citable</a:t>
            </a:r>
            <a:endParaRPr lang="en" altLang="ja-JP" dirty="0"/>
          </a:p>
          <a:p>
            <a:pPr lvl="1">
              <a:lnSpc>
                <a:spcPct val="120000"/>
              </a:lnSpc>
            </a:pPr>
            <a:r>
              <a:rPr kumimoji="1" lang="ja-JP" altLang="en-US"/>
              <a:t>一度設定すれば後は自動的に付けられる．</a:t>
            </a:r>
            <a:endParaRPr kumimoji="1"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883382C-AEB4-3DC0-928E-53B52A805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2025-05-02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0C21E15-D481-9E02-8A16-40D01DB14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5C2EA-A201-0F41-BE6C-96A0CC88D6B3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99344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3D96A81-67C7-4BA4-7BBB-708D1C278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1434" cy="4351338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kumimoji="1" lang="en-US" altLang="ja-JP" dirty="0"/>
              <a:t>GitHub</a:t>
            </a:r>
            <a:r>
              <a:rPr kumimoji="1" lang="ja-JP" altLang="en-US"/>
              <a:t>でログインする．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メニューから，</a:t>
            </a:r>
            <a:r>
              <a:rPr lang="en-US" altLang="ja-JP" dirty="0"/>
              <a:t>My Account -&gt; GitHub </a:t>
            </a:r>
            <a:r>
              <a:rPr lang="ja-JP" altLang="en-US"/>
              <a:t>を選択する．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kumimoji="1" lang="en-US" altLang="ja-JP" dirty="0"/>
              <a:t>Repositories</a:t>
            </a:r>
            <a:r>
              <a:rPr kumimoji="1" lang="ja-JP" altLang="en-US"/>
              <a:t>から対象のリポジ</a:t>
            </a:r>
            <a:br>
              <a:rPr kumimoji="1" lang="en-US" altLang="ja-JP" dirty="0"/>
            </a:br>
            <a:r>
              <a:rPr kumimoji="1" lang="ja-JP" altLang="en-US"/>
              <a:t>トリのスイッチを入れる．</a:t>
            </a:r>
            <a:endParaRPr kumimoji="1" lang="en-US" altLang="ja-JP" dirty="0"/>
          </a:p>
          <a:p>
            <a:pPr>
              <a:lnSpc>
                <a:spcPct val="120000"/>
              </a:lnSpc>
            </a:pPr>
            <a:r>
              <a:rPr lang="ja-JP" altLang="en-US"/>
              <a:t>リポジトリ名をクリックすると</a:t>
            </a:r>
            <a:br>
              <a:rPr lang="en-US" altLang="ja-JP" dirty="0"/>
            </a:br>
            <a:r>
              <a:rPr lang="ja-JP" altLang="en-US"/>
              <a:t>次のページの画面に遷移する．</a:t>
            </a:r>
            <a:endParaRPr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B57144-27FA-6734-3F53-5A2609730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2025-05-02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F16D0E3-7DC0-5D11-9DB1-D7A92DF26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17</a:t>
            </a:fld>
            <a:endParaRPr kumimoji="1" lang="ja-JP" altLang="en-US"/>
          </a:p>
        </p:txBody>
      </p:sp>
      <p:pic>
        <p:nvPicPr>
          <p:cNvPr id="13" name="グラフィックス 12">
            <a:extLst>
              <a:ext uri="{FF2B5EF4-FFF2-40B4-BE49-F238E27FC236}">
                <a16:creationId xmlns:a16="http://schemas.microsoft.com/office/drawing/2014/main" id="{2F734256-A330-E60D-F140-AA07332455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365125"/>
            <a:ext cx="3270000" cy="1080000"/>
          </a:xfrm>
          <a:prstGeom prst="rect">
            <a:avLst/>
          </a:prstGeom>
        </p:spPr>
      </p:pic>
      <p:pic>
        <p:nvPicPr>
          <p:cNvPr id="15" name="図 14" descr="グラフィカル ユーザー インターフェイス, テキスト, アプリケーション, メール&#10;&#10;自動的に生成された説明">
            <a:extLst>
              <a:ext uri="{FF2B5EF4-FFF2-40B4-BE49-F238E27FC236}">
                <a16:creationId xmlns:a16="http://schemas.microsoft.com/office/drawing/2014/main" id="{B3E28134-7FA9-BD2B-8FC7-E442211C71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9043" y="3150013"/>
            <a:ext cx="2874757" cy="302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5489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63A1AD-E467-6C81-DE37-824E77B30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2366" y="365125"/>
            <a:ext cx="7121434" cy="1325563"/>
          </a:xfrm>
        </p:spPr>
        <p:txBody>
          <a:bodyPr/>
          <a:lstStyle/>
          <a:p>
            <a:r>
              <a:rPr lang="ja-JP" altLang="en-US"/>
              <a:t>リリース前後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0E711EC-BAD8-DD52-6915-01FD8C41A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リリース前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662B1A9-7DA6-7E2D-DE08-F940B2F1D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2025-05-02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5E5F4BB-E536-A9E8-8D8E-FDCF53FAE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18</a:t>
            </a:fld>
            <a:endParaRPr kumimoji="1" lang="ja-JP" altLang="en-US"/>
          </a:p>
        </p:txBody>
      </p:sp>
      <p:pic>
        <p:nvPicPr>
          <p:cNvPr id="6" name="図 5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D79B25B3-379D-B5F1-24F0-0DABE673A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72768"/>
            <a:ext cx="6304281" cy="4385232"/>
          </a:xfrm>
          <a:prstGeom prst="rect">
            <a:avLst/>
          </a:prstGeom>
        </p:spPr>
      </p:pic>
      <p:pic>
        <p:nvPicPr>
          <p:cNvPr id="7" name="グラフィックス 6">
            <a:extLst>
              <a:ext uri="{FF2B5EF4-FFF2-40B4-BE49-F238E27FC236}">
                <a16:creationId xmlns:a16="http://schemas.microsoft.com/office/drawing/2014/main" id="{35EF113B-93C4-B36E-AEB4-745E52DE56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365125"/>
            <a:ext cx="327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7294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EE9032-7C1A-16B7-820A-F23837A83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次回までに行うこと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E9F06B6-6D7D-1305-D484-1C53D45FE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20000"/>
              </a:lnSpc>
            </a:pPr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バージョンアップ処理を書く．</a:t>
            </a:r>
            <a:endParaRPr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20000"/>
              </a:lnSpc>
            </a:pP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github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/workflows/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update_version.yaml</a:t>
            </a:r>
            <a:endParaRPr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</a:pPr>
            <a:r>
              <a:rPr kumimoji="1"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リリース処理を書く．</a:t>
            </a:r>
            <a:endParaRPr kumimoji="1"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20000"/>
              </a:lnSpc>
            </a:pP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github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/workflows/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publish.yaml</a:t>
            </a:r>
            <a:endParaRPr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</a:pP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DOI</a:t>
            </a:r>
            <a:r>
              <a:rPr kumimoji="1"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を発行できるようにしておく．</a:t>
            </a:r>
            <a:endParaRPr kumimoji="1"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FF272E1-B4FA-B817-D288-73D09CCFB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2025-05-02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B31930D-847B-140F-D3CF-339004A8A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98997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C7B8A-3048-0E17-4E65-6BB3940E1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C152DD-42B1-C959-310C-5596310B4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講義スケジュール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53B4C87-0465-B849-E8A4-D11AE6927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2026-04-24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640A5C3-1C97-D5CE-5835-369052E76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20</a:t>
            </a:fld>
            <a:endParaRPr kumimoji="1" lang="ja-JP" altLang="en-US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1D00B6E1-4687-DD30-0C95-E018A03186B6}"/>
              </a:ext>
            </a:extLst>
          </p:cNvPr>
          <p:cNvGrpSpPr/>
          <p:nvPr/>
        </p:nvGrpSpPr>
        <p:grpSpPr>
          <a:xfrm>
            <a:off x="838200" y="1342345"/>
            <a:ext cx="4680000" cy="720000"/>
            <a:chOff x="838200" y="1690688"/>
            <a:chExt cx="4680000" cy="720000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ABE6BC27-B0CF-FB8A-FCFC-C3D48B45F5AD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" name="角丸四角形 5">
              <a:extLst>
                <a:ext uri="{FF2B5EF4-FFF2-40B4-BE49-F238E27FC236}">
                  <a16:creationId xmlns:a16="http://schemas.microsoft.com/office/drawing/2014/main" id="{8CD90318-43BB-EA93-4351-E2E645DB7C6E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2026-04-10 (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Fri</a:t>
              </a:r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01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1D19765D-6D9E-BE8A-C35F-C0842BF58A29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0" name="角丸四角形 9">
              <a:extLst>
                <a:ext uri="{FF2B5EF4-FFF2-40B4-BE49-F238E27FC236}">
                  <a16:creationId xmlns:a16="http://schemas.microsoft.com/office/drawing/2014/main" id="{368C3FC4-96EC-7959-9183-FC56ED57F614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全体説明</a:t>
              </a:r>
              <a:endParaRPr kumimoji="1"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CBF2368E-431F-23FF-ABAC-DCBE8B00A2E6}"/>
              </a:ext>
            </a:extLst>
          </p:cNvPr>
          <p:cNvGrpSpPr/>
          <p:nvPr/>
        </p:nvGrpSpPr>
        <p:grpSpPr>
          <a:xfrm>
            <a:off x="838200" y="5289585"/>
            <a:ext cx="4680000" cy="720000"/>
            <a:chOff x="838200" y="1690688"/>
            <a:chExt cx="4680000" cy="720000"/>
          </a:xfrm>
        </p:grpSpPr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C3E43535-793E-98F8-B9D3-41FB08D52404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4" name="角丸四角形 33">
              <a:extLst>
                <a:ext uri="{FF2B5EF4-FFF2-40B4-BE49-F238E27FC236}">
                  <a16:creationId xmlns:a16="http://schemas.microsoft.com/office/drawing/2014/main" id="{9320EDA8-C255-9BAB-1580-31408A06776B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2026-05-22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06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D5EEB65F-8846-F31B-58FD-FB34A003D41A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6" name="角丸四角形 35">
              <a:extLst>
                <a:ext uri="{FF2B5EF4-FFF2-40B4-BE49-F238E27FC236}">
                  <a16:creationId xmlns:a16="http://schemas.microsoft.com/office/drawing/2014/main" id="{DCA02163-31F0-72F9-771D-F7A5951B8152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プログラミング（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E0B5821C-0947-9FFF-7B62-D2D76035627F}"/>
              </a:ext>
            </a:extLst>
          </p:cNvPr>
          <p:cNvGrpSpPr/>
          <p:nvPr/>
        </p:nvGrpSpPr>
        <p:grpSpPr>
          <a:xfrm>
            <a:off x="838200" y="6079032"/>
            <a:ext cx="4680000" cy="720000"/>
            <a:chOff x="838200" y="1690688"/>
            <a:chExt cx="4680000" cy="720000"/>
          </a:xfrm>
        </p:grpSpPr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A1FDD6B4-851D-9F1B-5F89-140BDAB23DAC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9" name="角丸四角形 38">
              <a:extLst>
                <a:ext uri="{FF2B5EF4-FFF2-40B4-BE49-F238E27FC236}">
                  <a16:creationId xmlns:a16="http://schemas.microsoft.com/office/drawing/2014/main" id="{161144E2-C8EE-EC55-857C-B4274BF2EF42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2026-05-29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07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DF9BB2F0-18A9-5800-ACCD-F5F62633042D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1" name="角丸四角形 40">
              <a:extLst>
                <a:ext uri="{FF2B5EF4-FFF2-40B4-BE49-F238E27FC236}">
                  <a16:creationId xmlns:a16="http://schemas.microsoft.com/office/drawing/2014/main" id="{30DF07E3-32CD-FB48-8B69-C937DD34345F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プログラミング（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3/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kumimoji="1"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自動テスト（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23C952E5-CBB3-6136-2781-35DBA4B929B0}"/>
              </a:ext>
            </a:extLst>
          </p:cNvPr>
          <p:cNvGrpSpPr/>
          <p:nvPr/>
        </p:nvGrpSpPr>
        <p:grpSpPr>
          <a:xfrm>
            <a:off x="6673800" y="1342345"/>
            <a:ext cx="4680000" cy="720000"/>
            <a:chOff x="838200" y="1690688"/>
            <a:chExt cx="4680000" cy="720000"/>
          </a:xfrm>
        </p:grpSpPr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2E7DD661-9457-D7EA-AC48-CCBD7D71EBD2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4" name="角丸四角形 43">
              <a:extLst>
                <a:ext uri="{FF2B5EF4-FFF2-40B4-BE49-F238E27FC236}">
                  <a16:creationId xmlns:a16="http://schemas.microsoft.com/office/drawing/2014/main" id="{C86BAFB2-9846-80AE-4B5D-C20E6B69801F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2026-06-05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08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5" name="正方形/長方形 44">
              <a:extLst>
                <a:ext uri="{FF2B5EF4-FFF2-40B4-BE49-F238E27FC236}">
                  <a16:creationId xmlns:a16="http://schemas.microsoft.com/office/drawing/2014/main" id="{6DEE6E84-DB56-E788-4851-A46584C3BC68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6" name="角丸四角形 45">
              <a:extLst>
                <a:ext uri="{FF2B5EF4-FFF2-40B4-BE49-F238E27FC236}">
                  <a16:creationId xmlns:a16="http://schemas.microsoft.com/office/drawing/2014/main" id="{D477FACC-DF78-7F14-DEC3-2D3AFCE6D64A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自動テスト（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62" name="グループ化 61">
            <a:extLst>
              <a:ext uri="{FF2B5EF4-FFF2-40B4-BE49-F238E27FC236}">
                <a16:creationId xmlns:a16="http://schemas.microsoft.com/office/drawing/2014/main" id="{C087256F-407E-51CB-6282-68DF8EF971C3}"/>
              </a:ext>
            </a:extLst>
          </p:cNvPr>
          <p:cNvGrpSpPr/>
          <p:nvPr/>
        </p:nvGrpSpPr>
        <p:grpSpPr>
          <a:xfrm>
            <a:off x="6673800" y="2131793"/>
            <a:ext cx="4680000" cy="720000"/>
            <a:chOff x="838200" y="1690688"/>
            <a:chExt cx="4680000" cy="720000"/>
          </a:xfrm>
        </p:grpSpPr>
        <p:sp>
          <p:nvSpPr>
            <p:cNvPr id="63" name="正方形/長方形 62">
              <a:extLst>
                <a:ext uri="{FF2B5EF4-FFF2-40B4-BE49-F238E27FC236}">
                  <a16:creationId xmlns:a16="http://schemas.microsoft.com/office/drawing/2014/main" id="{34B7634A-A7C5-4706-E6D7-525BDDE959BB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4" name="角丸四角形 63">
              <a:extLst>
                <a:ext uri="{FF2B5EF4-FFF2-40B4-BE49-F238E27FC236}">
                  <a16:creationId xmlns:a16="http://schemas.microsoft.com/office/drawing/2014/main" id="{000B4F70-B3D2-B592-04BD-33BB48BDA274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2026-06-12 (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Fri</a:t>
              </a:r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09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5" name="正方形/長方形 64">
              <a:extLst>
                <a:ext uri="{FF2B5EF4-FFF2-40B4-BE49-F238E27FC236}">
                  <a16:creationId xmlns:a16="http://schemas.microsoft.com/office/drawing/2014/main" id="{384D70F8-41B0-89C8-472C-13ECC633288B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6" name="角丸四角形 65">
              <a:extLst>
                <a:ext uri="{FF2B5EF4-FFF2-40B4-BE49-F238E27FC236}">
                  <a16:creationId xmlns:a16="http://schemas.microsoft.com/office/drawing/2014/main" id="{86CA83CC-425C-192D-4709-571DFC305AA2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自動テスト（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3/3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F2E1E028-C828-5EF0-5332-4AE0CA1C4ED6}"/>
              </a:ext>
            </a:extLst>
          </p:cNvPr>
          <p:cNvGrpSpPr/>
          <p:nvPr/>
        </p:nvGrpSpPr>
        <p:grpSpPr>
          <a:xfrm>
            <a:off x="6673800" y="2921241"/>
            <a:ext cx="4680000" cy="720000"/>
            <a:chOff x="838200" y="1690688"/>
            <a:chExt cx="4680000" cy="720000"/>
          </a:xfrm>
        </p:grpSpPr>
        <p:sp>
          <p:nvSpPr>
            <p:cNvPr id="68" name="正方形/長方形 67">
              <a:extLst>
                <a:ext uri="{FF2B5EF4-FFF2-40B4-BE49-F238E27FC236}">
                  <a16:creationId xmlns:a16="http://schemas.microsoft.com/office/drawing/2014/main" id="{3A0ACFE8-162D-6559-5963-09CF89DD6C83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9" name="角丸四角形 68">
              <a:extLst>
                <a:ext uri="{FF2B5EF4-FFF2-40B4-BE49-F238E27FC236}">
                  <a16:creationId xmlns:a16="http://schemas.microsoft.com/office/drawing/2014/main" id="{C7312FA6-183C-D59E-7DCD-FB73964755E9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2026-06-19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10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id="{00CD12A9-E144-0903-9D72-F11E20B10227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1" name="角丸四角形 70">
              <a:extLst>
                <a:ext uri="{FF2B5EF4-FFF2-40B4-BE49-F238E27FC236}">
                  <a16:creationId xmlns:a16="http://schemas.microsoft.com/office/drawing/2014/main" id="{B6349A7A-3860-7104-26C1-F4D6D957AAF7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ドキュメント（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72" name="グループ化 71">
            <a:extLst>
              <a:ext uri="{FF2B5EF4-FFF2-40B4-BE49-F238E27FC236}">
                <a16:creationId xmlns:a16="http://schemas.microsoft.com/office/drawing/2014/main" id="{2B6EBADF-21FA-1759-CE99-697BB136524F}"/>
              </a:ext>
            </a:extLst>
          </p:cNvPr>
          <p:cNvGrpSpPr/>
          <p:nvPr/>
        </p:nvGrpSpPr>
        <p:grpSpPr>
          <a:xfrm>
            <a:off x="6673800" y="3710689"/>
            <a:ext cx="4680000" cy="720000"/>
            <a:chOff x="838200" y="1690688"/>
            <a:chExt cx="4680000" cy="720000"/>
          </a:xfrm>
        </p:grpSpPr>
        <p:sp>
          <p:nvSpPr>
            <p:cNvPr id="73" name="正方形/長方形 72">
              <a:extLst>
                <a:ext uri="{FF2B5EF4-FFF2-40B4-BE49-F238E27FC236}">
                  <a16:creationId xmlns:a16="http://schemas.microsoft.com/office/drawing/2014/main" id="{F816D9CB-BEC7-2BC0-C513-1F1D01AFC72E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4" name="角丸四角形 73">
              <a:extLst>
                <a:ext uri="{FF2B5EF4-FFF2-40B4-BE49-F238E27FC236}">
                  <a16:creationId xmlns:a16="http://schemas.microsoft.com/office/drawing/2014/main" id="{798B7886-7064-1F83-B2E5-336499B67F82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2026-06-26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11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5" name="正方形/長方形 74">
              <a:extLst>
                <a:ext uri="{FF2B5EF4-FFF2-40B4-BE49-F238E27FC236}">
                  <a16:creationId xmlns:a16="http://schemas.microsoft.com/office/drawing/2014/main" id="{02275D6E-DC81-5511-8FF7-ACC189903F8B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6" name="角丸四角形 75">
              <a:extLst>
                <a:ext uri="{FF2B5EF4-FFF2-40B4-BE49-F238E27FC236}">
                  <a16:creationId xmlns:a16="http://schemas.microsoft.com/office/drawing/2014/main" id="{4FE239CD-A4E7-752C-384A-1A92750AA508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ドキュメント（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kumimoji="1"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77" name="グループ化 76">
            <a:extLst>
              <a:ext uri="{FF2B5EF4-FFF2-40B4-BE49-F238E27FC236}">
                <a16:creationId xmlns:a16="http://schemas.microsoft.com/office/drawing/2014/main" id="{01EC9337-F44B-BB12-419F-2A5FFC417031}"/>
              </a:ext>
            </a:extLst>
          </p:cNvPr>
          <p:cNvGrpSpPr/>
          <p:nvPr/>
        </p:nvGrpSpPr>
        <p:grpSpPr>
          <a:xfrm>
            <a:off x="6673800" y="4500137"/>
            <a:ext cx="4680000" cy="720000"/>
            <a:chOff x="838200" y="1690688"/>
            <a:chExt cx="4680000" cy="720000"/>
          </a:xfrm>
        </p:grpSpPr>
        <p:sp>
          <p:nvSpPr>
            <p:cNvPr id="78" name="正方形/長方形 77">
              <a:extLst>
                <a:ext uri="{FF2B5EF4-FFF2-40B4-BE49-F238E27FC236}">
                  <a16:creationId xmlns:a16="http://schemas.microsoft.com/office/drawing/2014/main" id="{E6AD7EBE-38D7-2976-0334-5E4FA2E033A2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9" name="角丸四角形 78">
              <a:extLst>
                <a:ext uri="{FF2B5EF4-FFF2-40B4-BE49-F238E27FC236}">
                  <a16:creationId xmlns:a16="http://schemas.microsoft.com/office/drawing/2014/main" id="{6DD80476-77F4-C3DD-AC04-C3FB741D59E3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2026-07-03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12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0" name="正方形/長方形 79">
              <a:extLst>
                <a:ext uri="{FF2B5EF4-FFF2-40B4-BE49-F238E27FC236}">
                  <a16:creationId xmlns:a16="http://schemas.microsoft.com/office/drawing/2014/main" id="{CE3A3C75-2816-1100-5344-9B519A1F6611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1" name="角丸四角形 80">
              <a:extLst>
                <a:ext uri="{FF2B5EF4-FFF2-40B4-BE49-F238E27FC236}">
                  <a16:creationId xmlns:a16="http://schemas.microsoft.com/office/drawing/2014/main" id="{F425935C-800E-48F9-8675-28A80737316E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Docker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1/1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82" name="グループ化 81">
            <a:extLst>
              <a:ext uri="{FF2B5EF4-FFF2-40B4-BE49-F238E27FC236}">
                <a16:creationId xmlns:a16="http://schemas.microsoft.com/office/drawing/2014/main" id="{F9769EED-4580-B5A0-91C3-2F790E256702}"/>
              </a:ext>
            </a:extLst>
          </p:cNvPr>
          <p:cNvGrpSpPr/>
          <p:nvPr/>
        </p:nvGrpSpPr>
        <p:grpSpPr>
          <a:xfrm>
            <a:off x="6673800" y="5289585"/>
            <a:ext cx="4680000" cy="720000"/>
            <a:chOff x="838200" y="1690688"/>
            <a:chExt cx="4680000" cy="720000"/>
          </a:xfrm>
        </p:grpSpPr>
        <p:sp>
          <p:nvSpPr>
            <p:cNvPr id="83" name="正方形/長方形 82">
              <a:extLst>
                <a:ext uri="{FF2B5EF4-FFF2-40B4-BE49-F238E27FC236}">
                  <a16:creationId xmlns:a16="http://schemas.microsoft.com/office/drawing/2014/main" id="{94909E7E-2ACE-E412-E14A-D67EEC5A57EC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4" name="角丸四角形 83">
              <a:extLst>
                <a:ext uri="{FF2B5EF4-FFF2-40B4-BE49-F238E27FC236}">
                  <a16:creationId xmlns:a16="http://schemas.microsoft.com/office/drawing/2014/main" id="{6C9A0624-1BA0-3455-A7B8-42C0D52732A6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2026-07-10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13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5" name="正方形/長方形 84">
              <a:extLst>
                <a:ext uri="{FF2B5EF4-FFF2-40B4-BE49-F238E27FC236}">
                  <a16:creationId xmlns:a16="http://schemas.microsoft.com/office/drawing/2014/main" id="{41A4703E-5EA2-1CE8-FDA3-C38C43CA5EB5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6" name="角丸四角形 85">
              <a:extLst>
                <a:ext uri="{FF2B5EF4-FFF2-40B4-BE49-F238E27FC236}">
                  <a16:creationId xmlns:a16="http://schemas.microsoft.com/office/drawing/2014/main" id="{405259E6-BDF1-F8D6-A61F-248C412E28F8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補完（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1/1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kumimoji="1"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Homebrew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1/1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87" name="グループ化 86">
            <a:extLst>
              <a:ext uri="{FF2B5EF4-FFF2-40B4-BE49-F238E27FC236}">
                <a16:creationId xmlns:a16="http://schemas.microsoft.com/office/drawing/2014/main" id="{5090260F-315E-DE68-975E-133D660FFD96}"/>
              </a:ext>
            </a:extLst>
          </p:cNvPr>
          <p:cNvGrpSpPr/>
          <p:nvPr/>
        </p:nvGrpSpPr>
        <p:grpSpPr>
          <a:xfrm>
            <a:off x="6673800" y="6079032"/>
            <a:ext cx="4680000" cy="720000"/>
            <a:chOff x="838200" y="1690688"/>
            <a:chExt cx="4680000" cy="720000"/>
          </a:xfrm>
        </p:grpSpPr>
        <p:sp>
          <p:nvSpPr>
            <p:cNvPr id="88" name="正方形/長方形 87">
              <a:extLst>
                <a:ext uri="{FF2B5EF4-FFF2-40B4-BE49-F238E27FC236}">
                  <a16:creationId xmlns:a16="http://schemas.microsoft.com/office/drawing/2014/main" id="{974F5E61-9D98-5A2F-0136-CE6741E0D714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9" name="角丸四角形 88">
              <a:extLst>
                <a:ext uri="{FF2B5EF4-FFF2-40B4-BE49-F238E27FC236}">
                  <a16:creationId xmlns:a16="http://schemas.microsoft.com/office/drawing/2014/main" id="{D36559FD-5751-B4E0-D329-1596CCE3654A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2026-07-17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14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0" name="正方形/長方形 89">
              <a:extLst>
                <a:ext uri="{FF2B5EF4-FFF2-40B4-BE49-F238E27FC236}">
                  <a16:creationId xmlns:a16="http://schemas.microsoft.com/office/drawing/2014/main" id="{C99F1008-A0F6-1C78-8560-18967798CCBE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1" name="角丸四角形 90">
              <a:extLst>
                <a:ext uri="{FF2B5EF4-FFF2-40B4-BE49-F238E27FC236}">
                  <a16:creationId xmlns:a16="http://schemas.microsoft.com/office/drawing/2014/main" id="{D1379613-C4BD-45C7-C7D0-99F078CEAF6C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成果物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の発表会</a:t>
              </a:r>
              <a:endParaRPr kumimoji="1" lang="ja-JP" altLang="en-US" sz="16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3A07933A-CB51-FC51-6BAC-70AF6A8A9CC9}"/>
              </a:ext>
            </a:extLst>
          </p:cNvPr>
          <p:cNvGrpSpPr/>
          <p:nvPr/>
        </p:nvGrpSpPr>
        <p:grpSpPr>
          <a:xfrm>
            <a:off x="838200" y="2131793"/>
            <a:ext cx="4680000" cy="720000"/>
            <a:chOff x="838200" y="1690688"/>
            <a:chExt cx="4680000" cy="720000"/>
          </a:xfrm>
        </p:grpSpPr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DC2778C6-390C-9D53-DA76-3E556FA1C091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4" name="角丸四角形 13">
              <a:extLst>
                <a:ext uri="{FF2B5EF4-FFF2-40B4-BE49-F238E27FC236}">
                  <a16:creationId xmlns:a16="http://schemas.microsoft.com/office/drawing/2014/main" id="{3C6A70FE-34F2-FEFD-F266-8EB22615DBAA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2026-04-17 (Fru)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02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81F13B45-5DBC-A9DA-EEEE-46CBFC027BA9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6" name="角丸四角形 15">
              <a:extLst>
                <a:ext uri="{FF2B5EF4-FFF2-40B4-BE49-F238E27FC236}">
                  <a16:creationId xmlns:a16="http://schemas.microsoft.com/office/drawing/2014/main" id="{B1FF9B79-DFC1-E068-FD06-F392D9F4101A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Usage/README</a:t>
              </a:r>
              <a:endParaRPr kumimoji="1" lang="ja-JP" altLang="en-US" sz="16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EC98C4B9-EBDD-D37F-E5B4-D23354E51B5C}"/>
              </a:ext>
            </a:extLst>
          </p:cNvPr>
          <p:cNvGrpSpPr/>
          <p:nvPr/>
        </p:nvGrpSpPr>
        <p:grpSpPr>
          <a:xfrm>
            <a:off x="838200" y="2921241"/>
            <a:ext cx="4680000" cy="720000"/>
            <a:chOff x="838200" y="1690688"/>
            <a:chExt cx="4680000" cy="720000"/>
          </a:xfrm>
        </p:grpSpPr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FA1A5189-EE51-66F3-8F59-4CA5A3CFFEBA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9" name="角丸四角形 18">
              <a:extLst>
                <a:ext uri="{FF2B5EF4-FFF2-40B4-BE49-F238E27FC236}">
                  <a16:creationId xmlns:a16="http://schemas.microsoft.com/office/drawing/2014/main" id="{780DE577-9062-C748-56B7-4D811056D96A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2026-04-24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03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45E2F506-EE16-CBAD-CED2-42A8F2EB2CF4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1" name="角丸四角形 20">
              <a:extLst>
                <a:ext uri="{FF2B5EF4-FFF2-40B4-BE49-F238E27FC236}">
                  <a16:creationId xmlns:a16="http://schemas.microsoft.com/office/drawing/2014/main" id="{926E7487-D969-D505-904C-5B5F2F45788D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CI/CD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ACE99F98-1406-1BA5-7520-77293D651793}"/>
              </a:ext>
            </a:extLst>
          </p:cNvPr>
          <p:cNvGrpSpPr/>
          <p:nvPr/>
        </p:nvGrpSpPr>
        <p:grpSpPr>
          <a:xfrm>
            <a:off x="838200" y="3710689"/>
            <a:ext cx="4680000" cy="720000"/>
            <a:chOff x="838200" y="1690688"/>
            <a:chExt cx="4680000" cy="720000"/>
          </a:xfrm>
        </p:grpSpPr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A1413182-90C6-C540-96EC-FB39F8EA6C84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4" name="角丸四角形 23">
              <a:extLst>
                <a:ext uri="{FF2B5EF4-FFF2-40B4-BE49-F238E27FC236}">
                  <a16:creationId xmlns:a16="http://schemas.microsoft.com/office/drawing/2014/main" id="{5F248928-8AA4-5CFD-7FC6-2AB0DF62A3BE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2026-05-01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04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6816A1B9-242B-1933-F0B7-E1E277A9CCB3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6" name="角丸四角形 25">
              <a:extLst>
                <a:ext uri="{FF2B5EF4-FFF2-40B4-BE49-F238E27FC236}">
                  <a16:creationId xmlns:a16="http://schemas.microsoft.com/office/drawing/2014/main" id="{417679D6-2EFE-4312-BF5E-0C8295F70822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CI/CD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256C573-DCA9-3A1E-44CD-38C3539CBF6E}"/>
              </a:ext>
            </a:extLst>
          </p:cNvPr>
          <p:cNvSpPr/>
          <p:nvPr/>
        </p:nvSpPr>
        <p:spPr>
          <a:xfrm>
            <a:off x="712199" y="1300478"/>
            <a:ext cx="10777435" cy="5557521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DABF1B0-54A9-F2F6-0444-91022BB8A13C}"/>
              </a:ext>
            </a:extLst>
          </p:cNvPr>
          <p:cNvGrpSpPr/>
          <p:nvPr/>
        </p:nvGrpSpPr>
        <p:grpSpPr>
          <a:xfrm>
            <a:off x="838200" y="4500137"/>
            <a:ext cx="4680000" cy="720000"/>
            <a:chOff x="838200" y="1690688"/>
            <a:chExt cx="4680000" cy="720000"/>
          </a:xfrm>
        </p:grpSpPr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E6E3DE7E-9151-9358-3F7D-7BE9D1AB2F24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9" name="角丸四角形 28">
              <a:extLst>
                <a:ext uri="{FF2B5EF4-FFF2-40B4-BE49-F238E27FC236}">
                  <a16:creationId xmlns:a16="http://schemas.microsoft.com/office/drawing/2014/main" id="{7882902E-00E0-4B65-CF52-3E70475B31B9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2026-05-15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05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F57AB65C-08A8-64AE-EC69-631F6450A937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1" name="角丸四角形 30">
              <a:extLst>
                <a:ext uri="{FF2B5EF4-FFF2-40B4-BE49-F238E27FC236}">
                  <a16:creationId xmlns:a16="http://schemas.microsoft.com/office/drawing/2014/main" id="{9F7591DC-64CF-9F4B-A4A7-0BBDDAE3A840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プログラミング（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00520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" id="{9B92DAC1-B206-6E4D-9DDA-F3C380F9C271}" vid="{0ECE7065-281A-B545-8D42-4EC5E612C963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21252</TotalTime>
  <Words>2458</Words>
  <Application>Microsoft Macintosh PowerPoint</Application>
  <PresentationFormat>ワイド画面</PresentationFormat>
  <Paragraphs>389</Paragraphs>
  <Slides>20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5" baseType="lpstr">
      <vt:lpstr>Meiryo</vt:lpstr>
      <vt:lpstr>游ゴシック</vt:lpstr>
      <vt:lpstr>Arial</vt:lpstr>
      <vt:lpstr>Consolas</vt:lpstr>
      <vt:lpstr>Office テーマ</vt:lpstr>
      <vt:lpstr>エンピリカル ソフトウェア工学 第04回 CI/CD (2/2)</vt:lpstr>
      <vt:lpstr>講義スケジュール</vt:lpstr>
      <vt:lpstr>Continuous Delivery</vt:lpstr>
      <vt:lpstr>Continuous Delivery</vt:lpstr>
      <vt:lpstr>ビルドツールで行うこと</vt:lpstr>
      <vt:lpstr>配布ファイルを用意する．</vt:lpstr>
      <vt:lpstr>PowerPoint プレゼンテーション</vt:lpstr>
      <vt:lpstr>GitHub Actions .github/workflows/ update-version.yaml</vt:lpstr>
      <vt:lpstr>プロジェクト の設定</vt:lpstr>
      <vt:lpstr>.github/workflows/ publish.yaml（1/2）</vt:lpstr>
      <vt:lpstr>.github/workflows/ publish.yaml（2/2）</vt:lpstr>
      <vt:lpstr>.github/scripts/ update_version.sh</vt:lpstr>
      <vt:lpstr>.github/scripts/ make_distribution_files.sh</vt:lpstr>
      <vt:lpstr>.github/scripts/ upload_assets.sh</vt:lpstr>
      <vt:lpstr>Continuous Delivery</vt:lpstr>
      <vt:lpstr>DOI (Digital Object Identifier)</vt:lpstr>
      <vt:lpstr>PowerPoint プレゼンテーション</vt:lpstr>
      <vt:lpstr>リリース前後</vt:lpstr>
      <vt:lpstr>次回までに行うこと</vt:lpstr>
      <vt:lpstr>講義スケジュール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TAMADA HARUAKI</dc:creator>
  <cp:lastModifiedBy>TAMADA HARUAKI</cp:lastModifiedBy>
  <cp:revision>578</cp:revision>
  <dcterms:created xsi:type="dcterms:W3CDTF">2022-04-24T10:54:34Z</dcterms:created>
  <dcterms:modified xsi:type="dcterms:W3CDTF">2026-05-01T04:13:59Z</dcterms:modified>
</cp:coreProperties>
</file>