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524" r:id="rId3"/>
    <p:sldId id="286" r:id="rId4"/>
    <p:sldId id="294" r:id="rId5"/>
    <p:sldId id="287" r:id="rId6"/>
    <p:sldId id="289" r:id="rId7"/>
    <p:sldId id="291" r:id="rId8"/>
    <p:sldId id="316" r:id="rId9"/>
    <p:sldId id="288" r:id="rId10"/>
    <p:sldId id="303" r:id="rId11"/>
    <p:sldId id="293" r:id="rId12"/>
    <p:sldId id="325" r:id="rId13"/>
    <p:sldId id="328" r:id="rId14"/>
    <p:sldId id="304" r:id="rId15"/>
    <p:sldId id="508" r:id="rId16"/>
    <p:sldId id="330" r:id="rId17"/>
    <p:sldId id="318" r:id="rId18"/>
    <p:sldId id="525" r:id="rId19"/>
    <p:sldId id="305" r:id="rId20"/>
    <p:sldId id="526"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2C2B"/>
    <a:srgbClr val="FFFFFF"/>
    <a:srgbClr val="FFB4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54"/>
    <p:restoredTop sz="81164"/>
  </p:normalViewPr>
  <p:slideViewPr>
    <p:cSldViewPr snapToGrid="0" snapToObjects="1">
      <p:cViewPr>
        <p:scale>
          <a:sx n="75" d="100"/>
          <a:sy n="75" d="100"/>
        </p:scale>
        <p:origin x="1656"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E0D3F-88AC-AC4C-A850-A113E8478B35}" type="datetimeFigureOut">
              <a:rPr kumimoji="1" lang="ja-JP" altLang="en-US" smtClean="0"/>
              <a:t>2026/4/11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6FEFE4-0067-BE4A-AB74-27D08C169751}" type="slidenum">
              <a:rPr kumimoji="1" lang="ja-JP" altLang="en-US" smtClean="0"/>
              <a:t>‹#›</a:t>
            </a:fld>
            <a:endParaRPr kumimoji="1" lang="ja-JP" altLang="en-US"/>
          </a:p>
        </p:txBody>
      </p:sp>
    </p:spTree>
    <p:extLst>
      <p:ext uri="{BB962C8B-B14F-4D97-AF65-F5344CB8AC3E}">
        <p14:creationId xmlns:p14="http://schemas.microsoft.com/office/powerpoint/2010/main" val="271888849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03FE-3D04-2660-E2D3-0177F4F723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4271AA-BA4A-8375-62ED-948D378D09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3A5F140-5792-BDFB-04E7-ECD42C22CED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1C15930-96FF-677A-2C2D-7F3E1989883E}"/>
              </a:ext>
            </a:extLst>
          </p:cNvPr>
          <p:cNvSpPr>
            <a:spLocks noGrp="1"/>
          </p:cNvSpPr>
          <p:nvPr>
            <p:ph type="sldNum" sz="quarter" idx="5"/>
          </p:nvPr>
        </p:nvSpPr>
        <p:spPr/>
        <p:txBody>
          <a:bodyPr/>
          <a:lstStyle/>
          <a:p>
            <a:fld id="{ED6FEFE4-0067-BE4A-AB74-27D08C169751}" type="slidenum">
              <a:rPr kumimoji="1" lang="ja-JP" altLang="en-US" smtClean="0"/>
              <a:t>2</a:t>
            </a:fld>
            <a:endParaRPr kumimoji="1" lang="ja-JP" altLang="en-US"/>
          </a:p>
        </p:txBody>
      </p:sp>
    </p:spTree>
    <p:extLst>
      <p:ext uri="{BB962C8B-B14F-4D97-AF65-F5344CB8AC3E}">
        <p14:creationId xmlns:p14="http://schemas.microsoft.com/office/powerpoint/2010/main" val="3204290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人はサボる生き物であるため，後で設定しようとしても，結局設定しないことが多い．</a:t>
            </a:r>
            <a:endParaRPr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4</a:t>
            </a:fld>
            <a:endParaRPr kumimoji="1" lang="ja-JP" altLang="en-US"/>
          </a:p>
        </p:txBody>
      </p:sp>
    </p:spTree>
    <p:extLst>
      <p:ext uri="{BB962C8B-B14F-4D97-AF65-F5344CB8AC3E}">
        <p14:creationId xmlns:p14="http://schemas.microsoft.com/office/powerpoint/2010/main" val="3041760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11</a:t>
            </a:fld>
            <a:endParaRPr kumimoji="1" lang="ja-JP" altLang="en-US"/>
          </a:p>
        </p:txBody>
      </p:sp>
    </p:spTree>
    <p:extLst>
      <p:ext uri="{BB962C8B-B14F-4D97-AF65-F5344CB8AC3E}">
        <p14:creationId xmlns:p14="http://schemas.microsoft.com/office/powerpoint/2010/main" val="3179753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14</a:t>
            </a:fld>
            <a:endParaRPr kumimoji="1" lang="ja-JP" altLang="en-US"/>
          </a:p>
        </p:txBody>
      </p:sp>
    </p:spTree>
    <p:extLst>
      <p:ext uri="{BB962C8B-B14F-4D97-AF65-F5344CB8AC3E}">
        <p14:creationId xmlns:p14="http://schemas.microsoft.com/office/powerpoint/2010/main" val="2220168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936CE-6564-2555-68F9-90A18B4DD43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DD9A6B-C24F-259C-9376-B5BA429C00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551FD0-1461-F7F1-2457-BE60E89AC64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86F3EBD-0284-7FD1-67C1-E7D7001D8DA3}"/>
              </a:ext>
            </a:extLst>
          </p:cNvPr>
          <p:cNvSpPr>
            <a:spLocks noGrp="1"/>
          </p:cNvSpPr>
          <p:nvPr>
            <p:ph type="sldNum" sz="quarter" idx="5"/>
          </p:nvPr>
        </p:nvSpPr>
        <p:spPr/>
        <p:txBody>
          <a:bodyPr/>
          <a:lstStyle/>
          <a:p>
            <a:fld id="{ED6FEFE4-0067-BE4A-AB74-27D08C169751}" type="slidenum">
              <a:rPr kumimoji="1" lang="ja-JP" altLang="en-US" smtClean="0"/>
              <a:t>16</a:t>
            </a:fld>
            <a:endParaRPr kumimoji="1" lang="ja-JP" altLang="en-US"/>
          </a:p>
        </p:txBody>
      </p:sp>
    </p:spTree>
    <p:extLst>
      <p:ext uri="{BB962C8B-B14F-4D97-AF65-F5344CB8AC3E}">
        <p14:creationId xmlns:p14="http://schemas.microsoft.com/office/powerpoint/2010/main" val="1306525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3A93-8222-B9B4-5ECE-CA0C9C4BC4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2F87F5-A5AB-B64C-A64B-98274BE2E8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68631-EC0A-6D3B-550F-1B0C7831E65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D5A0C58-1E78-5867-258C-950B584C310D}"/>
              </a:ext>
            </a:extLst>
          </p:cNvPr>
          <p:cNvSpPr>
            <a:spLocks noGrp="1"/>
          </p:cNvSpPr>
          <p:nvPr>
            <p:ph type="sldNum" sz="quarter" idx="5"/>
          </p:nvPr>
        </p:nvSpPr>
        <p:spPr/>
        <p:txBody>
          <a:bodyPr/>
          <a:lstStyle/>
          <a:p>
            <a:fld id="{ED6FEFE4-0067-BE4A-AB74-27D08C169751}" type="slidenum">
              <a:rPr kumimoji="1" lang="ja-JP" altLang="en-US" smtClean="0"/>
              <a:t>20</a:t>
            </a:fld>
            <a:endParaRPr kumimoji="1" lang="ja-JP" altLang="en-US"/>
          </a:p>
        </p:txBody>
      </p:sp>
    </p:spTree>
    <p:extLst>
      <p:ext uri="{BB962C8B-B14F-4D97-AF65-F5344CB8AC3E}">
        <p14:creationId xmlns:p14="http://schemas.microsoft.com/office/powerpoint/2010/main" val="114012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BAE3F1-6860-34FB-F2AC-E3181A6AF2DC}"/>
              </a:ext>
            </a:extLst>
          </p:cNvPr>
          <p:cNvSpPr>
            <a:spLocks noGrp="1"/>
          </p:cNvSpPr>
          <p:nvPr>
            <p:ph type="ctrTitle"/>
          </p:nvPr>
        </p:nvSpPr>
        <p:spPr>
          <a:xfrm>
            <a:off x="1524000" y="1122363"/>
            <a:ext cx="9144000" cy="2387600"/>
          </a:xfrm>
        </p:spPr>
        <p:txBody>
          <a:bodyPr anchor="b"/>
          <a:lstStyle>
            <a:lvl1pPr algn="ctr">
              <a:defRPr sz="66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4CD0B15-C8B7-00F7-DBE9-D3AD533D27B2}"/>
              </a:ext>
            </a:extLst>
          </p:cNvPr>
          <p:cNvSpPr>
            <a:spLocks noGrp="1"/>
          </p:cNvSpPr>
          <p:nvPr>
            <p:ph type="subTitle" idx="1"/>
          </p:nvPr>
        </p:nvSpPr>
        <p:spPr>
          <a:xfrm>
            <a:off x="1524000" y="3602038"/>
            <a:ext cx="9144000" cy="1655762"/>
          </a:xfrm>
        </p:spPr>
        <p:txBody>
          <a:bodyPr>
            <a:normAutofit/>
          </a:bodyPr>
          <a:lstStyle>
            <a:lvl1pPr marL="0" indent="0" algn="ctr">
              <a:buNone/>
              <a:defRPr sz="4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4AC3DEB-6E35-D2D0-EABA-F8A19BBDE9F7}"/>
              </a:ext>
            </a:extLst>
          </p:cNvPr>
          <p:cNvSpPr>
            <a:spLocks noGrp="1"/>
          </p:cNvSpPr>
          <p:nvPr>
            <p:ph type="dt" sz="half" idx="10"/>
          </p:nvPr>
        </p:nvSpPr>
        <p:spPr/>
        <p:txBody>
          <a:bodyPr/>
          <a:lstStyle/>
          <a:p>
            <a:r>
              <a:rPr kumimoji="1" lang="en-US" altLang="ja-JP"/>
              <a:t>2026-04-24</a:t>
            </a:r>
            <a:endParaRPr kumimoji="1" lang="ja-JP" altLang="en-US"/>
          </a:p>
        </p:txBody>
      </p:sp>
      <p:sp>
        <p:nvSpPr>
          <p:cNvPr id="5" name="フッター プレースホルダー 4">
            <a:extLst>
              <a:ext uri="{FF2B5EF4-FFF2-40B4-BE49-F238E27FC236}">
                <a16:creationId xmlns:a16="http://schemas.microsoft.com/office/drawing/2014/main" id="{78835D15-762E-39B0-0A6F-14EFF50BDB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5DFDF9-92D5-0273-6AA5-EE561AF63CBA}"/>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96430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8965E4-8E20-9D46-6D12-F877A919CC8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23E8D2-3A17-78BF-F4C2-CDF62ACF419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D23703-4802-F8D8-D9BF-C6ABE5C8AB80}"/>
              </a:ext>
            </a:extLst>
          </p:cNvPr>
          <p:cNvSpPr>
            <a:spLocks noGrp="1"/>
          </p:cNvSpPr>
          <p:nvPr>
            <p:ph type="dt" sz="half" idx="10"/>
          </p:nvPr>
        </p:nvSpPr>
        <p:spPr/>
        <p:txBody>
          <a:bodyPr/>
          <a:lstStyle/>
          <a:p>
            <a:r>
              <a:rPr kumimoji="1" lang="en-US" altLang="ja-JP"/>
              <a:t>2026-04-24</a:t>
            </a:r>
            <a:endParaRPr kumimoji="1" lang="ja-JP" altLang="en-US"/>
          </a:p>
        </p:txBody>
      </p:sp>
      <p:sp>
        <p:nvSpPr>
          <p:cNvPr id="5" name="フッター プレースホルダー 4">
            <a:extLst>
              <a:ext uri="{FF2B5EF4-FFF2-40B4-BE49-F238E27FC236}">
                <a16:creationId xmlns:a16="http://schemas.microsoft.com/office/drawing/2014/main" id="{953C5D23-A2A0-1968-4ACC-1B1357A447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2682BA-033D-1B7D-4861-DDD343E91047}"/>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24067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29F4E9-7F37-2DF8-78B9-30C3125A551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5BF7F8-9D3C-A422-471A-C8A1E82F8D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5120F65-AA40-72A0-770D-E19A2FA9B323}"/>
              </a:ext>
            </a:extLst>
          </p:cNvPr>
          <p:cNvSpPr>
            <a:spLocks noGrp="1"/>
          </p:cNvSpPr>
          <p:nvPr>
            <p:ph type="dt" sz="half" idx="10"/>
          </p:nvPr>
        </p:nvSpPr>
        <p:spPr/>
        <p:txBody>
          <a:bodyPr/>
          <a:lstStyle/>
          <a:p>
            <a:r>
              <a:rPr kumimoji="1" lang="en-US" altLang="ja-JP"/>
              <a:t>2026-04-24</a:t>
            </a:r>
            <a:endParaRPr kumimoji="1" lang="ja-JP" altLang="en-US"/>
          </a:p>
        </p:txBody>
      </p:sp>
      <p:sp>
        <p:nvSpPr>
          <p:cNvPr id="5" name="フッター プレースホルダー 4">
            <a:extLst>
              <a:ext uri="{FF2B5EF4-FFF2-40B4-BE49-F238E27FC236}">
                <a16:creationId xmlns:a16="http://schemas.microsoft.com/office/drawing/2014/main" id="{86681911-2B29-A9AD-E565-FF8CD62423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A1582B-A53B-0238-DBDB-FB5DBFD8AF68}"/>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736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4232BC-8A6A-9D3A-A1D9-3080F812AB9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82D8DC-6AD4-FA7E-3F14-DB7C79ACDAA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3DE28B2-EF25-CC14-3531-75FEF0B68A3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B3A7B7E-A26D-8BA6-BB1E-8237CE6F294F}"/>
              </a:ext>
            </a:extLst>
          </p:cNvPr>
          <p:cNvSpPr>
            <a:spLocks noGrp="1"/>
          </p:cNvSpPr>
          <p:nvPr>
            <p:ph type="dt" sz="half" idx="10"/>
          </p:nvPr>
        </p:nvSpPr>
        <p:spPr/>
        <p:txBody>
          <a:bodyPr/>
          <a:lstStyle/>
          <a:p>
            <a:r>
              <a:rPr kumimoji="1" lang="en-US" altLang="ja-JP"/>
              <a:t>2026-04-24</a:t>
            </a:r>
            <a:endParaRPr kumimoji="1" lang="ja-JP" altLang="en-US"/>
          </a:p>
        </p:txBody>
      </p:sp>
      <p:sp>
        <p:nvSpPr>
          <p:cNvPr id="6" name="フッター プレースホルダー 5">
            <a:extLst>
              <a:ext uri="{FF2B5EF4-FFF2-40B4-BE49-F238E27FC236}">
                <a16:creationId xmlns:a16="http://schemas.microsoft.com/office/drawing/2014/main" id="{1CB7E107-84C7-8B82-2567-9E3F901037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57C7FA1-4591-F30A-BC2B-286C70E637DD}"/>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55956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054A32-DEA7-69BE-B62E-A622438353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7BEF868-DDA1-C4EB-6743-489DC5FCD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39B8F-A2A1-CF4F-742C-F6839C57B8D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513E432-90C9-F616-1A3C-AE747080A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CAA48B9-2830-0B1B-940E-B2239ADE254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B4728E-F8C1-F17A-C937-B880D97E8094}"/>
              </a:ext>
            </a:extLst>
          </p:cNvPr>
          <p:cNvSpPr>
            <a:spLocks noGrp="1"/>
          </p:cNvSpPr>
          <p:nvPr>
            <p:ph type="dt" sz="half" idx="10"/>
          </p:nvPr>
        </p:nvSpPr>
        <p:spPr/>
        <p:txBody>
          <a:bodyPr/>
          <a:lstStyle/>
          <a:p>
            <a:r>
              <a:rPr kumimoji="1" lang="en-US" altLang="ja-JP"/>
              <a:t>2026-04-24</a:t>
            </a:r>
            <a:endParaRPr kumimoji="1" lang="ja-JP" altLang="en-US"/>
          </a:p>
        </p:txBody>
      </p:sp>
      <p:sp>
        <p:nvSpPr>
          <p:cNvPr id="8" name="フッター プレースホルダー 7">
            <a:extLst>
              <a:ext uri="{FF2B5EF4-FFF2-40B4-BE49-F238E27FC236}">
                <a16:creationId xmlns:a16="http://schemas.microsoft.com/office/drawing/2014/main" id="{3F3C6BA5-320F-AD96-EF9C-4688CD1C2F5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91151E6-2A46-0BFB-C19C-182A2D46D7B3}"/>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156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FFCE36-69F6-8D82-66E2-2BE7E5650FA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3D72AD-5495-9467-9401-F6186DDB3397}"/>
              </a:ext>
            </a:extLst>
          </p:cNvPr>
          <p:cNvSpPr>
            <a:spLocks noGrp="1"/>
          </p:cNvSpPr>
          <p:nvPr>
            <p:ph type="dt" sz="half" idx="10"/>
          </p:nvPr>
        </p:nvSpPr>
        <p:spPr/>
        <p:txBody>
          <a:bodyPr/>
          <a:lstStyle/>
          <a:p>
            <a:r>
              <a:rPr kumimoji="1" lang="en-US" altLang="ja-JP"/>
              <a:t>2026-04-24</a:t>
            </a:r>
            <a:endParaRPr kumimoji="1" lang="ja-JP" altLang="en-US"/>
          </a:p>
        </p:txBody>
      </p:sp>
      <p:sp>
        <p:nvSpPr>
          <p:cNvPr id="4" name="フッター プレースホルダー 3">
            <a:extLst>
              <a:ext uri="{FF2B5EF4-FFF2-40B4-BE49-F238E27FC236}">
                <a16:creationId xmlns:a16="http://schemas.microsoft.com/office/drawing/2014/main" id="{2D62EC51-A3D5-EC3F-7813-ADEA4FCAFC4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3AA073C-2BE4-2466-8413-FEE9DE4DE62E}"/>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126364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4254B13-A92B-C641-0C83-88C8E8C09F9F}"/>
              </a:ext>
            </a:extLst>
          </p:cNvPr>
          <p:cNvSpPr>
            <a:spLocks noGrp="1"/>
          </p:cNvSpPr>
          <p:nvPr>
            <p:ph type="dt" sz="half" idx="10"/>
          </p:nvPr>
        </p:nvSpPr>
        <p:spPr/>
        <p:txBody>
          <a:bodyPr/>
          <a:lstStyle/>
          <a:p>
            <a:r>
              <a:rPr kumimoji="1" lang="en-US" altLang="ja-JP"/>
              <a:t>2026-04-24</a:t>
            </a:r>
            <a:endParaRPr kumimoji="1" lang="ja-JP" altLang="en-US"/>
          </a:p>
        </p:txBody>
      </p:sp>
      <p:sp>
        <p:nvSpPr>
          <p:cNvPr id="3" name="フッター プレースホルダー 2">
            <a:extLst>
              <a:ext uri="{FF2B5EF4-FFF2-40B4-BE49-F238E27FC236}">
                <a16:creationId xmlns:a16="http://schemas.microsoft.com/office/drawing/2014/main" id="{F0A961BE-BDDF-24BF-A624-7B4A792F880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E82A63C-7150-3E3B-E0A7-4FAFA23A7629}"/>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99417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8DCBFD-B9B9-C88D-4AF2-DA5E9D14612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020645C-911D-D877-789A-4ABCA1607D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035085C-0945-616B-1D39-35150C87E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5E25B3-F458-1F25-BA2A-10D3E7E26039}"/>
              </a:ext>
            </a:extLst>
          </p:cNvPr>
          <p:cNvSpPr>
            <a:spLocks noGrp="1"/>
          </p:cNvSpPr>
          <p:nvPr>
            <p:ph type="dt" sz="half" idx="10"/>
          </p:nvPr>
        </p:nvSpPr>
        <p:spPr/>
        <p:txBody>
          <a:bodyPr/>
          <a:lstStyle/>
          <a:p>
            <a:r>
              <a:rPr kumimoji="1" lang="en-US" altLang="ja-JP"/>
              <a:t>2026-04-24</a:t>
            </a:r>
            <a:endParaRPr kumimoji="1" lang="ja-JP" altLang="en-US"/>
          </a:p>
        </p:txBody>
      </p:sp>
      <p:sp>
        <p:nvSpPr>
          <p:cNvPr id="6" name="フッター プレースホルダー 5">
            <a:extLst>
              <a:ext uri="{FF2B5EF4-FFF2-40B4-BE49-F238E27FC236}">
                <a16:creationId xmlns:a16="http://schemas.microsoft.com/office/drawing/2014/main" id="{3209217E-3F73-CCE8-77EF-A52308AC8C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0295A2-6412-27A3-80DB-4DC7AF9FA560}"/>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2979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A11E3-5007-3320-F7E6-691E1139DC7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3AA4DA3-E363-0E1A-C5EE-67CFA080E1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CD13344-E496-4753-C58C-D01D8C7BC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6EEBB-B395-8892-612D-06BBEE164464}"/>
              </a:ext>
            </a:extLst>
          </p:cNvPr>
          <p:cNvSpPr>
            <a:spLocks noGrp="1"/>
          </p:cNvSpPr>
          <p:nvPr>
            <p:ph type="dt" sz="half" idx="10"/>
          </p:nvPr>
        </p:nvSpPr>
        <p:spPr/>
        <p:txBody>
          <a:bodyPr/>
          <a:lstStyle/>
          <a:p>
            <a:r>
              <a:rPr kumimoji="1" lang="en-US" altLang="ja-JP"/>
              <a:t>2026-04-24</a:t>
            </a:r>
            <a:endParaRPr kumimoji="1" lang="ja-JP" altLang="en-US"/>
          </a:p>
        </p:txBody>
      </p:sp>
      <p:sp>
        <p:nvSpPr>
          <p:cNvPr id="6" name="フッター プレースホルダー 5">
            <a:extLst>
              <a:ext uri="{FF2B5EF4-FFF2-40B4-BE49-F238E27FC236}">
                <a16:creationId xmlns:a16="http://schemas.microsoft.com/office/drawing/2014/main" id="{A1A73243-636B-AD34-97B8-096CAB4BD0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21AB26F-070D-AA48-1A17-487ABD4308E6}"/>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520743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9E654-7E7E-36B3-ADB0-3093EC9FFFC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9AB095-4BA5-2299-C02F-2E56585C27D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B78716-480A-7430-C0FA-4F0DC0168B4A}"/>
              </a:ext>
            </a:extLst>
          </p:cNvPr>
          <p:cNvSpPr>
            <a:spLocks noGrp="1"/>
          </p:cNvSpPr>
          <p:nvPr>
            <p:ph type="dt" sz="half" idx="10"/>
          </p:nvPr>
        </p:nvSpPr>
        <p:spPr/>
        <p:txBody>
          <a:bodyPr/>
          <a:lstStyle/>
          <a:p>
            <a:r>
              <a:rPr kumimoji="1" lang="en-US" altLang="ja-JP"/>
              <a:t>2026-04-24</a:t>
            </a:r>
            <a:endParaRPr kumimoji="1" lang="ja-JP" altLang="en-US"/>
          </a:p>
        </p:txBody>
      </p:sp>
      <p:sp>
        <p:nvSpPr>
          <p:cNvPr id="5" name="フッター プレースホルダー 4">
            <a:extLst>
              <a:ext uri="{FF2B5EF4-FFF2-40B4-BE49-F238E27FC236}">
                <a16:creationId xmlns:a16="http://schemas.microsoft.com/office/drawing/2014/main" id="{76B42CF7-BBCD-5D04-D7AD-CBC09AA585A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8D3898-C8CD-BE96-524B-6C3F921112E5}"/>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17145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81886E9-6CAD-71F6-5345-FA139670373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72359E1-F40F-3D47-6DF2-882BD86EA9C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18D548-5283-77D1-F67F-6EC5C16A5918}"/>
              </a:ext>
            </a:extLst>
          </p:cNvPr>
          <p:cNvSpPr>
            <a:spLocks noGrp="1"/>
          </p:cNvSpPr>
          <p:nvPr>
            <p:ph type="dt" sz="half" idx="10"/>
          </p:nvPr>
        </p:nvSpPr>
        <p:spPr/>
        <p:txBody>
          <a:bodyPr/>
          <a:lstStyle/>
          <a:p>
            <a:r>
              <a:rPr kumimoji="1" lang="en-US" altLang="ja-JP"/>
              <a:t>2026-04-24</a:t>
            </a:r>
            <a:endParaRPr kumimoji="1" lang="ja-JP" altLang="en-US"/>
          </a:p>
        </p:txBody>
      </p:sp>
      <p:sp>
        <p:nvSpPr>
          <p:cNvPr id="5" name="フッター プレースホルダー 4">
            <a:extLst>
              <a:ext uri="{FF2B5EF4-FFF2-40B4-BE49-F238E27FC236}">
                <a16:creationId xmlns:a16="http://schemas.microsoft.com/office/drawing/2014/main" id="{B8CD1D05-E6FD-9267-0EA3-57EE28C4F9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33F417-24E0-EE42-C260-DDADA437A1A4}"/>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5317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2F236BC-AAF6-B861-739B-86FA343134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50FC96-8BC7-5FBA-D355-BCF93438E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F6AD1E11-9D31-C316-E911-911DC842E1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800">
                <a:solidFill>
                  <a:schemeClr val="tx1">
                    <a:tint val="75000"/>
                  </a:schemeClr>
                </a:solidFill>
                <a:latin typeface="Meiryo" panose="020B0604030504040204" pitchFamily="34" charset="-128"/>
                <a:ea typeface="Meiryo" panose="020B0604030504040204" pitchFamily="34" charset="-128"/>
              </a:defRPr>
            </a:lvl1pPr>
          </a:lstStyle>
          <a:p>
            <a:r>
              <a:rPr lang="en-US" altLang="ja-JP"/>
              <a:t>2026-04-24</a:t>
            </a:r>
            <a:endParaRPr lang="ja-JP" altLang="en-US"/>
          </a:p>
        </p:txBody>
      </p:sp>
      <p:sp>
        <p:nvSpPr>
          <p:cNvPr id="5" name="フッター プレースホルダー 4">
            <a:extLst>
              <a:ext uri="{FF2B5EF4-FFF2-40B4-BE49-F238E27FC236}">
                <a16:creationId xmlns:a16="http://schemas.microsoft.com/office/drawing/2014/main" id="{EB552398-2A83-C162-F251-7C27A4C850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800">
                <a:solidFill>
                  <a:schemeClr val="tx1">
                    <a:tint val="75000"/>
                  </a:schemeClr>
                </a:solidFill>
                <a:latin typeface="Meiryo" panose="020B0604030504040204" pitchFamily="34" charset="-128"/>
                <a:ea typeface="Meiryo" panose="020B0604030504040204" pitchFamily="34"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682060AB-9F59-AB6D-F6F6-574D92AC7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Meiryo" panose="020B0604030504040204" pitchFamily="34" charset="-128"/>
                <a:ea typeface="Meiryo" panose="020B0604030504040204" pitchFamily="34" charset="-128"/>
              </a:defRPr>
            </a:lvl1pPr>
          </a:lstStyle>
          <a:p>
            <a:fld id="{0B8845E4-5C92-A046-BB66-E5D9CC995B08}" type="slidenum">
              <a:rPr lang="ja-JP" altLang="en-US" smtClean="0"/>
              <a:pPr/>
              <a:t>‹#›</a:t>
            </a:fld>
            <a:endParaRPr lang="ja-JP" altLang="en-US"/>
          </a:p>
        </p:txBody>
      </p:sp>
    </p:spTree>
    <p:extLst>
      <p:ext uri="{BB962C8B-B14F-4D97-AF65-F5344CB8AC3E}">
        <p14:creationId xmlns:p14="http://schemas.microsoft.com/office/powerpoint/2010/main" val="395297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6600" kern="120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coveralls.io/"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coveralls.io/github/tamada/totebag"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coveralls.io/"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B5784E-BEC4-EB82-3848-F83C83012E1D}"/>
              </a:ext>
            </a:extLst>
          </p:cNvPr>
          <p:cNvSpPr>
            <a:spLocks noGrp="1"/>
          </p:cNvSpPr>
          <p:nvPr>
            <p:ph type="ctrTitle"/>
          </p:nvPr>
        </p:nvSpPr>
        <p:spPr/>
        <p:txBody>
          <a:bodyPr/>
          <a:lstStyle/>
          <a:p>
            <a:r>
              <a:rPr lang="ja-JP" altLang="en-US"/>
              <a:t>エンピリカル</a:t>
            </a:r>
            <a:br>
              <a:rPr lang="en-US" altLang="ja-JP" dirty="0"/>
            </a:br>
            <a:r>
              <a:rPr lang="ja-JP" altLang="en-US"/>
              <a:t>ソフトウェア工学</a:t>
            </a:r>
            <a:br>
              <a:rPr lang="en-US" altLang="ja-JP" dirty="0"/>
            </a:br>
            <a:r>
              <a:rPr lang="ja-JP" altLang="en-US"/>
              <a:t>第</a:t>
            </a:r>
            <a:r>
              <a:rPr lang="en-US" altLang="ja-JP" dirty="0"/>
              <a:t>03</a:t>
            </a:r>
            <a:r>
              <a:rPr lang="ja-JP" altLang="en-US"/>
              <a:t>回</a:t>
            </a:r>
            <a:r>
              <a:rPr lang="en-US" altLang="ja-JP" dirty="0"/>
              <a:t> CI/CD (1/2)</a:t>
            </a:r>
            <a:endParaRPr kumimoji="1" lang="ja-JP" altLang="en-US"/>
          </a:p>
        </p:txBody>
      </p:sp>
      <p:sp>
        <p:nvSpPr>
          <p:cNvPr id="3" name="字幕 2">
            <a:extLst>
              <a:ext uri="{FF2B5EF4-FFF2-40B4-BE49-F238E27FC236}">
                <a16:creationId xmlns:a16="http://schemas.microsoft.com/office/drawing/2014/main" id="{EB687755-EB78-813E-2AE5-266F2715E1A9}"/>
              </a:ext>
            </a:extLst>
          </p:cNvPr>
          <p:cNvSpPr>
            <a:spLocks noGrp="1"/>
          </p:cNvSpPr>
          <p:nvPr>
            <p:ph type="subTitle" idx="1"/>
          </p:nvPr>
        </p:nvSpPr>
        <p:spPr/>
        <p:txBody>
          <a:bodyPr/>
          <a:lstStyle/>
          <a:p>
            <a:r>
              <a:rPr kumimoji="1" lang="en-US" altLang="ja-JP" dirty="0"/>
              <a:t>2026-04-24</a:t>
            </a:r>
          </a:p>
          <a:p>
            <a:r>
              <a:rPr lang="ja-JP" altLang="en-US"/>
              <a:t>玉田</a:t>
            </a:r>
            <a:r>
              <a:rPr lang="en-US" altLang="ja-JP" dirty="0"/>
              <a:t> </a:t>
            </a:r>
            <a:r>
              <a:rPr lang="ja-JP" altLang="en-US"/>
              <a:t>春昭</a:t>
            </a:r>
            <a:endParaRPr kumimoji="1" lang="ja-JP" altLang="en-US"/>
          </a:p>
        </p:txBody>
      </p:sp>
      <p:sp>
        <p:nvSpPr>
          <p:cNvPr id="4" name="日付プレースホルダー 3">
            <a:extLst>
              <a:ext uri="{FF2B5EF4-FFF2-40B4-BE49-F238E27FC236}">
                <a16:creationId xmlns:a16="http://schemas.microsoft.com/office/drawing/2014/main" id="{975A0BDC-22A6-7CC7-0358-1C2E091539CC}"/>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45D24184-6358-A3E9-85F2-F35BC4F1503D}"/>
              </a:ext>
            </a:extLst>
          </p:cNvPr>
          <p:cNvSpPr>
            <a:spLocks noGrp="1"/>
          </p:cNvSpPr>
          <p:nvPr>
            <p:ph type="sldNum" sz="quarter" idx="12"/>
          </p:nvPr>
        </p:nvSpPr>
        <p:spPr/>
        <p:txBody>
          <a:bodyPr/>
          <a:lstStyle/>
          <a:p>
            <a:fld id="{0B8845E4-5C92-A046-BB66-E5D9CC995B08}" type="slidenum">
              <a:rPr kumimoji="1" lang="ja-JP" altLang="en-US" smtClean="0"/>
              <a:t>1</a:t>
            </a:fld>
            <a:endParaRPr kumimoji="1" lang="ja-JP" altLang="en-US"/>
          </a:p>
        </p:txBody>
      </p:sp>
    </p:spTree>
    <p:extLst>
      <p:ext uri="{BB962C8B-B14F-4D97-AF65-F5344CB8AC3E}">
        <p14:creationId xmlns:p14="http://schemas.microsoft.com/office/powerpoint/2010/main" val="3378042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B1183-6512-0658-DC7D-F8E4A79307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A51D8F-FDF9-382E-7936-64DC19F9468F}"/>
              </a:ext>
            </a:extLst>
          </p:cNvPr>
          <p:cNvSpPr>
            <a:spLocks noGrp="1"/>
          </p:cNvSpPr>
          <p:nvPr>
            <p:ph type="title"/>
          </p:nvPr>
        </p:nvSpPr>
        <p:spPr/>
        <p:txBody>
          <a:bodyPr/>
          <a:lstStyle/>
          <a:p>
            <a:r>
              <a:rPr kumimoji="1" lang="ja-JP" altLang="en-US"/>
              <a:t>講義スケジュール</a:t>
            </a:r>
          </a:p>
        </p:txBody>
      </p:sp>
      <p:sp>
        <p:nvSpPr>
          <p:cNvPr id="4" name="日付プレースホルダー 3">
            <a:extLst>
              <a:ext uri="{FF2B5EF4-FFF2-40B4-BE49-F238E27FC236}">
                <a16:creationId xmlns:a16="http://schemas.microsoft.com/office/drawing/2014/main" id="{6CB59F76-C9FE-E21A-CF33-A028C2689C2B}"/>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80190477-ABC1-A732-486F-13A636F615D8}"/>
              </a:ext>
            </a:extLst>
          </p:cNvPr>
          <p:cNvSpPr>
            <a:spLocks noGrp="1"/>
          </p:cNvSpPr>
          <p:nvPr>
            <p:ph type="sldNum" sz="quarter" idx="12"/>
          </p:nvPr>
        </p:nvSpPr>
        <p:spPr/>
        <p:txBody>
          <a:bodyPr/>
          <a:lstStyle/>
          <a:p>
            <a:fld id="{0B8845E4-5C92-A046-BB66-E5D9CC995B08}" type="slidenum">
              <a:rPr kumimoji="1" lang="ja-JP" altLang="en-US" smtClean="0"/>
              <a:t>2</a:t>
            </a:fld>
            <a:endParaRPr kumimoji="1" lang="ja-JP" altLang="en-US"/>
          </a:p>
        </p:txBody>
      </p:sp>
      <p:grpSp>
        <p:nvGrpSpPr>
          <p:cNvPr id="11" name="グループ化 10">
            <a:extLst>
              <a:ext uri="{FF2B5EF4-FFF2-40B4-BE49-F238E27FC236}">
                <a16:creationId xmlns:a16="http://schemas.microsoft.com/office/drawing/2014/main" id="{F42A339A-46C2-3EC3-01AD-55697C9B38A0}"/>
              </a:ext>
            </a:extLst>
          </p:cNvPr>
          <p:cNvGrpSpPr/>
          <p:nvPr/>
        </p:nvGrpSpPr>
        <p:grpSpPr>
          <a:xfrm>
            <a:off x="838200" y="1342345"/>
            <a:ext cx="4680000" cy="720000"/>
            <a:chOff x="838200" y="1690688"/>
            <a:chExt cx="4680000" cy="720000"/>
          </a:xfrm>
        </p:grpSpPr>
        <p:sp>
          <p:nvSpPr>
            <p:cNvPr id="7" name="正方形/長方形 6">
              <a:extLst>
                <a:ext uri="{FF2B5EF4-FFF2-40B4-BE49-F238E27FC236}">
                  <a16:creationId xmlns:a16="http://schemas.microsoft.com/office/drawing/2014/main" id="{309D41AD-E3E8-669D-BC06-DD15F69A7B8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 name="角丸四角形 5">
              <a:extLst>
                <a:ext uri="{FF2B5EF4-FFF2-40B4-BE49-F238E27FC236}">
                  <a16:creationId xmlns:a16="http://schemas.microsoft.com/office/drawing/2014/main" id="{CF520076-C3F6-E6CE-210A-0D98F1B4FFCD}"/>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2026-04-10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 name="正方形/長方形 8">
              <a:extLst>
                <a:ext uri="{FF2B5EF4-FFF2-40B4-BE49-F238E27FC236}">
                  <a16:creationId xmlns:a16="http://schemas.microsoft.com/office/drawing/2014/main" id="{D77194F2-AE43-8638-D2AA-EA64890ACCF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0" name="角丸四角形 9">
              <a:extLst>
                <a:ext uri="{FF2B5EF4-FFF2-40B4-BE49-F238E27FC236}">
                  <a16:creationId xmlns:a16="http://schemas.microsoft.com/office/drawing/2014/main" id="{02CA2F63-F1DC-D507-E4BD-F8404588EE87}"/>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全体説明</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22" name="グループ化 21">
            <a:extLst>
              <a:ext uri="{FF2B5EF4-FFF2-40B4-BE49-F238E27FC236}">
                <a16:creationId xmlns:a16="http://schemas.microsoft.com/office/drawing/2014/main" id="{3CCC46EF-A9E8-557D-F0F2-CC3F8197BA35}"/>
              </a:ext>
            </a:extLst>
          </p:cNvPr>
          <p:cNvGrpSpPr/>
          <p:nvPr/>
        </p:nvGrpSpPr>
        <p:grpSpPr>
          <a:xfrm>
            <a:off x="838200" y="3710689"/>
            <a:ext cx="4680000" cy="720000"/>
            <a:chOff x="838200" y="1690688"/>
            <a:chExt cx="4680000" cy="720000"/>
          </a:xfrm>
        </p:grpSpPr>
        <p:sp>
          <p:nvSpPr>
            <p:cNvPr id="23" name="正方形/長方形 22">
              <a:extLst>
                <a:ext uri="{FF2B5EF4-FFF2-40B4-BE49-F238E27FC236}">
                  <a16:creationId xmlns:a16="http://schemas.microsoft.com/office/drawing/2014/main" id="{4DE9BF90-249D-526A-39EA-E19A2B0C6CBC}"/>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4" name="角丸四角形 23">
              <a:extLst>
                <a:ext uri="{FF2B5EF4-FFF2-40B4-BE49-F238E27FC236}">
                  <a16:creationId xmlns:a16="http://schemas.microsoft.com/office/drawing/2014/main" id="{D3EFFB42-D554-43A7-11D9-39C5AD4BA479}"/>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2026-05-01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5" name="正方形/長方形 24">
              <a:extLst>
                <a:ext uri="{FF2B5EF4-FFF2-40B4-BE49-F238E27FC236}">
                  <a16:creationId xmlns:a16="http://schemas.microsoft.com/office/drawing/2014/main" id="{3C53E9F6-4BAF-1884-4C1D-EF496B8CFF4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6" name="角丸四角形 25">
              <a:extLst>
                <a:ext uri="{FF2B5EF4-FFF2-40B4-BE49-F238E27FC236}">
                  <a16:creationId xmlns:a16="http://schemas.microsoft.com/office/drawing/2014/main" id="{41F08E94-A580-E68C-A3C9-A3CB990036D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27" name="グループ化 26">
            <a:extLst>
              <a:ext uri="{FF2B5EF4-FFF2-40B4-BE49-F238E27FC236}">
                <a16:creationId xmlns:a16="http://schemas.microsoft.com/office/drawing/2014/main" id="{55A44585-9B19-2EFA-3154-8C14BBFDE224}"/>
              </a:ext>
            </a:extLst>
          </p:cNvPr>
          <p:cNvGrpSpPr/>
          <p:nvPr/>
        </p:nvGrpSpPr>
        <p:grpSpPr>
          <a:xfrm>
            <a:off x="838200" y="4500137"/>
            <a:ext cx="4680000" cy="720000"/>
            <a:chOff x="838200" y="1690688"/>
            <a:chExt cx="4680000" cy="720000"/>
          </a:xfrm>
        </p:grpSpPr>
        <p:sp>
          <p:nvSpPr>
            <p:cNvPr id="28" name="正方形/長方形 27">
              <a:extLst>
                <a:ext uri="{FF2B5EF4-FFF2-40B4-BE49-F238E27FC236}">
                  <a16:creationId xmlns:a16="http://schemas.microsoft.com/office/drawing/2014/main" id="{E4B23564-1458-946C-945B-DA77FB32F05F}"/>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9" name="角丸四角形 28">
              <a:extLst>
                <a:ext uri="{FF2B5EF4-FFF2-40B4-BE49-F238E27FC236}">
                  <a16:creationId xmlns:a16="http://schemas.microsoft.com/office/drawing/2014/main" id="{9BFA32EC-4154-A944-E1BD-F8EDF6FB604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2026-05-15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05</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0" name="正方形/長方形 29">
              <a:extLst>
                <a:ext uri="{FF2B5EF4-FFF2-40B4-BE49-F238E27FC236}">
                  <a16:creationId xmlns:a16="http://schemas.microsoft.com/office/drawing/2014/main" id="{2B40C7EA-A9F0-F1FE-BFA4-890F0CE79EB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1" name="角丸四角形 30">
              <a:extLst>
                <a:ext uri="{FF2B5EF4-FFF2-40B4-BE49-F238E27FC236}">
                  <a16:creationId xmlns:a16="http://schemas.microsoft.com/office/drawing/2014/main" id="{C3204CE9-635B-B6A4-F4F5-59AA3FA471B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2" name="グループ化 31">
            <a:extLst>
              <a:ext uri="{FF2B5EF4-FFF2-40B4-BE49-F238E27FC236}">
                <a16:creationId xmlns:a16="http://schemas.microsoft.com/office/drawing/2014/main" id="{2ADA5E8F-EA1C-A9F1-171C-C4147D5111EF}"/>
              </a:ext>
            </a:extLst>
          </p:cNvPr>
          <p:cNvGrpSpPr/>
          <p:nvPr/>
        </p:nvGrpSpPr>
        <p:grpSpPr>
          <a:xfrm>
            <a:off x="838200" y="5289585"/>
            <a:ext cx="4680000" cy="720000"/>
            <a:chOff x="838200" y="1690688"/>
            <a:chExt cx="4680000" cy="720000"/>
          </a:xfrm>
        </p:grpSpPr>
        <p:sp>
          <p:nvSpPr>
            <p:cNvPr id="33" name="正方形/長方形 32">
              <a:extLst>
                <a:ext uri="{FF2B5EF4-FFF2-40B4-BE49-F238E27FC236}">
                  <a16:creationId xmlns:a16="http://schemas.microsoft.com/office/drawing/2014/main" id="{CD1158B1-7C9D-FF28-EB60-E43223242176}"/>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4" name="角丸四角形 33">
              <a:extLst>
                <a:ext uri="{FF2B5EF4-FFF2-40B4-BE49-F238E27FC236}">
                  <a16:creationId xmlns:a16="http://schemas.microsoft.com/office/drawing/2014/main" id="{05E11F0E-665A-1CCE-201D-B7ACABDA3332}"/>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2026-05-22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06</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5" name="正方形/長方形 34">
              <a:extLst>
                <a:ext uri="{FF2B5EF4-FFF2-40B4-BE49-F238E27FC236}">
                  <a16:creationId xmlns:a16="http://schemas.microsoft.com/office/drawing/2014/main" id="{781C07F9-0E22-E229-16EE-1CCCC0BCBEBA}"/>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6" name="角丸四角形 35">
              <a:extLst>
                <a:ext uri="{FF2B5EF4-FFF2-40B4-BE49-F238E27FC236}">
                  <a16:creationId xmlns:a16="http://schemas.microsoft.com/office/drawing/2014/main" id="{DD198E45-A400-1BBF-89BE-F6EDE6E5712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7" name="グループ化 36">
            <a:extLst>
              <a:ext uri="{FF2B5EF4-FFF2-40B4-BE49-F238E27FC236}">
                <a16:creationId xmlns:a16="http://schemas.microsoft.com/office/drawing/2014/main" id="{DCAD5903-56CC-C164-4686-71AC1F98563D}"/>
              </a:ext>
            </a:extLst>
          </p:cNvPr>
          <p:cNvGrpSpPr/>
          <p:nvPr/>
        </p:nvGrpSpPr>
        <p:grpSpPr>
          <a:xfrm>
            <a:off x="838200" y="6079032"/>
            <a:ext cx="4680000" cy="720000"/>
            <a:chOff x="838200" y="1690688"/>
            <a:chExt cx="4680000" cy="720000"/>
          </a:xfrm>
        </p:grpSpPr>
        <p:sp>
          <p:nvSpPr>
            <p:cNvPr id="38" name="正方形/長方形 37">
              <a:extLst>
                <a:ext uri="{FF2B5EF4-FFF2-40B4-BE49-F238E27FC236}">
                  <a16:creationId xmlns:a16="http://schemas.microsoft.com/office/drawing/2014/main" id="{C5CBD32D-49F4-679F-0765-0B7BB13B845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9" name="角丸四角形 38">
              <a:extLst>
                <a:ext uri="{FF2B5EF4-FFF2-40B4-BE49-F238E27FC236}">
                  <a16:creationId xmlns:a16="http://schemas.microsoft.com/office/drawing/2014/main" id="{7ECBBF9C-A3A7-9541-CC9D-E06CD00F15F4}"/>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07</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0" name="正方形/長方形 39">
              <a:extLst>
                <a:ext uri="{FF2B5EF4-FFF2-40B4-BE49-F238E27FC236}">
                  <a16:creationId xmlns:a16="http://schemas.microsoft.com/office/drawing/2014/main" id="{D7E5A798-EC59-B471-6D50-8F3528F187A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1" name="角丸四角形 40">
              <a:extLst>
                <a:ext uri="{FF2B5EF4-FFF2-40B4-BE49-F238E27FC236}">
                  <a16:creationId xmlns:a16="http://schemas.microsoft.com/office/drawing/2014/main" id="{535908C0-42E8-7BC7-028D-AD00E63F5F71}"/>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3/</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42" name="グループ化 41">
            <a:extLst>
              <a:ext uri="{FF2B5EF4-FFF2-40B4-BE49-F238E27FC236}">
                <a16:creationId xmlns:a16="http://schemas.microsoft.com/office/drawing/2014/main" id="{4D2B1A6D-1148-C863-5481-34CB4BB19023}"/>
              </a:ext>
            </a:extLst>
          </p:cNvPr>
          <p:cNvGrpSpPr/>
          <p:nvPr/>
        </p:nvGrpSpPr>
        <p:grpSpPr>
          <a:xfrm>
            <a:off x="6673800" y="1342345"/>
            <a:ext cx="4680000" cy="720000"/>
            <a:chOff x="838200" y="1690688"/>
            <a:chExt cx="4680000" cy="720000"/>
          </a:xfrm>
        </p:grpSpPr>
        <p:sp>
          <p:nvSpPr>
            <p:cNvPr id="43" name="正方形/長方形 42">
              <a:extLst>
                <a:ext uri="{FF2B5EF4-FFF2-40B4-BE49-F238E27FC236}">
                  <a16:creationId xmlns:a16="http://schemas.microsoft.com/office/drawing/2014/main" id="{43955E4B-AAA9-ADF3-8EE0-6276796531E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4" name="角丸四角形 43">
              <a:extLst>
                <a:ext uri="{FF2B5EF4-FFF2-40B4-BE49-F238E27FC236}">
                  <a16:creationId xmlns:a16="http://schemas.microsoft.com/office/drawing/2014/main" id="{311E5817-72E5-6A99-90D3-BA4E54C180D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2026-06-05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08</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5" name="正方形/長方形 44">
              <a:extLst>
                <a:ext uri="{FF2B5EF4-FFF2-40B4-BE49-F238E27FC236}">
                  <a16:creationId xmlns:a16="http://schemas.microsoft.com/office/drawing/2014/main" id="{C624E98C-2448-E467-ABEF-2BD16D99E32F}"/>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6" name="角丸四角形 45">
              <a:extLst>
                <a:ext uri="{FF2B5EF4-FFF2-40B4-BE49-F238E27FC236}">
                  <a16:creationId xmlns:a16="http://schemas.microsoft.com/office/drawing/2014/main" id="{B4D19F41-ACB8-0456-C664-A44C844AFF3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2" name="グループ化 61">
            <a:extLst>
              <a:ext uri="{FF2B5EF4-FFF2-40B4-BE49-F238E27FC236}">
                <a16:creationId xmlns:a16="http://schemas.microsoft.com/office/drawing/2014/main" id="{01153808-5448-59E9-2529-11A7C522D29F}"/>
              </a:ext>
            </a:extLst>
          </p:cNvPr>
          <p:cNvGrpSpPr/>
          <p:nvPr/>
        </p:nvGrpSpPr>
        <p:grpSpPr>
          <a:xfrm>
            <a:off x="6673800" y="2131793"/>
            <a:ext cx="4680000" cy="720000"/>
            <a:chOff x="838200" y="1690688"/>
            <a:chExt cx="4680000" cy="720000"/>
          </a:xfrm>
        </p:grpSpPr>
        <p:sp>
          <p:nvSpPr>
            <p:cNvPr id="63" name="正方形/長方形 62">
              <a:extLst>
                <a:ext uri="{FF2B5EF4-FFF2-40B4-BE49-F238E27FC236}">
                  <a16:creationId xmlns:a16="http://schemas.microsoft.com/office/drawing/2014/main" id="{6BB426D7-690D-6B2A-46E9-6B37DB9AEF0E}"/>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4" name="角丸四角形 63">
              <a:extLst>
                <a:ext uri="{FF2B5EF4-FFF2-40B4-BE49-F238E27FC236}">
                  <a16:creationId xmlns:a16="http://schemas.microsoft.com/office/drawing/2014/main" id="{B835DFD1-002E-5377-CA57-78957DF011D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2026-06-12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09</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65" name="正方形/長方形 64">
              <a:extLst>
                <a:ext uri="{FF2B5EF4-FFF2-40B4-BE49-F238E27FC236}">
                  <a16:creationId xmlns:a16="http://schemas.microsoft.com/office/drawing/2014/main" id="{C66AC1F3-F8ED-DD5A-8B5C-CD5A2286D6C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6" name="角丸四角形 65">
              <a:extLst>
                <a:ext uri="{FF2B5EF4-FFF2-40B4-BE49-F238E27FC236}">
                  <a16:creationId xmlns:a16="http://schemas.microsoft.com/office/drawing/2014/main" id="{3BF222F9-09A8-72CE-449B-EB1BF1CAADB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3/3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7" name="グループ化 66">
            <a:extLst>
              <a:ext uri="{FF2B5EF4-FFF2-40B4-BE49-F238E27FC236}">
                <a16:creationId xmlns:a16="http://schemas.microsoft.com/office/drawing/2014/main" id="{9918CDC8-892E-EAEB-77B9-05C902C2B959}"/>
              </a:ext>
            </a:extLst>
          </p:cNvPr>
          <p:cNvGrpSpPr/>
          <p:nvPr/>
        </p:nvGrpSpPr>
        <p:grpSpPr>
          <a:xfrm>
            <a:off x="6673800" y="2921241"/>
            <a:ext cx="4680000" cy="720000"/>
            <a:chOff x="838200" y="1690688"/>
            <a:chExt cx="4680000" cy="720000"/>
          </a:xfrm>
        </p:grpSpPr>
        <p:sp>
          <p:nvSpPr>
            <p:cNvPr id="68" name="正方形/長方形 67">
              <a:extLst>
                <a:ext uri="{FF2B5EF4-FFF2-40B4-BE49-F238E27FC236}">
                  <a16:creationId xmlns:a16="http://schemas.microsoft.com/office/drawing/2014/main" id="{7508CD17-1CC5-FED3-2BD2-99379E48D74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9" name="角丸四角形 68">
              <a:extLst>
                <a:ext uri="{FF2B5EF4-FFF2-40B4-BE49-F238E27FC236}">
                  <a16:creationId xmlns:a16="http://schemas.microsoft.com/office/drawing/2014/main" id="{A73541E5-F13B-38E1-4202-6FE847E6ECCF}"/>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10</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0" name="正方形/長方形 69">
              <a:extLst>
                <a:ext uri="{FF2B5EF4-FFF2-40B4-BE49-F238E27FC236}">
                  <a16:creationId xmlns:a16="http://schemas.microsoft.com/office/drawing/2014/main" id="{CEAE641A-DEE4-AFDD-A4C4-9706D595396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1" name="角丸四角形 70">
              <a:extLst>
                <a:ext uri="{FF2B5EF4-FFF2-40B4-BE49-F238E27FC236}">
                  <a16:creationId xmlns:a16="http://schemas.microsoft.com/office/drawing/2014/main" id="{DAEA4FB4-67E3-8D51-018D-60DE20487ADB}"/>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72" name="グループ化 71">
            <a:extLst>
              <a:ext uri="{FF2B5EF4-FFF2-40B4-BE49-F238E27FC236}">
                <a16:creationId xmlns:a16="http://schemas.microsoft.com/office/drawing/2014/main" id="{D5EF1609-65E4-B8E1-4F6B-3B7615127A9A}"/>
              </a:ext>
            </a:extLst>
          </p:cNvPr>
          <p:cNvGrpSpPr/>
          <p:nvPr/>
        </p:nvGrpSpPr>
        <p:grpSpPr>
          <a:xfrm>
            <a:off x="6673800" y="3710689"/>
            <a:ext cx="4680000" cy="720000"/>
            <a:chOff x="838200" y="1690688"/>
            <a:chExt cx="4680000" cy="720000"/>
          </a:xfrm>
        </p:grpSpPr>
        <p:sp>
          <p:nvSpPr>
            <p:cNvPr id="73" name="正方形/長方形 72">
              <a:extLst>
                <a:ext uri="{FF2B5EF4-FFF2-40B4-BE49-F238E27FC236}">
                  <a16:creationId xmlns:a16="http://schemas.microsoft.com/office/drawing/2014/main" id="{D8EA1489-5979-6521-A328-A60F1CCC5AC0}"/>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4" name="角丸四角形 73">
              <a:extLst>
                <a:ext uri="{FF2B5EF4-FFF2-40B4-BE49-F238E27FC236}">
                  <a16:creationId xmlns:a16="http://schemas.microsoft.com/office/drawing/2014/main" id="{495BC841-2AFB-8CAF-1C61-2F10768F618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2026-06-26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5" name="正方形/長方形 74">
              <a:extLst>
                <a:ext uri="{FF2B5EF4-FFF2-40B4-BE49-F238E27FC236}">
                  <a16:creationId xmlns:a16="http://schemas.microsoft.com/office/drawing/2014/main" id="{867454CA-7A0C-4890-069B-DD1A6628B95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6" name="角丸四角形 75">
              <a:extLst>
                <a:ext uri="{FF2B5EF4-FFF2-40B4-BE49-F238E27FC236}">
                  <a16:creationId xmlns:a16="http://schemas.microsoft.com/office/drawing/2014/main" id="{00A4FBD7-CBFB-150F-D541-E303F666A738}"/>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77" name="グループ化 76">
            <a:extLst>
              <a:ext uri="{FF2B5EF4-FFF2-40B4-BE49-F238E27FC236}">
                <a16:creationId xmlns:a16="http://schemas.microsoft.com/office/drawing/2014/main" id="{CB9498AE-3F20-F11E-3F63-799D23E0B5CE}"/>
              </a:ext>
            </a:extLst>
          </p:cNvPr>
          <p:cNvGrpSpPr/>
          <p:nvPr/>
        </p:nvGrpSpPr>
        <p:grpSpPr>
          <a:xfrm>
            <a:off x="6673800" y="4500137"/>
            <a:ext cx="4680000" cy="720000"/>
            <a:chOff x="838200" y="1690688"/>
            <a:chExt cx="4680000" cy="720000"/>
          </a:xfrm>
        </p:grpSpPr>
        <p:sp>
          <p:nvSpPr>
            <p:cNvPr id="78" name="正方形/長方形 77">
              <a:extLst>
                <a:ext uri="{FF2B5EF4-FFF2-40B4-BE49-F238E27FC236}">
                  <a16:creationId xmlns:a16="http://schemas.microsoft.com/office/drawing/2014/main" id="{04EB4FF7-E963-053F-AF5A-2348C728C2E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9" name="角丸四角形 78">
              <a:extLst>
                <a:ext uri="{FF2B5EF4-FFF2-40B4-BE49-F238E27FC236}">
                  <a16:creationId xmlns:a16="http://schemas.microsoft.com/office/drawing/2014/main" id="{6CC565EF-6E65-5E44-6D71-9B41DB0CFCA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2026-07-03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0" name="正方形/長方形 79">
              <a:extLst>
                <a:ext uri="{FF2B5EF4-FFF2-40B4-BE49-F238E27FC236}">
                  <a16:creationId xmlns:a16="http://schemas.microsoft.com/office/drawing/2014/main" id="{2823BFF7-D473-CD9C-E3F8-9D749FD8553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1" name="角丸四角形 80">
              <a:extLst>
                <a:ext uri="{FF2B5EF4-FFF2-40B4-BE49-F238E27FC236}">
                  <a16:creationId xmlns:a16="http://schemas.microsoft.com/office/drawing/2014/main" id="{91C50EFE-0288-9881-2176-38F44844EE41}"/>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Docker</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2" name="グループ化 81">
            <a:extLst>
              <a:ext uri="{FF2B5EF4-FFF2-40B4-BE49-F238E27FC236}">
                <a16:creationId xmlns:a16="http://schemas.microsoft.com/office/drawing/2014/main" id="{0AD65692-51D4-88BA-F7E8-1E4A78C40961}"/>
              </a:ext>
            </a:extLst>
          </p:cNvPr>
          <p:cNvGrpSpPr/>
          <p:nvPr/>
        </p:nvGrpSpPr>
        <p:grpSpPr>
          <a:xfrm>
            <a:off x="6673800" y="5289585"/>
            <a:ext cx="4680000" cy="720000"/>
            <a:chOff x="838200" y="1690688"/>
            <a:chExt cx="4680000" cy="720000"/>
          </a:xfrm>
        </p:grpSpPr>
        <p:sp>
          <p:nvSpPr>
            <p:cNvPr id="83" name="正方形/長方形 82">
              <a:extLst>
                <a:ext uri="{FF2B5EF4-FFF2-40B4-BE49-F238E27FC236}">
                  <a16:creationId xmlns:a16="http://schemas.microsoft.com/office/drawing/2014/main" id="{01B3E597-394B-D74D-9078-D44695068163}"/>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4" name="角丸四角形 83">
              <a:extLst>
                <a:ext uri="{FF2B5EF4-FFF2-40B4-BE49-F238E27FC236}">
                  <a16:creationId xmlns:a16="http://schemas.microsoft.com/office/drawing/2014/main" id="{A215599A-28ED-DB07-B5FA-3DD206391BA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2026-07-10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5" name="正方形/長方形 84">
              <a:extLst>
                <a:ext uri="{FF2B5EF4-FFF2-40B4-BE49-F238E27FC236}">
                  <a16:creationId xmlns:a16="http://schemas.microsoft.com/office/drawing/2014/main" id="{C97D0E3A-93D3-67E6-EFEB-4DFF19BEC83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6" name="角丸四角形 85">
              <a:extLst>
                <a:ext uri="{FF2B5EF4-FFF2-40B4-BE49-F238E27FC236}">
                  <a16:creationId xmlns:a16="http://schemas.microsoft.com/office/drawing/2014/main" id="{5A296795-372C-7CCB-58B9-A86CC0A67BB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補完（</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en-US" altLang="ja-JP" sz="1600" dirty="0">
                  <a:solidFill>
                    <a:schemeClr val="bg1"/>
                  </a:solidFill>
                  <a:latin typeface="Meiryo" panose="020B0604030504040204" pitchFamily="34" charset="-128"/>
                  <a:ea typeface="Meiryo" panose="020B0604030504040204" pitchFamily="34" charset="-128"/>
                </a:rPr>
                <a:t>Homebrew</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7" name="グループ化 86">
            <a:extLst>
              <a:ext uri="{FF2B5EF4-FFF2-40B4-BE49-F238E27FC236}">
                <a16:creationId xmlns:a16="http://schemas.microsoft.com/office/drawing/2014/main" id="{D81BE804-E16B-87D7-504E-67AB8B62C97A}"/>
              </a:ext>
            </a:extLst>
          </p:cNvPr>
          <p:cNvGrpSpPr/>
          <p:nvPr/>
        </p:nvGrpSpPr>
        <p:grpSpPr>
          <a:xfrm>
            <a:off x="6673800" y="6079032"/>
            <a:ext cx="4680000" cy="720000"/>
            <a:chOff x="838200" y="1690688"/>
            <a:chExt cx="4680000" cy="720000"/>
          </a:xfrm>
        </p:grpSpPr>
        <p:sp>
          <p:nvSpPr>
            <p:cNvPr id="88" name="正方形/長方形 87">
              <a:extLst>
                <a:ext uri="{FF2B5EF4-FFF2-40B4-BE49-F238E27FC236}">
                  <a16:creationId xmlns:a16="http://schemas.microsoft.com/office/drawing/2014/main" id="{6B60994E-5176-C20D-8651-CE224A51F50D}"/>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9" name="角丸四角形 88">
              <a:extLst>
                <a:ext uri="{FF2B5EF4-FFF2-40B4-BE49-F238E27FC236}">
                  <a16:creationId xmlns:a16="http://schemas.microsoft.com/office/drawing/2014/main" id="{8D2FB71C-B113-1D61-5842-4F626BFE3A4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2026-07-17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0" name="正方形/長方形 89">
              <a:extLst>
                <a:ext uri="{FF2B5EF4-FFF2-40B4-BE49-F238E27FC236}">
                  <a16:creationId xmlns:a16="http://schemas.microsoft.com/office/drawing/2014/main" id="{C5EA67EA-3CED-9AB3-9598-6081C148C86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91" name="角丸四角形 90">
              <a:extLst>
                <a:ext uri="{FF2B5EF4-FFF2-40B4-BE49-F238E27FC236}">
                  <a16:creationId xmlns:a16="http://schemas.microsoft.com/office/drawing/2014/main" id="{445C71F6-28F0-7498-2B63-EB47F71C6AD6}"/>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成果物</a:t>
              </a:r>
              <a:r>
                <a:rPr lang="ja-JP" altLang="en-US" sz="1600">
                  <a:solidFill>
                    <a:schemeClr val="bg1"/>
                  </a:solidFill>
                  <a:latin typeface="Meiryo" panose="020B0604030504040204" pitchFamily="34" charset="-128"/>
                  <a:ea typeface="Meiryo" panose="020B0604030504040204" pitchFamily="34" charset="-128"/>
                </a:rPr>
                <a:t>の発表会</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2" name="グループ化 11">
            <a:extLst>
              <a:ext uri="{FF2B5EF4-FFF2-40B4-BE49-F238E27FC236}">
                <a16:creationId xmlns:a16="http://schemas.microsoft.com/office/drawing/2014/main" id="{9B5FB344-382A-1A2A-B1F6-EF0C09E8EF94}"/>
              </a:ext>
            </a:extLst>
          </p:cNvPr>
          <p:cNvGrpSpPr/>
          <p:nvPr/>
        </p:nvGrpSpPr>
        <p:grpSpPr>
          <a:xfrm>
            <a:off x="838200" y="2131793"/>
            <a:ext cx="4680000" cy="720000"/>
            <a:chOff x="838200" y="1690688"/>
            <a:chExt cx="4680000" cy="720000"/>
          </a:xfrm>
        </p:grpSpPr>
        <p:sp>
          <p:nvSpPr>
            <p:cNvPr id="13" name="正方形/長方形 12">
              <a:extLst>
                <a:ext uri="{FF2B5EF4-FFF2-40B4-BE49-F238E27FC236}">
                  <a16:creationId xmlns:a16="http://schemas.microsoft.com/office/drawing/2014/main" id="{8D24976C-9EE6-979A-EFB4-14E4F2A62643}"/>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FAF6134F-9BA9-AD22-EDEA-17F08C78C21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2026-04-17 (Fru)</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15" name="正方形/長方形 14">
              <a:extLst>
                <a:ext uri="{FF2B5EF4-FFF2-40B4-BE49-F238E27FC236}">
                  <a16:creationId xmlns:a16="http://schemas.microsoft.com/office/drawing/2014/main" id="{7FE1D876-6096-1371-7C1E-DBEC35FCEB41}"/>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6" name="角丸四角形 15">
              <a:extLst>
                <a:ext uri="{FF2B5EF4-FFF2-40B4-BE49-F238E27FC236}">
                  <a16:creationId xmlns:a16="http://schemas.microsoft.com/office/drawing/2014/main" id="{96FAAE3A-8F25-A7C2-72CC-6A9E4743A86D}"/>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bg1"/>
                  </a:solidFill>
                  <a:latin typeface="Meiryo" panose="020B0604030504040204" pitchFamily="34" charset="-128"/>
                  <a:ea typeface="Meiryo" panose="020B0604030504040204" pitchFamily="34" charset="-128"/>
                </a:rPr>
                <a:t>Usage/README</a:t>
              </a:r>
              <a:endParaRPr kumimoji="1" lang="ja-JP" altLang="en-US" sz="1600">
                <a:solidFill>
                  <a:schemeClr val="bg1"/>
                </a:solidFill>
                <a:latin typeface="Meiryo" panose="020B0604030504040204" pitchFamily="34" charset="-128"/>
                <a:ea typeface="Meiryo" panose="020B0604030504040204" pitchFamily="34" charset="-128"/>
              </a:endParaRPr>
            </a:p>
          </p:txBody>
        </p:sp>
      </p:grpSp>
      <p:sp>
        <p:nvSpPr>
          <p:cNvPr id="3" name="正方形/長方形 2">
            <a:extLst>
              <a:ext uri="{FF2B5EF4-FFF2-40B4-BE49-F238E27FC236}">
                <a16:creationId xmlns:a16="http://schemas.microsoft.com/office/drawing/2014/main" id="{C68AB438-07B4-287E-EBB5-3CA610848DBC}"/>
              </a:ext>
            </a:extLst>
          </p:cNvPr>
          <p:cNvSpPr/>
          <p:nvPr/>
        </p:nvSpPr>
        <p:spPr>
          <a:xfrm>
            <a:off x="712199" y="1300478"/>
            <a:ext cx="10777435" cy="555752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79D8C4C7-4421-16F2-D935-91A6476A130D}"/>
              </a:ext>
            </a:extLst>
          </p:cNvPr>
          <p:cNvGrpSpPr/>
          <p:nvPr/>
        </p:nvGrpSpPr>
        <p:grpSpPr>
          <a:xfrm>
            <a:off x="838200" y="2921241"/>
            <a:ext cx="4680000" cy="720000"/>
            <a:chOff x="838200" y="1690688"/>
            <a:chExt cx="4680000" cy="720000"/>
          </a:xfrm>
        </p:grpSpPr>
        <p:sp>
          <p:nvSpPr>
            <p:cNvPr id="18" name="正方形/長方形 17">
              <a:extLst>
                <a:ext uri="{FF2B5EF4-FFF2-40B4-BE49-F238E27FC236}">
                  <a16:creationId xmlns:a16="http://schemas.microsoft.com/office/drawing/2014/main" id="{46150746-669C-2E95-CE3D-CB8B337F7B31}"/>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9" name="角丸四角形 18">
              <a:extLst>
                <a:ext uri="{FF2B5EF4-FFF2-40B4-BE49-F238E27FC236}">
                  <a16:creationId xmlns:a16="http://schemas.microsoft.com/office/drawing/2014/main" id="{92BEF3FC-EC0C-60CE-5FC0-4D153E07291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2026-04-24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029E2A65-8350-6BC5-FA09-5C2FF480D78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1" name="角丸四角形 20">
              <a:extLst>
                <a:ext uri="{FF2B5EF4-FFF2-40B4-BE49-F238E27FC236}">
                  <a16:creationId xmlns:a16="http://schemas.microsoft.com/office/drawing/2014/main" id="{FD409111-474C-9CCC-2522-3C3F1DA513B7}"/>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spTree>
    <p:extLst>
      <p:ext uri="{BB962C8B-B14F-4D97-AF65-F5344CB8AC3E}">
        <p14:creationId xmlns:p14="http://schemas.microsoft.com/office/powerpoint/2010/main" val="115676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18884-9BDC-9BA6-9AA7-87E0EAA2ED25}"/>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F853D72B-F205-34AC-B509-C822E356399D}"/>
              </a:ext>
            </a:extLst>
          </p:cNvPr>
          <p:cNvSpPr>
            <a:spLocks noGrp="1"/>
          </p:cNvSpPr>
          <p:nvPr>
            <p:ph idx="1"/>
          </p:nvPr>
        </p:nvSpPr>
        <p:spPr/>
        <p:txBody>
          <a:bodyPr>
            <a:normAutofit/>
          </a:bodyPr>
          <a:lstStyle/>
          <a:p>
            <a:pPr>
              <a:lnSpc>
                <a:spcPct val="100000"/>
              </a:lnSpc>
            </a:pPr>
            <a:r>
              <a:rPr kumimoji="1" lang="en-US" altLang="ja-JP" dirty="0"/>
              <a:t>CI/CD</a:t>
            </a:r>
            <a:r>
              <a:rPr kumimoji="1" lang="ja-JP" altLang="en-US"/>
              <a:t>とは</a:t>
            </a:r>
            <a:endParaRPr kumimoji="1" lang="en-US" altLang="ja-JP" dirty="0"/>
          </a:p>
          <a:p>
            <a:pPr>
              <a:lnSpc>
                <a:spcPct val="100000"/>
              </a:lnSpc>
            </a:pPr>
            <a:r>
              <a:rPr kumimoji="1" lang="en-US" altLang="ja-JP" dirty="0"/>
              <a:t>CI/CD</a:t>
            </a:r>
            <a:r>
              <a:rPr kumimoji="1" lang="ja-JP" altLang="en-US"/>
              <a:t>で行うべきこと</a:t>
            </a:r>
            <a:endParaRPr kumimoji="1" lang="en-US" altLang="ja-JP" dirty="0"/>
          </a:p>
          <a:p>
            <a:pPr>
              <a:lnSpc>
                <a:spcPct val="100000"/>
              </a:lnSpc>
            </a:pPr>
            <a:r>
              <a:rPr lang="ja-JP" altLang="en-US"/>
              <a:t>ビルドツール</a:t>
            </a:r>
            <a:r>
              <a:rPr lang="en-US" altLang="ja-JP" dirty="0"/>
              <a:t>/</a:t>
            </a:r>
            <a:r>
              <a:rPr lang="ja-JP" altLang="en-US"/>
              <a:t>タスクランナー</a:t>
            </a:r>
            <a:endParaRPr lang="en-US" altLang="ja-JP" dirty="0"/>
          </a:p>
          <a:p>
            <a:pPr>
              <a:lnSpc>
                <a:spcPct val="100000"/>
              </a:lnSpc>
            </a:pPr>
            <a:r>
              <a:rPr lang="en-US" altLang="ja-JP" dirty="0"/>
              <a:t>CI/CD</a:t>
            </a:r>
            <a:r>
              <a:rPr lang="ja-JP" altLang="en-US"/>
              <a:t>スクリプト</a:t>
            </a:r>
            <a:endParaRPr lang="en-US" altLang="ja-JP" dirty="0"/>
          </a:p>
          <a:p>
            <a:pPr lvl="1">
              <a:lnSpc>
                <a:spcPct val="100000"/>
              </a:lnSpc>
            </a:pPr>
            <a:r>
              <a:rPr kumimoji="1" lang="en-US" altLang="ja-JP" dirty="0" err="1">
                <a:latin typeface="Consolas" panose="020B0609020204030204" pitchFamily="49" charset="0"/>
                <a:cs typeface="Consolas" panose="020B0609020204030204" pitchFamily="49" charset="0"/>
              </a:rPr>
              <a:t>build.yaml</a:t>
            </a:r>
            <a:endParaRPr kumimoji="1" lang="en-US" altLang="ja-JP" dirty="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7F511538-3A5E-A693-1682-8F7030DEED7E}"/>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5DEFD98F-A08C-E935-9470-1C821BDBD919}"/>
              </a:ext>
            </a:extLst>
          </p:cNvPr>
          <p:cNvSpPr>
            <a:spLocks noGrp="1"/>
          </p:cNvSpPr>
          <p:nvPr>
            <p:ph type="sldNum" sz="quarter" idx="12"/>
          </p:nvPr>
        </p:nvSpPr>
        <p:spPr/>
        <p:txBody>
          <a:bodyPr/>
          <a:lstStyle/>
          <a:p>
            <a:fld id="{0B8845E4-5C92-A046-BB66-E5D9CC995B08}" type="slidenum">
              <a:rPr kumimoji="1" lang="ja-JP" altLang="en-US" smtClean="0"/>
              <a:t>3</a:t>
            </a:fld>
            <a:endParaRPr kumimoji="1" lang="ja-JP" altLang="en-US"/>
          </a:p>
        </p:txBody>
      </p:sp>
      <p:sp>
        <p:nvSpPr>
          <p:cNvPr id="7" name="正方形/長方形 6">
            <a:extLst>
              <a:ext uri="{FF2B5EF4-FFF2-40B4-BE49-F238E27FC236}">
                <a16:creationId xmlns:a16="http://schemas.microsoft.com/office/drawing/2014/main" id="{CF89F32A-4D8F-1FBB-47F6-6F27DE9954CE}"/>
              </a:ext>
            </a:extLst>
          </p:cNvPr>
          <p:cNvSpPr/>
          <p:nvPr/>
        </p:nvSpPr>
        <p:spPr>
          <a:xfrm>
            <a:off x="665399" y="2645999"/>
            <a:ext cx="9008687" cy="3530963"/>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64383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BBB559-1DD1-4764-9109-E6AD6A90B5A3}"/>
              </a:ext>
            </a:extLst>
          </p:cNvPr>
          <p:cNvSpPr>
            <a:spLocks noGrp="1"/>
          </p:cNvSpPr>
          <p:nvPr>
            <p:ph type="title"/>
          </p:nvPr>
        </p:nvSpPr>
        <p:spPr/>
        <p:txBody>
          <a:bodyPr/>
          <a:lstStyle/>
          <a:p>
            <a:r>
              <a:rPr kumimoji="1" lang="ja-JP" altLang="en-US"/>
              <a:t>プロジェクトの開始</a:t>
            </a:r>
          </a:p>
        </p:txBody>
      </p:sp>
      <p:sp>
        <p:nvSpPr>
          <p:cNvPr id="3" name="コンテンツ プレースホルダー 2">
            <a:extLst>
              <a:ext uri="{FF2B5EF4-FFF2-40B4-BE49-F238E27FC236}">
                <a16:creationId xmlns:a16="http://schemas.microsoft.com/office/drawing/2014/main" id="{BC4E6319-C33D-3BF9-4B14-21D64B74712B}"/>
              </a:ext>
            </a:extLst>
          </p:cNvPr>
          <p:cNvSpPr>
            <a:spLocks noGrp="1"/>
          </p:cNvSpPr>
          <p:nvPr>
            <p:ph idx="1"/>
          </p:nvPr>
        </p:nvSpPr>
        <p:spPr>
          <a:xfrm>
            <a:off x="838199" y="1825625"/>
            <a:ext cx="10857931" cy="4351338"/>
          </a:xfrm>
        </p:spPr>
        <p:txBody>
          <a:bodyPr>
            <a:normAutofit fontScale="92500"/>
          </a:bodyPr>
          <a:lstStyle/>
          <a:p>
            <a:pPr>
              <a:lnSpc>
                <a:spcPct val="100000"/>
              </a:lnSpc>
            </a:pPr>
            <a:r>
              <a:rPr kumimoji="1" lang="en-US" altLang="ja-JP" dirty="0"/>
              <a:t>README/LICENSE</a:t>
            </a:r>
            <a:r>
              <a:rPr kumimoji="1" lang="ja-JP" altLang="en-US"/>
              <a:t>などを書く．</a:t>
            </a:r>
            <a:endParaRPr kumimoji="1" lang="en-US" altLang="ja-JP" dirty="0"/>
          </a:p>
          <a:p>
            <a:pPr>
              <a:lnSpc>
                <a:spcPct val="100000"/>
              </a:lnSpc>
            </a:pPr>
            <a:r>
              <a:rPr kumimoji="1" lang="ja-JP" altLang="en-US"/>
              <a:t>ソースコードを書く前に</a:t>
            </a:r>
            <a:r>
              <a:rPr kumimoji="1" lang="en-US" altLang="ja-JP" dirty="0"/>
              <a:t>CI/CD</a:t>
            </a:r>
            <a:r>
              <a:rPr kumimoji="1" lang="ja-JP" altLang="en-US"/>
              <a:t>を用意する．</a:t>
            </a:r>
            <a:endParaRPr kumimoji="1" lang="en-US" altLang="ja-JP" dirty="0"/>
          </a:p>
          <a:p>
            <a:pPr lvl="1">
              <a:lnSpc>
                <a:spcPct val="100000"/>
              </a:lnSpc>
            </a:pPr>
            <a:r>
              <a:rPr lang="ja-JP" altLang="en-US"/>
              <a:t>そのためにビルドファイルを準備する．</a:t>
            </a:r>
            <a:endParaRPr lang="en-US" altLang="ja-JP" dirty="0"/>
          </a:p>
          <a:p>
            <a:pPr lvl="2">
              <a:lnSpc>
                <a:spcPct val="100000"/>
              </a:lnSpc>
            </a:pPr>
            <a:r>
              <a:rPr lang="ja-JP" altLang="en-US"/>
              <a:t>ビルド，テストを実施する．</a:t>
            </a:r>
            <a:endParaRPr lang="en-US" altLang="ja-JP" dirty="0"/>
          </a:p>
          <a:p>
            <a:pPr>
              <a:lnSpc>
                <a:spcPct val="100000"/>
              </a:lnSpc>
            </a:pPr>
            <a:r>
              <a:rPr lang="en-US" altLang="ja-JP" dirty="0"/>
              <a:t>CI/CD</a:t>
            </a:r>
            <a:r>
              <a:rPr lang="ja-JP" altLang="en-US"/>
              <a:t>の準備は大変な作業である．</a:t>
            </a:r>
            <a:endParaRPr lang="en-US" altLang="ja-JP" dirty="0"/>
          </a:p>
          <a:p>
            <a:pPr lvl="1">
              <a:lnSpc>
                <a:spcPct val="100000"/>
              </a:lnSpc>
            </a:pPr>
            <a:r>
              <a:rPr lang="ja-JP" altLang="en-US"/>
              <a:t>そのために最初に用意する．</a:t>
            </a:r>
            <a:endParaRPr lang="en-US" altLang="ja-JP" dirty="0"/>
          </a:p>
        </p:txBody>
      </p:sp>
      <p:sp>
        <p:nvSpPr>
          <p:cNvPr id="4" name="日付プレースホルダー 3">
            <a:extLst>
              <a:ext uri="{FF2B5EF4-FFF2-40B4-BE49-F238E27FC236}">
                <a16:creationId xmlns:a16="http://schemas.microsoft.com/office/drawing/2014/main" id="{CEBE38D7-7CC1-769D-2158-CC096B94A4AC}"/>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151D6A9F-4A43-E94A-1EDB-FD00F5B8829D}"/>
              </a:ext>
            </a:extLst>
          </p:cNvPr>
          <p:cNvSpPr>
            <a:spLocks noGrp="1"/>
          </p:cNvSpPr>
          <p:nvPr>
            <p:ph type="sldNum" sz="quarter" idx="12"/>
          </p:nvPr>
        </p:nvSpPr>
        <p:spPr/>
        <p:txBody>
          <a:bodyPr/>
          <a:lstStyle/>
          <a:p>
            <a:fld id="{0B8845E4-5C92-A046-BB66-E5D9CC995B08}" type="slidenum">
              <a:rPr kumimoji="1" lang="ja-JP" altLang="en-US" smtClean="0"/>
              <a:t>4</a:t>
            </a:fld>
            <a:endParaRPr kumimoji="1" lang="ja-JP" altLang="en-US"/>
          </a:p>
        </p:txBody>
      </p:sp>
    </p:spTree>
    <p:extLst>
      <p:ext uri="{BB962C8B-B14F-4D97-AF65-F5344CB8AC3E}">
        <p14:creationId xmlns:p14="http://schemas.microsoft.com/office/powerpoint/2010/main" val="422833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D76684-FC79-B717-0951-0A0F8444835E}"/>
              </a:ext>
            </a:extLst>
          </p:cNvPr>
          <p:cNvSpPr>
            <a:spLocks noGrp="1"/>
          </p:cNvSpPr>
          <p:nvPr>
            <p:ph type="title"/>
          </p:nvPr>
        </p:nvSpPr>
        <p:spPr/>
        <p:txBody>
          <a:bodyPr/>
          <a:lstStyle/>
          <a:p>
            <a:r>
              <a:rPr kumimoji="1" lang="en-US" altLang="ja-JP" dirty="0"/>
              <a:t>CI/CD</a:t>
            </a:r>
            <a:r>
              <a:rPr kumimoji="1" lang="ja-JP" altLang="en-US"/>
              <a:t>とは</a:t>
            </a:r>
          </a:p>
        </p:txBody>
      </p:sp>
      <p:sp>
        <p:nvSpPr>
          <p:cNvPr id="3" name="コンテンツ プレースホルダー 2">
            <a:extLst>
              <a:ext uri="{FF2B5EF4-FFF2-40B4-BE49-F238E27FC236}">
                <a16:creationId xmlns:a16="http://schemas.microsoft.com/office/drawing/2014/main" id="{EDA11A43-859A-EAA8-578C-F6D52E3A3E6F}"/>
              </a:ext>
            </a:extLst>
          </p:cNvPr>
          <p:cNvSpPr>
            <a:spLocks noGrp="1"/>
          </p:cNvSpPr>
          <p:nvPr>
            <p:ph idx="1"/>
          </p:nvPr>
        </p:nvSpPr>
        <p:spPr/>
        <p:txBody>
          <a:bodyPr>
            <a:normAutofit fontScale="70000" lnSpcReduction="20000"/>
          </a:bodyPr>
          <a:lstStyle/>
          <a:p>
            <a:pPr>
              <a:lnSpc>
                <a:spcPct val="120000"/>
              </a:lnSpc>
            </a:pPr>
            <a:r>
              <a:rPr kumimoji="1" lang="en-US" altLang="ja-JP" dirty="0"/>
              <a:t>Continuous Integration/Continuous Delivery</a:t>
            </a:r>
            <a:r>
              <a:rPr kumimoji="1" lang="ja-JP" altLang="en-US"/>
              <a:t>の略．</a:t>
            </a:r>
            <a:endParaRPr kumimoji="1" lang="en-US" altLang="ja-JP" dirty="0"/>
          </a:p>
          <a:p>
            <a:pPr lvl="1">
              <a:lnSpc>
                <a:spcPct val="120000"/>
              </a:lnSpc>
            </a:pPr>
            <a:r>
              <a:rPr lang="ja-JP" altLang="en-US"/>
              <a:t>継続的インテグレーション</a:t>
            </a:r>
            <a:endParaRPr lang="en-US" altLang="ja-JP" dirty="0"/>
          </a:p>
          <a:p>
            <a:pPr lvl="2">
              <a:lnSpc>
                <a:spcPct val="120000"/>
              </a:lnSpc>
            </a:pPr>
            <a:r>
              <a:rPr lang="ja-JP" altLang="en-US"/>
              <a:t>常に実行可能であることを確認すること．</a:t>
            </a:r>
            <a:endParaRPr lang="en-US" altLang="ja-JP" dirty="0"/>
          </a:p>
          <a:p>
            <a:pPr lvl="1">
              <a:lnSpc>
                <a:spcPct val="120000"/>
              </a:lnSpc>
            </a:pPr>
            <a:r>
              <a:rPr lang="ja-JP" altLang="en-US"/>
              <a:t>継続的デリバリ</a:t>
            </a:r>
            <a:endParaRPr lang="en-US" altLang="ja-JP" dirty="0"/>
          </a:p>
          <a:p>
            <a:pPr lvl="2">
              <a:lnSpc>
                <a:spcPct val="120000"/>
              </a:lnSpc>
            </a:pPr>
            <a:r>
              <a:rPr lang="ja-JP" altLang="en-US"/>
              <a:t>常に提供可能であることを確認すること．</a:t>
            </a:r>
            <a:endParaRPr lang="en-US" altLang="ja-JP" dirty="0"/>
          </a:p>
          <a:p>
            <a:pPr>
              <a:lnSpc>
                <a:spcPct val="120000"/>
              </a:lnSpc>
            </a:pPr>
            <a:r>
              <a:rPr kumimoji="1" lang="ja-JP" altLang="en-US"/>
              <a:t>ソフトウェアの変更を常にテストし、自動で本番環境に適用できるような状態にしておく開発手法のこと．</a:t>
            </a:r>
            <a:endParaRPr kumimoji="1" lang="en-US" altLang="ja-JP" dirty="0"/>
          </a:p>
          <a:p>
            <a:pPr lvl="1">
              <a:lnSpc>
                <a:spcPct val="120000"/>
              </a:lnSpc>
            </a:pPr>
            <a:r>
              <a:rPr lang="en-US" altLang="ja-JP" dirty="0"/>
              <a:t>DevOps</a:t>
            </a:r>
            <a:r>
              <a:rPr lang="ja-JP" altLang="en-US"/>
              <a:t>の手段の一つである．</a:t>
            </a:r>
            <a:endParaRPr lang="en-US" altLang="ja-JP" dirty="0"/>
          </a:p>
        </p:txBody>
      </p:sp>
      <p:sp>
        <p:nvSpPr>
          <p:cNvPr id="4" name="日付プレースホルダー 3">
            <a:extLst>
              <a:ext uri="{FF2B5EF4-FFF2-40B4-BE49-F238E27FC236}">
                <a16:creationId xmlns:a16="http://schemas.microsoft.com/office/drawing/2014/main" id="{0D6B7F86-66A1-9086-A580-C8C4D40A24D7}"/>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AB954C45-4D5E-29F1-1D53-9E25B8CC05B2}"/>
              </a:ext>
            </a:extLst>
          </p:cNvPr>
          <p:cNvSpPr>
            <a:spLocks noGrp="1"/>
          </p:cNvSpPr>
          <p:nvPr>
            <p:ph type="sldNum" sz="quarter" idx="12"/>
          </p:nvPr>
        </p:nvSpPr>
        <p:spPr/>
        <p:txBody>
          <a:bodyPr/>
          <a:lstStyle/>
          <a:p>
            <a:fld id="{0B8845E4-5C92-A046-BB66-E5D9CC995B08}" type="slidenum">
              <a:rPr kumimoji="1" lang="ja-JP" altLang="en-US" smtClean="0"/>
              <a:t>5</a:t>
            </a:fld>
            <a:endParaRPr kumimoji="1" lang="ja-JP" altLang="en-US"/>
          </a:p>
        </p:txBody>
      </p:sp>
    </p:spTree>
    <p:extLst>
      <p:ext uri="{BB962C8B-B14F-4D97-AF65-F5344CB8AC3E}">
        <p14:creationId xmlns:p14="http://schemas.microsoft.com/office/powerpoint/2010/main" val="768209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28D19E-5C32-37E1-7994-B81C1AE5D78F}"/>
              </a:ext>
            </a:extLst>
          </p:cNvPr>
          <p:cNvSpPr>
            <a:spLocks noGrp="1"/>
          </p:cNvSpPr>
          <p:nvPr>
            <p:ph type="title"/>
          </p:nvPr>
        </p:nvSpPr>
        <p:spPr/>
        <p:txBody>
          <a:bodyPr/>
          <a:lstStyle/>
          <a:p>
            <a:r>
              <a:rPr kumimoji="1" lang="en-US" altLang="ja-JP" sz="5400" dirty="0"/>
              <a:t>CI (Continuous Integration)</a:t>
            </a:r>
            <a:br>
              <a:rPr kumimoji="1" lang="en-US" altLang="ja-JP" dirty="0"/>
            </a:br>
            <a:r>
              <a:rPr kumimoji="1" lang="ja-JP" altLang="en-US" sz="3600"/>
              <a:t>継続的インテグレーション（継続的な統合）</a:t>
            </a:r>
          </a:p>
        </p:txBody>
      </p:sp>
      <p:sp>
        <p:nvSpPr>
          <p:cNvPr id="3" name="コンテンツ プレースホルダー 2">
            <a:extLst>
              <a:ext uri="{FF2B5EF4-FFF2-40B4-BE49-F238E27FC236}">
                <a16:creationId xmlns:a16="http://schemas.microsoft.com/office/drawing/2014/main" id="{B5EDAD92-7A56-C68C-9F6F-2328A3BC8376}"/>
              </a:ext>
            </a:extLst>
          </p:cNvPr>
          <p:cNvSpPr>
            <a:spLocks noGrp="1"/>
          </p:cNvSpPr>
          <p:nvPr>
            <p:ph idx="1"/>
          </p:nvPr>
        </p:nvSpPr>
        <p:spPr/>
        <p:txBody>
          <a:bodyPr>
            <a:normAutofit/>
          </a:bodyPr>
          <a:lstStyle/>
          <a:p>
            <a:pPr>
              <a:lnSpc>
                <a:spcPct val="110000"/>
              </a:lnSpc>
            </a:pPr>
            <a:r>
              <a:rPr kumimoji="1" lang="ja-JP" altLang="en-US"/>
              <a:t>ソフトウェア開発に関係する様々なことを自動化すること．</a:t>
            </a:r>
            <a:endParaRPr kumimoji="1" lang="en-US" altLang="ja-JP" dirty="0"/>
          </a:p>
          <a:p>
            <a:pPr lvl="1">
              <a:lnSpc>
                <a:spcPct val="110000"/>
              </a:lnSpc>
            </a:pPr>
            <a:r>
              <a:rPr lang="ja-JP" altLang="en-US"/>
              <a:t>ビルド</a:t>
            </a:r>
            <a:endParaRPr lang="en-US" altLang="ja-JP" dirty="0"/>
          </a:p>
          <a:p>
            <a:pPr lvl="1">
              <a:lnSpc>
                <a:spcPct val="110000"/>
              </a:lnSpc>
            </a:pPr>
            <a:r>
              <a:rPr lang="ja-JP" altLang="en-US"/>
              <a:t>テスト</a:t>
            </a:r>
            <a:endParaRPr lang="en-US" altLang="ja-JP" dirty="0"/>
          </a:p>
          <a:p>
            <a:pPr lvl="1">
              <a:lnSpc>
                <a:spcPct val="110000"/>
              </a:lnSpc>
            </a:pPr>
            <a:r>
              <a:rPr kumimoji="1" lang="ja-JP" altLang="en-US"/>
              <a:t>ソースコード品質測定</a:t>
            </a:r>
            <a:endParaRPr kumimoji="1" lang="en-US" altLang="ja-JP" dirty="0"/>
          </a:p>
        </p:txBody>
      </p:sp>
      <p:sp>
        <p:nvSpPr>
          <p:cNvPr id="4" name="日付プレースホルダー 3">
            <a:extLst>
              <a:ext uri="{FF2B5EF4-FFF2-40B4-BE49-F238E27FC236}">
                <a16:creationId xmlns:a16="http://schemas.microsoft.com/office/drawing/2014/main" id="{810632E7-8F8C-AF65-F5D2-467A23957354}"/>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0F9EF93E-A181-A429-42EF-70F84C92EA81}"/>
              </a:ext>
            </a:extLst>
          </p:cNvPr>
          <p:cNvSpPr>
            <a:spLocks noGrp="1"/>
          </p:cNvSpPr>
          <p:nvPr>
            <p:ph type="sldNum" sz="quarter" idx="12"/>
          </p:nvPr>
        </p:nvSpPr>
        <p:spPr/>
        <p:txBody>
          <a:bodyPr/>
          <a:lstStyle/>
          <a:p>
            <a:fld id="{0B8845E4-5C92-A046-BB66-E5D9CC995B08}" type="slidenum">
              <a:rPr kumimoji="1" lang="ja-JP" altLang="en-US" smtClean="0"/>
              <a:t>6</a:t>
            </a:fld>
            <a:endParaRPr kumimoji="1" lang="ja-JP" altLang="en-US"/>
          </a:p>
        </p:txBody>
      </p:sp>
    </p:spTree>
    <p:extLst>
      <p:ext uri="{BB962C8B-B14F-4D97-AF65-F5344CB8AC3E}">
        <p14:creationId xmlns:p14="http://schemas.microsoft.com/office/powerpoint/2010/main" val="2516745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28D19E-5C32-37E1-7994-B81C1AE5D78F}"/>
              </a:ext>
            </a:extLst>
          </p:cNvPr>
          <p:cNvSpPr>
            <a:spLocks noGrp="1"/>
          </p:cNvSpPr>
          <p:nvPr>
            <p:ph type="title"/>
          </p:nvPr>
        </p:nvSpPr>
        <p:spPr/>
        <p:txBody>
          <a:bodyPr/>
          <a:lstStyle/>
          <a:p>
            <a:r>
              <a:rPr kumimoji="1" lang="en-US" altLang="ja-JP" sz="5400" dirty="0"/>
              <a:t>CD (Continuous Delivery)</a:t>
            </a:r>
            <a:br>
              <a:rPr kumimoji="1" lang="en-US" altLang="ja-JP" dirty="0"/>
            </a:br>
            <a:r>
              <a:rPr kumimoji="1" lang="ja-JP" altLang="en-US" sz="3600"/>
              <a:t>継続的デリバリ（継続的な</a:t>
            </a:r>
            <a:r>
              <a:rPr lang="ja-JP" altLang="en-US" sz="3600"/>
              <a:t>提供</a:t>
            </a:r>
            <a:r>
              <a:rPr kumimoji="1" lang="ja-JP" altLang="en-US" sz="3600"/>
              <a:t>）</a:t>
            </a:r>
          </a:p>
        </p:txBody>
      </p:sp>
      <p:sp>
        <p:nvSpPr>
          <p:cNvPr id="3" name="コンテンツ プレースホルダー 2">
            <a:extLst>
              <a:ext uri="{FF2B5EF4-FFF2-40B4-BE49-F238E27FC236}">
                <a16:creationId xmlns:a16="http://schemas.microsoft.com/office/drawing/2014/main" id="{B5EDAD92-7A56-C68C-9F6F-2328A3BC8376}"/>
              </a:ext>
            </a:extLst>
          </p:cNvPr>
          <p:cNvSpPr>
            <a:spLocks noGrp="1"/>
          </p:cNvSpPr>
          <p:nvPr>
            <p:ph idx="1"/>
          </p:nvPr>
        </p:nvSpPr>
        <p:spPr/>
        <p:txBody>
          <a:bodyPr>
            <a:normAutofit fontScale="85000" lnSpcReduction="20000"/>
          </a:bodyPr>
          <a:lstStyle/>
          <a:p>
            <a:pPr>
              <a:lnSpc>
                <a:spcPct val="120000"/>
              </a:lnSpc>
            </a:pPr>
            <a:r>
              <a:rPr kumimoji="1" lang="ja-JP" altLang="en-US"/>
              <a:t>ユーザに継続的にアプリケーションを提供し続けること．</a:t>
            </a:r>
            <a:endParaRPr kumimoji="1" lang="en-US" altLang="ja-JP" dirty="0"/>
          </a:p>
          <a:p>
            <a:pPr lvl="1">
              <a:lnSpc>
                <a:spcPct val="120000"/>
              </a:lnSpc>
            </a:pPr>
            <a:r>
              <a:rPr kumimoji="1" lang="ja-JP" altLang="en-US"/>
              <a:t>本番環境にアプリケーションを設置すること．</a:t>
            </a:r>
            <a:endParaRPr kumimoji="1" lang="en-US" altLang="ja-JP" dirty="0"/>
          </a:p>
          <a:p>
            <a:pPr lvl="1">
              <a:lnSpc>
                <a:spcPct val="120000"/>
              </a:lnSpc>
            </a:pPr>
            <a:r>
              <a:rPr lang="ja-JP" altLang="en-US"/>
              <a:t>ユーザが新たなアプリケーションを利用できるようにすること．</a:t>
            </a:r>
            <a:endParaRPr lang="en-US" altLang="ja-JP" dirty="0"/>
          </a:p>
          <a:p>
            <a:pPr lvl="1">
              <a:lnSpc>
                <a:spcPct val="120000"/>
              </a:lnSpc>
            </a:pPr>
            <a:r>
              <a:rPr kumimoji="1" lang="ja-JP" altLang="en-US"/>
              <a:t>バージョン管理</a:t>
            </a:r>
            <a:endParaRPr kumimoji="1" lang="en-US" altLang="ja-JP" dirty="0"/>
          </a:p>
          <a:p>
            <a:pPr lvl="1">
              <a:lnSpc>
                <a:spcPct val="120000"/>
              </a:lnSpc>
            </a:pPr>
            <a:r>
              <a:rPr kumimoji="1" lang="ja-JP" altLang="en-US"/>
              <a:t>リリース管理</a:t>
            </a:r>
          </a:p>
        </p:txBody>
      </p:sp>
      <p:sp>
        <p:nvSpPr>
          <p:cNvPr id="4" name="日付プレースホルダー 3">
            <a:extLst>
              <a:ext uri="{FF2B5EF4-FFF2-40B4-BE49-F238E27FC236}">
                <a16:creationId xmlns:a16="http://schemas.microsoft.com/office/drawing/2014/main" id="{810632E7-8F8C-AF65-F5D2-467A23957354}"/>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0F9EF93E-A181-A429-42EF-70F84C92EA81}"/>
              </a:ext>
            </a:extLst>
          </p:cNvPr>
          <p:cNvSpPr>
            <a:spLocks noGrp="1"/>
          </p:cNvSpPr>
          <p:nvPr>
            <p:ph type="sldNum" sz="quarter" idx="12"/>
          </p:nvPr>
        </p:nvSpPr>
        <p:spPr/>
        <p:txBody>
          <a:bodyPr/>
          <a:lstStyle/>
          <a:p>
            <a:fld id="{0B8845E4-5C92-A046-BB66-E5D9CC995B08}" type="slidenum">
              <a:rPr kumimoji="1" lang="ja-JP" altLang="en-US" smtClean="0"/>
              <a:t>7</a:t>
            </a:fld>
            <a:endParaRPr kumimoji="1" lang="ja-JP" altLang="en-US"/>
          </a:p>
        </p:txBody>
      </p:sp>
    </p:spTree>
    <p:extLst>
      <p:ext uri="{BB962C8B-B14F-4D97-AF65-F5344CB8AC3E}">
        <p14:creationId xmlns:p14="http://schemas.microsoft.com/office/powerpoint/2010/main" val="76422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2E487-A871-24D5-14CA-B2EBC4C99ADE}"/>
              </a:ext>
            </a:extLst>
          </p:cNvPr>
          <p:cNvSpPr>
            <a:spLocks noGrp="1"/>
          </p:cNvSpPr>
          <p:nvPr>
            <p:ph type="title"/>
          </p:nvPr>
        </p:nvSpPr>
        <p:spPr/>
        <p:txBody>
          <a:bodyPr/>
          <a:lstStyle/>
          <a:p>
            <a:r>
              <a:rPr kumimoji="1" lang="en-US" altLang="ja-JP" dirty="0"/>
              <a:t>DevOps</a:t>
            </a:r>
            <a:endParaRPr kumimoji="1" lang="ja-JP" altLang="en-US"/>
          </a:p>
        </p:txBody>
      </p:sp>
      <p:sp>
        <p:nvSpPr>
          <p:cNvPr id="4" name="日付プレースホルダー 3">
            <a:extLst>
              <a:ext uri="{FF2B5EF4-FFF2-40B4-BE49-F238E27FC236}">
                <a16:creationId xmlns:a16="http://schemas.microsoft.com/office/drawing/2014/main" id="{F9661C73-B1BB-30F0-4A9C-D1966A015E20}"/>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3C0E61E5-76B1-3187-49C0-46A26C70A59D}"/>
              </a:ext>
            </a:extLst>
          </p:cNvPr>
          <p:cNvSpPr>
            <a:spLocks noGrp="1"/>
          </p:cNvSpPr>
          <p:nvPr>
            <p:ph type="sldNum" sz="quarter" idx="12"/>
          </p:nvPr>
        </p:nvSpPr>
        <p:spPr/>
        <p:txBody>
          <a:bodyPr/>
          <a:lstStyle/>
          <a:p>
            <a:fld id="{0B8845E4-5C92-A046-BB66-E5D9CC995B08}" type="slidenum">
              <a:rPr kumimoji="1" lang="ja-JP" altLang="en-US" smtClean="0"/>
              <a:t>8</a:t>
            </a:fld>
            <a:endParaRPr kumimoji="1" lang="ja-JP" altLang="en-US"/>
          </a:p>
        </p:txBody>
      </p:sp>
      <p:pic>
        <p:nvPicPr>
          <p:cNvPr id="1032" name="Picture 8" descr="DevOpsの図解">
            <a:extLst>
              <a:ext uri="{FF2B5EF4-FFF2-40B4-BE49-F238E27FC236}">
                <a16:creationId xmlns:a16="http://schemas.microsoft.com/office/drawing/2014/main" id="{B3070E7E-CB31-6431-EADD-F0DDEC582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0925" y="4050750"/>
            <a:ext cx="5760000" cy="2807250"/>
          </a:xfrm>
          <a:prstGeom prst="rect">
            <a:avLst/>
          </a:prstGeom>
          <a:noFill/>
          <a:extLst>
            <a:ext uri="{909E8E84-426E-40DD-AFC4-6F175D3DCCD1}">
              <a14:hiddenFill xmlns:a14="http://schemas.microsoft.com/office/drawing/2010/main">
                <a:solidFill>
                  <a:srgbClr val="FFFFFF"/>
                </a:solidFill>
              </a14:hiddenFill>
            </a:ext>
          </a:extLst>
        </p:spPr>
      </p:pic>
      <p:sp>
        <p:nvSpPr>
          <p:cNvPr id="3" name="コンテンツ プレースホルダー 2">
            <a:extLst>
              <a:ext uri="{FF2B5EF4-FFF2-40B4-BE49-F238E27FC236}">
                <a16:creationId xmlns:a16="http://schemas.microsoft.com/office/drawing/2014/main" id="{0CAE12DC-1D95-E5E2-62C9-59D627613FB1}"/>
              </a:ext>
            </a:extLst>
          </p:cNvPr>
          <p:cNvSpPr>
            <a:spLocks noGrp="1"/>
          </p:cNvSpPr>
          <p:nvPr>
            <p:ph idx="1"/>
          </p:nvPr>
        </p:nvSpPr>
        <p:spPr/>
        <p:txBody>
          <a:bodyPr>
            <a:normAutofit fontScale="85000" lnSpcReduction="20000"/>
          </a:bodyPr>
          <a:lstStyle/>
          <a:p>
            <a:pPr>
              <a:lnSpc>
                <a:spcPct val="110000"/>
              </a:lnSpc>
            </a:pPr>
            <a:r>
              <a:rPr kumimoji="1" lang="en-US" altLang="ja-JP" dirty="0" err="1"/>
              <a:t>Development+Operations</a:t>
            </a:r>
            <a:endParaRPr kumimoji="1" lang="en-US" altLang="ja-JP" dirty="0"/>
          </a:p>
          <a:p>
            <a:pPr lvl="1">
              <a:lnSpc>
                <a:spcPct val="110000"/>
              </a:lnSpc>
            </a:pPr>
            <a:r>
              <a:rPr lang="ja-JP" altLang="en-US"/>
              <a:t>開発担当と運用担当が密接に連携して協力する</a:t>
            </a:r>
            <a:br>
              <a:rPr lang="en-US" altLang="ja-JP" dirty="0"/>
            </a:br>
            <a:r>
              <a:rPr lang="ja-JP" altLang="en-US"/>
              <a:t>開発体制のこと．</a:t>
            </a:r>
            <a:endParaRPr lang="en-US" altLang="ja-JP" dirty="0"/>
          </a:p>
          <a:p>
            <a:pPr lvl="1">
              <a:lnSpc>
                <a:spcPct val="110000"/>
              </a:lnSpc>
            </a:pPr>
            <a:r>
              <a:rPr kumimoji="1" lang="ja-JP" altLang="en-US"/>
              <a:t>運用で確認した状況を開発に</a:t>
            </a:r>
            <a:br>
              <a:rPr kumimoji="1" lang="en-US" altLang="ja-JP" dirty="0"/>
            </a:br>
            <a:r>
              <a:rPr kumimoji="1" lang="ja-JP" altLang="en-US"/>
              <a:t>素早く反映させる．</a:t>
            </a:r>
            <a:endParaRPr kumimoji="1" lang="en-US" altLang="ja-JP" dirty="0"/>
          </a:p>
          <a:p>
            <a:pPr lvl="1">
              <a:lnSpc>
                <a:spcPct val="110000"/>
              </a:lnSpc>
            </a:pPr>
            <a:r>
              <a:rPr kumimoji="1" lang="ja-JP" altLang="en-US"/>
              <a:t>アジャイルとは似ている</a:t>
            </a:r>
            <a:br>
              <a:rPr kumimoji="1" lang="en-US" altLang="ja-JP" dirty="0"/>
            </a:br>
            <a:r>
              <a:rPr kumimoji="1" lang="ja-JP" altLang="en-US"/>
              <a:t>点が多いが，出発点が異</a:t>
            </a:r>
            <a:br>
              <a:rPr kumimoji="1" lang="en-US" altLang="ja-JP" dirty="0"/>
            </a:br>
            <a:r>
              <a:rPr kumimoji="1" lang="ja-JP" altLang="en-US"/>
              <a:t>なる．</a:t>
            </a:r>
            <a:endParaRPr kumimoji="1" lang="en-US" altLang="ja-JP" dirty="0"/>
          </a:p>
          <a:p>
            <a:pPr>
              <a:lnSpc>
                <a:spcPct val="110000"/>
              </a:lnSpc>
            </a:pPr>
            <a:endParaRPr kumimoji="1" lang="ja-JP" altLang="en-US"/>
          </a:p>
        </p:txBody>
      </p:sp>
    </p:spTree>
    <p:extLst>
      <p:ext uri="{BB962C8B-B14F-4D97-AF65-F5344CB8AC3E}">
        <p14:creationId xmlns:p14="http://schemas.microsoft.com/office/powerpoint/2010/main" val="425720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2A81F4-FBD8-C227-7D46-C84C7AFE1A4F}"/>
              </a:ext>
            </a:extLst>
          </p:cNvPr>
          <p:cNvSpPr>
            <a:spLocks noGrp="1"/>
          </p:cNvSpPr>
          <p:nvPr>
            <p:ph type="title"/>
          </p:nvPr>
        </p:nvSpPr>
        <p:spPr/>
        <p:txBody>
          <a:bodyPr/>
          <a:lstStyle/>
          <a:p>
            <a:r>
              <a:rPr kumimoji="1" lang="en-US" altLang="ja-JP" dirty="0"/>
              <a:t>CI/CD</a:t>
            </a:r>
            <a:r>
              <a:rPr kumimoji="1" lang="ja-JP" altLang="en-US"/>
              <a:t>ツール</a:t>
            </a:r>
          </a:p>
        </p:txBody>
      </p:sp>
      <p:sp>
        <p:nvSpPr>
          <p:cNvPr id="4" name="日付プレースホルダー 3">
            <a:extLst>
              <a:ext uri="{FF2B5EF4-FFF2-40B4-BE49-F238E27FC236}">
                <a16:creationId xmlns:a16="http://schemas.microsoft.com/office/drawing/2014/main" id="{41842E2C-F5CF-8C7E-C741-B98A7953789F}"/>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758C2935-3BC2-06AB-FDFD-E2E0886C7F6F}"/>
              </a:ext>
            </a:extLst>
          </p:cNvPr>
          <p:cNvSpPr>
            <a:spLocks noGrp="1"/>
          </p:cNvSpPr>
          <p:nvPr>
            <p:ph type="sldNum" sz="quarter" idx="12"/>
          </p:nvPr>
        </p:nvSpPr>
        <p:spPr>
          <a:xfrm>
            <a:off x="8610600" y="6356350"/>
            <a:ext cx="2743200" cy="365125"/>
          </a:xfrm>
        </p:spPr>
        <p:txBody>
          <a:bodyPr/>
          <a:lstStyle/>
          <a:p>
            <a:fld id="{0B8845E4-5C92-A046-BB66-E5D9CC995B08}" type="slidenum">
              <a:rPr kumimoji="1" lang="ja-JP" altLang="en-US" smtClean="0"/>
              <a:t>9</a:t>
            </a:fld>
            <a:endParaRPr kumimoji="1" lang="ja-JP" altLang="en-US"/>
          </a:p>
        </p:txBody>
      </p:sp>
      <p:pic>
        <p:nvPicPr>
          <p:cNvPr id="1040" name="Picture 16" descr="Jenkinsとは？» CloudBees|テクマトリックス">
            <a:extLst>
              <a:ext uri="{FF2B5EF4-FFF2-40B4-BE49-F238E27FC236}">
                <a16:creationId xmlns:a16="http://schemas.microsoft.com/office/drawing/2014/main" id="{C0B8324D-BCFE-B3DB-BA0E-4E40661791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31513"/>
            <a:ext cx="3600000" cy="115454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Home – Travis-CI">
            <a:extLst>
              <a:ext uri="{FF2B5EF4-FFF2-40B4-BE49-F238E27FC236}">
                <a16:creationId xmlns:a16="http://schemas.microsoft.com/office/drawing/2014/main" id="{DDCCB3D6-80C3-4DEA-048F-DE4EFF8C1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800" y="1545235"/>
            <a:ext cx="3600000" cy="112710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GitHubの新機能「GitHub Actions」で試すCI/CD | さくらのナレッジ">
            <a:extLst>
              <a:ext uri="{FF2B5EF4-FFF2-40B4-BE49-F238E27FC236}">
                <a16:creationId xmlns:a16="http://schemas.microsoft.com/office/drawing/2014/main" id="{9E8B0C89-7550-BAD8-7C0A-E426E83D42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603984"/>
            <a:ext cx="1800000" cy="1350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GitLab CIを新人研修に導入した話 | フューチャー技術ブログ">
            <a:extLst>
              <a:ext uri="{FF2B5EF4-FFF2-40B4-BE49-F238E27FC236}">
                <a16:creationId xmlns:a16="http://schemas.microsoft.com/office/drawing/2014/main" id="{9908C91B-9671-0C43-B710-AC7ABD1CB2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1706" y="3942219"/>
            <a:ext cx="1800000" cy="201176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最先端の CI/CD ツール - CircleCI">
            <a:extLst>
              <a:ext uri="{FF2B5EF4-FFF2-40B4-BE49-F238E27FC236}">
                <a16:creationId xmlns:a16="http://schemas.microsoft.com/office/drawing/2014/main" id="{01A47F46-D845-6B3C-029C-44BD296A55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5211" y="4440589"/>
            <a:ext cx="18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Drone CI – Automate Software Testing and Delivery">
            <a:extLst>
              <a:ext uri="{FF2B5EF4-FFF2-40B4-BE49-F238E27FC236}">
                <a16:creationId xmlns:a16="http://schemas.microsoft.com/office/drawing/2014/main" id="{8D504BB1-6542-F0C8-DE5F-152272155E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052567"/>
            <a:ext cx="3600000" cy="113400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Bitrise | Mobile DevOps to Maximize App Impact">
            <a:extLst>
              <a:ext uri="{FF2B5EF4-FFF2-40B4-BE49-F238E27FC236}">
                <a16:creationId xmlns:a16="http://schemas.microsoft.com/office/drawing/2014/main" id="{DDDFAFF7-57CF-07CE-E7F1-7520E1AE50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53800" y="3106567"/>
            <a:ext cx="3600000" cy="1026000"/>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716F5FB0-C7A4-B0A2-3F9B-0FFBBC206051}"/>
              </a:ext>
            </a:extLst>
          </p:cNvPr>
          <p:cNvSpPr txBox="1"/>
          <p:nvPr/>
        </p:nvSpPr>
        <p:spPr>
          <a:xfrm>
            <a:off x="7755644" y="4195230"/>
            <a:ext cx="2809567" cy="307777"/>
          </a:xfrm>
          <a:prstGeom prst="rect">
            <a:avLst/>
          </a:prstGeom>
          <a:noFill/>
        </p:spPr>
        <p:txBody>
          <a:bodyPr wrap="square">
            <a:spAutoFit/>
          </a:bodyPr>
          <a:lstStyle/>
          <a:p>
            <a:r>
              <a:rPr lang="ja-JP" altLang="en-US" sz="1400">
                <a:latin typeface="Consolas" panose="020B0609020204030204" pitchFamily="49" charset="0"/>
                <a:cs typeface="Consolas" panose="020B0609020204030204" pitchFamily="49" charset="0"/>
              </a:rPr>
              <a:t>https://bitrise.io</a:t>
            </a:r>
          </a:p>
        </p:txBody>
      </p:sp>
      <p:sp>
        <p:nvSpPr>
          <p:cNvPr id="12" name="テキスト ボックス 11">
            <a:extLst>
              <a:ext uri="{FF2B5EF4-FFF2-40B4-BE49-F238E27FC236}">
                <a16:creationId xmlns:a16="http://schemas.microsoft.com/office/drawing/2014/main" id="{FB232148-AFD4-9562-EDE6-33E7BB4C48CA}"/>
              </a:ext>
            </a:extLst>
          </p:cNvPr>
          <p:cNvSpPr txBox="1"/>
          <p:nvPr/>
        </p:nvSpPr>
        <p:spPr>
          <a:xfrm>
            <a:off x="7753800" y="2617182"/>
            <a:ext cx="3600000" cy="307777"/>
          </a:xfrm>
          <a:prstGeom prst="rect">
            <a:avLst/>
          </a:prstGeom>
          <a:noFill/>
        </p:spPr>
        <p:txBody>
          <a:bodyPr wrap="square">
            <a:spAutoFit/>
          </a:bodyPr>
          <a:lstStyle/>
          <a:p>
            <a:r>
              <a:rPr lang="ja-JP" altLang="en-US" sz="1400">
                <a:latin typeface="Consolas" panose="020B0609020204030204" pitchFamily="49" charset="0"/>
                <a:cs typeface="Consolas" panose="020B0609020204030204" pitchFamily="49" charset="0"/>
              </a:rPr>
              <a:t>https://www.travis-ci.com</a:t>
            </a:r>
          </a:p>
        </p:txBody>
      </p:sp>
      <p:sp>
        <p:nvSpPr>
          <p:cNvPr id="13" name="テキスト ボックス 12">
            <a:extLst>
              <a:ext uri="{FF2B5EF4-FFF2-40B4-BE49-F238E27FC236}">
                <a16:creationId xmlns:a16="http://schemas.microsoft.com/office/drawing/2014/main" id="{F0A0DB4B-1387-D89B-4676-0A8D9DBBC24B}"/>
              </a:ext>
            </a:extLst>
          </p:cNvPr>
          <p:cNvSpPr txBox="1"/>
          <p:nvPr/>
        </p:nvSpPr>
        <p:spPr>
          <a:xfrm>
            <a:off x="838200" y="2617182"/>
            <a:ext cx="3600000" cy="307777"/>
          </a:xfrm>
          <a:prstGeom prst="rect">
            <a:avLst/>
          </a:prstGeom>
          <a:noFill/>
        </p:spPr>
        <p:txBody>
          <a:bodyPr wrap="square">
            <a:spAutoFit/>
          </a:bodyPr>
          <a:lstStyle/>
          <a:p>
            <a:r>
              <a:rPr lang="en" altLang="ja-JP" sz="1400" dirty="0">
                <a:latin typeface="Consolas" panose="020B0609020204030204" pitchFamily="49" charset="0"/>
                <a:cs typeface="Consolas" panose="020B0609020204030204" pitchFamily="49" charset="0"/>
              </a:rPr>
              <a:t>https://</a:t>
            </a:r>
            <a:r>
              <a:rPr lang="en" altLang="ja-JP" sz="1400" dirty="0" err="1">
                <a:latin typeface="Consolas" panose="020B0609020204030204" pitchFamily="49" charset="0"/>
                <a:cs typeface="Consolas" panose="020B0609020204030204" pitchFamily="49" charset="0"/>
              </a:rPr>
              <a:t>www.jenkins.io</a:t>
            </a:r>
            <a:endParaRPr lang="ja-JP" altLang="en-US" sz="1400">
              <a:latin typeface="Consolas" panose="020B0609020204030204" pitchFamily="49" charset="0"/>
              <a:cs typeface="Consolas" panose="020B0609020204030204" pitchFamily="49" charset="0"/>
            </a:endParaRPr>
          </a:p>
        </p:txBody>
      </p:sp>
      <p:sp>
        <p:nvSpPr>
          <p:cNvPr id="14" name="テキスト ボックス 13">
            <a:extLst>
              <a:ext uri="{FF2B5EF4-FFF2-40B4-BE49-F238E27FC236}">
                <a16:creationId xmlns:a16="http://schemas.microsoft.com/office/drawing/2014/main" id="{0049CDE4-D05C-2028-F827-C109FF65A19B}"/>
              </a:ext>
            </a:extLst>
          </p:cNvPr>
          <p:cNvSpPr txBox="1"/>
          <p:nvPr/>
        </p:nvSpPr>
        <p:spPr>
          <a:xfrm>
            <a:off x="836357" y="4195230"/>
            <a:ext cx="3600000" cy="307777"/>
          </a:xfrm>
          <a:prstGeom prst="rect">
            <a:avLst/>
          </a:prstGeom>
          <a:noFill/>
        </p:spPr>
        <p:txBody>
          <a:bodyPr wrap="square">
            <a:spAutoFit/>
          </a:bodyPr>
          <a:lstStyle/>
          <a:p>
            <a:r>
              <a:rPr lang="en" altLang="ja-JP" sz="1400" dirty="0">
                <a:latin typeface="Consolas" panose="020B0609020204030204" pitchFamily="49" charset="0"/>
                <a:cs typeface="Consolas" panose="020B0609020204030204" pitchFamily="49" charset="0"/>
              </a:rPr>
              <a:t>https://</a:t>
            </a:r>
            <a:r>
              <a:rPr lang="en" altLang="ja-JP" sz="1400" dirty="0" err="1">
                <a:latin typeface="Consolas" panose="020B0609020204030204" pitchFamily="49" charset="0"/>
                <a:cs typeface="Consolas" panose="020B0609020204030204" pitchFamily="49" charset="0"/>
              </a:rPr>
              <a:t>www.drone.io</a:t>
            </a:r>
            <a:endParaRPr lang="ja-JP" altLang="en-US" sz="1400">
              <a:latin typeface="Consolas" panose="020B0609020204030204" pitchFamily="49" charset="0"/>
              <a:cs typeface="Consolas" panose="020B0609020204030204" pitchFamily="49" charset="0"/>
            </a:endParaRPr>
          </a:p>
        </p:txBody>
      </p:sp>
      <p:sp>
        <p:nvSpPr>
          <p:cNvPr id="16" name="テキスト ボックス 15">
            <a:extLst>
              <a:ext uri="{FF2B5EF4-FFF2-40B4-BE49-F238E27FC236}">
                <a16:creationId xmlns:a16="http://schemas.microsoft.com/office/drawing/2014/main" id="{65F76FD9-E6F7-01AC-4FE6-3074DAE8A536}"/>
              </a:ext>
            </a:extLst>
          </p:cNvPr>
          <p:cNvSpPr txBox="1"/>
          <p:nvPr/>
        </p:nvSpPr>
        <p:spPr>
          <a:xfrm>
            <a:off x="8537767" y="6048554"/>
            <a:ext cx="2927444" cy="307777"/>
          </a:xfrm>
          <a:prstGeom prst="rect">
            <a:avLst/>
          </a:prstGeom>
          <a:noFill/>
        </p:spPr>
        <p:txBody>
          <a:bodyPr wrap="square">
            <a:spAutoFit/>
          </a:bodyPr>
          <a:lstStyle/>
          <a:p>
            <a:pPr algn="r"/>
            <a:r>
              <a:rPr lang="ja-JP" altLang="en-US" sz="1400">
                <a:latin typeface="Consolas" panose="020B0609020204030204" pitchFamily="49" charset="0"/>
                <a:cs typeface="Consolas" panose="020B0609020204030204" pitchFamily="49" charset="0"/>
              </a:rPr>
              <a:t>https://circleci.com</a:t>
            </a:r>
          </a:p>
        </p:txBody>
      </p:sp>
      <p:sp>
        <p:nvSpPr>
          <p:cNvPr id="18" name="テキスト ボックス 17">
            <a:extLst>
              <a:ext uri="{FF2B5EF4-FFF2-40B4-BE49-F238E27FC236}">
                <a16:creationId xmlns:a16="http://schemas.microsoft.com/office/drawing/2014/main" id="{E0C64EC9-B73D-089A-EE47-354D4441E6A4}"/>
              </a:ext>
            </a:extLst>
          </p:cNvPr>
          <p:cNvSpPr txBox="1"/>
          <p:nvPr/>
        </p:nvSpPr>
        <p:spPr>
          <a:xfrm>
            <a:off x="838257" y="6048535"/>
            <a:ext cx="3926712" cy="307777"/>
          </a:xfrm>
          <a:prstGeom prst="rect">
            <a:avLst/>
          </a:prstGeom>
          <a:noFill/>
        </p:spPr>
        <p:txBody>
          <a:bodyPr wrap="square">
            <a:spAutoFit/>
          </a:bodyPr>
          <a:lstStyle/>
          <a:p>
            <a:r>
              <a:rPr lang="en" altLang="ja-JP" sz="1400" dirty="0">
                <a:latin typeface="Consolas" panose="020B0609020204030204" pitchFamily="49" charset="0"/>
                <a:cs typeface="Consolas" panose="020B0609020204030204" pitchFamily="49" charset="0"/>
              </a:rPr>
              <a:t>https://</a:t>
            </a:r>
            <a:r>
              <a:rPr lang="en" altLang="ja-JP" sz="1400" dirty="0" err="1">
                <a:latin typeface="Consolas" panose="020B0609020204030204" pitchFamily="49" charset="0"/>
                <a:cs typeface="Consolas" panose="020B0609020204030204" pitchFamily="49" charset="0"/>
              </a:rPr>
              <a:t>github.co.jp</a:t>
            </a:r>
            <a:r>
              <a:rPr lang="en" altLang="ja-JP" sz="1400" dirty="0">
                <a:latin typeface="Consolas" panose="020B0609020204030204" pitchFamily="49" charset="0"/>
                <a:cs typeface="Consolas" panose="020B0609020204030204" pitchFamily="49" charset="0"/>
              </a:rPr>
              <a:t>/features/actions</a:t>
            </a:r>
            <a:endParaRPr lang="ja-JP" altLang="en-US" sz="1400">
              <a:latin typeface="Consolas" panose="020B0609020204030204" pitchFamily="49" charset="0"/>
              <a:cs typeface="Consolas" panose="020B0609020204030204" pitchFamily="49" charset="0"/>
            </a:endParaRPr>
          </a:p>
        </p:txBody>
      </p:sp>
      <p:sp>
        <p:nvSpPr>
          <p:cNvPr id="20" name="テキスト ボックス 19">
            <a:extLst>
              <a:ext uri="{FF2B5EF4-FFF2-40B4-BE49-F238E27FC236}">
                <a16:creationId xmlns:a16="http://schemas.microsoft.com/office/drawing/2014/main" id="{46D3AD76-D9EC-D646-4E6B-F949973BB4D8}"/>
              </a:ext>
            </a:extLst>
          </p:cNvPr>
          <p:cNvSpPr txBox="1"/>
          <p:nvPr/>
        </p:nvSpPr>
        <p:spPr>
          <a:xfrm>
            <a:off x="4490091" y="6048535"/>
            <a:ext cx="3323229" cy="307777"/>
          </a:xfrm>
          <a:prstGeom prst="rect">
            <a:avLst/>
          </a:prstGeom>
          <a:noFill/>
        </p:spPr>
        <p:txBody>
          <a:bodyPr wrap="square">
            <a:spAutoFit/>
          </a:bodyPr>
          <a:lstStyle/>
          <a:p>
            <a:pPr algn="ctr"/>
            <a:r>
              <a:rPr lang="ja-JP" altLang="en-US" sz="1400">
                <a:latin typeface="Consolas" panose="020B0609020204030204" pitchFamily="49" charset="0"/>
                <a:cs typeface="Consolas" panose="020B0609020204030204" pitchFamily="49" charset="0"/>
              </a:rPr>
              <a:t>https://docs.gitlab.com/ee/ci/</a:t>
            </a:r>
          </a:p>
        </p:txBody>
      </p:sp>
      <p:sp>
        <p:nvSpPr>
          <p:cNvPr id="21" name="角丸四角形 20">
            <a:extLst>
              <a:ext uri="{FF2B5EF4-FFF2-40B4-BE49-F238E27FC236}">
                <a16:creationId xmlns:a16="http://schemas.microsoft.com/office/drawing/2014/main" id="{D2B959F1-D906-5F8F-47CA-5CDBA7BBE06C}"/>
              </a:ext>
            </a:extLst>
          </p:cNvPr>
          <p:cNvSpPr/>
          <p:nvPr/>
        </p:nvSpPr>
        <p:spPr>
          <a:xfrm>
            <a:off x="722602" y="4603984"/>
            <a:ext cx="3926711" cy="1752329"/>
          </a:xfrm>
          <a:prstGeom prst="roundRect">
            <a:avLst>
              <a:gd name="adj" fmla="val 3019"/>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4845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40"/>
                                        </p:tgtEl>
                                        <p:attrNameLst>
                                          <p:attrName>style.visibility</p:attrName>
                                        </p:attrNameLst>
                                      </p:cBhvr>
                                      <p:to>
                                        <p:strVal val="visible"/>
                                      </p:to>
                                    </p:set>
                                    <p:animEffect transition="in" filter="dissolve">
                                      <p:cBhvr>
                                        <p:cTn id="7" dur="500"/>
                                        <p:tgtEl>
                                          <p:spTgt spid="104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042"/>
                                        </p:tgtEl>
                                        <p:attrNameLst>
                                          <p:attrName>style.visibility</p:attrName>
                                        </p:attrNameLst>
                                      </p:cBhvr>
                                      <p:to>
                                        <p:strVal val="visible"/>
                                      </p:to>
                                    </p:set>
                                    <p:animEffect transition="in" filter="dissolve">
                                      <p:cBhvr>
                                        <p:cTn id="14" dur="500"/>
                                        <p:tgtEl>
                                          <p:spTgt spid="1042"/>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1000"/>
                            </p:stCondLst>
                            <p:childTnLst>
                              <p:par>
                                <p:cTn id="19" presetID="9" presetClass="entr" presetSubtype="0" fill="hold" nodeType="afterEffect">
                                  <p:stCondLst>
                                    <p:cond delay="0"/>
                                  </p:stCondLst>
                                  <p:childTnLst>
                                    <p:set>
                                      <p:cBhvr>
                                        <p:cTn id="20" dur="1" fill="hold">
                                          <p:stCondLst>
                                            <p:cond delay="0"/>
                                          </p:stCondLst>
                                        </p:cTn>
                                        <p:tgtEl>
                                          <p:spTgt spid="1046"/>
                                        </p:tgtEl>
                                        <p:attrNameLst>
                                          <p:attrName>style.visibility</p:attrName>
                                        </p:attrNameLst>
                                      </p:cBhvr>
                                      <p:to>
                                        <p:strVal val="visible"/>
                                      </p:to>
                                    </p:set>
                                    <p:animEffect transition="in" filter="dissolve">
                                      <p:cBhvr>
                                        <p:cTn id="21" dur="500"/>
                                        <p:tgtEl>
                                          <p:spTgt spid="1046"/>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dissolve">
                                      <p:cBhvr>
                                        <p:cTn id="24" dur="500"/>
                                        <p:tgtEl>
                                          <p:spTgt spid="14"/>
                                        </p:tgtEl>
                                      </p:cBhvr>
                                    </p:animEffect>
                                  </p:childTnLst>
                                </p:cTn>
                              </p:par>
                            </p:childTnLst>
                          </p:cTn>
                        </p:par>
                        <p:par>
                          <p:cTn id="25" fill="hold">
                            <p:stCondLst>
                              <p:cond delay="1500"/>
                            </p:stCondLst>
                            <p:childTnLst>
                              <p:par>
                                <p:cTn id="26" presetID="9" presetClass="entr" presetSubtype="0" fill="hold" nodeType="afterEffect">
                                  <p:stCondLst>
                                    <p:cond delay="0"/>
                                  </p:stCondLst>
                                  <p:childTnLst>
                                    <p:set>
                                      <p:cBhvr>
                                        <p:cTn id="27" dur="1" fill="hold">
                                          <p:stCondLst>
                                            <p:cond delay="0"/>
                                          </p:stCondLst>
                                        </p:cTn>
                                        <p:tgtEl>
                                          <p:spTgt spid="1048"/>
                                        </p:tgtEl>
                                        <p:attrNameLst>
                                          <p:attrName>style.visibility</p:attrName>
                                        </p:attrNameLst>
                                      </p:cBhvr>
                                      <p:to>
                                        <p:strVal val="visible"/>
                                      </p:to>
                                    </p:set>
                                    <p:animEffect transition="in" filter="dissolve">
                                      <p:cBhvr>
                                        <p:cTn id="28" dur="500"/>
                                        <p:tgtEl>
                                          <p:spTgt spid="104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childTnLst>
                          </p:cTn>
                        </p:par>
                        <p:par>
                          <p:cTn id="32" fill="hold">
                            <p:stCondLst>
                              <p:cond delay="2000"/>
                            </p:stCondLst>
                            <p:childTnLst>
                              <p:par>
                                <p:cTn id="33" presetID="9" presetClass="entr" presetSubtype="0" fill="hold" nodeType="afterEffect">
                                  <p:stCondLst>
                                    <p:cond delay="0"/>
                                  </p:stCondLst>
                                  <p:childTnLst>
                                    <p:set>
                                      <p:cBhvr>
                                        <p:cTn id="34" dur="1" fill="hold">
                                          <p:stCondLst>
                                            <p:cond delay="0"/>
                                          </p:stCondLst>
                                        </p:cTn>
                                        <p:tgtEl>
                                          <p:spTgt spid="1036"/>
                                        </p:tgtEl>
                                        <p:attrNameLst>
                                          <p:attrName>style.visibility</p:attrName>
                                        </p:attrNameLst>
                                      </p:cBhvr>
                                      <p:to>
                                        <p:strVal val="visible"/>
                                      </p:to>
                                    </p:set>
                                    <p:animEffect transition="in" filter="dissolve">
                                      <p:cBhvr>
                                        <p:cTn id="35" dur="500"/>
                                        <p:tgtEl>
                                          <p:spTgt spid="1036"/>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dissolve">
                                      <p:cBhvr>
                                        <p:cTn id="38" dur="500"/>
                                        <p:tgtEl>
                                          <p:spTgt spid="18"/>
                                        </p:tgtEl>
                                      </p:cBhvr>
                                    </p:animEffect>
                                  </p:childTnLst>
                                </p:cTn>
                              </p:par>
                            </p:childTnLst>
                          </p:cTn>
                        </p:par>
                        <p:par>
                          <p:cTn id="39" fill="hold">
                            <p:stCondLst>
                              <p:cond delay="2500"/>
                            </p:stCondLst>
                            <p:childTnLst>
                              <p:par>
                                <p:cTn id="40" presetID="9" presetClass="entr" presetSubtype="0" fill="hold" nodeType="afterEffect">
                                  <p:stCondLst>
                                    <p:cond delay="0"/>
                                  </p:stCondLst>
                                  <p:childTnLst>
                                    <p:set>
                                      <p:cBhvr>
                                        <p:cTn id="41" dur="1" fill="hold">
                                          <p:stCondLst>
                                            <p:cond delay="0"/>
                                          </p:stCondLst>
                                        </p:cTn>
                                        <p:tgtEl>
                                          <p:spTgt spid="1038"/>
                                        </p:tgtEl>
                                        <p:attrNameLst>
                                          <p:attrName>style.visibility</p:attrName>
                                        </p:attrNameLst>
                                      </p:cBhvr>
                                      <p:to>
                                        <p:strVal val="visible"/>
                                      </p:to>
                                    </p:set>
                                    <p:animEffect transition="in" filter="dissolve">
                                      <p:cBhvr>
                                        <p:cTn id="42" dur="500"/>
                                        <p:tgtEl>
                                          <p:spTgt spid="1038"/>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childTnLst>
                          </p:cTn>
                        </p:par>
                        <p:par>
                          <p:cTn id="46" fill="hold">
                            <p:stCondLst>
                              <p:cond delay="3000"/>
                            </p:stCondLst>
                            <p:childTnLst>
                              <p:par>
                                <p:cTn id="47" presetID="9" presetClass="entr" presetSubtype="0" fill="hold" nodeType="afterEffect">
                                  <p:stCondLst>
                                    <p:cond delay="0"/>
                                  </p:stCondLst>
                                  <p:childTnLst>
                                    <p:set>
                                      <p:cBhvr>
                                        <p:cTn id="48" dur="1" fill="hold">
                                          <p:stCondLst>
                                            <p:cond delay="0"/>
                                          </p:stCondLst>
                                        </p:cTn>
                                        <p:tgtEl>
                                          <p:spTgt spid="1044"/>
                                        </p:tgtEl>
                                        <p:attrNameLst>
                                          <p:attrName>style.visibility</p:attrName>
                                        </p:attrNameLst>
                                      </p:cBhvr>
                                      <p:to>
                                        <p:strVal val="visible"/>
                                      </p:to>
                                    </p:set>
                                    <p:animEffect transition="in" filter="dissolve">
                                      <p:cBhvr>
                                        <p:cTn id="49" dur="500"/>
                                        <p:tgtEl>
                                          <p:spTgt spid="1044"/>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dissolv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dissolv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4" grpId="0"/>
      <p:bldP spid="16" grpId="0"/>
      <p:bldP spid="18" grpId="0"/>
      <p:bldP spid="20" grpId="0"/>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18884-9BDC-9BA6-9AA7-87E0EAA2ED25}"/>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F853D72B-F205-34AC-B509-C822E356399D}"/>
              </a:ext>
            </a:extLst>
          </p:cNvPr>
          <p:cNvSpPr>
            <a:spLocks noGrp="1"/>
          </p:cNvSpPr>
          <p:nvPr>
            <p:ph idx="1"/>
          </p:nvPr>
        </p:nvSpPr>
        <p:spPr/>
        <p:txBody>
          <a:bodyPr>
            <a:normAutofit/>
          </a:bodyPr>
          <a:lstStyle/>
          <a:p>
            <a:pPr>
              <a:lnSpc>
                <a:spcPct val="100000"/>
              </a:lnSpc>
            </a:pPr>
            <a:r>
              <a:rPr kumimoji="1" lang="en-US" altLang="ja-JP" dirty="0"/>
              <a:t>CI/CD</a:t>
            </a:r>
            <a:r>
              <a:rPr kumimoji="1" lang="ja-JP" altLang="en-US"/>
              <a:t>とは</a:t>
            </a:r>
            <a:endParaRPr kumimoji="1" lang="en-US" altLang="ja-JP" dirty="0"/>
          </a:p>
          <a:p>
            <a:pPr>
              <a:lnSpc>
                <a:spcPct val="100000"/>
              </a:lnSpc>
            </a:pPr>
            <a:r>
              <a:rPr kumimoji="1" lang="en-US" altLang="ja-JP" dirty="0"/>
              <a:t>CI/CD</a:t>
            </a:r>
            <a:r>
              <a:rPr kumimoji="1" lang="ja-JP" altLang="en-US"/>
              <a:t>で行うべきこと</a:t>
            </a:r>
            <a:endParaRPr kumimoji="1" lang="en-US" altLang="ja-JP" dirty="0"/>
          </a:p>
          <a:p>
            <a:pPr>
              <a:lnSpc>
                <a:spcPct val="100000"/>
              </a:lnSpc>
            </a:pPr>
            <a:r>
              <a:rPr lang="ja-JP" altLang="en-US"/>
              <a:t>ビルドツール</a:t>
            </a:r>
            <a:r>
              <a:rPr lang="en-US" altLang="ja-JP" dirty="0"/>
              <a:t>/</a:t>
            </a:r>
            <a:r>
              <a:rPr lang="ja-JP" altLang="en-US"/>
              <a:t>タスクランナー</a:t>
            </a:r>
            <a:endParaRPr kumimoji="1" lang="en-US" altLang="ja-JP" dirty="0"/>
          </a:p>
          <a:p>
            <a:pPr>
              <a:lnSpc>
                <a:spcPct val="100000"/>
              </a:lnSpc>
            </a:pPr>
            <a:r>
              <a:rPr lang="en-US" altLang="ja-JP" dirty="0"/>
              <a:t>CI/CD</a:t>
            </a:r>
            <a:r>
              <a:rPr lang="ja-JP" altLang="en-US"/>
              <a:t>スクリプト</a:t>
            </a:r>
            <a:endParaRPr lang="en-US" altLang="ja-JP" dirty="0"/>
          </a:p>
          <a:p>
            <a:pPr lvl="1">
              <a:lnSpc>
                <a:spcPct val="100000"/>
              </a:lnSpc>
            </a:pPr>
            <a:r>
              <a:rPr kumimoji="1" lang="en-US" altLang="ja-JP" dirty="0" err="1">
                <a:latin typeface="Consolas" panose="020B0609020204030204" pitchFamily="49" charset="0"/>
                <a:cs typeface="Consolas" panose="020B0609020204030204" pitchFamily="49" charset="0"/>
              </a:rPr>
              <a:t>build.yaml</a:t>
            </a:r>
            <a:endParaRPr kumimoji="1" lang="en-US" altLang="ja-JP" dirty="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7F511538-3A5E-A693-1682-8F7030DEED7E}"/>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5DEFD98F-A08C-E935-9470-1C821BDBD919}"/>
              </a:ext>
            </a:extLst>
          </p:cNvPr>
          <p:cNvSpPr>
            <a:spLocks noGrp="1"/>
          </p:cNvSpPr>
          <p:nvPr>
            <p:ph type="sldNum" sz="quarter" idx="12"/>
          </p:nvPr>
        </p:nvSpPr>
        <p:spPr/>
        <p:txBody>
          <a:bodyPr/>
          <a:lstStyle/>
          <a:p>
            <a:fld id="{0B8845E4-5C92-A046-BB66-E5D9CC995B08}" type="slidenum">
              <a:rPr kumimoji="1" lang="ja-JP" altLang="en-US" smtClean="0"/>
              <a:t>10</a:t>
            </a:fld>
            <a:endParaRPr kumimoji="1" lang="ja-JP" altLang="en-US"/>
          </a:p>
        </p:txBody>
      </p:sp>
      <p:sp>
        <p:nvSpPr>
          <p:cNvPr id="6" name="正方形/長方形 5">
            <a:extLst>
              <a:ext uri="{FF2B5EF4-FFF2-40B4-BE49-F238E27FC236}">
                <a16:creationId xmlns:a16="http://schemas.microsoft.com/office/drawing/2014/main" id="{17A327A0-7B71-FD78-8B82-073F99583A49}"/>
              </a:ext>
            </a:extLst>
          </p:cNvPr>
          <p:cNvSpPr/>
          <p:nvPr/>
        </p:nvSpPr>
        <p:spPr>
          <a:xfrm>
            <a:off x="665399" y="3428999"/>
            <a:ext cx="8823157" cy="2587487"/>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E5570D67-530A-7C35-2A7B-BB6846F19B11}"/>
              </a:ext>
            </a:extLst>
          </p:cNvPr>
          <p:cNvSpPr/>
          <p:nvPr/>
        </p:nvSpPr>
        <p:spPr>
          <a:xfrm>
            <a:off x="549787" y="1576552"/>
            <a:ext cx="7627262" cy="956933"/>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7289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577922-AC4C-F918-8A1E-258C6BE02D01}"/>
              </a:ext>
            </a:extLst>
          </p:cNvPr>
          <p:cNvSpPr>
            <a:spLocks noGrp="1"/>
          </p:cNvSpPr>
          <p:nvPr>
            <p:ph type="title"/>
          </p:nvPr>
        </p:nvSpPr>
        <p:spPr/>
        <p:txBody>
          <a:bodyPr/>
          <a:lstStyle/>
          <a:p>
            <a:r>
              <a:rPr kumimoji="1" lang="en-US" altLang="ja-JP" dirty="0"/>
              <a:t>CI/CD</a:t>
            </a:r>
            <a:r>
              <a:rPr kumimoji="1" lang="ja-JP" altLang="en-US"/>
              <a:t>で行うべきこと</a:t>
            </a:r>
          </a:p>
        </p:txBody>
      </p:sp>
      <p:sp>
        <p:nvSpPr>
          <p:cNvPr id="4" name="日付プレースホルダー 3">
            <a:extLst>
              <a:ext uri="{FF2B5EF4-FFF2-40B4-BE49-F238E27FC236}">
                <a16:creationId xmlns:a16="http://schemas.microsoft.com/office/drawing/2014/main" id="{8F06FC09-4F9D-E038-29CF-A33C1440A9FF}"/>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4A33BA07-0B16-A4DC-095D-8C9481375C8F}"/>
              </a:ext>
            </a:extLst>
          </p:cNvPr>
          <p:cNvSpPr>
            <a:spLocks noGrp="1"/>
          </p:cNvSpPr>
          <p:nvPr>
            <p:ph type="sldNum" sz="quarter" idx="12"/>
          </p:nvPr>
        </p:nvSpPr>
        <p:spPr/>
        <p:txBody>
          <a:bodyPr/>
          <a:lstStyle/>
          <a:p>
            <a:fld id="{0B8845E4-5C92-A046-BB66-E5D9CC995B08}" type="slidenum">
              <a:rPr kumimoji="1" lang="ja-JP" altLang="en-US" smtClean="0"/>
              <a:t>11</a:t>
            </a:fld>
            <a:endParaRPr kumimoji="1" lang="ja-JP" altLang="en-US"/>
          </a:p>
        </p:txBody>
      </p:sp>
      <p:sp>
        <p:nvSpPr>
          <p:cNvPr id="3" name="コンテンツ プレースホルダー 2">
            <a:extLst>
              <a:ext uri="{FF2B5EF4-FFF2-40B4-BE49-F238E27FC236}">
                <a16:creationId xmlns:a16="http://schemas.microsoft.com/office/drawing/2014/main" id="{D93E5329-FFFC-CED0-3852-B32C1FF704E3}"/>
              </a:ext>
            </a:extLst>
          </p:cNvPr>
          <p:cNvSpPr>
            <a:spLocks noGrp="1"/>
          </p:cNvSpPr>
          <p:nvPr>
            <p:ph idx="1"/>
          </p:nvPr>
        </p:nvSpPr>
        <p:spPr>
          <a:xfrm>
            <a:off x="6096000" y="1825625"/>
            <a:ext cx="5257800" cy="4351338"/>
          </a:xfrm>
        </p:spPr>
        <p:txBody>
          <a:bodyPr>
            <a:normAutofit fontScale="85000" lnSpcReduction="10000"/>
          </a:bodyPr>
          <a:lstStyle/>
          <a:p>
            <a:pPr>
              <a:lnSpc>
                <a:spcPct val="110000"/>
              </a:lnSpc>
            </a:pPr>
            <a:r>
              <a:rPr kumimoji="1" lang="ja-JP" altLang="en-US"/>
              <a:t>ビルド</a:t>
            </a:r>
            <a:endParaRPr kumimoji="1" lang="en-US" altLang="ja-JP" dirty="0"/>
          </a:p>
          <a:p>
            <a:pPr>
              <a:lnSpc>
                <a:spcPct val="110000"/>
              </a:lnSpc>
            </a:pPr>
            <a:r>
              <a:rPr lang="ja-JP" altLang="en-US"/>
              <a:t>テスト</a:t>
            </a:r>
            <a:endParaRPr lang="en-US" altLang="ja-JP" dirty="0"/>
          </a:p>
          <a:p>
            <a:pPr lvl="1">
              <a:lnSpc>
                <a:spcPct val="110000"/>
              </a:lnSpc>
            </a:pPr>
            <a:r>
              <a:rPr kumimoji="1" lang="ja-JP" altLang="en-US"/>
              <a:t>カバレッジ計測</a:t>
            </a:r>
            <a:endParaRPr kumimoji="1" lang="en-US" altLang="ja-JP" dirty="0"/>
          </a:p>
          <a:p>
            <a:pPr>
              <a:lnSpc>
                <a:spcPct val="110000"/>
              </a:lnSpc>
            </a:pPr>
            <a:r>
              <a:rPr kumimoji="1" lang="ja-JP" altLang="en-US"/>
              <a:t>ソースコード品質測定</a:t>
            </a:r>
            <a:endParaRPr kumimoji="1" lang="en-US" altLang="ja-JP" dirty="0"/>
          </a:p>
          <a:p>
            <a:pPr>
              <a:lnSpc>
                <a:spcPct val="110000"/>
              </a:lnSpc>
            </a:pPr>
            <a:r>
              <a:rPr lang="ja-JP" altLang="en-US"/>
              <a:t>リリース管理</a:t>
            </a:r>
            <a:endParaRPr lang="en-US" altLang="ja-JP" dirty="0"/>
          </a:p>
          <a:p>
            <a:pPr lvl="1">
              <a:lnSpc>
                <a:spcPct val="110000"/>
              </a:lnSpc>
            </a:pPr>
            <a:r>
              <a:rPr kumimoji="1" lang="ja-JP" altLang="en-US"/>
              <a:t>バージョン管理</a:t>
            </a:r>
          </a:p>
        </p:txBody>
      </p:sp>
      <p:sp>
        <p:nvSpPr>
          <p:cNvPr id="7" name="右中かっこ 6">
            <a:extLst>
              <a:ext uri="{FF2B5EF4-FFF2-40B4-BE49-F238E27FC236}">
                <a16:creationId xmlns:a16="http://schemas.microsoft.com/office/drawing/2014/main" id="{D3A7806B-0802-E3EF-D4C1-0B24E6419268}"/>
              </a:ext>
            </a:extLst>
          </p:cNvPr>
          <p:cNvSpPr/>
          <p:nvPr/>
        </p:nvSpPr>
        <p:spPr>
          <a:xfrm>
            <a:off x="10163330" y="1825625"/>
            <a:ext cx="415331" cy="1603376"/>
          </a:xfrm>
          <a:prstGeom prst="rightBrace">
            <a:avLst>
              <a:gd name="adj1" fmla="val 133926"/>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3074" name="Picture 2" descr="Coveralls - Test Coverage History &amp; Statistics">
            <a:extLst>
              <a:ext uri="{FF2B5EF4-FFF2-40B4-BE49-F238E27FC236}">
                <a16:creationId xmlns:a16="http://schemas.microsoft.com/office/drawing/2014/main" id="{21EB75F2-4DF5-AA6A-8E38-9054C45AE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1702" y="3033684"/>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51FB8ADF-407A-6B3D-1A5B-4EAE3A170417}"/>
              </a:ext>
            </a:extLst>
          </p:cNvPr>
          <p:cNvSpPr txBox="1"/>
          <p:nvPr/>
        </p:nvSpPr>
        <p:spPr>
          <a:xfrm>
            <a:off x="10655578" y="2396480"/>
            <a:ext cx="1034257" cy="461665"/>
          </a:xfrm>
          <a:prstGeom prst="rect">
            <a:avLst/>
          </a:prstGeom>
          <a:noFill/>
        </p:spPr>
        <p:txBody>
          <a:bodyPr wrap="none" rtlCol="0">
            <a:spAutoFit/>
          </a:bodyPr>
          <a:lstStyle/>
          <a:p>
            <a:r>
              <a:rPr kumimoji="1" lang="en-US" altLang="ja-JP" sz="2400" dirty="0">
                <a:latin typeface="Consolas" panose="020B0609020204030204" pitchFamily="49" charset="0"/>
                <a:ea typeface="Meiryo" panose="020B0604030504040204" pitchFamily="34" charset="-128"/>
                <a:cs typeface="Consolas" panose="020B0609020204030204" pitchFamily="49" charset="0"/>
              </a:rPr>
              <a:t>cargo</a:t>
            </a:r>
            <a:endParaRPr kumimoji="1" lang="ja-JP" altLang="en-US" sz="2400">
              <a:latin typeface="Consolas" panose="020B0609020204030204" pitchFamily="49" charset="0"/>
              <a:ea typeface="Meiryo" panose="020B0604030504040204" pitchFamily="34" charset="-128"/>
              <a:cs typeface="Consolas" panose="020B0609020204030204" pitchFamily="49" charset="0"/>
            </a:endParaRPr>
          </a:p>
        </p:txBody>
      </p:sp>
      <p:pic>
        <p:nvPicPr>
          <p:cNvPr id="9" name="Picture 12" descr="GitHubの新機能「GitHub Actions」で試すCI/CD | さくらのナレッジ">
            <a:extLst>
              <a:ext uri="{FF2B5EF4-FFF2-40B4-BE49-F238E27FC236}">
                <a16:creationId xmlns:a16="http://schemas.microsoft.com/office/drawing/2014/main" id="{9FA82F36-7123-A122-A867-06A205B896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1702" y="4692920"/>
            <a:ext cx="1080000" cy="810000"/>
          </a:xfrm>
          <a:prstGeom prst="rect">
            <a:avLst/>
          </a:prstGeom>
          <a:noFill/>
          <a:extLst>
            <a:ext uri="{909E8E84-426E-40DD-AFC4-6F175D3DCCD1}">
              <a14:hiddenFill xmlns:a14="http://schemas.microsoft.com/office/drawing/2010/main">
                <a:solidFill>
                  <a:srgbClr val="FFFFFF"/>
                </a:solidFill>
              </a14:hiddenFill>
            </a:ext>
          </a:extLst>
        </p:spPr>
      </p:pic>
      <p:sp>
        <p:nvSpPr>
          <p:cNvPr id="10" name="右中かっこ 9">
            <a:extLst>
              <a:ext uri="{FF2B5EF4-FFF2-40B4-BE49-F238E27FC236}">
                <a16:creationId xmlns:a16="http://schemas.microsoft.com/office/drawing/2014/main" id="{2380E3EC-722E-21AD-4FFB-454166A07DA6}"/>
              </a:ext>
            </a:extLst>
          </p:cNvPr>
          <p:cNvSpPr/>
          <p:nvPr/>
        </p:nvSpPr>
        <p:spPr>
          <a:xfrm>
            <a:off x="10210625" y="4508938"/>
            <a:ext cx="415331" cy="1096150"/>
          </a:xfrm>
          <a:prstGeom prst="rightBrace">
            <a:avLst>
              <a:gd name="adj1" fmla="val 133926"/>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DB9F5154-68D2-7B4A-645C-129F02011410}"/>
              </a:ext>
            </a:extLst>
          </p:cNvPr>
          <p:cNvPicPr>
            <a:picLocks noChangeAspect="1"/>
          </p:cNvPicPr>
          <p:nvPr/>
        </p:nvPicPr>
        <p:blipFill>
          <a:blip r:embed="rId5"/>
          <a:stretch>
            <a:fillRect/>
          </a:stretch>
        </p:blipFill>
        <p:spPr>
          <a:xfrm>
            <a:off x="0" y="1823462"/>
            <a:ext cx="6096000" cy="3429000"/>
          </a:xfrm>
          <a:prstGeom prst="rect">
            <a:avLst/>
          </a:prstGeom>
        </p:spPr>
      </p:pic>
    </p:spTree>
    <p:extLst>
      <p:ext uri="{BB962C8B-B14F-4D97-AF65-F5344CB8AC3E}">
        <p14:creationId xmlns:p14="http://schemas.microsoft.com/office/powerpoint/2010/main" val="1855040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par>
                          <p:cTn id="18" fill="hold">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par>
                          <p:cTn id="22" fill="hold">
                            <p:stCondLst>
                              <p:cond delay="1500"/>
                            </p:stCondLst>
                            <p:childTnLst>
                              <p:par>
                                <p:cTn id="23" presetID="9" presetClass="entr" presetSubtype="0" fill="hold" nodeType="afterEffect">
                                  <p:stCondLst>
                                    <p:cond delay="0"/>
                                  </p:stCondLst>
                                  <p:childTnLst>
                                    <p:set>
                                      <p:cBhvr>
                                        <p:cTn id="24" dur="1" fill="hold">
                                          <p:stCondLst>
                                            <p:cond delay="0"/>
                                          </p:stCondLst>
                                        </p:cTn>
                                        <p:tgtEl>
                                          <p:spTgt spid="3074"/>
                                        </p:tgtEl>
                                        <p:attrNameLst>
                                          <p:attrName>style.visibility</p:attrName>
                                        </p:attrNameLst>
                                      </p:cBhvr>
                                      <p:to>
                                        <p:strVal val="visible"/>
                                      </p:to>
                                    </p:set>
                                    <p:animEffect transition="in" filter="dissolve">
                                      <p:cBhvr>
                                        <p:cTn id="25" dur="500"/>
                                        <p:tgtEl>
                                          <p:spTgt spid="307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dissolv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dissolve">
                                      <p:cBhvr>
                                        <p:cTn id="35" dur="500"/>
                                        <p:tgtEl>
                                          <p:spTgt spid="3">
                                            <p:txEl>
                                              <p:pRg st="4" end="4"/>
                                            </p:txEl>
                                          </p:spTgt>
                                        </p:tgtEl>
                                      </p:cBhvr>
                                    </p:animEffect>
                                  </p:childTnLst>
                                </p:cTn>
                              </p:par>
                              <p:par>
                                <p:cTn id="36" presetID="9" presetClass="entr" presetSubtype="0"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dissolve">
                                      <p:cBhvr>
                                        <p:cTn id="38" dur="500"/>
                                        <p:tgtEl>
                                          <p:spTgt spid="3">
                                            <p:txEl>
                                              <p:pRg st="5" end="5"/>
                                            </p:txEl>
                                          </p:spTgt>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1000"/>
                            </p:stCondLst>
                            <p:childTnLst>
                              <p:par>
                                <p:cTn id="44" presetID="9" presetClass="entr" presetSubtype="0"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dissolve">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CC82B1-0484-D16A-2FB6-B8FC439F6E44}"/>
              </a:ext>
            </a:extLst>
          </p:cNvPr>
          <p:cNvSpPr>
            <a:spLocks noGrp="1"/>
          </p:cNvSpPr>
          <p:nvPr>
            <p:ph type="title"/>
          </p:nvPr>
        </p:nvSpPr>
        <p:spPr/>
        <p:txBody>
          <a:bodyPr/>
          <a:lstStyle/>
          <a:p>
            <a:r>
              <a:rPr kumimoji="1" lang="en-US" altLang="ja-JP" sz="3200" dirty="0">
                <a:latin typeface="Consolas" panose="020B0609020204030204" pitchFamily="49" charset="0"/>
                <a:cs typeface="Consolas" panose="020B0609020204030204" pitchFamily="49" charset="0"/>
                <a:hlinkClick r:id="rId2"/>
              </a:rPr>
              <a:t>https://coveralls.io/</a:t>
            </a:r>
            <a:br>
              <a:rPr kumimoji="1" lang="en-US" altLang="ja-JP" dirty="0"/>
            </a:br>
            <a:r>
              <a:rPr kumimoji="1" lang="en-US" altLang="ja-JP" dirty="0"/>
              <a:t>Coveralls</a:t>
            </a:r>
            <a:endParaRPr kumimoji="1" lang="ja-JP" altLang="en-US"/>
          </a:p>
        </p:txBody>
      </p:sp>
      <p:sp>
        <p:nvSpPr>
          <p:cNvPr id="3" name="コンテンツ プレースホルダー 2">
            <a:extLst>
              <a:ext uri="{FF2B5EF4-FFF2-40B4-BE49-F238E27FC236}">
                <a16:creationId xmlns:a16="http://schemas.microsoft.com/office/drawing/2014/main" id="{DD7F6C6F-6710-4B5C-F6A0-5D815998F93D}"/>
              </a:ext>
            </a:extLst>
          </p:cNvPr>
          <p:cNvSpPr>
            <a:spLocks noGrp="1"/>
          </p:cNvSpPr>
          <p:nvPr>
            <p:ph idx="1"/>
          </p:nvPr>
        </p:nvSpPr>
        <p:spPr/>
        <p:txBody>
          <a:bodyPr>
            <a:normAutofit fontScale="92500"/>
          </a:bodyPr>
          <a:lstStyle/>
          <a:p>
            <a:pPr>
              <a:lnSpc>
                <a:spcPct val="110000"/>
              </a:lnSpc>
            </a:pPr>
            <a:r>
              <a:rPr kumimoji="1" lang="en-US" altLang="ja-JP" dirty="0"/>
              <a:t>Code Coverage</a:t>
            </a:r>
            <a:r>
              <a:rPr kumimoji="1" lang="ja-JP" altLang="en-US"/>
              <a:t>を計測し続けるサービス．</a:t>
            </a:r>
            <a:endParaRPr kumimoji="1" lang="en-US" altLang="ja-JP" dirty="0"/>
          </a:p>
          <a:p>
            <a:pPr>
              <a:lnSpc>
                <a:spcPct val="110000"/>
              </a:lnSpc>
            </a:pPr>
            <a:r>
              <a:rPr lang="en-US" altLang="ja-JP" dirty="0"/>
              <a:t>CI/CD</a:t>
            </a:r>
            <a:r>
              <a:rPr lang="ja-JP" altLang="en-US"/>
              <a:t>でカバレッジを計測し，このサービスに送信する．</a:t>
            </a:r>
            <a:endParaRPr lang="en-US" altLang="ja-JP" dirty="0"/>
          </a:p>
          <a:p>
            <a:pPr lvl="1">
              <a:lnSpc>
                <a:spcPct val="110000"/>
              </a:lnSpc>
            </a:pPr>
            <a:r>
              <a:rPr kumimoji="1" lang="ja-JP" altLang="en-US"/>
              <a:t>これにより，カバレッジの推移が見られるようになる．</a:t>
            </a:r>
            <a:endParaRPr kumimoji="1" lang="en-US" altLang="ja-JP" dirty="0"/>
          </a:p>
          <a:p>
            <a:pPr lvl="1">
              <a:lnSpc>
                <a:spcPct val="110000"/>
              </a:lnSpc>
            </a:pPr>
            <a:r>
              <a:rPr lang="en-US" altLang="ja-JP" dirty="0"/>
              <a:t>Badge</a:t>
            </a:r>
            <a:r>
              <a:rPr lang="ja-JP" altLang="en-US"/>
              <a:t>も生成される．</a:t>
            </a:r>
            <a:endParaRPr kumimoji="1" lang="ja-JP" altLang="en-US"/>
          </a:p>
        </p:txBody>
      </p:sp>
      <p:sp>
        <p:nvSpPr>
          <p:cNvPr id="4" name="日付プレースホルダー 3">
            <a:extLst>
              <a:ext uri="{FF2B5EF4-FFF2-40B4-BE49-F238E27FC236}">
                <a16:creationId xmlns:a16="http://schemas.microsoft.com/office/drawing/2014/main" id="{4CED1F98-E713-9517-6E17-694125FC8B2C}"/>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802A1F41-5FDD-6C92-EF33-F596DAA7427C}"/>
              </a:ext>
            </a:extLst>
          </p:cNvPr>
          <p:cNvSpPr>
            <a:spLocks noGrp="1"/>
          </p:cNvSpPr>
          <p:nvPr>
            <p:ph type="sldNum" sz="quarter" idx="12"/>
          </p:nvPr>
        </p:nvSpPr>
        <p:spPr/>
        <p:txBody>
          <a:bodyPr/>
          <a:lstStyle/>
          <a:p>
            <a:fld id="{0B8845E4-5C92-A046-BB66-E5D9CC995B08}" type="slidenum">
              <a:rPr kumimoji="1" lang="ja-JP" altLang="en-US" smtClean="0"/>
              <a:t>12</a:t>
            </a:fld>
            <a:endParaRPr kumimoji="1" lang="ja-JP" altLang="en-US"/>
          </a:p>
        </p:txBody>
      </p:sp>
      <p:pic>
        <p:nvPicPr>
          <p:cNvPr id="6" name="Picture 2" descr="Coveralls - Test Coverage History &amp; Statistics">
            <a:extLst>
              <a:ext uri="{FF2B5EF4-FFF2-40B4-BE49-F238E27FC236}">
                <a16:creationId xmlns:a16="http://schemas.microsoft.com/office/drawing/2014/main" id="{AFB950FC-D449-1AE5-4175-8F8C4DC7BF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3800" y="250688"/>
            <a:ext cx="1440000"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362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コンテンツ プレースホルダー 7">
            <a:extLst>
              <a:ext uri="{FF2B5EF4-FFF2-40B4-BE49-F238E27FC236}">
                <a16:creationId xmlns:a16="http://schemas.microsoft.com/office/drawing/2014/main" id="{EA3E1699-71F0-42F8-3E6C-74623E6764C7}"/>
              </a:ext>
            </a:extLst>
          </p:cNvPr>
          <p:cNvPicPr>
            <a:picLocks noGrp="1" noChangeAspect="1"/>
          </p:cNvPicPr>
          <p:nvPr>
            <p:ph idx="1"/>
          </p:nvPr>
        </p:nvPicPr>
        <p:blipFill>
          <a:blip r:embed="rId2"/>
          <a:stretch>
            <a:fillRect/>
          </a:stretch>
        </p:blipFill>
        <p:spPr>
          <a:xfrm>
            <a:off x="0" y="1690687"/>
            <a:ext cx="12192000" cy="7815641"/>
          </a:xfrm>
          <a:prstGeom prst="rect">
            <a:avLst/>
          </a:prstGeom>
        </p:spPr>
      </p:pic>
      <p:sp>
        <p:nvSpPr>
          <p:cNvPr id="4" name="日付プレースホルダー 3">
            <a:extLst>
              <a:ext uri="{FF2B5EF4-FFF2-40B4-BE49-F238E27FC236}">
                <a16:creationId xmlns:a16="http://schemas.microsoft.com/office/drawing/2014/main" id="{BAAA54D3-08AC-AE09-5051-0590E5C4AA5F}"/>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9E525983-DDD9-87FC-0B50-118DA5CCF9EF}"/>
              </a:ext>
            </a:extLst>
          </p:cNvPr>
          <p:cNvSpPr>
            <a:spLocks noGrp="1"/>
          </p:cNvSpPr>
          <p:nvPr>
            <p:ph type="sldNum" sz="quarter" idx="12"/>
          </p:nvPr>
        </p:nvSpPr>
        <p:spPr/>
        <p:txBody>
          <a:bodyPr/>
          <a:lstStyle/>
          <a:p>
            <a:fld id="{0B8845E4-5C92-A046-BB66-E5D9CC995B08}" type="slidenum">
              <a:rPr kumimoji="1" lang="ja-JP" altLang="en-US" smtClean="0"/>
              <a:t>13</a:t>
            </a:fld>
            <a:endParaRPr kumimoji="1" lang="ja-JP" altLang="en-US"/>
          </a:p>
        </p:txBody>
      </p:sp>
      <p:sp>
        <p:nvSpPr>
          <p:cNvPr id="2" name="タイトル 1">
            <a:extLst>
              <a:ext uri="{FF2B5EF4-FFF2-40B4-BE49-F238E27FC236}">
                <a16:creationId xmlns:a16="http://schemas.microsoft.com/office/drawing/2014/main" id="{1D02110D-9ADC-AFC1-0485-72CC61E696BC}"/>
              </a:ext>
            </a:extLst>
          </p:cNvPr>
          <p:cNvSpPr>
            <a:spLocks noGrp="1"/>
          </p:cNvSpPr>
          <p:nvPr>
            <p:ph type="title"/>
          </p:nvPr>
        </p:nvSpPr>
        <p:spPr/>
        <p:txBody>
          <a:bodyPr/>
          <a:lstStyle/>
          <a:p>
            <a:r>
              <a:rPr kumimoji="1" lang="en-US" altLang="ja-JP" dirty="0"/>
              <a:t>Coveralls</a:t>
            </a:r>
            <a:br>
              <a:rPr kumimoji="1" lang="en-US" altLang="ja-JP" sz="4000" dirty="0"/>
            </a:br>
            <a:r>
              <a:rPr lang="en-US" altLang="ja-JP" sz="3200" dirty="0">
                <a:latin typeface="Consolas" panose="020B0609020204030204" pitchFamily="49" charset="0"/>
                <a:cs typeface="Consolas" panose="020B0609020204030204" pitchFamily="49" charset="0"/>
                <a:hlinkClick r:id="rId3"/>
              </a:rPr>
              <a:t>https://coveralls.io/github/tamada/totebag</a:t>
            </a:r>
            <a:endParaRPr kumimoji="1" lang="ja-JP" altLang="en-US" sz="320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42546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18884-9BDC-9BA6-9AA7-87E0EAA2ED25}"/>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F853D72B-F205-34AC-B509-C822E356399D}"/>
              </a:ext>
            </a:extLst>
          </p:cNvPr>
          <p:cNvSpPr>
            <a:spLocks noGrp="1"/>
          </p:cNvSpPr>
          <p:nvPr>
            <p:ph idx="1"/>
          </p:nvPr>
        </p:nvSpPr>
        <p:spPr/>
        <p:txBody>
          <a:bodyPr>
            <a:normAutofit/>
          </a:bodyPr>
          <a:lstStyle/>
          <a:p>
            <a:pPr>
              <a:lnSpc>
                <a:spcPct val="100000"/>
              </a:lnSpc>
            </a:pPr>
            <a:r>
              <a:rPr kumimoji="1" lang="en-US" altLang="ja-JP" dirty="0"/>
              <a:t>CI/CD</a:t>
            </a:r>
            <a:r>
              <a:rPr kumimoji="1" lang="ja-JP" altLang="en-US"/>
              <a:t>とは</a:t>
            </a:r>
            <a:endParaRPr kumimoji="1" lang="en-US" altLang="ja-JP" dirty="0"/>
          </a:p>
          <a:p>
            <a:pPr>
              <a:lnSpc>
                <a:spcPct val="100000"/>
              </a:lnSpc>
            </a:pPr>
            <a:r>
              <a:rPr kumimoji="1" lang="en-US" altLang="ja-JP" dirty="0"/>
              <a:t>CI/CD</a:t>
            </a:r>
            <a:r>
              <a:rPr kumimoji="1" lang="ja-JP" altLang="en-US"/>
              <a:t>で行うべきこと</a:t>
            </a:r>
            <a:endParaRPr kumimoji="1" lang="en-US" altLang="ja-JP" dirty="0"/>
          </a:p>
          <a:p>
            <a:pPr>
              <a:lnSpc>
                <a:spcPct val="100000"/>
              </a:lnSpc>
            </a:pPr>
            <a:r>
              <a:rPr lang="ja-JP" altLang="en-US"/>
              <a:t>ビルドツール</a:t>
            </a:r>
            <a:r>
              <a:rPr lang="en-US" altLang="ja-JP" dirty="0"/>
              <a:t>/</a:t>
            </a:r>
            <a:r>
              <a:rPr lang="ja-JP" altLang="en-US"/>
              <a:t>タスクランナー</a:t>
            </a:r>
            <a:endParaRPr lang="en-US" altLang="ja-JP" dirty="0"/>
          </a:p>
          <a:p>
            <a:pPr>
              <a:lnSpc>
                <a:spcPct val="100000"/>
              </a:lnSpc>
            </a:pPr>
            <a:r>
              <a:rPr lang="en-US" altLang="ja-JP" dirty="0"/>
              <a:t>CI/CD</a:t>
            </a:r>
            <a:r>
              <a:rPr lang="ja-JP" altLang="en-US"/>
              <a:t>スクリプト</a:t>
            </a:r>
            <a:endParaRPr lang="en-US" altLang="ja-JP" dirty="0"/>
          </a:p>
          <a:p>
            <a:pPr lvl="1">
              <a:lnSpc>
                <a:spcPct val="100000"/>
              </a:lnSpc>
            </a:pPr>
            <a:r>
              <a:rPr kumimoji="1" lang="en-US" altLang="ja-JP" dirty="0" err="1">
                <a:latin typeface="Consolas" panose="020B0609020204030204" pitchFamily="49" charset="0"/>
                <a:cs typeface="Consolas" panose="020B0609020204030204" pitchFamily="49" charset="0"/>
              </a:rPr>
              <a:t>build.yaml</a:t>
            </a:r>
            <a:endParaRPr kumimoji="1" lang="en-US" altLang="ja-JP" dirty="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7F511538-3A5E-A693-1682-8F7030DEED7E}"/>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5DEFD98F-A08C-E935-9470-1C821BDBD919}"/>
              </a:ext>
            </a:extLst>
          </p:cNvPr>
          <p:cNvSpPr>
            <a:spLocks noGrp="1"/>
          </p:cNvSpPr>
          <p:nvPr>
            <p:ph type="sldNum" sz="quarter" idx="12"/>
          </p:nvPr>
        </p:nvSpPr>
        <p:spPr/>
        <p:txBody>
          <a:bodyPr/>
          <a:lstStyle/>
          <a:p>
            <a:fld id="{0B8845E4-5C92-A046-BB66-E5D9CC995B08}" type="slidenum">
              <a:rPr kumimoji="1" lang="ja-JP" altLang="en-US" smtClean="0"/>
              <a:t>14</a:t>
            </a:fld>
            <a:endParaRPr kumimoji="1" lang="ja-JP" altLang="en-US"/>
          </a:p>
        </p:txBody>
      </p:sp>
      <p:sp>
        <p:nvSpPr>
          <p:cNvPr id="6" name="正方形/長方形 5">
            <a:extLst>
              <a:ext uri="{FF2B5EF4-FFF2-40B4-BE49-F238E27FC236}">
                <a16:creationId xmlns:a16="http://schemas.microsoft.com/office/drawing/2014/main" id="{942DC1B0-8D81-9FC4-6952-2D354E843FF4}"/>
              </a:ext>
            </a:extLst>
          </p:cNvPr>
          <p:cNvSpPr/>
          <p:nvPr/>
        </p:nvSpPr>
        <p:spPr>
          <a:xfrm>
            <a:off x="665400" y="1794092"/>
            <a:ext cx="7627262" cy="160337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4A05B33C-770A-C255-3902-4A9DBCA33C3D}"/>
              </a:ext>
            </a:extLst>
          </p:cNvPr>
          <p:cNvSpPr/>
          <p:nvPr/>
        </p:nvSpPr>
        <p:spPr>
          <a:xfrm>
            <a:off x="367226" y="4172858"/>
            <a:ext cx="7627262" cy="160337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5862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46518E-612B-5B76-8512-4C815B5BB808}"/>
              </a:ext>
            </a:extLst>
          </p:cNvPr>
          <p:cNvSpPr>
            <a:spLocks noGrp="1"/>
          </p:cNvSpPr>
          <p:nvPr>
            <p:ph type="title"/>
          </p:nvPr>
        </p:nvSpPr>
        <p:spPr/>
        <p:txBody>
          <a:bodyPr/>
          <a:lstStyle/>
          <a:p>
            <a:r>
              <a:rPr kumimoji="1" lang="ja-JP" altLang="en-US" sz="6000"/>
              <a:t>ビルドツール</a:t>
            </a:r>
            <a:r>
              <a:rPr kumimoji="1" lang="en-US" altLang="ja-JP" sz="6000" dirty="0"/>
              <a:t>/</a:t>
            </a:r>
            <a:r>
              <a:rPr kumimoji="1" lang="ja-JP" altLang="en-US" sz="6000"/>
              <a:t>タスクランナー</a:t>
            </a:r>
          </a:p>
        </p:txBody>
      </p:sp>
      <p:sp>
        <p:nvSpPr>
          <p:cNvPr id="8" name="コンテンツ プレースホルダー 7">
            <a:extLst>
              <a:ext uri="{FF2B5EF4-FFF2-40B4-BE49-F238E27FC236}">
                <a16:creationId xmlns:a16="http://schemas.microsoft.com/office/drawing/2014/main" id="{3CF9BE84-2FD8-FD49-8C76-46D923008701}"/>
              </a:ext>
            </a:extLst>
          </p:cNvPr>
          <p:cNvSpPr>
            <a:spLocks noGrp="1"/>
          </p:cNvSpPr>
          <p:nvPr>
            <p:ph idx="1"/>
          </p:nvPr>
        </p:nvSpPr>
        <p:spPr>
          <a:xfrm>
            <a:off x="838200" y="1825625"/>
            <a:ext cx="10946432" cy="4351338"/>
          </a:xfrm>
        </p:spPr>
        <p:txBody>
          <a:bodyPr>
            <a:normAutofit fontScale="70000" lnSpcReduction="20000"/>
          </a:bodyPr>
          <a:lstStyle/>
          <a:p>
            <a:pPr>
              <a:lnSpc>
                <a:spcPct val="120000"/>
              </a:lnSpc>
            </a:pPr>
            <a:r>
              <a:rPr lang="en-US" altLang="ja-JP" dirty="0"/>
              <a:t>1</a:t>
            </a:r>
            <a:r>
              <a:rPr lang="ja-JP" altLang="en-US"/>
              <a:t>つのソフトウェアが複数のソースファイルから構成されることは珍しくない．</a:t>
            </a:r>
            <a:endParaRPr lang="en-US" altLang="ja-JP" dirty="0"/>
          </a:p>
          <a:p>
            <a:pPr lvl="1">
              <a:lnSpc>
                <a:spcPct val="120000"/>
              </a:lnSpc>
            </a:pPr>
            <a:r>
              <a:rPr lang="ja-JP" altLang="en-US"/>
              <a:t>ソースファイルを一つずつコンパイルするのは面倒．</a:t>
            </a:r>
            <a:endParaRPr lang="en-US" altLang="ja-JP" dirty="0"/>
          </a:p>
          <a:p>
            <a:pPr>
              <a:lnSpc>
                <a:spcPct val="120000"/>
              </a:lnSpc>
            </a:pPr>
            <a:r>
              <a:rPr lang="ja-JP" altLang="en-US"/>
              <a:t>ソフトウェアの作成に必要なのはコンパイルだけではない．</a:t>
            </a:r>
            <a:endParaRPr lang="en-US" altLang="ja-JP" dirty="0"/>
          </a:p>
          <a:p>
            <a:pPr lvl="1">
              <a:lnSpc>
                <a:spcPct val="120000"/>
              </a:lnSpc>
            </a:pPr>
            <a:r>
              <a:rPr lang="ja-JP" altLang="en-US"/>
              <a:t>配布ファイルやドキュメントなどの作成も含まれる．</a:t>
            </a:r>
            <a:endParaRPr lang="en-US" altLang="ja-JP" dirty="0"/>
          </a:p>
          <a:p>
            <a:pPr>
              <a:lnSpc>
                <a:spcPct val="120000"/>
              </a:lnSpc>
            </a:pPr>
            <a:r>
              <a:rPr lang="ja-JP" altLang="en-US"/>
              <a:t>一覧の作業を自動化するためにビルドツールが利用される．</a:t>
            </a:r>
            <a:endParaRPr lang="en-US" altLang="ja-JP" dirty="0"/>
          </a:p>
          <a:p>
            <a:pPr lvl="1">
              <a:lnSpc>
                <a:spcPct val="120000"/>
              </a:lnSpc>
            </a:pPr>
            <a:r>
              <a:rPr lang="ja-JP" altLang="en-US"/>
              <a:t>ビルドのルールをビルドファイルに記載する．</a:t>
            </a:r>
            <a:endParaRPr lang="en-US" altLang="ja-JP" dirty="0"/>
          </a:p>
          <a:p>
            <a:pPr>
              <a:lnSpc>
                <a:spcPct val="120000"/>
              </a:lnSpc>
            </a:pPr>
            <a:r>
              <a:rPr lang="en-US" altLang="ja-JP" dirty="0"/>
              <a:t>Rust</a:t>
            </a:r>
            <a:r>
              <a:rPr lang="ja-JP" altLang="en-US"/>
              <a:t>の場合は、</a:t>
            </a:r>
            <a:r>
              <a:rPr lang="en-US" altLang="ja-JP" dirty="0"/>
              <a:t>cargo </a:t>
            </a:r>
            <a:r>
              <a:rPr lang="ja-JP" altLang="en-US"/>
              <a:t>で良い。</a:t>
            </a:r>
            <a:endParaRPr lang="en-US" altLang="ja-JP" dirty="0"/>
          </a:p>
        </p:txBody>
      </p:sp>
      <p:sp>
        <p:nvSpPr>
          <p:cNvPr id="3" name="スライド番号プレースホルダー 2">
            <a:extLst>
              <a:ext uri="{FF2B5EF4-FFF2-40B4-BE49-F238E27FC236}">
                <a16:creationId xmlns:a16="http://schemas.microsoft.com/office/drawing/2014/main" id="{46E8B689-FB8A-EC72-BBEE-6694BC5C81E1}"/>
              </a:ext>
            </a:extLst>
          </p:cNvPr>
          <p:cNvSpPr>
            <a:spLocks noGrp="1"/>
          </p:cNvSpPr>
          <p:nvPr>
            <p:ph type="sldNum" sz="quarter" idx="12"/>
          </p:nvPr>
        </p:nvSpPr>
        <p:spPr/>
        <p:txBody>
          <a:bodyPr/>
          <a:lstStyle/>
          <a:p>
            <a:fld id="{D2D8002D-B5B0-4BAC-B1F6-782DDCCE6D9C}" type="slidenum">
              <a:rPr lang="ja-JP" altLang="en-US" smtClean="0"/>
              <a:pPr/>
              <a:t>15</a:t>
            </a:fld>
            <a:endParaRPr lang="ja-JP" altLang="en-US" sz="1800"/>
          </a:p>
        </p:txBody>
      </p:sp>
      <p:sp>
        <p:nvSpPr>
          <p:cNvPr id="4" name="日付プレースホルダー 3">
            <a:extLst>
              <a:ext uri="{FF2B5EF4-FFF2-40B4-BE49-F238E27FC236}">
                <a16:creationId xmlns:a16="http://schemas.microsoft.com/office/drawing/2014/main" id="{9C402201-47C7-7FC6-7CF0-7DE38D153467}"/>
              </a:ext>
            </a:extLst>
          </p:cNvPr>
          <p:cNvSpPr>
            <a:spLocks noGrp="1"/>
          </p:cNvSpPr>
          <p:nvPr>
            <p:ph type="dt" sz="half" idx="10"/>
          </p:nvPr>
        </p:nvSpPr>
        <p:spPr/>
        <p:txBody>
          <a:bodyPr/>
          <a:lstStyle/>
          <a:p>
            <a:r>
              <a:rPr kumimoji="1" lang="en-US" altLang="ja-JP"/>
              <a:t>2026-04-24</a:t>
            </a:r>
            <a:endParaRPr kumimoji="1" lang="ja-JP" altLang="en-US"/>
          </a:p>
        </p:txBody>
      </p:sp>
    </p:spTree>
    <p:extLst>
      <p:ext uri="{BB962C8B-B14F-4D97-AF65-F5344CB8AC3E}">
        <p14:creationId xmlns:p14="http://schemas.microsoft.com/office/powerpoint/2010/main" val="161863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A15C7-AC5E-A8C6-3541-06A6946DF9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E7205F-A07B-B692-52E4-4119238F4182}"/>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D649040A-1D1A-2679-A3CD-6C704A17AA24}"/>
              </a:ext>
            </a:extLst>
          </p:cNvPr>
          <p:cNvSpPr>
            <a:spLocks noGrp="1"/>
          </p:cNvSpPr>
          <p:nvPr>
            <p:ph idx="1"/>
          </p:nvPr>
        </p:nvSpPr>
        <p:spPr/>
        <p:txBody>
          <a:bodyPr>
            <a:normAutofit/>
          </a:bodyPr>
          <a:lstStyle/>
          <a:p>
            <a:pPr>
              <a:lnSpc>
                <a:spcPct val="100000"/>
              </a:lnSpc>
            </a:pPr>
            <a:r>
              <a:rPr kumimoji="1" lang="en-US" altLang="ja-JP" dirty="0"/>
              <a:t>CI/CD</a:t>
            </a:r>
            <a:r>
              <a:rPr kumimoji="1" lang="ja-JP" altLang="en-US"/>
              <a:t>とは</a:t>
            </a:r>
            <a:endParaRPr kumimoji="1" lang="en-US" altLang="ja-JP" dirty="0"/>
          </a:p>
          <a:p>
            <a:pPr>
              <a:lnSpc>
                <a:spcPct val="100000"/>
              </a:lnSpc>
            </a:pPr>
            <a:r>
              <a:rPr kumimoji="1" lang="en-US" altLang="ja-JP" dirty="0"/>
              <a:t>CI/CD</a:t>
            </a:r>
            <a:r>
              <a:rPr kumimoji="1" lang="ja-JP" altLang="en-US"/>
              <a:t>で行うべきこと</a:t>
            </a:r>
            <a:endParaRPr kumimoji="1" lang="en-US" altLang="ja-JP" dirty="0"/>
          </a:p>
          <a:p>
            <a:pPr>
              <a:lnSpc>
                <a:spcPct val="100000"/>
              </a:lnSpc>
            </a:pPr>
            <a:r>
              <a:rPr lang="ja-JP" altLang="en-US"/>
              <a:t>ビルドツール</a:t>
            </a:r>
            <a:r>
              <a:rPr lang="en-US" altLang="ja-JP" dirty="0"/>
              <a:t>/</a:t>
            </a:r>
            <a:r>
              <a:rPr lang="ja-JP" altLang="en-US"/>
              <a:t>タスクランナー</a:t>
            </a:r>
            <a:endParaRPr lang="en-US" altLang="ja-JP" dirty="0"/>
          </a:p>
          <a:p>
            <a:pPr>
              <a:lnSpc>
                <a:spcPct val="100000"/>
              </a:lnSpc>
            </a:pPr>
            <a:r>
              <a:rPr lang="en-US" altLang="ja-JP" dirty="0"/>
              <a:t>CI/CD</a:t>
            </a:r>
            <a:r>
              <a:rPr lang="ja-JP" altLang="en-US"/>
              <a:t>スクリプト</a:t>
            </a:r>
            <a:endParaRPr lang="en-US" altLang="ja-JP" dirty="0"/>
          </a:p>
          <a:p>
            <a:pPr lvl="1">
              <a:lnSpc>
                <a:spcPct val="100000"/>
              </a:lnSpc>
            </a:pPr>
            <a:r>
              <a:rPr kumimoji="1" lang="en-US" altLang="ja-JP" dirty="0" err="1">
                <a:latin typeface="Consolas" panose="020B0609020204030204" pitchFamily="49" charset="0"/>
                <a:cs typeface="Consolas" panose="020B0609020204030204" pitchFamily="49" charset="0"/>
              </a:rPr>
              <a:t>build.yaml</a:t>
            </a:r>
            <a:endParaRPr kumimoji="1" lang="en-US" altLang="ja-JP" dirty="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2E60E6D2-8A71-1EE0-820E-CA13452D8344}"/>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FACE135E-42E4-BEB2-441D-D89D658476CE}"/>
              </a:ext>
            </a:extLst>
          </p:cNvPr>
          <p:cNvSpPr>
            <a:spLocks noGrp="1"/>
          </p:cNvSpPr>
          <p:nvPr>
            <p:ph type="sldNum" sz="quarter" idx="12"/>
          </p:nvPr>
        </p:nvSpPr>
        <p:spPr/>
        <p:txBody>
          <a:bodyPr/>
          <a:lstStyle/>
          <a:p>
            <a:fld id="{0B8845E4-5C92-A046-BB66-E5D9CC995B08}" type="slidenum">
              <a:rPr kumimoji="1" lang="ja-JP" altLang="en-US" smtClean="0"/>
              <a:t>16</a:t>
            </a:fld>
            <a:endParaRPr kumimoji="1" lang="ja-JP" altLang="en-US"/>
          </a:p>
        </p:txBody>
      </p:sp>
      <p:sp>
        <p:nvSpPr>
          <p:cNvPr id="6" name="正方形/長方形 5">
            <a:extLst>
              <a:ext uri="{FF2B5EF4-FFF2-40B4-BE49-F238E27FC236}">
                <a16:creationId xmlns:a16="http://schemas.microsoft.com/office/drawing/2014/main" id="{33257C55-5F67-2665-1F8E-6A56B2F03CDD}"/>
              </a:ext>
            </a:extLst>
          </p:cNvPr>
          <p:cNvSpPr/>
          <p:nvPr/>
        </p:nvSpPr>
        <p:spPr>
          <a:xfrm>
            <a:off x="665399" y="1794092"/>
            <a:ext cx="8571365" cy="2327334"/>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989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263446-E55C-650B-BEF2-29A557702536}"/>
              </a:ext>
            </a:extLst>
          </p:cNvPr>
          <p:cNvSpPr>
            <a:spLocks noGrp="1"/>
          </p:cNvSpPr>
          <p:nvPr>
            <p:ph type="title"/>
          </p:nvPr>
        </p:nvSpPr>
        <p:spPr>
          <a:xfrm>
            <a:off x="838200" y="365125"/>
            <a:ext cx="10866120" cy="1325563"/>
          </a:xfrm>
        </p:spPr>
        <p:txBody>
          <a:bodyPr/>
          <a:lstStyle/>
          <a:p>
            <a:r>
              <a:rPr kumimoji="1" lang="en-US" altLang="ja-JP" sz="3600" dirty="0"/>
              <a:t>GitHub Actions</a:t>
            </a:r>
            <a:br>
              <a:rPr kumimoji="1" lang="en-US" altLang="ja-JP" dirty="0"/>
            </a:br>
            <a:r>
              <a:rPr kumimoji="1" lang="en-US" altLang="ja-JP" sz="5400" dirty="0">
                <a:latin typeface="Consolas" panose="020B0609020204030204" pitchFamily="49" charset="0"/>
                <a:cs typeface="Consolas" panose="020B0609020204030204" pitchFamily="49" charset="0"/>
              </a:rPr>
              <a:t>.</a:t>
            </a:r>
            <a:r>
              <a:rPr kumimoji="1" lang="en-US" altLang="ja-JP" sz="5400" dirty="0" err="1">
                <a:latin typeface="Consolas" panose="020B0609020204030204" pitchFamily="49" charset="0"/>
                <a:cs typeface="Consolas" panose="020B0609020204030204" pitchFamily="49" charset="0"/>
              </a:rPr>
              <a:t>github</a:t>
            </a:r>
            <a:r>
              <a:rPr kumimoji="1" lang="en-US" altLang="ja-JP" sz="5400" dirty="0">
                <a:latin typeface="Consolas" panose="020B0609020204030204" pitchFamily="49" charset="0"/>
                <a:cs typeface="Consolas" panose="020B0609020204030204" pitchFamily="49" charset="0"/>
              </a:rPr>
              <a:t>/workflows/</a:t>
            </a:r>
            <a:r>
              <a:rPr kumimoji="1" lang="en-US" altLang="ja-JP" sz="5400" dirty="0" err="1">
                <a:latin typeface="Consolas" panose="020B0609020204030204" pitchFamily="49" charset="0"/>
                <a:cs typeface="Consolas" panose="020B0609020204030204" pitchFamily="49" charset="0"/>
              </a:rPr>
              <a:t>build.yaml</a:t>
            </a:r>
            <a:endParaRPr kumimoji="1" lang="ja-JP" altLang="en-US" sz="540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25485C4E-F6D3-FD69-FFA6-CD22D41BDCA9}"/>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C982D024-0713-60A4-4294-334FCE4E17CE}"/>
              </a:ext>
            </a:extLst>
          </p:cNvPr>
          <p:cNvSpPr>
            <a:spLocks noGrp="1"/>
          </p:cNvSpPr>
          <p:nvPr>
            <p:ph type="sldNum" sz="quarter" idx="12"/>
          </p:nvPr>
        </p:nvSpPr>
        <p:spPr/>
        <p:txBody>
          <a:bodyPr/>
          <a:lstStyle/>
          <a:p>
            <a:fld id="{0B8845E4-5C92-A046-BB66-E5D9CC995B08}" type="slidenum">
              <a:rPr kumimoji="1" lang="ja-JP" altLang="en-US" smtClean="0"/>
              <a:t>17</a:t>
            </a:fld>
            <a:endParaRPr kumimoji="1" lang="ja-JP" altLang="en-US"/>
          </a:p>
        </p:txBody>
      </p:sp>
      <p:sp>
        <p:nvSpPr>
          <p:cNvPr id="7" name="テキスト ボックス 6">
            <a:extLst>
              <a:ext uri="{FF2B5EF4-FFF2-40B4-BE49-F238E27FC236}">
                <a16:creationId xmlns:a16="http://schemas.microsoft.com/office/drawing/2014/main" id="{DF4C4C5F-AADD-CCEA-7C76-73EF8C8BE5FE}"/>
              </a:ext>
            </a:extLst>
          </p:cNvPr>
          <p:cNvSpPr txBox="1"/>
          <p:nvPr/>
        </p:nvSpPr>
        <p:spPr>
          <a:xfrm>
            <a:off x="852949" y="1825625"/>
            <a:ext cx="4721942" cy="4616648"/>
          </a:xfrm>
          <a:prstGeom prst="rect">
            <a:avLst/>
          </a:prstGeom>
          <a:solidFill>
            <a:schemeClr val="bg1"/>
          </a:solidFill>
          <a:ln w="19050">
            <a:solidFill>
              <a:schemeClr val="tx1"/>
            </a:solidFill>
          </a:ln>
        </p:spPr>
        <p:txBody>
          <a:bodyPr wrap="square" rtlCol="0">
            <a:spAutoFit/>
          </a:bodyPr>
          <a:lstStyle/>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build</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on:</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push:</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branches: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jobs: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build:</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runs-on: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matrix.os</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strategy:</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matrix:</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rgbClr val="800000"/>
                </a:solidFill>
                <a:effectLst/>
                <a:highlight>
                  <a:srgbClr val="FFFFFF"/>
                </a:highlight>
                <a:latin typeface="Consolas" panose="020B0609020204030204" pitchFamily="49" charset="0"/>
                <a:cs typeface="Consolas" panose="020B0609020204030204" pitchFamily="49" charset="0"/>
              </a:rPr>
              <a:t>os</a:t>
            </a:r>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ubuntu-latest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macOS-latest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windows-latest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steps: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setup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rust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run: |</a:t>
            </a: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a:t>
            </a:r>
            <a:r>
              <a:rPr lang="en" altLang="ja-JP" sz="1400" dirty="0" err="1">
                <a:solidFill>
                  <a:srgbClr val="800000"/>
                </a:solidFill>
                <a:highlight>
                  <a:srgbClr val="FFFFFF"/>
                </a:highlight>
                <a:latin typeface="Consolas" panose="020B0609020204030204" pitchFamily="49" charset="0"/>
                <a:cs typeface="Consolas" panose="020B0609020204030204" pitchFamily="49" charset="0"/>
              </a:rPr>
              <a:t>rustup</a:t>
            </a:r>
            <a:r>
              <a:rPr lang="en" altLang="ja-JP" sz="1400" dirty="0">
                <a:solidFill>
                  <a:srgbClr val="800000"/>
                </a:solidFill>
                <a:highlight>
                  <a:srgbClr val="FFFFFF"/>
                </a:highlight>
                <a:latin typeface="Consolas" panose="020B0609020204030204" pitchFamily="49" charset="0"/>
                <a:cs typeface="Consolas" panose="020B0609020204030204" pitchFamily="49" charset="0"/>
              </a:rPr>
              <a:t> update stable</a:t>
            </a:r>
          </a:p>
          <a:p>
            <a:endParaRPr lang="en" altLang="ja-JP" sz="1400" dirty="0">
              <a:solidFill>
                <a:srgbClr val="800000"/>
              </a:solidFill>
              <a:highlight>
                <a:srgbClr val="FFFFFF"/>
              </a:highlight>
              <a:latin typeface="Consolas" panose="020B0609020204030204" pitchFamily="49" charset="0"/>
              <a:cs typeface="Consolas" panose="020B0609020204030204" pitchFamily="49" charset="0"/>
            </a:endParaRP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 name: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checkout</a:t>
            </a: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uses: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actions/checkout@v6</a:t>
            </a:r>
          </a:p>
        </p:txBody>
      </p:sp>
      <p:sp>
        <p:nvSpPr>
          <p:cNvPr id="8" name="テキスト ボックス 7">
            <a:extLst>
              <a:ext uri="{FF2B5EF4-FFF2-40B4-BE49-F238E27FC236}">
                <a16:creationId xmlns:a16="http://schemas.microsoft.com/office/drawing/2014/main" id="{A6B3311E-C1A5-040C-787F-4E42578AE247}"/>
              </a:ext>
            </a:extLst>
          </p:cNvPr>
          <p:cNvSpPr txBox="1"/>
          <p:nvPr/>
        </p:nvSpPr>
        <p:spPr>
          <a:xfrm>
            <a:off x="5706493" y="1825624"/>
            <a:ext cx="6048451" cy="3970318"/>
          </a:xfrm>
          <a:prstGeom prst="rect">
            <a:avLst/>
          </a:prstGeom>
          <a:solidFill>
            <a:schemeClr val="bg1"/>
          </a:solidFill>
          <a:ln w="19050">
            <a:solidFill>
              <a:schemeClr val="tx1"/>
            </a:solidFill>
          </a:ln>
        </p:spPr>
        <p:txBody>
          <a:bodyPr wrap="none" rtlCol="0">
            <a:spAutoFit/>
          </a:bodyPr>
          <a:lstStyle/>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build</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run: |</a:t>
            </a: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cargo build --release</a:t>
            </a:r>
          </a:p>
          <a:p>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cargo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clippy</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 -D warnings</a:t>
            </a:r>
          </a:p>
          <a:p>
            <a:endPar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Convert coverage format to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lcov</a:t>
            </a:r>
            <a:endPar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if: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matrix.os</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 'ubuntu-latest'</a:t>
            </a:r>
          </a:p>
          <a:p>
            <a:r>
              <a:rPr lang="en" altLang="ja-JP" sz="1400" b="0" dirty="0">
                <a:solidFill>
                  <a:srgbClr val="952C2B"/>
                </a:solidFill>
                <a:effectLst/>
                <a:highlight>
                  <a:srgbClr val="FFFFFF"/>
                </a:highlight>
                <a:latin typeface="Consolas" panose="020B0609020204030204" pitchFamily="49" charset="0"/>
                <a:cs typeface="Consolas" panose="020B0609020204030204" pitchFamily="49" charset="0"/>
              </a:rPr>
              <a:t>        run: |</a:t>
            </a:r>
          </a:p>
          <a:p>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cargo install cargo-</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llvm</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cov</a:t>
            </a:r>
            <a:endPar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endParaRPr>
          </a:p>
          <a:p>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rustup</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component add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llvm</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-tools-preview</a:t>
            </a:r>
          </a:p>
          <a:p>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cargo </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llvm-cov</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lcov</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--output-path </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coverage.lcov</a:t>
            </a:r>
            <a:endPar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endParaRPr>
          </a:p>
          <a:p>
            <a:endPar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coveralls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uses: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coverallsapp</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/github-action@v2</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with:</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rgbClr val="800000"/>
                </a:solidFill>
                <a:effectLst/>
                <a:highlight>
                  <a:srgbClr val="FFFFFF"/>
                </a:highlight>
                <a:latin typeface="Consolas" panose="020B0609020204030204" pitchFamily="49" charset="0"/>
                <a:cs typeface="Consolas" panose="020B0609020204030204" pitchFamily="49" charset="0"/>
              </a:rPr>
              <a:t>github</a:t>
            </a:r>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-token: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secrets.github_token</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path-to-</a:t>
            </a:r>
            <a:r>
              <a:rPr lang="en" altLang="ja-JP" sz="1400" b="0" dirty="0" err="1">
                <a:solidFill>
                  <a:srgbClr val="800000"/>
                </a:solidFill>
                <a:effectLst/>
                <a:highlight>
                  <a:srgbClr val="FFFFFF"/>
                </a:highlight>
                <a:latin typeface="Consolas" panose="020B0609020204030204" pitchFamily="49" charset="0"/>
                <a:cs typeface="Consolas" panose="020B0609020204030204" pitchFamily="49" charset="0"/>
              </a:rPr>
              <a:t>lcov</a:t>
            </a:r>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coverage.lcov</a:t>
            </a:r>
            <a:endPar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if: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matrix.os</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 'ubuntu-latest'</a:t>
            </a:r>
          </a:p>
        </p:txBody>
      </p:sp>
      <p:pic>
        <p:nvPicPr>
          <p:cNvPr id="6" name="Picture 12" descr="GitHubの新機能「GitHub Actions」で試すCI/CD | さくらのナレッジ">
            <a:extLst>
              <a:ext uri="{FF2B5EF4-FFF2-40B4-BE49-F238E27FC236}">
                <a16:creationId xmlns:a16="http://schemas.microsoft.com/office/drawing/2014/main" id="{02CC3D41-F623-C6E4-265F-A52812B03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132" y="1902444"/>
            <a:ext cx="1767416" cy="1325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074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59DE7-7A51-8172-475B-425A36D246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1A78BA-3996-8758-F196-660075AF5327}"/>
              </a:ext>
            </a:extLst>
          </p:cNvPr>
          <p:cNvSpPr>
            <a:spLocks noGrp="1"/>
          </p:cNvSpPr>
          <p:nvPr>
            <p:ph type="title"/>
          </p:nvPr>
        </p:nvSpPr>
        <p:spPr>
          <a:xfrm>
            <a:off x="838200" y="365125"/>
            <a:ext cx="10866120" cy="1325563"/>
          </a:xfrm>
        </p:spPr>
        <p:txBody>
          <a:bodyPr/>
          <a:lstStyle/>
          <a:p>
            <a:r>
              <a:rPr kumimoji="1" lang="en-US" altLang="ja-JP" sz="3600" dirty="0"/>
              <a:t>GitHub Actions</a:t>
            </a:r>
            <a:br>
              <a:rPr kumimoji="1" lang="en-US" altLang="ja-JP" dirty="0"/>
            </a:br>
            <a:r>
              <a:rPr kumimoji="1" lang="en-US" altLang="ja-JP" sz="5400" dirty="0">
                <a:latin typeface="Consolas" panose="020B0609020204030204" pitchFamily="49" charset="0"/>
                <a:cs typeface="Consolas" panose="020B0609020204030204" pitchFamily="49" charset="0"/>
              </a:rPr>
              <a:t>.</a:t>
            </a:r>
            <a:r>
              <a:rPr kumimoji="1" lang="en-US" altLang="ja-JP" sz="5400" dirty="0" err="1">
                <a:latin typeface="Consolas" panose="020B0609020204030204" pitchFamily="49" charset="0"/>
                <a:cs typeface="Consolas" panose="020B0609020204030204" pitchFamily="49" charset="0"/>
              </a:rPr>
              <a:t>github</a:t>
            </a:r>
            <a:r>
              <a:rPr kumimoji="1" lang="en-US" altLang="ja-JP" sz="5400" dirty="0">
                <a:latin typeface="Consolas" panose="020B0609020204030204" pitchFamily="49" charset="0"/>
                <a:cs typeface="Consolas" panose="020B0609020204030204" pitchFamily="49" charset="0"/>
              </a:rPr>
              <a:t>/workflows/</a:t>
            </a:r>
            <a:r>
              <a:rPr kumimoji="1" lang="en-US" altLang="ja-JP" sz="5400" dirty="0" err="1">
                <a:latin typeface="Consolas" panose="020B0609020204030204" pitchFamily="49" charset="0"/>
                <a:cs typeface="Consolas" panose="020B0609020204030204" pitchFamily="49" charset="0"/>
              </a:rPr>
              <a:t>build.yaml</a:t>
            </a:r>
            <a:endParaRPr kumimoji="1" lang="ja-JP" altLang="en-US" sz="540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900D98D6-CC00-33CF-AF4F-029E7A2EAD5D}"/>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EF688ED2-795B-ACFA-4FA4-085F94A7FE4A}"/>
              </a:ext>
            </a:extLst>
          </p:cNvPr>
          <p:cNvSpPr>
            <a:spLocks noGrp="1"/>
          </p:cNvSpPr>
          <p:nvPr>
            <p:ph type="sldNum" sz="quarter" idx="12"/>
          </p:nvPr>
        </p:nvSpPr>
        <p:spPr/>
        <p:txBody>
          <a:bodyPr/>
          <a:lstStyle/>
          <a:p>
            <a:fld id="{0B8845E4-5C92-A046-BB66-E5D9CC995B08}" type="slidenum">
              <a:rPr kumimoji="1" lang="ja-JP" altLang="en-US" smtClean="0"/>
              <a:t>18</a:t>
            </a:fld>
            <a:endParaRPr kumimoji="1" lang="ja-JP" altLang="en-US"/>
          </a:p>
        </p:txBody>
      </p:sp>
      <p:sp>
        <p:nvSpPr>
          <p:cNvPr id="7" name="テキスト ボックス 6">
            <a:extLst>
              <a:ext uri="{FF2B5EF4-FFF2-40B4-BE49-F238E27FC236}">
                <a16:creationId xmlns:a16="http://schemas.microsoft.com/office/drawing/2014/main" id="{2FB84B4C-2004-2A7C-ACAB-619ED4E33DAC}"/>
              </a:ext>
            </a:extLst>
          </p:cNvPr>
          <p:cNvSpPr txBox="1"/>
          <p:nvPr/>
        </p:nvSpPr>
        <p:spPr>
          <a:xfrm>
            <a:off x="852949" y="1825625"/>
            <a:ext cx="4721942" cy="4616648"/>
          </a:xfrm>
          <a:prstGeom prst="rect">
            <a:avLst/>
          </a:prstGeom>
          <a:solidFill>
            <a:schemeClr val="bg1"/>
          </a:solidFill>
          <a:ln w="19050">
            <a:solidFill>
              <a:schemeClr val="tx1"/>
            </a:solidFill>
          </a:ln>
        </p:spPr>
        <p:txBody>
          <a:bodyPr wrap="square" rtlCol="0">
            <a:spAutoFit/>
          </a:bodyPr>
          <a:lstStyle/>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build</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on:</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push:</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branches: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jobs: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build:</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runs-on: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matrix.os</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strategy:</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matrix:</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rgbClr val="800000"/>
                </a:solidFill>
                <a:effectLst/>
                <a:highlight>
                  <a:srgbClr val="FFFFFF"/>
                </a:highlight>
                <a:latin typeface="Consolas" panose="020B0609020204030204" pitchFamily="49" charset="0"/>
                <a:cs typeface="Consolas" panose="020B0609020204030204" pitchFamily="49" charset="0"/>
              </a:rPr>
              <a:t>os</a:t>
            </a:r>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ubuntu-latest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macOS-latest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windows-latest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steps: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setup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rust</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run: |</a:t>
            </a: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a:t>
            </a:r>
            <a:r>
              <a:rPr lang="en" altLang="ja-JP" sz="1400" dirty="0" err="1">
                <a:solidFill>
                  <a:srgbClr val="800000"/>
                </a:solidFill>
                <a:highlight>
                  <a:srgbClr val="FFFFFF"/>
                </a:highlight>
                <a:latin typeface="Consolas" panose="020B0609020204030204" pitchFamily="49" charset="0"/>
                <a:cs typeface="Consolas" panose="020B0609020204030204" pitchFamily="49" charset="0"/>
              </a:rPr>
              <a:t>rustup</a:t>
            </a:r>
            <a:r>
              <a:rPr lang="en" altLang="ja-JP" sz="1400" dirty="0">
                <a:solidFill>
                  <a:srgbClr val="800000"/>
                </a:solidFill>
                <a:highlight>
                  <a:srgbClr val="FFFFFF"/>
                </a:highlight>
                <a:latin typeface="Consolas" panose="020B0609020204030204" pitchFamily="49" charset="0"/>
                <a:cs typeface="Consolas" panose="020B0609020204030204" pitchFamily="49" charset="0"/>
              </a:rPr>
              <a:t> update stable</a:t>
            </a:r>
          </a:p>
          <a:p>
            <a:endParaRPr lang="en" altLang="ja-JP" sz="1400" dirty="0">
              <a:solidFill>
                <a:srgbClr val="800000"/>
              </a:solidFill>
              <a:highlight>
                <a:srgbClr val="FFFFFF"/>
              </a:highlight>
              <a:latin typeface="Consolas" panose="020B0609020204030204" pitchFamily="49" charset="0"/>
              <a:cs typeface="Consolas" panose="020B0609020204030204" pitchFamily="49" charset="0"/>
            </a:endParaRP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 name: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checkout</a:t>
            </a: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uses: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actions/checkout@v6</a:t>
            </a:r>
          </a:p>
        </p:txBody>
      </p:sp>
      <p:sp>
        <p:nvSpPr>
          <p:cNvPr id="8" name="テキスト ボックス 7">
            <a:extLst>
              <a:ext uri="{FF2B5EF4-FFF2-40B4-BE49-F238E27FC236}">
                <a16:creationId xmlns:a16="http://schemas.microsoft.com/office/drawing/2014/main" id="{85F3F9B8-EFA5-CD38-8CF9-F21D905D2B97}"/>
              </a:ext>
            </a:extLst>
          </p:cNvPr>
          <p:cNvSpPr txBox="1"/>
          <p:nvPr/>
        </p:nvSpPr>
        <p:spPr>
          <a:xfrm>
            <a:off x="5706493" y="1825624"/>
            <a:ext cx="6048451" cy="3970318"/>
          </a:xfrm>
          <a:prstGeom prst="rect">
            <a:avLst/>
          </a:prstGeom>
          <a:solidFill>
            <a:schemeClr val="bg1"/>
          </a:solidFill>
          <a:ln w="19050">
            <a:solidFill>
              <a:schemeClr val="tx1"/>
            </a:solidFill>
          </a:ln>
        </p:spPr>
        <p:txBody>
          <a:bodyPr wrap="none" rtlCol="0">
            <a:spAutoFit/>
          </a:bodyPr>
          <a:lstStyle/>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build</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run: |</a:t>
            </a:r>
          </a:p>
          <a:p>
            <a:r>
              <a:rPr lang="en" altLang="ja-JP" sz="1400" dirty="0">
                <a:solidFill>
                  <a:srgbClr val="800000"/>
                </a:solidFill>
                <a:highlight>
                  <a:srgbClr val="FFFFFF"/>
                </a:highlight>
                <a:latin typeface="Consolas" panose="020B0609020204030204" pitchFamily="49" charset="0"/>
                <a:cs typeface="Consolas" panose="020B0609020204030204" pitchFamily="49" charset="0"/>
              </a:rPr>
              <a:t>          </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cargo build --release</a:t>
            </a:r>
          </a:p>
          <a:p>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cargo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clippy</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 -D warnings</a:t>
            </a:r>
          </a:p>
          <a:p>
            <a:endPar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Convert coverage format to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lcov</a:t>
            </a:r>
            <a:endPar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if: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matrix.os</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 'ubuntu-latest'</a:t>
            </a:r>
          </a:p>
          <a:p>
            <a:r>
              <a:rPr lang="en" altLang="ja-JP" sz="1400" b="0" dirty="0">
                <a:solidFill>
                  <a:srgbClr val="952C2B"/>
                </a:solidFill>
                <a:effectLst/>
                <a:highlight>
                  <a:srgbClr val="FFFFFF"/>
                </a:highlight>
                <a:latin typeface="Consolas" panose="020B0609020204030204" pitchFamily="49" charset="0"/>
                <a:cs typeface="Consolas" panose="020B0609020204030204" pitchFamily="49" charset="0"/>
              </a:rPr>
              <a:t>        run: |</a:t>
            </a:r>
          </a:p>
          <a:p>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cargo install cargo-</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llvm</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cov</a:t>
            </a:r>
            <a:endPar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endParaRPr>
          </a:p>
          <a:p>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rustup</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component add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llvm</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-tools-preview</a:t>
            </a:r>
          </a:p>
          <a:p>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cargo </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llvm-cov</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lcov</a:t>
            </a:r>
            <a:r>
              <a:rPr lang="en" altLang="ja-JP" sz="1400" dirty="0">
                <a:solidFill>
                  <a:schemeClr val="accent5">
                    <a:lumMod val="75000"/>
                  </a:schemeClr>
                </a:solidFill>
                <a:highlight>
                  <a:srgbClr val="FFFFFF"/>
                </a:highlight>
                <a:latin typeface="Consolas" panose="020B0609020204030204" pitchFamily="49" charset="0"/>
                <a:cs typeface="Consolas" panose="020B0609020204030204" pitchFamily="49" charset="0"/>
              </a:rPr>
              <a:t> --output-path </a:t>
            </a:r>
            <a:r>
              <a:rPr lang="en" altLang="ja-JP" sz="1400" dirty="0" err="1">
                <a:solidFill>
                  <a:schemeClr val="accent5">
                    <a:lumMod val="75000"/>
                  </a:schemeClr>
                </a:solidFill>
                <a:highlight>
                  <a:srgbClr val="FFFFFF"/>
                </a:highlight>
                <a:latin typeface="Consolas" panose="020B0609020204030204" pitchFamily="49" charset="0"/>
                <a:cs typeface="Consolas" panose="020B0609020204030204" pitchFamily="49" charset="0"/>
              </a:rPr>
              <a:t>coverage.lcov</a:t>
            </a:r>
            <a:endPar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endParaRPr>
          </a:p>
          <a:p>
            <a:endPar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 name: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coveralls</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uses: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coverallsapp</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/github-action@v2</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with:</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rgbClr val="800000"/>
                </a:solidFill>
                <a:effectLst/>
                <a:highlight>
                  <a:srgbClr val="FFFFFF"/>
                </a:highlight>
                <a:latin typeface="Consolas" panose="020B0609020204030204" pitchFamily="49" charset="0"/>
                <a:cs typeface="Consolas" panose="020B0609020204030204" pitchFamily="49" charset="0"/>
              </a:rPr>
              <a:t>github</a:t>
            </a:r>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-token: </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secrets.github_token</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a:t>
            </a: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path-to-</a:t>
            </a:r>
            <a:r>
              <a:rPr lang="en" altLang="ja-JP" sz="1400" b="0" dirty="0" err="1">
                <a:solidFill>
                  <a:srgbClr val="800000"/>
                </a:solidFill>
                <a:effectLst/>
                <a:highlight>
                  <a:srgbClr val="FFFFFF"/>
                </a:highlight>
                <a:latin typeface="Consolas" panose="020B0609020204030204" pitchFamily="49" charset="0"/>
                <a:cs typeface="Consolas" panose="020B0609020204030204" pitchFamily="49" charset="0"/>
              </a:rPr>
              <a:t>lcov</a:t>
            </a:r>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coverage.lcov</a:t>
            </a:r>
            <a:endPar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endParaRPr>
          </a:p>
          <a:p>
            <a:r>
              <a:rPr lang="en" altLang="ja-JP" sz="1400" b="0" dirty="0">
                <a:solidFill>
                  <a:srgbClr val="800000"/>
                </a:solidFill>
                <a:effectLst/>
                <a:highlight>
                  <a:srgbClr val="FFFFFF"/>
                </a:highlight>
                <a:latin typeface="Consolas" panose="020B0609020204030204" pitchFamily="49" charset="0"/>
                <a:cs typeface="Consolas" panose="020B0609020204030204" pitchFamily="49" charset="0"/>
              </a:rPr>
              <a:t>        if: </a:t>
            </a:r>
            <a:r>
              <a:rPr lang="en" altLang="ja-JP" sz="1400" b="0" dirty="0" err="1">
                <a:solidFill>
                  <a:schemeClr val="accent5">
                    <a:lumMod val="75000"/>
                  </a:schemeClr>
                </a:solidFill>
                <a:effectLst/>
                <a:highlight>
                  <a:srgbClr val="FFFFFF"/>
                </a:highlight>
                <a:latin typeface="Consolas" panose="020B0609020204030204" pitchFamily="49" charset="0"/>
                <a:cs typeface="Consolas" panose="020B0609020204030204" pitchFamily="49" charset="0"/>
              </a:rPr>
              <a:t>matrix.os</a:t>
            </a:r>
            <a:r>
              <a:rPr lang="en" altLang="ja-JP" sz="1400" b="0" dirty="0">
                <a:solidFill>
                  <a:schemeClr val="accent5">
                    <a:lumMod val="75000"/>
                  </a:schemeClr>
                </a:solidFill>
                <a:effectLst/>
                <a:highlight>
                  <a:srgbClr val="FFFFFF"/>
                </a:highlight>
                <a:latin typeface="Consolas" panose="020B0609020204030204" pitchFamily="49" charset="0"/>
                <a:cs typeface="Consolas" panose="020B0609020204030204" pitchFamily="49" charset="0"/>
              </a:rPr>
              <a:t> == 'ubuntu-latest'</a:t>
            </a:r>
          </a:p>
        </p:txBody>
      </p:sp>
      <p:pic>
        <p:nvPicPr>
          <p:cNvPr id="6" name="Picture 12" descr="GitHubの新機能「GitHub Actions」で試すCI/CD | さくらのナレッジ">
            <a:extLst>
              <a:ext uri="{FF2B5EF4-FFF2-40B4-BE49-F238E27FC236}">
                <a16:creationId xmlns:a16="http://schemas.microsoft.com/office/drawing/2014/main" id="{2AE5395C-6B44-9E3C-4B9F-ABB09EBA6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132" y="1902444"/>
            <a:ext cx="1767416" cy="1325562"/>
          </a:xfrm>
          <a:prstGeom prst="rect">
            <a:avLst/>
          </a:prstGeom>
          <a:noFill/>
          <a:extLst>
            <a:ext uri="{909E8E84-426E-40DD-AFC4-6F175D3DCCD1}">
              <a14:hiddenFill xmlns:a14="http://schemas.microsoft.com/office/drawing/2010/main">
                <a:solidFill>
                  <a:srgbClr val="FFFFFF"/>
                </a:solidFill>
              </a14:hiddenFill>
            </a:ext>
          </a:extLst>
        </p:spPr>
      </p:pic>
      <p:sp>
        <p:nvSpPr>
          <p:cNvPr id="3" name="角丸四角形 2">
            <a:extLst>
              <a:ext uri="{FF2B5EF4-FFF2-40B4-BE49-F238E27FC236}">
                <a16:creationId xmlns:a16="http://schemas.microsoft.com/office/drawing/2014/main" id="{CAAE0216-D4B6-3146-E512-99F98240EBAC}"/>
              </a:ext>
            </a:extLst>
          </p:cNvPr>
          <p:cNvSpPr/>
          <p:nvPr/>
        </p:nvSpPr>
        <p:spPr>
          <a:xfrm>
            <a:off x="1393140" y="1761867"/>
            <a:ext cx="822960" cy="432693"/>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6F61A989-275A-2D17-3757-42C3678BA67A}"/>
              </a:ext>
            </a:extLst>
          </p:cNvPr>
          <p:cNvGrpSpPr/>
          <p:nvPr/>
        </p:nvGrpSpPr>
        <p:grpSpPr>
          <a:xfrm>
            <a:off x="2301179" y="1761867"/>
            <a:ext cx="3110533" cy="432693"/>
            <a:chOff x="2273585" y="1761867"/>
            <a:chExt cx="3110533" cy="432693"/>
          </a:xfrm>
        </p:grpSpPr>
        <p:sp>
          <p:nvSpPr>
            <p:cNvPr id="10" name="角丸四角形 9">
              <a:extLst>
                <a:ext uri="{FF2B5EF4-FFF2-40B4-BE49-F238E27FC236}">
                  <a16:creationId xmlns:a16="http://schemas.microsoft.com/office/drawing/2014/main" id="{4E61BF5E-FB40-6797-F687-76404EA59C3B}"/>
                </a:ext>
              </a:extLst>
            </p:cNvPr>
            <p:cNvSpPr/>
            <p:nvPr/>
          </p:nvSpPr>
          <p:spPr>
            <a:xfrm>
              <a:off x="2811183" y="1761867"/>
              <a:ext cx="2572935" cy="432693"/>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三角形 10">
              <a:extLst>
                <a:ext uri="{FF2B5EF4-FFF2-40B4-BE49-F238E27FC236}">
                  <a16:creationId xmlns:a16="http://schemas.microsoft.com/office/drawing/2014/main" id="{7ECB35E8-6E1D-047E-9302-F5918D11A59D}"/>
                </a:ext>
              </a:extLst>
            </p:cNvPr>
            <p:cNvSpPr/>
            <p:nvPr/>
          </p:nvSpPr>
          <p:spPr>
            <a:xfrm rot="16200000">
              <a:off x="2622785" y="1521014"/>
              <a:ext cx="216000" cy="914400"/>
            </a:xfrm>
            <a:prstGeom prst="triangle">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BE50D5-CED1-E55B-BDE0-6E2CAA3700E3}"/>
                </a:ext>
              </a:extLst>
            </p:cNvPr>
            <p:cNvSpPr txBox="1"/>
            <p:nvPr/>
          </p:nvSpPr>
          <p:spPr>
            <a:xfrm>
              <a:off x="2837529" y="1839714"/>
              <a:ext cx="2520242" cy="276999"/>
            </a:xfrm>
            <a:prstGeom prst="rect">
              <a:avLst/>
            </a:prstGeom>
            <a:noFill/>
          </p:spPr>
          <p:txBody>
            <a:bodyPr wrap="none" rtlCol="0">
              <a:spAutoFit/>
            </a:bodyPr>
            <a:lstStyle/>
            <a:p>
              <a:r>
                <a:rPr kumimoji="1" lang="en-US" altLang="ja-JP" sz="1200" dirty="0">
                  <a:latin typeface="Meiryo" panose="020B0604030504040204" pitchFamily="34" charset="-128"/>
                  <a:ea typeface="Meiryo" panose="020B0604030504040204" pitchFamily="34" charset="-128"/>
                </a:rPr>
                <a:t>GitHub Actions</a:t>
              </a:r>
              <a:r>
                <a:rPr kumimoji="1" lang="ja-JP" altLang="en-US" sz="1200">
                  <a:latin typeface="Meiryo" panose="020B0604030504040204" pitchFamily="34" charset="-128"/>
                  <a:ea typeface="Meiryo" panose="020B0604030504040204" pitchFamily="34" charset="-128"/>
                </a:rPr>
                <a:t>スクリプトの名前</a:t>
              </a:r>
            </a:p>
          </p:txBody>
        </p:sp>
      </p:grpSp>
      <p:grpSp>
        <p:nvGrpSpPr>
          <p:cNvPr id="13" name="グループ化 12">
            <a:extLst>
              <a:ext uri="{FF2B5EF4-FFF2-40B4-BE49-F238E27FC236}">
                <a16:creationId xmlns:a16="http://schemas.microsoft.com/office/drawing/2014/main" id="{54B1486F-B928-7557-B81E-856CAE7C5037}"/>
              </a:ext>
            </a:extLst>
          </p:cNvPr>
          <p:cNvGrpSpPr/>
          <p:nvPr/>
        </p:nvGrpSpPr>
        <p:grpSpPr>
          <a:xfrm>
            <a:off x="2436651" y="2249130"/>
            <a:ext cx="2975061" cy="724177"/>
            <a:chOff x="2273585" y="1761867"/>
            <a:chExt cx="2975061" cy="724177"/>
          </a:xfrm>
        </p:grpSpPr>
        <p:sp>
          <p:nvSpPr>
            <p:cNvPr id="14" name="角丸四角形 13">
              <a:extLst>
                <a:ext uri="{FF2B5EF4-FFF2-40B4-BE49-F238E27FC236}">
                  <a16:creationId xmlns:a16="http://schemas.microsoft.com/office/drawing/2014/main" id="{CEDB11F5-47A2-1A85-6933-A642572028EE}"/>
                </a:ext>
              </a:extLst>
            </p:cNvPr>
            <p:cNvSpPr/>
            <p:nvPr/>
          </p:nvSpPr>
          <p:spPr>
            <a:xfrm>
              <a:off x="2675711" y="1761867"/>
              <a:ext cx="2572934" cy="724177"/>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三角形 14">
              <a:extLst>
                <a:ext uri="{FF2B5EF4-FFF2-40B4-BE49-F238E27FC236}">
                  <a16:creationId xmlns:a16="http://schemas.microsoft.com/office/drawing/2014/main" id="{2240563C-037A-E38D-03C5-E669534803EB}"/>
                </a:ext>
              </a:extLst>
            </p:cNvPr>
            <p:cNvSpPr/>
            <p:nvPr/>
          </p:nvSpPr>
          <p:spPr>
            <a:xfrm rot="16200000">
              <a:off x="2622785" y="1666756"/>
              <a:ext cx="216000" cy="914400"/>
            </a:xfrm>
            <a:prstGeom prst="triangle">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DEFA15A2-C63C-2577-A7F2-2D1585D34E15}"/>
                </a:ext>
              </a:extLst>
            </p:cNvPr>
            <p:cNvSpPr txBox="1"/>
            <p:nvPr/>
          </p:nvSpPr>
          <p:spPr>
            <a:xfrm>
              <a:off x="2702058" y="1800790"/>
              <a:ext cx="2546588" cy="646331"/>
            </a:xfrm>
            <a:prstGeom prst="rect">
              <a:avLst/>
            </a:prstGeom>
            <a:noFill/>
          </p:spPr>
          <p:txBody>
            <a:bodyPr wrap="square" rtlCol="0">
              <a:spAutoFit/>
            </a:bodyPr>
            <a:lstStyle/>
            <a:p>
              <a:r>
                <a:rPr kumimoji="1" lang="ja-JP" altLang="en-US" sz="1200">
                  <a:latin typeface="Meiryo" panose="020B0604030504040204" pitchFamily="34" charset="-128"/>
                  <a:ea typeface="Meiryo" panose="020B0604030504040204" pitchFamily="34" charset="-128"/>
                </a:rPr>
                <a:t>トリガーの設定．こ</a:t>
              </a:r>
              <a:r>
                <a:rPr lang="ja-JP" altLang="en-US" sz="1200">
                  <a:latin typeface="Meiryo" panose="020B0604030504040204" pitchFamily="34" charset="-128"/>
                  <a:ea typeface="Meiryo" panose="020B0604030504040204" pitchFamily="34" charset="-128"/>
                </a:rPr>
                <a:t>のトリガーは</a:t>
              </a:r>
              <a:r>
                <a:rPr lang="en-US" altLang="ja-JP" sz="1200" dirty="0">
                  <a:latin typeface="Meiryo" panose="020B0604030504040204" pitchFamily="34" charset="-128"/>
                  <a:ea typeface="Meiryo" panose="020B0604030504040204" pitchFamily="34" charset="-128"/>
                </a:rPr>
                <a:t>,</a:t>
              </a:r>
            </a:p>
            <a:p>
              <a:r>
                <a:rPr kumimoji="1" lang="ja-JP" altLang="en-US" sz="1200">
                  <a:latin typeface="Meiryo" panose="020B0604030504040204" pitchFamily="34" charset="-128"/>
                  <a:ea typeface="Meiryo" panose="020B0604030504040204" pitchFamily="34" charset="-128"/>
                </a:rPr>
                <a:t>どんなブランチでも</a:t>
              </a:r>
              <a:r>
                <a:rPr kumimoji="1" lang="en-US" altLang="ja-JP" sz="1200" dirty="0">
                  <a:latin typeface="Meiryo" panose="020B0604030504040204" pitchFamily="34" charset="-128"/>
                  <a:ea typeface="Meiryo" panose="020B0604030504040204" pitchFamily="34" charset="-128"/>
                </a:rPr>
                <a:t>push</a:t>
              </a:r>
              <a:r>
                <a:rPr kumimoji="1" lang="ja-JP" altLang="en-US" sz="1200">
                  <a:latin typeface="Meiryo" panose="020B0604030504040204" pitchFamily="34" charset="-128"/>
                  <a:ea typeface="Meiryo" panose="020B0604030504040204" pitchFamily="34" charset="-128"/>
                </a:rPr>
                <a:t>されればこのスクリプトを実行する．</a:t>
              </a:r>
            </a:p>
          </p:txBody>
        </p:sp>
      </p:grpSp>
      <p:sp>
        <p:nvSpPr>
          <p:cNvPr id="17" name="角丸四角形 16">
            <a:extLst>
              <a:ext uri="{FF2B5EF4-FFF2-40B4-BE49-F238E27FC236}">
                <a16:creationId xmlns:a16="http://schemas.microsoft.com/office/drawing/2014/main" id="{B80FFB66-F68F-5C2A-9EFA-073C87C91962}"/>
              </a:ext>
            </a:extLst>
          </p:cNvPr>
          <p:cNvSpPr/>
          <p:nvPr/>
        </p:nvSpPr>
        <p:spPr>
          <a:xfrm>
            <a:off x="838200" y="2314540"/>
            <a:ext cx="1642005" cy="593357"/>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C7EAC748-0DB5-17D3-11CD-963844D86562}"/>
              </a:ext>
            </a:extLst>
          </p:cNvPr>
          <p:cNvSpPr/>
          <p:nvPr/>
        </p:nvSpPr>
        <p:spPr>
          <a:xfrm>
            <a:off x="864547" y="3161985"/>
            <a:ext cx="1642005" cy="19667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9" name="グループ化 18">
            <a:extLst>
              <a:ext uri="{FF2B5EF4-FFF2-40B4-BE49-F238E27FC236}">
                <a16:creationId xmlns:a16="http://schemas.microsoft.com/office/drawing/2014/main" id="{887A64B0-C597-38E7-3C60-6CFCE4BF9AC7}"/>
              </a:ext>
            </a:extLst>
          </p:cNvPr>
          <p:cNvGrpSpPr/>
          <p:nvPr/>
        </p:nvGrpSpPr>
        <p:grpSpPr>
          <a:xfrm>
            <a:off x="-16337" y="3244490"/>
            <a:ext cx="1303748" cy="1087919"/>
            <a:chOff x="3879074" y="1894437"/>
            <a:chExt cx="1303748" cy="1087919"/>
          </a:xfrm>
        </p:grpSpPr>
        <p:sp>
          <p:nvSpPr>
            <p:cNvPr id="20" name="角丸四角形 19">
              <a:extLst>
                <a:ext uri="{FF2B5EF4-FFF2-40B4-BE49-F238E27FC236}">
                  <a16:creationId xmlns:a16="http://schemas.microsoft.com/office/drawing/2014/main" id="{87EB2BE8-B80A-0A7A-C37C-02A74E74C6B7}"/>
                </a:ext>
              </a:extLst>
            </p:cNvPr>
            <p:cNvSpPr/>
            <p:nvPr/>
          </p:nvSpPr>
          <p:spPr>
            <a:xfrm>
              <a:off x="3895411" y="1894437"/>
              <a:ext cx="975349" cy="1087919"/>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A9BC2C60-EC3B-1430-01F7-E6CF92946CEE}"/>
                </a:ext>
              </a:extLst>
            </p:cNvPr>
            <p:cNvSpPr/>
            <p:nvPr/>
          </p:nvSpPr>
          <p:spPr>
            <a:xfrm rot="2700000">
              <a:off x="4617622" y="1794384"/>
              <a:ext cx="216000" cy="914400"/>
            </a:xfrm>
            <a:prstGeom prst="triangle">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5CDEA2C8-F098-9784-015D-CCC08E5A2B9B}"/>
                </a:ext>
              </a:extLst>
            </p:cNvPr>
            <p:cNvSpPr txBox="1"/>
            <p:nvPr/>
          </p:nvSpPr>
          <p:spPr>
            <a:xfrm>
              <a:off x="3879074" y="1922552"/>
              <a:ext cx="1081090" cy="1015663"/>
            </a:xfrm>
            <a:prstGeom prst="rect">
              <a:avLst/>
            </a:prstGeom>
            <a:noFill/>
          </p:spPr>
          <p:txBody>
            <a:bodyPr wrap="square" rtlCol="0">
              <a:spAutoFit/>
            </a:bodyPr>
            <a:lstStyle/>
            <a:p>
              <a:r>
                <a:rPr kumimoji="1" lang="ja-JP" altLang="en-US" sz="1200">
                  <a:latin typeface="Meiryo" panose="020B0604030504040204" pitchFamily="34" charset="-128"/>
                  <a:ea typeface="Meiryo" panose="020B0604030504040204" pitchFamily="34" charset="-128"/>
                </a:rPr>
                <a:t>ジョブ名．複数のジョブを指定することもできる．</a:t>
              </a:r>
            </a:p>
          </p:txBody>
        </p:sp>
      </p:grpSp>
      <p:sp>
        <p:nvSpPr>
          <p:cNvPr id="23" name="角丸四角形 22">
            <a:extLst>
              <a:ext uri="{FF2B5EF4-FFF2-40B4-BE49-F238E27FC236}">
                <a16:creationId xmlns:a16="http://schemas.microsoft.com/office/drawing/2014/main" id="{6C4FC121-25D3-ED1E-61D4-3D7F27B8BDD1}"/>
              </a:ext>
            </a:extLst>
          </p:cNvPr>
          <p:cNvSpPr/>
          <p:nvPr/>
        </p:nvSpPr>
        <p:spPr>
          <a:xfrm>
            <a:off x="838200" y="3355935"/>
            <a:ext cx="3498669" cy="1512000"/>
          </a:xfrm>
          <a:prstGeom prst="roundRect">
            <a:avLst>
              <a:gd name="adj" fmla="val 4853"/>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FB1B361F-CC47-69C9-7F3D-2ECBD82B5DA7}"/>
              </a:ext>
            </a:extLst>
          </p:cNvPr>
          <p:cNvGrpSpPr/>
          <p:nvPr/>
        </p:nvGrpSpPr>
        <p:grpSpPr>
          <a:xfrm>
            <a:off x="2838777" y="3656734"/>
            <a:ext cx="2572935" cy="830997"/>
            <a:chOff x="2675711" y="1852267"/>
            <a:chExt cx="2572935" cy="830997"/>
          </a:xfrm>
        </p:grpSpPr>
        <p:sp>
          <p:nvSpPr>
            <p:cNvPr id="25" name="角丸四角形 24">
              <a:extLst>
                <a:ext uri="{FF2B5EF4-FFF2-40B4-BE49-F238E27FC236}">
                  <a16:creationId xmlns:a16="http://schemas.microsoft.com/office/drawing/2014/main" id="{A28FA0F9-3D51-0122-785B-D6A25D9BB0A7}"/>
                </a:ext>
              </a:extLst>
            </p:cNvPr>
            <p:cNvSpPr/>
            <p:nvPr/>
          </p:nvSpPr>
          <p:spPr>
            <a:xfrm>
              <a:off x="2675711" y="1852267"/>
              <a:ext cx="2572934" cy="830997"/>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0A2DAB63-9234-D077-8257-9EFB31F40547}"/>
                </a:ext>
              </a:extLst>
            </p:cNvPr>
            <p:cNvSpPr txBox="1"/>
            <p:nvPr/>
          </p:nvSpPr>
          <p:spPr>
            <a:xfrm>
              <a:off x="2702058" y="1852267"/>
              <a:ext cx="2546588" cy="830997"/>
            </a:xfrm>
            <a:prstGeom prst="rect">
              <a:avLst/>
            </a:prstGeom>
            <a:noFill/>
          </p:spPr>
          <p:txBody>
            <a:bodyPr wrap="square" rtlCol="0">
              <a:spAutoFit/>
            </a:bodyPr>
            <a:lstStyle/>
            <a:p>
              <a:r>
                <a:rPr lang="ja-JP" altLang="en-US" sz="1200">
                  <a:latin typeface="Meiryo" panose="020B0604030504040204" pitchFamily="34" charset="-128"/>
                  <a:ea typeface="Meiryo" panose="020B0604030504040204" pitchFamily="34" charset="-128"/>
                </a:rPr>
                <a:t>この</a:t>
              </a:r>
              <a:r>
                <a:rPr lang="en-US" altLang="ja-JP" sz="1200" dirty="0">
                  <a:latin typeface="Meiryo" panose="020B0604030504040204" pitchFamily="34" charset="-128"/>
                  <a:ea typeface="Meiryo" panose="020B0604030504040204" pitchFamily="34" charset="-128"/>
                </a:rPr>
                <a:t>GitHub Actions</a:t>
              </a:r>
              <a:r>
                <a:rPr lang="ja-JP" altLang="en-US" sz="1200">
                  <a:latin typeface="Meiryo" panose="020B0604030504040204" pitchFamily="34" charset="-128"/>
                  <a:ea typeface="Meiryo" panose="020B0604030504040204" pitchFamily="34" charset="-128"/>
                </a:rPr>
                <a:t>スクリプトを動かす環境を指定する．この場合，</a:t>
              </a:r>
              <a:r>
                <a:rPr lang="en-US" altLang="ja-JP" sz="1200" dirty="0">
                  <a:latin typeface="Meiryo" panose="020B0604030504040204" pitchFamily="34" charset="-128"/>
                  <a:ea typeface="Meiryo" panose="020B0604030504040204" pitchFamily="34" charset="-128"/>
                </a:rPr>
                <a:t>ubuntu, windows, </a:t>
              </a:r>
              <a:r>
                <a:rPr lang="en-US" altLang="ja-JP" sz="1200" dirty="0" err="1">
                  <a:latin typeface="Meiryo" panose="020B0604030504040204" pitchFamily="34" charset="-128"/>
                  <a:ea typeface="Meiryo" panose="020B0604030504040204" pitchFamily="34" charset="-128"/>
                </a:rPr>
                <a:t>macos</a:t>
              </a:r>
              <a:r>
                <a:rPr lang="ja-JP" altLang="en-US" sz="1200">
                  <a:latin typeface="Meiryo" panose="020B0604030504040204" pitchFamily="34" charset="-128"/>
                  <a:ea typeface="Meiryo" panose="020B0604030504040204" pitchFamily="34" charset="-128"/>
                </a:rPr>
                <a:t>それぞれで実行する．</a:t>
              </a:r>
              <a:endParaRPr kumimoji="1" lang="en-US" altLang="ja-JP" sz="1200" dirty="0">
                <a:latin typeface="Meiryo" panose="020B0604030504040204" pitchFamily="34" charset="-128"/>
                <a:ea typeface="Meiryo" panose="020B0604030504040204" pitchFamily="34" charset="-128"/>
              </a:endParaRPr>
            </a:p>
          </p:txBody>
        </p:sp>
      </p:grpSp>
      <p:sp>
        <p:nvSpPr>
          <p:cNvPr id="30" name="角丸四角形 29">
            <a:extLst>
              <a:ext uri="{FF2B5EF4-FFF2-40B4-BE49-F238E27FC236}">
                <a16:creationId xmlns:a16="http://schemas.microsoft.com/office/drawing/2014/main" id="{1242136A-795A-3E75-8E38-50F402DB6308}"/>
              </a:ext>
            </a:extLst>
          </p:cNvPr>
          <p:cNvSpPr/>
          <p:nvPr/>
        </p:nvSpPr>
        <p:spPr>
          <a:xfrm>
            <a:off x="838200" y="5079822"/>
            <a:ext cx="4721942" cy="1390566"/>
          </a:xfrm>
          <a:prstGeom prst="roundRect">
            <a:avLst>
              <a:gd name="adj" fmla="val 4853"/>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CC370A27-FA3F-B466-4903-ED8D4B3DBAAD}"/>
              </a:ext>
            </a:extLst>
          </p:cNvPr>
          <p:cNvSpPr/>
          <p:nvPr/>
        </p:nvSpPr>
        <p:spPr>
          <a:xfrm>
            <a:off x="1361400" y="5830273"/>
            <a:ext cx="3475541" cy="61200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2" name="グループ化 31">
            <a:extLst>
              <a:ext uri="{FF2B5EF4-FFF2-40B4-BE49-F238E27FC236}">
                <a16:creationId xmlns:a16="http://schemas.microsoft.com/office/drawing/2014/main" id="{D0C762F8-AED1-1069-6AD4-79259C5F8C31}"/>
              </a:ext>
            </a:extLst>
          </p:cNvPr>
          <p:cNvGrpSpPr/>
          <p:nvPr/>
        </p:nvGrpSpPr>
        <p:grpSpPr>
          <a:xfrm>
            <a:off x="4851691" y="5775105"/>
            <a:ext cx="3879027" cy="724177"/>
            <a:chOff x="2377011" y="1761867"/>
            <a:chExt cx="2871635" cy="724177"/>
          </a:xfrm>
        </p:grpSpPr>
        <p:sp>
          <p:nvSpPr>
            <p:cNvPr id="33" name="角丸四角形 32">
              <a:extLst>
                <a:ext uri="{FF2B5EF4-FFF2-40B4-BE49-F238E27FC236}">
                  <a16:creationId xmlns:a16="http://schemas.microsoft.com/office/drawing/2014/main" id="{4CDAE140-DB9D-32C4-5392-42E59738FB75}"/>
                </a:ext>
              </a:extLst>
            </p:cNvPr>
            <p:cNvSpPr/>
            <p:nvPr/>
          </p:nvSpPr>
          <p:spPr>
            <a:xfrm>
              <a:off x="2675711" y="1761867"/>
              <a:ext cx="2572934" cy="724177"/>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三角形 33">
              <a:extLst>
                <a:ext uri="{FF2B5EF4-FFF2-40B4-BE49-F238E27FC236}">
                  <a16:creationId xmlns:a16="http://schemas.microsoft.com/office/drawing/2014/main" id="{B92013EA-2AEC-7E83-66AE-837F990BB48A}"/>
                </a:ext>
              </a:extLst>
            </p:cNvPr>
            <p:cNvSpPr/>
            <p:nvPr/>
          </p:nvSpPr>
          <p:spPr>
            <a:xfrm rot="16200000">
              <a:off x="2342293" y="1962874"/>
              <a:ext cx="389757" cy="320322"/>
            </a:xfrm>
            <a:prstGeom prst="triangle">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8BF900CA-06ED-2138-5C54-0E6CB1CBF5A8}"/>
                </a:ext>
              </a:extLst>
            </p:cNvPr>
            <p:cNvSpPr txBox="1"/>
            <p:nvPr/>
          </p:nvSpPr>
          <p:spPr>
            <a:xfrm>
              <a:off x="2675711" y="1800790"/>
              <a:ext cx="2572935" cy="646331"/>
            </a:xfrm>
            <a:prstGeom prst="rect">
              <a:avLst/>
            </a:prstGeom>
            <a:noFill/>
          </p:spPr>
          <p:txBody>
            <a:bodyPr wrap="square" rtlCol="0">
              <a:spAutoFit/>
            </a:bodyPr>
            <a:lstStyle/>
            <a:p>
              <a:r>
                <a:rPr kumimoji="1" lang="en-US" altLang="ja-JP" sz="1200" dirty="0">
                  <a:latin typeface="Meiryo" panose="020B0604030504040204" pitchFamily="34" charset="-128"/>
                  <a:ea typeface="Meiryo" panose="020B0604030504040204" pitchFamily="34" charset="-128"/>
                </a:rPr>
                <a:t>CI/CD</a:t>
              </a:r>
              <a:r>
                <a:rPr kumimoji="1" lang="ja-JP" altLang="en-US" sz="1200">
                  <a:latin typeface="Meiryo" panose="020B0604030504040204" pitchFamily="34" charset="-128"/>
                  <a:ea typeface="Meiryo" panose="020B0604030504040204" pitchFamily="34" charset="-128"/>
                </a:rPr>
                <a:t>の各処理．</a:t>
              </a:r>
              <a:r>
                <a:rPr lang="en-US" altLang="ja-JP" sz="1200" dirty="0">
                  <a:latin typeface="Consolas" panose="020B0609020204030204" pitchFamily="49" charset="0"/>
                  <a:ea typeface="Meiryo" panose="020B0604030504040204" pitchFamily="34" charset="-128"/>
                  <a:cs typeface="Consolas" panose="020B0609020204030204" pitchFamily="49" charset="0"/>
                </a:rPr>
                <a:t>uses</a:t>
              </a:r>
              <a:r>
                <a:rPr lang="ja-JP" altLang="en-US" sz="1200">
                  <a:latin typeface="Meiryo" panose="020B0604030504040204" pitchFamily="34" charset="-128"/>
                  <a:ea typeface="Meiryo" panose="020B0604030504040204" pitchFamily="34" charset="-128"/>
                </a:rPr>
                <a:t>が指定されている場合，既存のアクションが実行される．具体的な使い方は各アクションのドキュメントを参照のこと．</a:t>
              </a:r>
              <a:endParaRPr kumimoji="1" lang="ja-JP" altLang="en-US" sz="1200">
                <a:latin typeface="Meiryo" panose="020B0604030504040204" pitchFamily="34" charset="-128"/>
                <a:ea typeface="Meiryo" panose="020B0604030504040204" pitchFamily="34" charset="-128"/>
              </a:endParaRPr>
            </a:p>
          </p:txBody>
        </p:sp>
      </p:grpSp>
      <p:grpSp>
        <p:nvGrpSpPr>
          <p:cNvPr id="27" name="グループ化 26">
            <a:extLst>
              <a:ext uri="{FF2B5EF4-FFF2-40B4-BE49-F238E27FC236}">
                <a16:creationId xmlns:a16="http://schemas.microsoft.com/office/drawing/2014/main" id="{41C55F26-AEAF-74C3-C487-F71566A280E1}"/>
              </a:ext>
            </a:extLst>
          </p:cNvPr>
          <p:cNvGrpSpPr/>
          <p:nvPr/>
        </p:nvGrpSpPr>
        <p:grpSpPr>
          <a:xfrm>
            <a:off x="3536754" y="4879325"/>
            <a:ext cx="2572935" cy="646331"/>
            <a:chOff x="2675711" y="1852267"/>
            <a:chExt cx="2572935" cy="646331"/>
          </a:xfrm>
        </p:grpSpPr>
        <p:sp>
          <p:nvSpPr>
            <p:cNvPr id="28" name="角丸四角形 27">
              <a:extLst>
                <a:ext uri="{FF2B5EF4-FFF2-40B4-BE49-F238E27FC236}">
                  <a16:creationId xmlns:a16="http://schemas.microsoft.com/office/drawing/2014/main" id="{97799FBB-7CBF-21C9-029B-5412822F1841}"/>
                </a:ext>
              </a:extLst>
            </p:cNvPr>
            <p:cNvSpPr/>
            <p:nvPr/>
          </p:nvSpPr>
          <p:spPr>
            <a:xfrm>
              <a:off x="2675711" y="1852267"/>
              <a:ext cx="2572934" cy="641717"/>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85466E8B-9448-8F98-AC2A-01A1FC7D80B6}"/>
                </a:ext>
              </a:extLst>
            </p:cNvPr>
            <p:cNvSpPr txBox="1"/>
            <p:nvPr/>
          </p:nvSpPr>
          <p:spPr>
            <a:xfrm>
              <a:off x="2702058" y="1852267"/>
              <a:ext cx="2546588" cy="646331"/>
            </a:xfrm>
            <a:prstGeom prst="rect">
              <a:avLst/>
            </a:prstGeom>
            <a:noFill/>
          </p:spPr>
          <p:txBody>
            <a:bodyPr wrap="square" rtlCol="0">
              <a:spAutoFit/>
            </a:bodyPr>
            <a:lstStyle/>
            <a:p>
              <a:r>
                <a:rPr lang="ja-JP" altLang="en-US" sz="1200">
                  <a:latin typeface="Meiryo" panose="020B0604030504040204" pitchFamily="34" charset="-128"/>
                  <a:ea typeface="Meiryo" panose="020B0604030504040204" pitchFamily="34" charset="-128"/>
                </a:rPr>
                <a:t>一連の処理．上から順番に実行される．</a:t>
              </a:r>
              <a:r>
                <a:rPr lang="en-US" altLang="ja-JP" sz="1200" dirty="0">
                  <a:latin typeface="Meiryo" panose="020B0604030504040204" pitchFamily="34" charset="-128"/>
                  <a:ea typeface="Meiryo" panose="020B0604030504040204" pitchFamily="34" charset="-128"/>
                </a:rPr>
                <a:t>name</a:t>
              </a:r>
              <a:r>
                <a:rPr lang="ja-JP" altLang="en-US" sz="1200">
                  <a:latin typeface="Meiryo" panose="020B0604030504040204" pitchFamily="34" charset="-128"/>
                  <a:ea typeface="Meiryo" panose="020B0604030504040204" pitchFamily="34" charset="-128"/>
                </a:rPr>
                <a:t>はログ中に出てくる名前で，付けなくても良い．</a:t>
              </a:r>
              <a:endParaRPr kumimoji="1" lang="en-US" altLang="ja-JP" sz="1200" dirty="0">
                <a:latin typeface="Meiryo" panose="020B0604030504040204" pitchFamily="34" charset="-128"/>
                <a:ea typeface="Meiryo" panose="020B0604030504040204" pitchFamily="34" charset="-128"/>
              </a:endParaRPr>
            </a:p>
          </p:txBody>
        </p:sp>
      </p:grpSp>
      <p:sp>
        <p:nvSpPr>
          <p:cNvPr id="36" name="角丸四角形 35">
            <a:extLst>
              <a:ext uri="{FF2B5EF4-FFF2-40B4-BE49-F238E27FC236}">
                <a16:creationId xmlns:a16="http://schemas.microsoft.com/office/drawing/2014/main" id="{1B0AAD04-55F3-A3C4-1DF1-9DF3F5119EA5}"/>
              </a:ext>
            </a:extLst>
          </p:cNvPr>
          <p:cNvSpPr/>
          <p:nvPr/>
        </p:nvSpPr>
        <p:spPr>
          <a:xfrm>
            <a:off x="6065964" y="1822111"/>
            <a:ext cx="3475539" cy="968947"/>
          </a:xfrm>
          <a:prstGeom prst="roundRect">
            <a:avLst>
              <a:gd name="adj" fmla="val 11052"/>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7" name="グループ化 36">
            <a:extLst>
              <a:ext uri="{FF2B5EF4-FFF2-40B4-BE49-F238E27FC236}">
                <a16:creationId xmlns:a16="http://schemas.microsoft.com/office/drawing/2014/main" id="{2F2FCB3F-9CAE-546C-1833-FE53586EAABC}"/>
              </a:ext>
            </a:extLst>
          </p:cNvPr>
          <p:cNvGrpSpPr/>
          <p:nvPr/>
        </p:nvGrpSpPr>
        <p:grpSpPr>
          <a:xfrm>
            <a:off x="9292253" y="1761867"/>
            <a:ext cx="2908542" cy="1069142"/>
            <a:chOff x="3095458" y="1761868"/>
            <a:chExt cx="2153187" cy="1069142"/>
          </a:xfrm>
        </p:grpSpPr>
        <p:sp>
          <p:nvSpPr>
            <p:cNvPr id="38" name="角丸四角形 37">
              <a:extLst>
                <a:ext uri="{FF2B5EF4-FFF2-40B4-BE49-F238E27FC236}">
                  <a16:creationId xmlns:a16="http://schemas.microsoft.com/office/drawing/2014/main" id="{4E9A7EAE-6DD4-D527-B42C-7517FEA28B18}"/>
                </a:ext>
              </a:extLst>
            </p:cNvPr>
            <p:cNvSpPr/>
            <p:nvPr/>
          </p:nvSpPr>
          <p:spPr>
            <a:xfrm>
              <a:off x="3447218" y="1761868"/>
              <a:ext cx="1801427" cy="1069142"/>
            </a:xfrm>
            <a:prstGeom prst="roundRect">
              <a:avLst>
                <a:gd name="adj" fmla="val 5320"/>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三角形 38">
              <a:extLst>
                <a:ext uri="{FF2B5EF4-FFF2-40B4-BE49-F238E27FC236}">
                  <a16:creationId xmlns:a16="http://schemas.microsoft.com/office/drawing/2014/main" id="{07CFE515-70A3-C846-974D-58A3F13499DA}"/>
                </a:ext>
              </a:extLst>
            </p:cNvPr>
            <p:cNvSpPr/>
            <p:nvPr/>
          </p:nvSpPr>
          <p:spPr>
            <a:xfrm rot="16200000">
              <a:off x="3123392" y="2100364"/>
              <a:ext cx="389757" cy="445626"/>
            </a:xfrm>
            <a:prstGeom prst="triangle">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AF2A9A25-B685-CF44-E775-73153FCA33DB}"/>
                </a:ext>
              </a:extLst>
            </p:cNvPr>
            <p:cNvSpPr txBox="1"/>
            <p:nvPr/>
          </p:nvSpPr>
          <p:spPr>
            <a:xfrm>
              <a:off x="3443659" y="1815346"/>
              <a:ext cx="1801429" cy="1015663"/>
            </a:xfrm>
            <a:prstGeom prst="rect">
              <a:avLst/>
            </a:prstGeom>
            <a:noFill/>
          </p:spPr>
          <p:txBody>
            <a:bodyPr wrap="square" rtlCol="0">
              <a:spAutoFit/>
            </a:bodyPr>
            <a:lstStyle/>
            <a:p>
              <a:r>
                <a:rPr kumimoji="1" lang="en-US" altLang="ja-JP" sz="1200" dirty="0">
                  <a:latin typeface="Consolas" panose="020B0609020204030204" pitchFamily="49" charset="0"/>
                  <a:ea typeface="Meiryo" panose="020B0604030504040204" pitchFamily="34" charset="-128"/>
                  <a:cs typeface="Consolas" panose="020B0609020204030204" pitchFamily="49" charset="0"/>
                </a:rPr>
                <a:t>run</a:t>
              </a:r>
              <a:r>
                <a:rPr kumimoji="1" lang="ja-JP" altLang="en-US" sz="1200">
                  <a:latin typeface="Meiryo" panose="020B0604030504040204" pitchFamily="34" charset="-128"/>
                  <a:ea typeface="Meiryo" panose="020B0604030504040204" pitchFamily="34" charset="-128"/>
                </a:rPr>
                <a:t>が指定されているとシェルで各コマンドを実行する．シェルはデフォルトのシェルだが，「</a:t>
              </a:r>
              <a:r>
                <a:rPr kumimoji="1" lang="en-US" altLang="ja-JP" sz="1200" dirty="0">
                  <a:latin typeface="Consolas" panose="020B0609020204030204" pitchFamily="49" charset="0"/>
                  <a:ea typeface="Meiryo" panose="020B0604030504040204" pitchFamily="34" charset="-128"/>
                  <a:cs typeface="Consolas" panose="020B0609020204030204" pitchFamily="49" charset="0"/>
                </a:rPr>
                <a:t>shell: bash</a:t>
              </a:r>
              <a:r>
                <a:rPr kumimoji="1" lang="ja-JP" altLang="en-US" sz="1200">
                  <a:latin typeface="Meiryo" panose="020B0604030504040204" pitchFamily="34" charset="-128"/>
                  <a:ea typeface="Meiryo" panose="020B0604030504040204" pitchFamily="34" charset="-128"/>
                </a:rPr>
                <a:t>」のように実行するシェル</a:t>
              </a:r>
              <a:r>
                <a:rPr lang="ja-JP" altLang="en-US" sz="1200">
                  <a:latin typeface="Meiryo" panose="020B0604030504040204" pitchFamily="34" charset="-128"/>
                  <a:ea typeface="Meiryo" panose="020B0604030504040204" pitchFamily="34" charset="-128"/>
                </a:rPr>
                <a:t>を</a:t>
              </a:r>
              <a:r>
                <a:rPr kumimoji="1" lang="ja-JP" altLang="en-US" sz="1200">
                  <a:latin typeface="Meiryo" panose="020B0604030504040204" pitchFamily="34" charset="-128"/>
                  <a:ea typeface="Meiryo" panose="020B0604030504040204" pitchFamily="34" charset="-128"/>
                </a:rPr>
                <a:t>指定できる．</a:t>
              </a:r>
            </a:p>
          </p:txBody>
        </p:sp>
      </p:grpSp>
      <p:sp>
        <p:nvSpPr>
          <p:cNvPr id="41" name="角丸四角形 40">
            <a:extLst>
              <a:ext uri="{FF2B5EF4-FFF2-40B4-BE49-F238E27FC236}">
                <a16:creationId xmlns:a16="http://schemas.microsoft.com/office/drawing/2014/main" id="{A3DB8D9D-8F99-7C5C-ED24-19A36EBC66BE}"/>
              </a:ext>
            </a:extLst>
          </p:cNvPr>
          <p:cNvSpPr/>
          <p:nvPr/>
        </p:nvSpPr>
        <p:spPr>
          <a:xfrm>
            <a:off x="6065964" y="3112709"/>
            <a:ext cx="5344024" cy="319792"/>
          </a:xfrm>
          <a:prstGeom prst="roundRect">
            <a:avLst>
              <a:gd name="adj" fmla="val 11052"/>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575E4CBB-A01F-5571-F913-0AB098E32DA7}"/>
              </a:ext>
            </a:extLst>
          </p:cNvPr>
          <p:cNvGrpSpPr/>
          <p:nvPr/>
        </p:nvGrpSpPr>
        <p:grpSpPr>
          <a:xfrm>
            <a:off x="10360334" y="3425663"/>
            <a:ext cx="1957433" cy="1499064"/>
            <a:chOff x="3458317" y="776277"/>
            <a:chExt cx="1957433" cy="1499064"/>
          </a:xfrm>
        </p:grpSpPr>
        <p:sp>
          <p:nvSpPr>
            <p:cNvPr id="43" name="角丸四角形 42">
              <a:extLst>
                <a:ext uri="{FF2B5EF4-FFF2-40B4-BE49-F238E27FC236}">
                  <a16:creationId xmlns:a16="http://schemas.microsoft.com/office/drawing/2014/main" id="{6ED92FD3-7CCF-E563-AB2F-6443E2DBDC5A}"/>
                </a:ext>
              </a:extLst>
            </p:cNvPr>
            <p:cNvSpPr/>
            <p:nvPr/>
          </p:nvSpPr>
          <p:spPr>
            <a:xfrm>
              <a:off x="3458317" y="1761867"/>
              <a:ext cx="1925801" cy="513474"/>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三角形 43">
              <a:extLst>
                <a:ext uri="{FF2B5EF4-FFF2-40B4-BE49-F238E27FC236}">
                  <a16:creationId xmlns:a16="http://schemas.microsoft.com/office/drawing/2014/main" id="{B362A96A-9BC5-3697-F877-874B13872DA9}"/>
                </a:ext>
              </a:extLst>
            </p:cNvPr>
            <p:cNvSpPr/>
            <p:nvPr/>
          </p:nvSpPr>
          <p:spPr>
            <a:xfrm>
              <a:off x="4121583" y="776277"/>
              <a:ext cx="505635" cy="1375322"/>
            </a:xfrm>
            <a:prstGeom prst="triangle">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96D4019F-136C-8089-DC75-545BC66377B7}"/>
                </a:ext>
              </a:extLst>
            </p:cNvPr>
            <p:cNvSpPr txBox="1"/>
            <p:nvPr/>
          </p:nvSpPr>
          <p:spPr>
            <a:xfrm>
              <a:off x="3489949" y="1813676"/>
              <a:ext cx="1925801" cy="461665"/>
            </a:xfrm>
            <a:prstGeom prst="rect">
              <a:avLst/>
            </a:prstGeom>
            <a:noFill/>
          </p:spPr>
          <p:txBody>
            <a:bodyPr wrap="square" rtlCol="0">
              <a:spAutoFit/>
            </a:bodyPr>
            <a:lstStyle/>
            <a:p>
              <a:r>
                <a:rPr lang="ja-JP" altLang="en-US" sz="1200">
                  <a:latin typeface="Meiryo" panose="020B0604030504040204" pitchFamily="34" charset="-128"/>
                  <a:ea typeface="Meiryo" panose="020B0604030504040204" pitchFamily="34" charset="-128"/>
                </a:rPr>
                <a:t>特定の条件の場合のみ実行するように指定できる．</a:t>
              </a:r>
              <a:endParaRPr kumimoji="1" lang="ja-JP" altLang="en-US" sz="1200">
                <a:latin typeface="Meiryo" panose="020B0604030504040204" pitchFamily="34" charset="-128"/>
                <a:ea typeface="Meiryo" panose="020B0604030504040204" pitchFamily="34" charset="-128"/>
              </a:endParaRPr>
            </a:p>
          </p:txBody>
        </p:sp>
      </p:grpSp>
      <p:grpSp>
        <p:nvGrpSpPr>
          <p:cNvPr id="46" name="グループ化 45">
            <a:extLst>
              <a:ext uri="{FF2B5EF4-FFF2-40B4-BE49-F238E27FC236}">
                <a16:creationId xmlns:a16="http://schemas.microsoft.com/office/drawing/2014/main" id="{8D24778E-4EEC-A61B-848E-610819AD3B68}"/>
              </a:ext>
            </a:extLst>
          </p:cNvPr>
          <p:cNvGrpSpPr/>
          <p:nvPr/>
        </p:nvGrpSpPr>
        <p:grpSpPr>
          <a:xfrm>
            <a:off x="9182009" y="5892581"/>
            <a:ext cx="2572935" cy="646331"/>
            <a:chOff x="2675711" y="1852267"/>
            <a:chExt cx="2572935" cy="646331"/>
          </a:xfrm>
        </p:grpSpPr>
        <p:sp>
          <p:nvSpPr>
            <p:cNvPr id="47" name="角丸四角形 46">
              <a:extLst>
                <a:ext uri="{FF2B5EF4-FFF2-40B4-BE49-F238E27FC236}">
                  <a16:creationId xmlns:a16="http://schemas.microsoft.com/office/drawing/2014/main" id="{E18CAB3B-B6A0-E771-511F-6BC4C1F86DC0}"/>
                </a:ext>
              </a:extLst>
            </p:cNvPr>
            <p:cNvSpPr/>
            <p:nvPr/>
          </p:nvSpPr>
          <p:spPr>
            <a:xfrm>
              <a:off x="2675711" y="1852267"/>
              <a:ext cx="2572934" cy="641717"/>
            </a:xfrm>
            <a:prstGeom prst="roundRect">
              <a:avLst/>
            </a:prstGeom>
            <a:solidFill>
              <a:srgbClr val="FFB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6370C1A9-1A0B-CF88-AECA-D44973AB8E0A}"/>
                </a:ext>
              </a:extLst>
            </p:cNvPr>
            <p:cNvSpPr txBox="1"/>
            <p:nvPr/>
          </p:nvSpPr>
          <p:spPr>
            <a:xfrm>
              <a:off x="2702058" y="1852267"/>
              <a:ext cx="2546588" cy="646331"/>
            </a:xfrm>
            <a:prstGeom prst="rect">
              <a:avLst/>
            </a:prstGeom>
            <a:noFill/>
          </p:spPr>
          <p:txBody>
            <a:bodyPr wrap="square" rtlCol="0">
              <a:spAutoFit/>
            </a:bodyPr>
            <a:lstStyle/>
            <a:p>
              <a:r>
                <a:rPr lang="en-US" altLang="ja-JP" sz="1200" dirty="0" err="1">
                  <a:latin typeface="Meiryo" panose="020B0604030504040204" pitchFamily="34" charset="-128"/>
                  <a:ea typeface="Meiryo" panose="020B0604030504040204" pitchFamily="34" charset="-128"/>
                </a:rPr>
                <a:t>Yaml</a:t>
              </a:r>
              <a:r>
                <a:rPr lang="ja-JP" altLang="en-US" sz="1200">
                  <a:latin typeface="Meiryo" panose="020B0604030504040204" pitchFamily="34" charset="-128"/>
                  <a:ea typeface="Meiryo" panose="020B0604030504040204" pitchFamily="34" charset="-128"/>
                </a:rPr>
                <a:t>形式のため，インデントの幅がブロック（処理のまとまり）を表す．</a:t>
              </a:r>
              <a:endParaRPr kumimoji="1" lang="en-US" altLang="ja-JP" sz="1200" dirty="0">
                <a:latin typeface="Meiryo" panose="020B0604030504040204" pitchFamily="34" charset="-128"/>
                <a:ea typeface="Meiryo" panose="020B0604030504040204" pitchFamily="34" charset="-128"/>
              </a:endParaRPr>
            </a:p>
          </p:txBody>
        </p:sp>
      </p:grpSp>
    </p:spTree>
    <p:extLst>
      <p:ext uri="{BB962C8B-B14F-4D97-AF65-F5344CB8AC3E}">
        <p14:creationId xmlns:p14="http://schemas.microsoft.com/office/powerpoint/2010/main" val="173419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par>
                                <p:cTn id="16" presetID="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dissolve">
                                      <p:cBhvr>
                                        <p:cTn id="23" dur="500"/>
                                        <p:tgtEl>
                                          <p:spTgt spid="18"/>
                                        </p:tgtEl>
                                      </p:cBhvr>
                                    </p:animEffect>
                                  </p:childTnLst>
                                </p:cTn>
                              </p:par>
                              <p:par>
                                <p:cTn id="24" presetID="9"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dissolve">
                                      <p:cBhvr>
                                        <p:cTn id="31" dur="500"/>
                                        <p:tgtEl>
                                          <p:spTgt spid="23"/>
                                        </p:tgtEl>
                                      </p:cBhvr>
                                    </p:animEffect>
                                  </p:childTnLst>
                                </p:cTn>
                              </p:par>
                              <p:par>
                                <p:cTn id="32" presetID="9"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dissolve">
                                      <p:cBhvr>
                                        <p:cTn id="34" dur="500"/>
                                        <p:tgtEl>
                                          <p:spTgt spid="24"/>
                                        </p:tgtEl>
                                      </p:cBhvr>
                                    </p:animEffect>
                                  </p:childTnLst>
                                </p:cTn>
                              </p:par>
                              <p:par>
                                <p:cTn id="35" presetID="9"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dissolv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dissolv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dissolve">
                                      <p:cBhvr>
                                        <p:cTn id="47" dur="500"/>
                                        <p:tgtEl>
                                          <p:spTgt spid="31"/>
                                        </p:tgtEl>
                                      </p:cBhvr>
                                    </p:animEffect>
                                  </p:childTnLst>
                                </p:cTn>
                              </p:par>
                              <p:par>
                                <p:cTn id="48" presetID="9"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dissolv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dissolve">
                                      <p:cBhvr>
                                        <p:cTn id="55" dur="500"/>
                                        <p:tgtEl>
                                          <p:spTgt spid="36"/>
                                        </p:tgtEl>
                                      </p:cBhvr>
                                    </p:animEffect>
                                  </p:childTnLst>
                                </p:cTn>
                              </p:par>
                              <p:par>
                                <p:cTn id="56" presetID="9"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dissolve">
                                      <p:cBhvr>
                                        <p:cTn id="58" dur="5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dissolve">
                                      <p:cBhvr>
                                        <p:cTn id="63" dur="500"/>
                                        <p:tgtEl>
                                          <p:spTgt spid="41"/>
                                        </p:tgtEl>
                                      </p:cBhvr>
                                    </p:animEffect>
                                  </p:childTnLst>
                                </p:cTn>
                              </p:par>
                              <p:par>
                                <p:cTn id="64" presetID="9" presetClass="entr" presetSubtype="0" fill="hold" nodeType="with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dissolve">
                                      <p:cBhvr>
                                        <p:cTn id="66" dur="500"/>
                                        <p:tgtEl>
                                          <p:spTgt spid="42"/>
                                        </p:tgtEl>
                                      </p:cBhvr>
                                    </p:animEffect>
                                  </p:childTnLst>
                                </p:cTn>
                              </p:par>
                              <p:par>
                                <p:cTn id="67" presetID="9" presetClass="entr" presetSubtype="0" fill="hold"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dissolve">
                                      <p:cBhvr>
                                        <p:cTn id="6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animBg="1"/>
      <p:bldP spid="18" grpId="0" animBg="1"/>
      <p:bldP spid="23" grpId="0" animBg="1"/>
      <p:bldP spid="30" grpId="0" animBg="1"/>
      <p:bldP spid="31" grpId="0" animBg="1"/>
      <p:bldP spid="36" grpId="0" animBg="1"/>
      <p:bldP spid="4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EE9032-7C1A-16B7-820A-F23837A83E0C}"/>
              </a:ext>
            </a:extLst>
          </p:cNvPr>
          <p:cNvSpPr>
            <a:spLocks noGrp="1"/>
          </p:cNvSpPr>
          <p:nvPr>
            <p:ph type="title"/>
          </p:nvPr>
        </p:nvSpPr>
        <p:spPr/>
        <p:txBody>
          <a:bodyPr/>
          <a:lstStyle/>
          <a:p>
            <a:r>
              <a:rPr kumimoji="1" lang="ja-JP" altLang="en-US"/>
              <a:t>次回までに行うこと</a:t>
            </a:r>
          </a:p>
        </p:txBody>
      </p:sp>
      <p:sp>
        <p:nvSpPr>
          <p:cNvPr id="3" name="コンテンツ プレースホルダー 2">
            <a:extLst>
              <a:ext uri="{FF2B5EF4-FFF2-40B4-BE49-F238E27FC236}">
                <a16:creationId xmlns:a16="http://schemas.microsoft.com/office/drawing/2014/main" id="{DE9F06B6-6D7D-1305-D484-1C53D45FE31B}"/>
              </a:ext>
            </a:extLst>
          </p:cNvPr>
          <p:cNvSpPr>
            <a:spLocks noGrp="1"/>
          </p:cNvSpPr>
          <p:nvPr>
            <p:ph idx="1"/>
          </p:nvPr>
        </p:nvSpPr>
        <p:spPr>
          <a:xfrm>
            <a:off x="838200" y="1825625"/>
            <a:ext cx="11353800" cy="4351338"/>
          </a:xfrm>
        </p:spPr>
        <p:txBody>
          <a:bodyPr>
            <a:normAutofit fontScale="92500"/>
          </a:bodyPr>
          <a:lstStyle/>
          <a:p>
            <a:pPr>
              <a:lnSpc>
                <a:spcPct val="120000"/>
              </a:lnSpc>
            </a:pPr>
            <a:r>
              <a:rPr kumimoji="1" lang="en-US" altLang="ja-JP" dirty="0">
                <a:latin typeface="Consolas" panose="020B0609020204030204" pitchFamily="49" charset="0"/>
                <a:cs typeface="Consolas" panose="020B0609020204030204" pitchFamily="49" charset="0"/>
              </a:rPr>
              <a:t>.</a:t>
            </a:r>
            <a:r>
              <a:rPr kumimoji="1" lang="en-US" altLang="ja-JP" dirty="0" err="1">
                <a:latin typeface="Consolas" panose="020B0609020204030204" pitchFamily="49" charset="0"/>
                <a:cs typeface="Consolas" panose="020B0609020204030204" pitchFamily="49" charset="0"/>
              </a:rPr>
              <a:t>github</a:t>
            </a:r>
            <a:r>
              <a:rPr kumimoji="1" lang="en-US" altLang="ja-JP" dirty="0">
                <a:latin typeface="Consolas" panose="020B0609020204030204" pitchFamily="49" charset="0"/>
                <a:cs typeface="Consolas" panose="020B0609020204030204" pitchFamily="49" charset="0"/>
              </a:rPr>
              <a:t>/workflows/</a:t>
            </a:r>
            <a:r>
              <a:rPr kumimoji="1" lang="en-US" altLang="ja-JP" dirty="0" err="1">
                <a:latin typeface="Consolas" panose="020B0609020204030204" pitchFamily="49" charset="0"/>
                <a:cs typeface="Consolas" panose="020B0609020204030204" pitchFamily="49" charset="0"/>
              </a:rPr>
              <a:t>build.yaml</a:t>
            </a:r>
            <a:r>
              <a:rPr kumimoji="1" lang="ja-JP" altLang="en-US"/>
              <a:t>を作成する．</a:t>
            </a:r>
            <a:endParaRPr kumimoji="1" lang="en-US" altLang="ja-JP" dirty="0"/>
          </a:p>
          <a:p>
            <a:pPr lvl="1">
              <a:lnSpc>
                <a:spcPct val="120000"/>
              </a:lnSpc>
            </a:pPr>
            <a:r>
              <a:rPr kumimoji="1" lang="ja-JP" altLang="en-US"/>
              <a:t>動作確認を行う．</a:t>
            </a:r>
            <a:endParaRPr kumimoji="1" lang="en-US" altLang="ja-JP" dirty="0"/>
          </a:p>
          <a:p>
            <a:pPr>
              <a:lnSpc>
                <a:spcPct val="120000"/>
              </a:lnSpc>
            </a:pPr>
            <a:r>
              <a:rPr lang="en-US" altLang="ja-JP" dirty="0"/>
              <a:t>Coveralls</a:t>
            </a:r>
            <a:r>
              <a:rPr lang="ja-JP" altLang="en-US"/>
              <a:t>にリポジトリを登録する．</a:t>
            </a:r>
            <a:endParaRPr lang="en-US" altLang="ja-JP" dirty="0"/>
          </a:p>
          <a:p>
            <a:pPr lvl="1">
              <a:lnSpc>
                <a:spcPct val="120000"/>
              </a:lnSpc>
            </a:pPr>
            <a:r>
              <a:rPr lang="en-US" altLang="ja-JP" dirty="0">
                <a:latin typeface="Consolas" panose="020B0609020204030204" pitchFamily="49" charset="0"/>
                <a:cs typeface="Consolas" panose="020B0609020204030204" pitchFamily="49" charset="0"/>
                <a:hlinkClick r:id="rId2"/>
              </a:rPr>
              <a:t>https://coveralls.io/</a:t>
            </a:r>
            <a:endParaRPr lang="en-US" altLang="ja-JP" dirty="0">
              <a:latin typeface="Consolas" panose="020B0609020204030204" pitchFamily="49" charset="0"/>
              <a:cs typeface="Consolas" panose="020B0609020204030204" pitchFamily="49" charset="0"/>
            </a:endParaRPr>
          </a:p>
          <a:p>
            <a:pPr>
              <a:lnSpc>
                <a:spcPct val="120000"/>
              </a:lnSpc>
            </a:pPr>
            <a:r>
              <a:rPr kumimoji="1" lang="ja-JP" altLang="en-US"/>
              <a:t>それぞれのバッジを</a:t>
            </a:r>
            <a:r>
              <a:rPr kumimoji="1" lang="en-US" altLang="ja-JP" dirty="0" err="1">
                <a:latin typeface="Consolas" panose="020B0609020204030204" pitchFamily="49" charset="0"/>
                <a:cs typeface="Consolas" panose="020B0609020204030204" pitchFamily="49" charset="0"/>
              </a:rPr>
              <a:t>READMD.md</a:t>
            </a:r>
            <a:r>
              <a:rPr kumimoji="1" lang="ja-JP" altLang="en-US"/>
              <a:t>に貼る．</a:t>
            </a:r>
            <a:endParaRPr kumimoji="1" lang="en-US" altLang="ja-JP" dirty="0"/>
          </a:p>
        </p:txBody>
      </p:sp>
      <p:sp>
        <p:nvSpPr>
          <p:cNvPr id="4" name="日付プレースホルダー 3">
            <a:extLst>
              <a:ext uri="{FF2B5EF4-FFF2-40B4-BE49-F238E27FC236}">
                <a16:creationId xmlns:a16="http://schemas.microsoft.com/office/drawing/2014/main" id="{3FF272E1-B4FA-B817-D288-73D09CCFB8A8}"/>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7B31930D-847B-140F-D3CF-339004A8ABFB}"/>
              </a:ext>
            </a:extLst>
          </p:cNvPr>
          <p:cNvSpPr>
            <a:spLocks noGrp="1"/>
          </p:cNvSpPr>
          <p:nvPr>
            <p:ph type="sldNum" sz="quarter" idx="12"/>
          </p:nvPr>
        </p:nvSpPr>
        <p:spPr/>
        <p:txBody>
          <a:bodyPr/>
          <a:lstStyle/>
          <a:p>
            <a:fld id="{0B8845E4-5C92-A046-BB66-E5D9CC995B08}" type="slidenum">
              <a:rPr kumimoji="1" lang="ja-JP" altLang="en-US" smtClean="0"/>
              <a:t>19</a:t>
            </a:fld>
            <a:endParaRPr kumimoji="1" lang="ja-JP" altLang="en-US"/>
          </a:p>
        </p:txBody>
      </p:sp>
    </p:spTree>
    <p:extLst>
      <p:ext uri="{BB962C8B-B14F-4D97-AF65-F5344CB8AC3E}">
        <p14:creationId xmlns:p14="http://schemas.microsoft.com/office/powerpoint/2010/main" val="3509899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5CE1E-87C8-543B-B942-1661F6A303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DB4148-18E1-9862-B049-D15648F9DA3C}"/>
              </a:ext>
            </a:extLst>
          </p:cNvPr>
          <p:cNvSpPr>
            <a:spLocks noGrp="1"/>
          </p:cNvSpPr>
          <p:nvPr>
            <p:ph type="title"/>
          </p:nvPr>
        </p:nvSpPr>
        <p:spPr/>
        <p:txBody>
          <a:bodyPr/>
          <a:lstStyle/>
          <a:p>
            <a:r>
              <a:rPr kumimoji="1" lang="ja-JP" altLang="en-US"/>
              <a:t>講義スケジュール</a:t>
            </a:r>
          </a:p>
        </p:txBody>
      </p:sp>
      <p:sp>
        <p:nvSpPr>
          <p:cNvPr id="4" name="日付プレースホルダー 3">
            <a:extLst>
              <a:ext uri="{FF2B5EF4-FFF2-40B4-BE49-F238E27FC236}">
                <a16:creationId xmlns:a16="http://schemas.microsoft.com/office/drawing/2014/main" id="{BC8BB032-B3CB-75E0-A781-A07F3323FD4E}"/>
              </a:ext>
            </a:extLst>
          </p:cNvPr>
          <p:cNvSpPr>
            <a:spLocks noGrp="1"/>
          </p:cNvSpPr>
          <p:nvPr>
            <p:ph type="dt" sz="half" idx="10"/>
          </p:nvPr>
        </p:nvSpPr>
        <p:spPr/>
        <p:txBody>
          <a:bodyPr/>
          <a:lstStyle/>
          <a:p>
            <a:r>
              <a:rPr kumimoji="1" lang="en-US" altLang="ja-JP"/>
              <a:t>2026-04-24</a:t>
            </a:r>
            <a:endParaRPr kumimoji="1" lang="ja-JP" altLang="en-US"/>
          </a:p>
        </p:txBody>
      </p:sp>
      <p:sp>
        <p:nvSpPr>
          <p:cNvPr id="5" name="スライド番号プレースホルダー 4">
            <a:extLst>
              <a:ext uri="{FF2B5EF4-FFF2-40B4-BE49-F238E27FC236}">
                <a16:creationId xmlns:a16="http://schemas.microsoft.com/office/drawing/2014/main" id="{C4009526-41D6-87B1-D90A-35FEBEC78C26}"/>
              </a:ext>
            </a:extLst>
          </p:cNvPr>
          <p:cNvSpPr>
            <a:spLocks noGrp="1"/>
          </p:cNvSpPr>
          <p:nvPr>
            <p:ph type="sldNum" sz="quarter" idx="12"/>
          </p:nvPr>
        </p:nvSpPr>
        <p:spPr/>
        <p:txBody>
          <a:bodyPr/>
          <a:lstStyle/>
          <a:p>
            <a:fld id="{0B8845E4-5C92-A046-BB66-E5D9CC995B08}" type="slidenum">
              <a:rPr kumimoji="1" lang="ja-JP" altLang="en-US" smtClean="0"/>
              <a:t>20</a:t>
            </a:fld>
            <a:endParaRPr kumimoji="1" lang="ja-JP" altLang="en-US"/>
          </a:p>
        </p:txBody>
      </p:sp>
      <p:grpSp>
        <p:nvGrpSpPr>
          <p:cNvPr id="11" name="グループ化 10">
            <a:extLst>
              <a:ext uri="{FF2B5EF4-FFF2-40B4-BE49-F238E27FC236}">
                <a16:creationId xmlns:a16="http://schemas.microsoft.com/office/drawing/2014/main" id="{329EF891-A210-D33F-EFB7-6EE2ADBF5A81}"/>
              </a:ext>
            </a:extLst>
          </p:cNvPr>
          <p:cNvGrpSpPr/>
          <p:nvPr/>
        </p:nvGrpSpPr>
        <p:grpSpPr>
          <a:xfrm>
            <a:off x="838200" y="1342345"/>
            <a:ext cx="4680000" cy="720000"/>
            <a:chOff x="838200" y="1690688"/>
            <a:chExt cx="4680000" cy="720000"/>
          </a:xfrm>
        </p:grpSpPr>
        <p:sp>
          <p:nvSpPr>
            <p:cNvPr id="7" name="正方形/長方形 6">
              <a:extLst>
                <a:ext uri="{FF2B5EF4-FFF2-40B4-BE49-F238E27FC236}">
                  <a16:creationId xmlns:a16="http://schemas.microsoft.com/office/drawing/2014/main" id="{E052B756-AC14-0F2B-3D24-24727337E10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 name="角丸四角形 5">
              <a:extLst>
                <a:ext uri="{FF2B5EF4-FFF2-40B4-BE49-F238E27FC236}">
                  <a16:creationId xmlns:a16="http://schemas.microsoft.com/office/drawing/2014/main" id="{8C3FE0C7-1F29-BC66-03C3-A9CBCDA15D8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2026-04-10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 name="正方形/長方形 8">
              <a:extLst>
                <a:ext uri="{FF2B5EF4-FFF2-40B4-BE49-F238E27FC236}">
                  <a16:creationId xmlns:a16="http://schemas.microsoft.com/office/drawing/2014/main" id="{95796A2C-0BE5-7D69-3F27-15ACD6B044FE}"/>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0" name="角丸四角形 9">
              <a:extLst>
                <a:ext uri="{FF2B5EF4-FFF2-40B4-BE49-F238E27FC236}">
                  <a16:creationId xmlns:a16="http://schemas.microsoft.com/office/drawing/2014/main" id="{86F2E8DD-4722-BE72-E9DD-2CF219ADF1E6}"/>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全体説明</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27" name="グループ化 26">
            <a:extLst>
              <a:ext uri="{FF2B5EF4-FFF2-40B4-BE49-F238E27FC236}">
                <a16:creationId xmlns:a16="http://schemas.microsoft.com/office/drawing/2014/main" id="{6D0D1F6C-EEC5-9522-CAF4-2ADA0ED91399}"/>
              </a:ext>
            </a:extLst>
          </p:cNvPr>
          <p:cNvGrpSpPr/>
          <p:nvPr/>
        </p:nvGrpSpPr>
        <p:grpSpPr>
          <a:xfrm>
            <a:off x="838200" y="4500137"/>
            <a:ext cx="4680000" cy="720000"/>
            <a:chOff x="838200" y="1690688"/>
            <a:chExt cx="4680000" cy="720000"/>
          </a:xfrm>
        </p:grpSpPr>
        <p:sp>
          <p:nvSpPr>
            <p:cNvPr id="28" name="正方形/長方形 27">
              <a:extLst>
                <a:ext uri="{FF2B5EF4-FFF2-40B4-BE49-F238E27FC236}">
                  <a16:creationId xmlns:a16="http://schemas.microsoft.com/office/drawing/2014/main" id="{50C71038-3126-A01A-D703-F35D6B4332E2}"/>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9" name="角丸四角形 28">
              <a:extLst>
                <a:ext uri="{FF2B5EF4-FFF2-40B4-BE49-F238E27FC236}">
                  <a16:creationId xmlns:a16="http://schemas.microsoft.com/office/drawing/2014/main" id="{FE429A4F-22E0-2153-4677-11BA38978A54}"/>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2026-05-15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05</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0" name="正方形/長方形 29">
              <a:extLst>
                <a:ext uri="{FF2B5EF4-FFF2-40B4-BE49-F238E27FC236}">
                  <a16:creationId xmlns:a16="http://schemas.microsoft.com/office/drawing/2014/main" id="{8909DB59-40BE-026B-E9A4-E16FD1D7B8DB}"/>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1" name="角丸四角形 30">
              <a:extLst>
                <a:ext uri="{FF2B5EF4-FFF2-40B4-BE49-F238E27FC236}">
                  <a16:creationId xmlns:a16="http://schemas.microsoft.com/office/drawing/2014/main" id="{3C7617D7-4B15-411E-CF41-BB90AD1761A3}"/>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2" name="グループ化 31">
            <a:extLst>
              <a:ext uri="{FF2B5EF4-FFF2-40B4-BE49-F238E27FC236}">
                <a16:creationId xmlns:a16="http://schemas.microsoft.com/office/drawing/2014/main" id="{6F77023E-ED74-B1F4-AF99-AB8362AB3BE3}"/>
              </a:ext>
            </a:extLst>
          </p:cNvPr>
          <p:cNvGrpSpPr/>
          <p:nvPr/>
        </p:nvGrpSpPr>
        <p:grpSpPr>
          <a:xfrm>
            <a:off x="838200" y="5289585"/>
            <a:ext cx="4680000" cy="720000"/>
            <a:chOff x="838200" y="1690688"/>
            <a:chExt cx="4680000" cy="720000"/>
          </a:xfrm>
        </p:grpSpPr>
        <p:sp>
          <p:nvSpPr>
            <p:cNvPr id="33" name="正方形/長方形 32">
              <a:extLst>
                <a:ext uri="{FF2B5EF4-FFF2-40B4-BE49-F238E27FC236}">
                  <a16:creationId xmlns:a16="http://schemas.microsoft.com/office/drawing/2014/main" id="{D5B2BD06-9A88-9274-F915-4E3263B8A00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4" name="角丸四角形 33">
              <a:extLst>
                <a:ext uri="{FF2B5EF4-FFF2-40B4-BE49-F238E27FC236}">
                  <a16:creationId xmlns:a16="http://schemas.microsoft.com/office/drawing/2014/main" id="{84F36863-9ED5-84E4-F7E3-EBA10A6DFAC8}"/>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2026-05-22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06</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5" name="正方形/長方形 34">
              <a:extLst>
                <a:ext uri="{FF2B5EF4-FFF2-40B4-BE49-F238E27FC236}">
                  <a16:creationId xmlns:a16="http://schemas.microsoft.com/office/drawing/2014/main" id="{A24A427F-43E4-7260-B853-A70C2AB5E143}"/>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6" name="角丸四角形 35">
              <a:extLst>
                <a:ext uri="{FF2B5EF4-FFF2-40B4-BE49-F238E27FC236}">
                  <a16:creationId xmlns:a16="http://schemas.microsoft.com/office/drawing/2014/main" id="{ADE2DE3E-3563-11D7-D60B-0529276BC09D}"/>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7" name="グループ化 36">
            <a:extLst>
              <a:ext uri="{FF2B5EF4-FFF2-40B4-BE49-F238E27FC236}">
                <a16:creationId xmlns:a16="http://schemas.microsoft.com/office/drawing/2014/main" id="{40CF5C4B-A534-5952-2D38-CF6FEC09949F}"/>
              </a:ext>
            </a:extLst>
          </p:cNvPr>
          <p:cNvGrpSpPr/>
          <p:nvPr/>
        </p:nvGrpSpPr>
        <p:grpSpPr>
          <a:xfrm>
            <a:off x="838200" y="6079032"/>
            <a:ext cx="4680000" cy="720000"/>
            <a:chOff x="838200" y="1690688"/>
            <a:chExt cx="4680000" cy="720000"/>
          </a:xfrm>
        </p:grpSpPr>
        <p:sp>
          <p:nvSpPr>
            <p:cNvPr id="38" name="正方形/長方形 37">
              <a:extLst>
                <a:ext uri="{FF2B5EF4-FFF2-40B4-BE49-F238E27FC236}">
                  <a16:creationId xmlns:a16="http://schemas.microsoft.com/office/drawing/2014/main" id="{7AF9E653-FCBF-3DF2-E4CB-76FACF90621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9" name="角丸四角形 38">
              <a:extLst>
                <a:ext uri="{FF2B5EF4-FFF2-40B4-BE49-F238E27FC236}">
                  <a16:creationId xmlns:a16="http://schemas.microsoft.com/office/drawing/2014/main" id="{A987531E-C6A7-CE13-0ED6-5F8A608A5C2D}"/>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07</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0" name="正方形/長方形 39">
              <a:extLst>
                <a:ext uri="{FF2B5EF4-FFF2-40B4-BE49-F238E27FC236}">
                  <a16:creationId xmlns:a16="http://schemas.microsoft.com/office/drawing/2014/main" id="{976F5C44-199F-36B3-D215-8C5B386BFE5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1" name="角丸四角形 40">
              <a:extLst>
                <a:ext uri="{FF2B5EF4-FFF2-40B4-BE49-F238E27FC236}">
                  <a16:creationId xmlns:a16="http://schemas.microsoft.com/office/drawing/2014/main" id="{73949CB2-57A3-ECE4-0325-A54D17AF469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3/</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42" name="グループ化 41">
            <a:extLst>
              <a:ext uri="{FF2B5EF4-FFF2-40B4-BE49-F238E27FC236}">
                <a16:creationId xmlns:a16="http://schemas.microsoft.com/office/drawing/2014/main" id="{9126DA4E-648A-D4DE-EFD2-5D774F8701B4}"/>
              </a:ext>
            </a:extLst>
          </p:cNvPr>
          <p:cNvGrpSpPr/>
          <p:nvPr/>
        </p:nvGrpSpPr>
        <p:grpSpPr>
          <a:xfrm>
            <a:off x="6673800" y="1342345"/>
            <a:ext cx="4680000" cy="720000"/>
            <a:chOff x="838200" y="1690688"/>
            <a:chExt cx="4680000" cy="720000"/>
          </a:xfrm>
        </p:grpSpPr>
        <p:sp>
          <p:nvSpPr>
            <p:cNvPr id="43" name="正方形/長方形 42">
              <a:extLst>
                <a:ext uri="{FF2B5EF4-FFF2-40B4-BE49-F238E27FC236}">
                  <a16:creationId xmlns:a16="http://schemas.microsoft.com/office/drawing/2014/main" id="{E3D774B4-E988-0FD6-D37F-A13708B35B2E}"/>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4" name="角丸四角形 43">
              <a:extLst>
                <a:ext uri="{FF2B5EF4-FFF2-40B4-BE49-F238E27FC236}">
                  <a16:creationId xmlns:a16="http://schemas.microsoft.com/office/drawing/2014/main" id="{24AF6C44-D7EE-8CA7-B960-41D0828D64D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2026-06-05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08</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5" name="正方形/長方形 44">
              <a:extLst>
                <a:ext uri="{FF2B5EF4-FFF2-40B4-BE49-F238E27FC236}">
                  <a16:creationId xmlns:a16="http://schemas.microsoft.com/office/drawing/2014/main" id="{2242DD96-9878-C9A1-F3CC-D1219FD8A32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6" name="角丸四角形 45">
              <a:extLst>
                <a:ext uri="{FF2B5EF4-FFF2-40B4-BE49-F238E27FC236}">
                  <a16:creationId xmlns:a16="http://schemas.microsoft.com/office/drawing/2014/main" id="{F3C30966-C6B9-EED6-A0E8-27F2372B1ECF}"/>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2" name="グループ化 61">
            <a:extLst>
              <a:ext uri="{FF2B5EF4-FFF2-40B4-BE49-F238E27FC236}">
                <a16:creationId xmlns:a16="http://schemas.microsoft.com/office/drawing/2014/main" id="{AF392EC8-D8C6-D9AA-DD8B-99AE82ED3489}"/>
              </a:ext>
            </a:extLst>
          </p:cNvPr>
          <p:cNvGrpSpPr/>
          <p:nvPr/>
        </p:nvGrpSpPr>
        <p:grpSpPr>
          <a:xfrm>
            <a:off x="6673800" y="2131793"/>
            <a:ext cx="4680000" cy="720000"/>
            <a:chOff x="838200" y="1690688"/>
            <a:chExt cx="4680000" cy="720000"/>
          </a:xfrm>
        </p:grpSpPr>
        <p:sp>
          <p:nvSpPr>
            <p:cNvPr id="63" name="正方形/長方形 62">
              <a:extLst>
                <a:ext uri="{FF2B5EF4-FFF2-40B4-BE49-F238E27FC236}">
                  <a16:creationId xmlns:a16="http://schemas.microsoft.com/office/drawing/2014/main" id="{F7C8CBD5-EE7E-C964-5FA0-ACED76187689}"/>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4" name="角丸四角形 63">
              <a:extLst>
                <a:ext uri="{FF2B5EF4-FFF2-40B4-BE49-F238E27FC236}">
                  <a16:creationId xmlns:a16="http://schemas.microsoft.com/office/drawing/2014/main" id="{E425FCC8-F52F-ED33-15B7-9473223041E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2026-06-12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09</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65" name="正方形/長方形 64">
              <a:extLst>
                <a:ext uri="{FF2B5EF4-FFF2-40B4-BE49-F238E27FC236}">
                  <a16:creationId xmlns:a16="http://schemas.microsoft.com/office/drawing/2014/main" id="{1E8E56C2-D79E-05EC-E530-F9D4B2BBF20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6" name="角丸四角形 65">
              <a:extLst>
                <a:ext uri="{FF2B5EF4-FFF2-40B4-BE49-F238E27FC236}">
                  <a16:creationId xmlns:a16="http://schemas.microsoft.com/office/drawing/2014/main" id="{F8774877-C8EE-6892-ECD3-FC137BAFCA8B}"/>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3/3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7" name="グループ化 66">
            <a:extLst>
              <a:ext uri="{FF2B5EF4-FFF2-40B4-BE49-F238E27FC236}">
                <a16:creationId xmlns:a16="http://schemas.microsoft.com/office/drawing/2014/main" id="{1E77C655-0A4A-7267-CA92-AA3D4899B0B1}"/>
              </a:ext>
            </a:extLst>
          </p:cNvPr>
          <p:cNvGrpSpPr/>
          <p:nvPr/>
        </p:nvGrpSpPr>
        <p:grpSpPr>
          <a:xfrm>
            <a:off x="6673800" y="2921241"/>
            <a:ext cx="4680000" cy="720000"/>
            <a:chOff x="838200" y="1690688"/>
            <a:chExt cx="4680000" cy="720000"/>
          </a:xfrm>
        </p:grpSpPr>
        <p:sp>
          <p:nvSpPr>
            <p:cNvPr id="68" name="正方形/長方形 67">
              <a:extLst>
                <a:ext uri="{FF2B5EF4-FFF2-40B4-BE49-F238E27FC236}">
                  <a16:creationId xmlns:a16="http://schemas.microsoft.com/office/drawing/2014/main" id="{87653C88-5602-FDC5-1035-DC71DBE718D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9" name="角丸四角形 68">
              <a:extLst>
                <a:ext uri="{FF2B5EF4-FFF2-40B4-BE49-F238E27FC236}">
                  <a16:creationId xmlns:a16="http://schemas.microsoft.com/office/drawing/2014/main" id="{E821B2E5-E4A1-A113-80E4-AE2EA3DB96D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10</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0" name="正方形/長方形 69">
              <a:extLst>
                <a:ext uri="{FF2B5EF4-FFF2-40B4-BE49-F238E27FC236}">
                  <a16:creationId xmlns:a16="http://schemas.microsoft.com/office/drawing/2014/main" id="{FE28A57C-8C0F-99E5-70E0-AC97BAACFDC8}"/>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1" name="角丸四角形 70">
              <a:extLst>
                <a:ext uri="{FF2B5EF4-FFF2-40B4-BE49-F238E27FC236}">
                  <a16:creationId xmlns:a16="http://schemas.microsoft.com/office/drawing/2014/main" id="{57910C20-ECA6-C73B-94C4-3DA57FAF7C59}"/>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72" name="グループ化 71">
            <a:extLst>
              <a:ext uri="{FF2B5EF4-FFF2-40B4-BE49-F238E27FC236}">
                <a16:creationId xmlns:a16="http://schemas.microsoft.com/office/drawing/2014/main" id="{3421934B-AD27-4ABD-B9F0-5C28B53CADC7}"/>
              </a:ext>
            </a:extLst>
          </p:cNvPr>
          <p:cNvGrpSpPr/>
          <p:nvPr/>
        </p:nvGrpSpPr>
        <p:grpSpPr>
          <a:xfrm>
            <a:off x="6673800" y="3710689"/>
            <a:ext cx="4680000" cy="720000"/>
            <a:chOff x="838200" y="1690688"/>
            <a:chExt cx="4680000" cy="720000"/>
          </a:xfrm>
        </p:grpSpPr>
        <p:sp>
          <p:nvSpPr>
            <p:cNvPr id="73" name="正方形/長方形 72">
              <a:extLst>
                <a:ext uri="{FF2B5EF4-FFF2-40B4-BE49-F238E27FC236}">
                  <a16:creationId xmlns:a16="http://schemas.microsoft.com/office/drawing/2014/main" id="{787B068A-0601-D98B-29FC-1FB09F06F8AF}"/>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4" name="角丸四角形 73">
              <a:extLst>
                <a:ext uri="{FF2B5EF4-FFF2-40B4-BE49-F238E27FC236}">
                  <a16:creationId xmlns:a16="http://schemas.microsoft.com/office/drawing/2014/main" id="{B95341DE-D3B1-CD9B-3011-7834C992A334}"/>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2026-06-26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5" name="正方形/長方形 74">
              <a:extLst>
                <a:ext uri="{FF2B5EF4-FFF2-40B4-BE49-F238E27FC236}">
                  <a16:creationId xmlns:a16="http://schemas.microsoft.com/office/drawing/2014/main" id="{C750BE05-13C4-D2FD-760B-E52CDC04E3CA}"/>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6" name="角丸四角形 75">
              <a:extLst>
                <a:ext uri="{FF2B5EF4-FFF2-40B4-BE49-F238E27FC236}">
                  <a16:creationId xmlns:a16="http://schemas.microsoft.com/office/drawing/2014/main" id="{7A34D56C-950D-0137-D7A5-A4CB4B073E85}"/>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77" name="グループ化 76">
            <a:extLst>
              <a:ext uri="{FF2B5EF4-FFF2-40B4-BE49-F238E27FC236}">
                <a16:creationId xmlns:a16="http://schemas.microsoft.com/office/drawing/2014/main" id="{80D637A0-1DEE-F82D-76D5-9AC9BDA12AEC}"/>
              </a:ext>
            </a:extLst>
          </p:cNvPr>
          <p:cNvGrpSpPr/>
          <p:nvPr/>
        </p:nvGrpSpPr>
        <p:grpSpPr>
          <a:xfrm>
            <a:off x="6673800" y="4500137"/>
            <a:ext cx="4680000" cy="720000"/>
            <a:chOff x="838200" y="1690688"/>
            <a:chExt cx="4680000" cy="720000"/>
          </a:xfrm>
        </p:grpSpPr>
        <p:sp>
          <p:nvSpPr>
            <p:cNvPr id="78" name="正方形/長方形 77">
              <a:extLst>
                <a:ext uri="{FF2B5EF4-FFF2-40B4-BE49-F238E27FC236}">
                  <a16:creationId xmlns:a16="http://schemas.microsoft.com/office/drawing/2014/main" id="{1F5353FC-44C7-798F-4683-73E6A5284D6C}"/>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9" name="角丸四角形 78">
              <a:extLst>
                <a:ext uri="{FF2B5EF4-FFF2-40B4-BE49-F238E27FC236}">
                  <a16:creationId xmlns:a16="http://schemas.microsoft.com/office/drawing/2014/main" id="{1A266620-D695-0D01-C8AD-34A9897517B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2026-07-03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0" name="正方形/長方形 79">
              <a:extLst>
                <a:ext uri="{FF2B5EF4-FFF2-40B4-BE49-F238E27FC236}">
                  <a16:creationId xmlns:a16="http://schemas.microsoft.com/office/drawing/2014/main" id="{BEC830E1-49EB-9364-F2D7-7A906528B3E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1" name="角丸四角形 80">
              <a:extLst>
                <a:ext uri="{FF2B5EF4-FFF2-40B4-BE49-F238E27FC236}">
                  <a16:creationId xmlns:a16="http://schemas.microsoft.com/office/drawing/2014/main" id="{A67463CC-C82C-80B7-A359-8DEB2821C88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Docker</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2" name="グループ化 81">
            <a:extLst>
              <a:ext uri="{FF2B5EF4-FFF2-40B4-BE49-F238E27FC236}">
                <a16:creationId xmlns:a16="http://schemas.microsoft.com/office/drawing/2014/main" id="{C88788D0-A94D-11C8-23F0-2435A3F438D1}"/>
              </a:ext>
            </a:extLst>
          </p:cNvPr>
          <p:cNvGrpSpPr/>
          <p:nvPr/>
        </p:nvGrpSpPr>
        <p:grpSpPr>
          <a:xfrm>
            <a:off x="6673800" y="5289585"/>
            <a:ext cx="4680000" cy="720000"/>
            <a:chOff x="838200" y="1690688"/>
            <a:chExt cx="4680000" cy="720000"/>
          </a:xfrm>
        </p:grpSpPr>
        <p:sp>
          <p:nvSpPr>
            <p:cNvPr id="83" name="正方形/長方形 82">
              <a:extLst>
                <a:ext uri="{FF2B5EF4-FFF2-40B4-BE49-F238E27FC236}">
                  <a16:creationId xmlns:a16="http://schemas.microsoft.com/office/drawing/2014/main" id="{762C80E4-308A-AB96-8B45-2D0093AA7D02}"/>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4" name="角丸四角形 83">
              <a:extLst>
                <a:ext uri="{FF2B5EF4-FFF2-40B4-BE49-F238E27FC236}">
                  <a16:creationId xmlns:a16="http://schemas.microsoft.com/office/drawing/2014/main" id="{F0D8FE32-FDF1-58CE-82CF-0B0298DAB98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2026-07-10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5" name="正方形/長方形 84">
              <a:extLst>
                <a:ext uri="{FF2B5EF4-FFF2-40B4-BE49-F238E27FC236}">
                  <a16:creationId xmlns:a16="http://schemas.microsoft.com/office/drawing/2014/main" id="{1CD144F2-D981-D390-D6A7-9615A319AAE2}"/>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6" name="角丸四角形 85">
              <a:extLst>
                <a:ext uri="{FF2B5EF4-FFF2-40B4-BE49-F238E27FC236}">
                  <a16:creationId xmlns:a16="http://schemas.microsoft.com/office/drawing/2014/main" id="{0B91B438-9A9A-E083-B6B6-A7F4EF4C470F}"/>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補完（</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en-US" altLang="ja-JP" sz="1600" dirty="0">
                  <a:solidFill>
                    <a:schemeClr val="bg1"/>
                  </a:solidFill>
                  <a:latin typeface="Meiryo" panose="020B0604030504040204" pitchFamily="34" charset="-128"/>
                  <a:ea typeface="Meiryo" panose="020B0604030504040204" pitchFamily="34" charset="-128"/>
                </a:rPr>
                <a:t>Homebrew</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7" name="グループ化 86">
            <a:extLst>
              <a:ext uri="{FF2B5EF4-FFF2-40B4-BE49-F238E27FC236}">
                <a16:creationId xmlns:a16="http://schemas.microsoft.com/office/drawing/2014/main" id="{0BF0E1CE-E5EF-9B57-1E35-17DAC1E4440E}"/>
              </a:ext>
            </a:extLst>
          </p:cNvPr>
          <p:cNvGrpSpPr/>
          <p:nvPr/>
        </p:nvGrpSpPr>
        <p:grpSpPr>
          <a:xfrm>
            <a:off x="6673800" y="6079032"/>
            <a:ext cx="4680000" cy="720000"/>
            <a:chOff x="838200" y="1690688"/>
            <a:chExt cx="4680000" cy="720000"/>
          </a:xfrm>
        </p:grpSpPr>
        <p:sp>
          <p:nvSpPr>
            <p:cNvPr id="88" name="正方形/長方形 87">
              <a:extLst>
                <a:ext uri="{FF2B5EF4-FFF2-40B4-BE49-F238E27FC236}">
                  <a16:creationId xmlns:a16="http://schemas.microsoft.com/office/drawing/2014/main" id="{996AAF38-901C-24C8-E531-E00F3ACAF82B}"/>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9" name="角丸四角形 88">
              <a:extLst>
                <a:ext uri="{FF2B5EF4-FFF2-40B4-BE49-F238E27FC236}">
                  <a16:creationId xmlns:a16="http://schemas.microsoft.com/office/drawing/2014/main" id="{A1F7672D-1F8C-3B42-48AD-36680FD30C62}"/>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2026-07-17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0" name="正方形/長方形 89">
              <a:extLst>
                <a:ext uri="{FF2B5EF4-FFF2-40B4-BE49-F238E27FC236}">
                  <a16:creationId xmlns:a16="http://schemas.microsoft.com/office/drawing/2014/main" id="{EA10AD3F-CAF4-A489-E1E3-C34D9083105C}"/>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91" name="角丸四角形 90">
              <a:extLst>
                <a:ext uri="{FF2B5EF4-FFF2-40B4-BE49-F238E27FC236}">
                  <a16:creationId xmlns:a16="http://schemas.microsoft.com/office/drawing/2014/main" id="{8BFAC79A-0571-8740-F13D-ABEC66B5566D}"/>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成果物</a:t>
              </a:r>
              <a:r>
                <a:rPr lang="ja-JP" altLang="en-US" sz="1600">
                  <a:solidFill>
                    <a:schemeClr val="bg1"/>
                  </a:solidFill>
                  <a:latin typeface="Meiryo" panose="020B0604030504040204" pitchFamily="34" charset="-128"/>
                  <a:ea typeface="Meiryo" panose="020B0604030504040204" pitchFamily="34" charset="-128"/>
                </a:rPr>
                <a:t>の発表会</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2" name="グループ化 11">
            <a:extLst>
              <a:ext uri="{FF2B5EF4-FFF2-40B4-BE49-F238E27FC236}">
                <a16:creationId xmlns:a16="http://schemas.microsoft.com/office/drawing/2014/main" id="{6C52A826-75FA-1112-38FB-CD1E8318C9BE}"/>
              </a:ext>
            </a:extLst>
          </p:cNvPr>
          <p:cNvGrpSpPr/>
          <p:nvPr/>
        </p:nvGrpSpPr>
        <p:grpSpPr>
          <a:xfrm>
            <a:off x="838200" y="2131793"/>
            <a:ext cx="4680000" cy="720000"/>
            <a:chOff x="838200" y="1690688"/>
            <a:chExt cx="4680000" cy="720000"/>
          </a:xfrm>
        </p:grpSpPr>
        <p:sp>
          <p:nvSpPr>
            <p:cNvPr id="13" name="正方形/長方形 12">
              <a:extLst>
                <a:ext uri="{FF2B5EF4-FFF2-40B4-BE49-F238E27FC236}">
                  <a16:creationId xmlns:a16="http://schemas.microsoft.com/office/drawing/2014/main" id="{7AA12ED1-56CF-86EC-23DF-349E7BC9F2C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17901151-3554-A942-4DF3-3AE86F30384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2026-04-17 (Fru)</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15" name="正方形/長方形 14">
              <a:extLst>
                <a:ext uri="{FF2B5EF4-FFF2-40B4-BE49-F238E27FC236}">
                  <a16:creationId xmlns:a16="http://schemas.microsoft.com/office/drawing/2014/main" id="{4447F92D-66AB-AC70-53F7-C4AE47E6AF8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6" name="角丸四角形 15">
              <a:extLst>
                <a:ext uri="{FF2B5EF4-FFF2-40B4-BE49-F238E27FC236}">
                  <a16:creationId xmlns:a16="http://schemas.microsoft.com/office/drawing/2014/main" id="{C0420FDB-0019-1F4E-E482-2817192EFE7B}"/>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bg1"/>
                  </a:solidFill>
                  <a:latin typeface="Meiryo" panose="020B0604030504040204" pitchFamily="34" charset="-128"/>
                  <a:ea typeface="Meiryo" panose="020B0604030504040204" pitchFamily="34" charset="-128"/>
                </a:rPr>
                <a:t>Usage/README</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7" name="グループ化 16">
            <a:extLst>
              <a:ext uri="{FF2B5EF4-FFF2-40B4-BE49-F238E27FC236}">
                <a16:creationId xmlns:a16="http://schemas.microsoft.com/office/drawing/2014/main" id="{F8FCD129-4CB7-7C7A-E3AD-242F5351AEBD}"/>
              </a:ext>
            </a:extLst>
          </p:cNvPr>
          <p:cNvGrpSpPr/>
          <p:nvPr/>
        </p:nvGrpSpPr>
        <p:grpSpPr>
          <a:xfrm>
            <a:off x="838200" y="2921241"/>
            <a:ext cx="4680000" cy="720000"/>
            <a:chOff x="838200" y="1690688"/>
            <a:chExt cx="4680000" cy="720000"/>
          </a:xfrm>
        </p:grpSpPr>
        <p:sp>
          <p:nvSpPr>
            <p:cNvPr id="18" name="正方形/長方形 17">
              <a:extLst>
                <a:ext uri="{FF2B5EF4-FFF2-40B4-BE49-F238E27FC236}">
                  <a16:creationId xmlns:a16="http://schemas.microsoft.com/office/drawing/2014/main" id="{1F828DC4-21FE-A62D-0B33-C32ABEC70D46}"/>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9" name="角丸四角形 18">
              <a:extLst>
                <a:ext uri="{FF2B5EF4-FFF2-40B4-BE49-F238E27FC236}">
                  <a16:creationId xmlns:a16="http://schemas.microsoft.com/office/drawing/2014/main" id="{980BBE1C-CCA8-A8D5-CDF1-1C1C22910B6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2026-04-24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9F400DC5-9731-9B37-D93F-6B294CD873D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1" name="角丸四角形 20">
              <a:extLst>
                <a:ext uri="{FF2B5EF4-FFF2-40B4-BE49-F238E27FC236}">
                  <a16:creationId xmlns:a16="http://schemas.microsoft.com/office/drawing/2014/main" id="{1A16070D-FDE4-CAE9-EC9E-D9CC1D44C6E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sp>
        <p:nvSpPr>
          <p:cNvPr id="3" name="正方形/長方形 2">
            <a:extLst>
              <a:ext uri="{FF2B5EF4-FFF2-40B4-BE49-F238E27FC236}">
                <a16:creationId xmlns:a16="http://schemas.microsoft.com/office/drawing/2014/main" id="{1BA9429B-86B0-459E-6766-625D83A5BFD3}"/>
              </a:ext>
            </a:extLst>
          </p:cNvPr>
          <p:cNvSpPr/>
          <p:nvPr/>
        </p:nvSpPr>
        <p:spPr>
          <a:xfrm>
            <a:off x="712199" y="1300478"/>
            <a:ext cx="10777435" cy="555752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A235F284-E254-2F2C-3B9D-CE24AD7686C7}"/>
              </a:ext>
            </a:extLst>
          </p:cNvPr>
          <p:cNvGrpSpPr/>
          <p:nvPr/>
        </p:nvGrpSpPr>
        <p:grpSpPr>
          <a:xfrm>
            <a:off x="838200" y="3710689"/>
            <a:ext cx="4680000" cy="720000"/>
            <a:chOff x="838200" y="1690688"/>
            <a:chExt cx="4680000" cy="720000"/>
          </a:xfrm>
        </p:grpSpPr>
        <p:sp>
          <p:nvSpPr>
            <p:cNvPr id="23" name="正方形/長方形 22">
              <a:extLst>
                <a:ext uri="{FF2B5EF4-FFF2-40B4-BE49-F238E27FC236}">
                  <a16:creationId xmlns:a16="http://schemas.microsoft.com/office/drawing/2014/main" id="{DE24BC74-0257-E612-89BE-B380E4E41610}"/>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4" name="角丸四角形 23">
              <a:extLst>
                <a:ext uri="{FF2B5EF4-FFF2-40B4-BE49-F238E27FC236}">
                  <a16:creationId xmlns:a16="http://schemas.microsoft.com/office/drawing/2014/main" id="{ECC1288E-06F7-8B3F-DB11-C33E360C21DB}"/>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2026-05-01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5" name="正方形/長方形 24">
              <a:extLst>
                <a:ext uri="{FF2B5EF4-FFF2-40B4-BE49-F238E27FC236}">
                  <a16:creationId xmlns:a16="http://schemas.microsoft.com/office/drawing/2014/main" id="{3CA68C72-7AC7-92AF-3718-1859926A3321}"/>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6" name="角丸四角形 25">
              <a:extLst>
                <a:ext uri="{FF2B5EF4-FFF2-40B4-BE49-F238E27FC236}">
                  <a16:creationId xmlns:a16="http://schemas.microsoft.com/office/drawing/2014/main" id="{4E73C226-8521-D8F1-9778-FD4A27BF395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p>
          </p:txBody>
        </p:sp>
      </p:grpSp>
    </p:spTree>
    <p:extLst>
      <p:ext uri="{BB962C8B-B14F-4D97-AF65-F5344CB8AC3E}">
        <p14:creationId xmlns:p14="http://schemas.microsoft.com/office/powerpoint/2010/main" val="2785877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9B92DAC1-B206-6E4D-9DDA-F3C380F9C271}" vid="{0ECE7065-281A-B545-8D42-4EC5E612C96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10755</TotalTime>
  <Words>1592</Words>
  <Application>Microsoft Macintosh PowerPoint</Application>
  <PresentationFormat>ワイド画面</PresentationFormat>
  <Paragraphs>321</Paragraphs>
  <Slides>20</Slides>
  <Notes>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20</vt:i4>
      </vt:variant>
    </vt:vector>
  </HeadingPairs>
  <TitlesOfParts>
    <vt:vector size="25" baseType="lpstr">
      <vt:lpstr>Meiryo</vt:lpstr>
      <vt:lpstr>游ゴシック</vt:lpstr>
      <vt:lpstr>Arial</vt:lpstr>
      <vt:lpstr>Consolas</vt:lpstr>
      <vt:lpstr>Office テーマ</vt:lpstr>
      <vt:lpstr>エンピリカル ソフトウェア工学 第03回 CI/CD (1/2)</vt:lpstr>
      <vt:lpstr>講義スケジュール</vt:lpstr>
      <vt:lpstr>本日やること</vt:lpstr>
      <vt:lpstr>プロジェクトの開始</vt:lpstr>
      <vt:lpstr>CI/CDとは</vt:lpstr>
      <vt:lpstr>CI (Continuous Integration) 継続的インテグレーション（継続的な統合）</vt:lpstr>
      <vt:lpstr>CD (Continuous Delivery) 継続的デリバリ（継続的な提供）</vt:lpstr>
      <vt:lpstr>DevOps</vt:lpstr>
      <vt:lpstr>CI/CDツール</vt:lpstr>
      <vt:lpstr>本日やること</vt:lpstr>
      <vt:lpstr>CI/CDで行うべきこと</vt:lpstr>
      <vt:lpstr>https://coveralls.io/ Coveralls</vt:lpstr>
      <vt:lpstr>Coveralls https://coveralls.io/github/tamada/totebag</vt:lpstr>
      <vt:lpstr>本日やること</vt:lpstr>
      <vt:lpstr>ビルドツール/タスクランナー</vt:lpstr>
      <vt:lpstr>本日やること</vt:lpstr>
      <vt:lpstr>GitHub Actions .github/workflows/build.yaml</vt:lpstr>
      <vt:lpstr>GitHub Actions .github/workflows/build.yaml</vt:lpstr>
      <vt:lpstr>次回までに行うこと</vt:lpstr>
      <vt:lpstr>講義スケジュール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TAMADA HARUAKI</dc:creator>
  <cp:lastModifiedBy>TAMADA HARUAKI</cp:lastModifiedBy>
  <cp:revision>405</cp:revision>
  <cp:lastPrinted>2025-04-25T02:14:13Z</cp:lastPrinted>
  <dcterms:created xsi:type="dcterms:W3CDTF">2022-04-24T10:54:34Z</dcterms:created>
  <dcterms:modified xsi:type="dcterms:W3CDTF">2026-04-11T06:55:02Z</dcterms:modified>
</cp:coreProperties>
</file>