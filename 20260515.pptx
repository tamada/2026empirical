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543" r:id="rId3"/>
    <p:sldId id="534" r:id="rId4"/>
    <p:sldId id="263" r:id="rId5"/>
    <p:sldId id="499" r:id="rId6"/>
    <p:sldId id="334" r:id="rId7"/>
    <p:sldId id="495" r:id="rId8"/>
    <p:sldId id="505" r:id="rId9"/>
    <p:sldId id="496" r:id="rId10"/>
    <p:sldId id="508" r:id="rId11"/>
    <p:sldId id="506" r:id="rId12"/>
    <p:sldId id="268" r:id="rId13"/>
    <p:sldId id="296" r:id="rId14"/>
    <p:sldId id="321" r:id="rId15"/>
    <p:sldId id="507" r:id="rId16"/>
    <p:sldId id="509" r:id="rId17"/>
    <p:sldId id="521" r:id="rId18"/>
    <p:sldId id="524" r:id="rId19"/>
    <p:sldId id="494" r:id="rId20"/>
    <p:sldId id="340" r:id="rId21"/>
    <p:sldId id="544" r:id="rId22"/>
    <p:sldId id="548" r:id="rId23"/>
    <p:sldId id="545" r:id="rId24"/>
    <p:sldId id="546" r:id="rId25"/>
    <p:sldId id="547" r:id="rId26"/>
    <p:sldId id="549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B8659"/>
    <a:srgbClr val="027D01"/>
    <a:srgbClr val="FFC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67"/>
    <p:restoredTop sz="81164"/>
  </p:normalViewPr>
  <p:slideViewPr>
    <p:cSldViewPr snapToGrid="0" snapToObjects="1">
      <p:cViewPr varScale="1">
        <p:scale>
          <a:sx n="98" d="100"/>
          <a:sy n="98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E0D3F-88AC-AC4C-A850-A113E8478B3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FEFE4-0067-BE4A-AB74-27D08C169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8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03FE-3D04-2660-E2D3-0177F4F7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4271AA-BA4A-8375-62ED-948D378D0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A5F140-5792-BDFB-04E7-ECD42C22C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C15930-96FF-677A-2C2D-7F3E19898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2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83363" cy="370363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B13A-A073-481F-81B1-4144CF140A6D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77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83363" cy="370363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初学者側から見ると，そんな細かいことなんて面倒だと思うかもしれない．</a:t>
            </a:r>
            <a:endParaRPr kumimoji="1" lang="en-US" altLang="ja-JP" dirty="0"/>
          </a:p>
          <a:p>
            <a:r>
              <a:rPr kumimoji="1" lang="ja-JP" altLang="en-US"/>
              <a:t>熟練者側から見ると，そんな単純で簡単なこともできないのか，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B13A-A073-481F-81B1-4144CF140A6D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651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/>
              <a:t>近年は言語の習慣に従うことが多い（玉田の主観）．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複数単語から構成されることが多くなる．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単語の区切りをスペースにしない命名方法が採用される．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92C2-1B42-4A4D-9632-BF57FE7AD56A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89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83363" cy="370363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B13A-A073-481F-81B1-4144CF140A6D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186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A92C2-1B42-4A4D-9632-BF57FE7AD56A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210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83363" cy="370363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B13A-A073-481F-81B1-4144CF140A6D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9258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88DB-0B39-9824-0B53-07AECC7C6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83E9E42-86A0-D9C7-809C-8A4740F30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D1C919D-34B6-BDDA-0823-2C1A4EBF2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497F56-A359-F206-04A1-9A28661E7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26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AE3F1-6860-34FB-F2AC-E3181A6A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CD0B15-C8B7-00F7-DBE9-D3AD533D2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C3DEB-6E35-D2D0-EABA-F8A19BBD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835D15-762E-39B0-0A6F-14EFF50B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DFDF9-92D5-0273-6AA5-EE561AF6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3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965E4-8E20-9D46-6D12-F877A919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3E8D2-3A17-78BF-F4C2-CDF62ACF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D23703-4802-F8D8-D9BF-C6ABE5C8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C5D23-A2A0-1968-4ACC-1B1357A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2682BA-033D-1B7D-4861-DDD343E9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0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9F4E9-7F37-2DF8-78B9-30C3125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5BF7F8-9D3C-A422-471A-C8A1E82F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20F65-AA40-72A0-770D-E19A2FA9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81911-2B29-A9AD-E565-FF8CD624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1582B-A53B-0238-DBDB-FB5DBFD8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232BC-8A6A-9D3A-A1D9-3080F812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2D8DC-6AD4-FA7E-3F14-DB7C79ACD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DE28B2-EF25-CC14-3531-75FEF0B6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3A7B7E-A26D-8BA6-BB1E-8237CE6F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B7E107-84C7-8B82-2567-9E3F901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7C7FA1-4591-F30A-BC2B-286C70E6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95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54A32-DEA7-69BE-B62E-A6224383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EF868-DDA1-C4EB-6743-489DC5F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39B8F-A2A1-CF4F-742C-F6839C57B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13E432-90C9-F616-1A3C-AE747080A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AA48B9-2830-0B1B-940E-B2239ADE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B4728E-F8C1-F17A-C937-B880D97E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3C6BA5-320F-AD96-EF9C-4688CD1C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1151E6-2A46-0BFB-C19C-182A2D46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6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FCE36-69F6-8D82-66E2-2BE7E565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3D72AD-5495-9467-9401-F6186DDB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62EC51-A3D5-EC3F-7813-ADEA4FCA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AA073C-2BE4-2466-8413-FEE9DE4D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36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254B13-A92B-C641-0C83-88C8E8C0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961BE-BDDF-24BF-A624-7B4A792F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2A63C-7150-3E3B-E0A7-4FAFA23A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DCBFD-B9B9-C88D-4AF2-DA5E9D1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645C-911D-D877-789A-4ABCA160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35085C-0945-616B-1D39-35150C87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E25B3-F458-1F25-BA2A-10D3E7E2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9217E-3F73-CCE8-77EF-A52308AC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0295A2-6412-27A3-80DB-4DC7AF9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9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A11E3-5007-3320-F7E6-691E1139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AA4DA3-E363-0E1A-C5EE-67CFA080E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D13344-E496-4753-C58C-D01D8C7B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6EEBB-B395-8892-612D-06BBEE16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A73243-636B-AD34-97B8-096CAB4B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AB26F-070D-AA48-1A17-487ABD43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74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9E654-7E7E-36B3-ADB0-3093EC9F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9AB095-4BA5-2299-C02F-2E56585C2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B78716-480A-7430-C0FA-4F0DC016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42CF7-BBCD-5D04-D7AD-CBC09AA5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D3898-C8CD-BE96-524B-6C3F9211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886E9-6CAD-71F6-5345-FA1396703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2359E1-F40F-3D47-6DF2-882BD86E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18D548-5283-77D1-F67F-6EC5C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D1D05-E6FD-9267-0EA3-57EE28C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3F417-24E0-EE42-C260-DDADA43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17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F236BC-AAF6-B861-739B-86FA3431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0FC96-8BC7-5FBA-D355-BCF93438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1E11-9D31-C316-E911-911DC842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altLang="ja-JP"/>
              <a:t>2026-05-15</a:t>
            </a:r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52398-2A83-C162-F251-7C27A4C8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060AB-9F59-AB6D-F6F6-574D92AC7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0B8845E4-5C92-A046-BB66-E5D9CC995B0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297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6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twada/quality-and-speed-2020-spring-edition" TargetMode="External"/><Relationship Id="rId2" Type="http://schemas.openxmlformats.org/officeDocument/2006/relationships/hyperlink" Target="https://www.publickey1.jp/blog/20/_2020.html&#65292;https:/www.publickey1.jp/blog/20/_2020_1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etterprogramming.pub/how-code-comments-are-obsoleting-333d5ca256d0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784E-BEC4-EB82-3848-F83C83012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2" y="1122363"/>
            <a:ext cx="12178937" cy="2387600"/>
          </a:xfrm>
        </p:spPr>
        <p:txBody>
          <a:bodyPr/>
          <a:lstStyle/>
          <a:p>
            <a:r>
              <a:rPr lang="ja-JP" altLang="en-US"/>
              <a:t>エンピリカル</a:t>
            </a:r>
            <a:br>
              <a:rPr lang="en-US" altLang="ja-JP" dirty="0"/>
            </a:br>
            <a:r>
              <a:rPr lang="ja-JP" altLang="en-US"/>
              <a:t>ソフトウェア工学</a:t>
            </a:r>
            <a:br>
              <a:rPr lang="en-US" altLang="ja-JP" dirty="0"/>
            </a:br>
            <a:r>
              <a:rPr lang="ja-JP" altLang="en-US"/>
              <a:t>第</a:t>
            </a:r>
            <a:r>
              <a:rPr lang="en-US" altLang="ja-JP" dirty="0"/>
              <a:t>05</a:t>
            </a:r>
            <a:r>
              <a:rPr lang="ja-JP" altLang="en-US"/>
              <a:t>回</a:t>
            </a:r>
            <a:r>
              <a:rPr lang="en-US" altLang="ja-JP" dirty="0"/>
              <a:t> </a:t>
            </a:r>
            <a:r>
              <a:rPr lang="ja-JP" altLang="en-US"/>
              <a:t>プログラミング</a:t>
            </a:r>
            <a:r>
              <a:rPr lang="en-US" altLang="ja-JP" dirty="0"/>
              <a:t> (1/3)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687755-EB78-813E-2AE5-266F2715E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2026-05-15</a:t>
            </a:r>
          </a:p>
          <a:p>
            <a:r>
              <a:rPr lang="ja-JP" altLang="en-US"/>
              <a:t>玉田</a:t>
            </a:r>
            <a:r>
              <a:rPr lang="en-US" altLang="ja-JP" dirty="0"/>
              <a:t> </a:t>
            </a:r>
            <a:r>
              <a:rPr lang="ja-JP" altLang="en-US"/>
              <a:t>春昭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A0BDC-22A6-7CC7-0358-1C2E0915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D24184-6358-A3E9-85F2-F35BC4F1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0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1183-6512-0658-DC7D-F8E4A793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51D8F-FDF9-382E-7936-64DC19F9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59F76-C9FE-E21A-CF33-A028C268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2026-04-24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190477-ABC1-A732-486F-13A636F6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42A339A-46C2-3EC3-01AD-55697C9B38A0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09D41AD-E3E8-669D-BC06-DD15F69A7B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F520076-C3F6-E6CE-210A-0D98F1B4FFC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77194F2-AE43-8638-D2AA-EA64890ACCF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02CA2F63-F1DC-D507-E4BD-F8404588EE8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ADA5E8F-EA1C-A9F1-171C-C4147D5111EF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CD1158B1-7C9D-FF28-EB60-E4322324217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05E11F0E-665A-1CCE-201D-B7ACABDA333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781C07F9-0E22-E229-16EE-1CCCC0BCBEB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DD198E45-A400-1BBF-89BE-F6EDE6E571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DCAD5903-56CC-C164-4686-71AC1F98563D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5CBD32D-49F4-679F-0765-0B7BB13B845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7ECBBF9C-A3A7-9541-CC9D-E06CD00F15F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7E5A798-EC59-B471-6D50-8F3528F187A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535908C0-42E8-7BC7-028D-AD00E63F5F7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D2B1A6D-1148-C863-5481-34CB4BB19023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3955E4B-AAA9-ADF3-8EE0-6276796531E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311E5817-72E5-6A99-90D3-BA4E54C180D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C624E98C-2448-E467-ABEF-2BD16D99E32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B4D19F41-ACB8-0456-C664-A44C844AFF3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01153808-5448-59E9-2529-11A7C522D29F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6BB426D7-690D-6B2A-46E9-6B37DB9AEF0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B835DFD1-002E-5377-CA57-78957DF011D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C66AC1F3-F8ED-DD5A-8B5C-CD5A2286D6C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3BF222F9-09A8-72CE-449B-EB1BF1CAAD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918CDC8-892E-EAEB-77B9-05C902C2B959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7508CD17-1CC5-FED3-2BD2-99379E48D74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A73541E5-F13B-38E1-4202-6FE847E6ECC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EAE641A-DEE4-AFDD-A4C4-9706D595396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DAEA4FB4-67E3-8D51-018D-60DE20487AD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D5EF1609-65E4-B8E1-4F6B-3B7615127A9A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D8EA1489-5979-6521-A328-A60F1CCC5AC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495BC841-2AFB-8CAF-1C61-2F10768F618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867454CA-7A0C-4890-069B-DD1A6628B95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00A4FBD7-CBFB-150F-D541-E303F666A73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CB9498AE-3F20-F11E-3F63-799D23E0B5CE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04EB4FF7-E963-053F-AF5A-2348C728C2E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6CC565EF-6E65-5E44-6D71-9B41DB0CFCA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2823BFF7-D473-CD9C-E3F8-9D749FD8553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91C50EFE-0288-9881-2176-38F44844EE4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0AD65692-51D4-88BA-F7E8-1E4A78C40961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01B3E597-394B-D74D-9078-D4469506816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A215599A-28ED-DB07-B5FA-3DD206391BA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C97D0E3A-93D3-67E6-EFEB-4DFF19BEC83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5A296795-372C-7CCB-58B9-A86CC0A67B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D81BE804-E16B-87D7-504E-67AB8B62C97A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B60994E-5176-C20D-8651-CE224A51F50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8D2FB71C-B113-1D61-5842-4F626BFE3A4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5EA67EA-3CED-9AB3-9598-6081C148C86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445C71F6-28F0-7498-2B63-EB47F71C6AD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B5FB344-382A-1A2A-B1F6-EF0C09E8EF94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D24976C-9EE6-979A-EFB4-14E4F2A6264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FAF6134F-9BA9-AD22-EDEA-17F08C78C21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FE1D876-6096-1371-7C1E-DBEC35FCEB4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96FAAE3A-8F25-A7C2-72CC-6A9E4743A86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9D8C4C7-4421-16F2-D935-91A6476A130D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150746-669C-2E95-CE3D-CB8B337F7B3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92BEF3FC-EC0C-60CE-5FC0-4D153E07291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29E2A65-8350-6BC5-FA09-5C2FF480D78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FD409111-474C-9CCC-2522-3C3F1DA513B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CCC46EF-A9E8-557D-F0F2-CC3F8197BA35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DE9BF90-249D-526A-39EA-E19A2B0C6CB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D3EFFB42-D554-43A7-11D9-39C5AD4BA47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3C53E9F6-4BAF-1884-4C1D-EF496B8CFF4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41F08E94-A580-E68C-A3C9-A3CB990036D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8AB438-07B4-287E-EBB5-3CA610848DBC}"/>
              </a:ext>
            </a:extLst>
          </p:cNvPr>
          <p:cNvSpPr/>
          <p:nvPr/>
        </p:nvSpPr>
        <p:spPr>
          <a:xfrm>
            <a:off x="712199" y="130047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5A44585-9B19-2EFA-3154-8C14BBFDE224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4B23564-1458-946C-945B-DA77FB32F05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9BFA32EC-4154-A944-E1BD-F8EDF6FB604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B40C7EA-A9F0-F1FE-BFA4-890F0CE79EB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C3204CE9-635B-B6A4-F4F5-59AA3FA471B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676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0C398B-1A5A-9D5D-54EF-D070D5F8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600"/>
              <a:t>プログラミング</a:t>
            </a:r>
            <a:br>
              <a:rPr kumimoji="1" lang="en-US" altLang="ja-JP" sz="3600" dirty="0"/>
            </a:br>
            <a:r>
              <a:rPr kumimoji="1" lang="ja-JP" altLang="en-US"/>
              <a:t>気を付けておくべきこと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060887-22D4-3064-0280-ADDC5A3FA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ja-JP" altLang="en-US"/>
              <a:t>プログラムは読み易くなければならない．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kumimoji="1" lang="ja-JP" altLang="en-US"/>
              <a:t>読みやすいプログラムとは？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kumimoji="1" lang="ja-JP" altLang="en-US"/>
              <a:t>テスト容易性に気を</a:t>
            </a:r>
            <a:r>
              <a:rPr lang="ja-JP" altLang="en-US"/>
              <a:t>付ける．</a:t>
            </a:r>
            <a:endParaRPr lang="en-US" altLang="ja-JP" dirty="0"/>
          </a:p>
          <a:p>
            <a:pPr>
              <a:lnSpc>
                <a:spcPct val="100000"/>
              </a:lnSpc>
            </a:pPr>
            <a:r>
              <a:rPr lang="ja-JP" altLang="en-US"/>
              <a:t>関数の役割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348899-8E40-A70D-14A0-E7C0084F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DE7E7A-2731-4735-AFE3-3D2BB383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411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70368" cy="1325563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プログラム</a:t>
            </a:r>
            <a:r>
              <a:rPr lang="ja-JP" altLang="en-US"/>
              <a:t>は読み易く</a:t>
            </a:r>
            <a:br>
              <a:rPr lang="en-US" altLang="ja-JP" dirty="0"/>
            </a:br>
            <a:r>
              <a:rPr lang="ja-JP" altLang="en-US"/>
              <a:t>なければ</a:t>
            </a:r>
            <a:r>
              <a:rPr lang="ja-JP" altLang="en-US" dirty="0"/>
              <a:t>ならない．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F90A-C14B-4763-A506-BB86F6EA374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838200" y="1825624"/>
            <a:ext cx="9650288" cy="466725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 dirty="0"/>
              <a:t>誰にでも誤解</a:t>
            </a:r>
            <a:r>
              <a:rPr lang="ja-JP" altLang="en-US"/>
              <a:t>なく読めなければならない．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自分の書いたプログラムは常に自分だけが</a:t>
            </a:r>
            <a:br>
              <a:rPr lang="en-US" altLang="ja-JP" dirty="0"/>
            </a:br>
            <a:r>
              <a:rPr lang="ja-JP" altLang="en-US"/>
              <a:t>見るとは限らない．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自分が</a:t>
            </a:r>
            <a:r>
              <a:rPr lang="ja-JP" altLang="en-US" dirty="0"/>
              <a:t>会社を辞めた後</a:t>
            </a:r>
            <a:r>
              <a:rPr lang="ja-JP" altLang="en-US"/>
              <a:t>も，その</a:t>
            </a:r>
            <a:r>
              <a:rPr lang="ja-JP" altLang="en-US" dirty="0"/>
              <a:t>プログラムは</a:t>
            </a:r>
            <a:r>
              <a:rPr lang="ja-JP" altLang="en-US"/>
              <a:t>使われ続ける．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１週間後の自分は他人である．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プログラムを書く時間よりも読む時間の方が圧倒的に長い．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書く時間を節約するよりも，読む時間を節約する方が効率が良い．</a:t>
            </a:r>
            <a:endParaRPr lang="en-US" altLang="ja-JP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AFA65321-A1B1-979B-C497-E0EAB0822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568" y="0"/>
            <a:ext cx="6858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B1D8A-44EA-6522-8121-0C07CCFC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納期直前のスピード優先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97E059-4A8B-3F1D-A714-BCB6D42B9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ja-JP" dirty="0"/>
              <a:t>QCD</a:t>
            </a:r>
            <a:r>
              <a:rPr lang="ja-JP" altLang="en-US"/>
              <a:t>（</a:t>
            </a:r>
            <a:r>
              <a:rPr lang="en-US" altLang="ja-JP" dirty="0"/>
              <a:t>Quality, Cost, Delivery</a:t>
            </a:r>
            <a:r>
              <a:rPr lang="ja-JP" altLang="en-US"/>
              <a:t>）を満遍なく向上させることは不可能．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どれか一つを犠牲にして，他の</a:t>
            </a:r>
            <a:r>
              <a:rPr lang="en-US" altLang="ja-JP" dirty="0"/>
              <a:t>2</a:t>
            </a:r>
            <a:r>
              <a:rPr lang="ja-JP" altLang="en-US"/>
              <a:t>つを向上させることが一般的．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（納期は不変）品質を犠牲にしてコストを下げることは正しいか？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品質とスピード</a:t>
            </a:r>
            <a:r>
              <a:rPr lang="en-US" altLang="ja-JP" baseline="30000" dirty="0"/>
              <a:t>[1, 2]</a:t>
            </a:r>
            <a:endParaRPr kumimoji="1" lang="en-US" altLang="ja-JP" baseline="30000" dirty="0"/>
          </a:p>
          <a:p>
            <a:pPr lvl="1">
              <a:lnSpc>
                <a:spcPct val="120000"/>
              </a:lnSpc>
            </a:pPr>
            <a:r>
              <a:rPr lang="ja-JP" altLang="en-US"/>
              <a:t>コードの品質を高く保っているからこそ早く実装できる．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品質が劣化すると手戻りが発生するため遅くなる．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102AE1-9A8F-126B-C870-44AF37EF2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CAF163-8170-7887-78B5-6DD53BA04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 sz="1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395DAD-501F-FC05-D512-EEA0BC6AC7D8}"/>
              </a:ext>
            </a:extLst>
          </p:cNvPr>
          <p:cNvSpPr txBox="1"/>
          <p:nvPr/>
        </p:nvSpPr>
        <p:spPr>
          <a:xfrm>
            <a:off x="827112" y="5219826"/>
            <a:ext cx="10515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indent="-365125" algn="l"/>
            <a:r>
              <a:rPr lang="en-US" altLang="ja-JP" sz="1400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[1]	</a:t>
            </a:r>
            <a:r>
              <a:rPr lang="ja-JP" altLang="en-US" sz="1400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品質を犠牲にすることでソフトウェア開発のスピードは上がるのか？ 和田卓人氏による 「質とスピード」，</a:t>
            </a:r>
            <a:r>
              <a:rPr lang="en-US" altLang="ja-JP" sz="1400" i="0" dirty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Developer Summit 2020</a:t>
            </a:r>
            <a:r>
              <a:rPr lang="ja-JP" altLang="en-US" sz="1400" i="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，</a:t>
            </a:r>
            <a:r>
              <a:rPr lang="en" altLang="ja-JP" sz="1400" i="0" dirty="0">
                <a:effectLst/>
                <a:latin typeface="Meiryo" panose="020B0604030504040204" pitchFamily="34" charset="-128"/>
                <a:ea typeface="Meiryo" panose="020B0604030504040204" pitchFamily="34" charset="-128"/>
                <a:hlinkClick r:id="rId2"/>
              </a:rPr>
              <a:t>https://www.publickey1.jp/blog/20/_2020.html</a:t>
            </a:r>
            <a:r>
              <a:rPr lang="ja-JP" altLang="en-US" sz="1400" i="0">
                <a:effectLst/>
                <a:latin typeface="Meiryo" panose="020B0604030504040204" pitchFamily="34" charset="-128"/>
                <a:ea typeface="Meiryo" panose="020B0604030504040204" pitchFamily="34" charset="-128"/>
                <a:hlinkClick r:id="rId2"/>
              </a:rPr>
              <a:t>，</a:t>
            </a:r>
            <a:r>
              <a:rPr lang="en" altLang="ja-JP" sz="1400" i="0" dirty="0">
                <a:effectLst/>
                <a:latin typeface="Meiryo" panose="020B0604030504040204" pitchFamily="34" charset="-128"/>
                <a:ea typeface="Meiryo" panose="020B0604030504040204" pitchFamily="34" charset="-128"/>
                <a:hlinkClick r:id="rId2"/>
              </a:rPr>
              <a:t>https://www.publickey1.jp/blog/20/_2020_1.html</a:t>
            </a:r>
            <a:endParaRPr lang="en" altLang="ja-JP" sz="1400" i="0" dirty="0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65125" indent="-365125"/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[2]	</a:t>
            </a:r>
            <a:r>
              <a:rPr lang="en-US" altLang="ja-JP" sz="1400" dirty="0" err="1">
                <a:latin typeface="Meiryo" panose="020B0604030504040204" pitchFamily="34" charset="-128"/>
                <a:ea typeface="Meiryo" panose="020B0604030504040204" pitchFamily="34" charset="-128"/>
              </a:rPr>
              <a:t>Takuto</a:t>
            </a:r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 Wada, 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質とスピード，</a:t>
            </a:r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Developer Summit 2020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</a:rPr>
              <a:t>，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  <a:hlinkClick r:id="rId3"/>
              </a:rPr>
              <a:t>https://speakerdeck.com/twada/quality-and-speed-2020-spring-edition</a:t>
            </a:r>
            <a:endParaRPr lang="en-US" altLang="ja-JP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786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読みやすい</a:t>
            </a:r>
            <a:br>
              <a:rPr lang="en-US" altLang="ja-JP" dirty="0"/>
            </a:br>
            <a:r>
              <a:rPr lang="ja-JP" altLang="en-US"/>
              <a:t>プログラムとは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4749552" cy="41148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命名規則が一貫している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プロジェクト内で命名規則を揃えておく．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変数名，関数名，メソッド名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 dirty="0"/>
              <a:t>キャメルケース，ハンガリアン記法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適切なコメント</a:t>
            </a:r>
            <a:endParaRPr lang="ja-JP" altLang="en-US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プログラムの目的を書く．</a:t>
            </a:r>
            <a:endParaRPr lang="en-US" altLang="ja-JP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0730C9-D516-4845-AA0F-531D631A5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396408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コーディングスタイル，インデントが揃っている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大括弧（</a:t>
            </a:r>
            <a:r>
              <a:rPr lang="en-US" altLang="ja-JP" dirty="0"/>
              <a:t>{}</a:t>
            </a:r>
            <a:r>
              <a:rPr lang="ja-JP" altLang="en-US"/>
              <a:t>）の位置，改行の仕方など，プロジェクト内で揃えておく．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GNU</a:t>
            </a:r>
            <a:r>
              <a:rPr lang="ja-JP" altLang="en-US"/>
              <a:t>形式，</a:t>
            </a:r>
            <a:r>
              <a:rPr lang="en-US" altLang="ja-JP" dirty="0"/>
              <a:t>Apache</a:t>
            </a:r>
            <a:r>
              <a:rPr lang="ja-JP" altLang="en-US"/>
              <a:t>形式，．．．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インデントがあることで，ブロックが一目瞭然にわかる．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素直な処理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複雑な処理は何をしているのかわかりにくい．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F90A-C14B-4763-A506-BB86F6EA374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pic>
        <p:nvPicPr>
          <p:cNvPr id="3076" name="Picture 4" descr="C:\Documents and Settings\tamada\Local Settings\Temporary Internet Files\Content.IE5\Y65FBWUY\MPj04221740000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92122" y="0"/>
            <a:ext cx="2699878" cy="1670550"/>
          </a:xfrm>
          <a:prstGeom prst="rect">
            <a:avLst/>
          </a:prstGeom>
          <a:noFill/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7B47E88-9E29-2B7D-A439-03F03B70CC49}"/>
              </a:ext>
            </a:extLst>
          </p:cNvPr>
          <p:cNvSpPr/>
          <p:nvPr/>
        </p:nvSpPr>
        <p:spPr>
          <a:xfrm>
            <a:off x="6201287" y="1751640"/>
            <a:ext cx="5769768" cy="412563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2C11F3-09E3-DB54-46C5-40FDC669EFF5}"/>
              </a:ext>
            </a:extLst>
          </p:cNvPr>
          <p:cNvSpPr/>
          <p:nvPr/>
        </p:nvSpPr>
        <p:spPr>
          <a:xfrm>
            <a:off x="236786" y="4293095"/>
            <a:ext cx="5769768" cy="1072873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B57F80-A251-1244-BE89-A49A3112E425}"/>
              </a:ext>
            </a:extLst>
          </p:cNvPr>
          <p:cNvSpPr txBox="1"/>
          <p:nvPr/>
        </p:nvSpPr>
        <p:spPr>
          <a:xfrm>
            <a:off x="963354" y="5508512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これらは全て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，</a:t>
            </a:r>
            <a:r>
              <a:rPr kumimoji="1"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丁寧さの問題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E46BD10-4AE7-157B-C754-BE4E6DF8DB9B}"/>
              </a:ext>
            </a:extLst>
          </p:cNvPr>
          <p:cNvSpPr/>
          <p:nvPr/>
        </p:nvSpPr>
        <p:spPr>
          <a:xfrm>
            <a:off x="838200" y="5349268"/>
            <a:ext cx="5769768" cy="874194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08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8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A5D995-54EC-06F2-043F-DDE44EE2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命名規則</a:t>
            </a:r>
            <a:br>
              <a:rPr kumimoji="1" lang="en-US" altLang="ja-JP" dirty="0"/>
            </a:br>
            <a:r>
              <a:rPr kumimoji="1" lang="en-US" altLang="ja-JP" sz="3600" dirty="0"/>
              <a:t>Naming Convention</a:t>
            </a:r>
            <a:endParaRPr kumimoji="1"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B2F66D-66A8-EE63-9010-62A9E7BB8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名前（変数名，関数名）の付け方に設け</a:t>
            </a:r>
            <a:r>
              <a:rPr lang="ja-JP" altLang="en-US"/>
              <a:t>られる</a:t>
            </a:r>
            <a:r>
              <a:rPr kumimoji="1" lang="ja-JP" altLang="en-US"/>
              <a:t>ルールのこと．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言語，チームによって異なる場合がある．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命名規則に従うことによるメリット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意味や機能，使い方などが名前から推測できる．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コード自体がドキュメントになり得る．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検索，置換，ツールによる自動化も行いやすくなる．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EBFD80-CC31-06AD-7A8F-3CE977EE5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514CC3-42B5-53CD-DCE8-E5BCE116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 sz="1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31D8F3C-A8AE-4F75-8546-EA301379E762}"/>
              </a:ext>
            </a:extLst>
          </p:cNvPr>
          <p:cNvSpPr txBox="1"/>
          <p:nvPr/>
        </p:nvSpPr>
        <p:spPr>
          <a:xfrm>
            <a:off x="2655026" y="6356350"/>
            <a:ext cx="6881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https://sinkuu.github.io/api-guidelines/naming.html</a:t>
            </a:r>
          </a:p>
        </p:txBody>
      </p:sp>
    </p:spTree>
    <p:extLst>
      <p:ext uri="{BB962C8B-B14F-4D97-AF65-F5344CB8AC3E}">
        <p14:creationId xmlns:p14="http://schemas.microsoft.com/office/powerpoint/2010/main" val="214377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62AA1-EB15-4BB4-51FC-2E11FAD7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基本的な命名規則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C0CA85-8E3F-411C-E48B-8C7876218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18856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メソッド（関数）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命令文</a:t>
            </a:r>
            <a:r>
              <a:rPr lang="ja-JP" altLang="en-US"/>
              <a:t>にする．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クラス名，変数名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名詞または名詞句．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最も重要な単語を最後に置く．</a:t>
            </a:r>
            <a:endParaRPr lang="en-US" altLang="ja-JP" dirty="0"/>
          </a:p>
          <a:p>
            <a:pPr>
              <a:lnSpc>
                <a:spcPct val="120000"/>
              </a:lnSpc>
            </a:pPr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7487BEEC-58A8-1F7D-77ED-00D698C69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056" y="1825624"/>
            <a:ext cx="6383560" cy="453072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省略語を避ける．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単語を省略せずに利用する．</a:t>
            </a:r>
          </a:p>
          <a:p>
            <a:pPr>
              <a:lnSpc>
                <a:spcPct val="120000"/>
              </a:lnSpc>
            </a:pPr>
            <a:r>
              <a:rPr lang="ja-JP" altLang="en-US"/>
              <a:t>曖昧な単語は使わない．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</a:p>
          <a:p>
            <a:pPr lvl="2">
              <a:lnSpc>
                <a:spcPct val="120000"/>
              </a:lnSpc>
            </a:pPr>
            <a:r>
              <a:rPr lang="en-US" altLang="ja-JP" dirty="0"/>
              <a:t>true/false</a:t>
            </a:r>
            <a:r>
              <a:rPr lang="ja-JP" altLang="en-US"/>
              <a:t>のいずれかが不明．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check</a:t>
            </a:r>
          </a:p>
          <a:p>
            <a:pPr lvl="2">
              <a:lnSpc>
                <a:spcPct val="120000"/>
              </a:lnSpc>
            </a:pPr>
            <a:r>
              <a:rPr lang="ja-JP" altLang="en-US"/>
              <a:t>その結果，何をするのかがわからない．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DE9B88-12F5-5728-D17B-4DC1BE63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E854A3-3AF7-DEA3-6170-621882EE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06279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4C489-CA31-5A91-EF47-7B8E5DC8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6600" dirty="0"/>
              <a:t>CamelCase, </a:t>
            </a:r>
            <a:r>
              <a:rPr kumimoji="1" lang="en-US" altLang="ja-JP" sz="6600" dirty="0" err="1"/>
              <a:t>snake_case</a:t>
            </a:r>
            <a:endParaRPr kumimoji="1" lang="ja-JP" altLang="en-US" sz="6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80E0A9-FCC9-663C-68E8-5A2868C58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CamelCase</a:t>
            </a:r>
          </a:p>
          <a:p>
            <a:pPr lvl="1">
              <a:lnSpc>
                <a:spcPct val="120000"/>
              </a:lnSpc>
            </a:pPr>
            <a:r>
              <a:rPr lang="ja-JP" altLang="en-US"/>
              <a:t>単語の先頭文字を大文字にして，スペースを削除する．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一番最初の単語の先頭文字を小文字にする場合（</a:t>
            </a:r>
            <a:r>
              <a:rPr lang="en-US" altLang="ja-JP" dirty="0" err="1"/>
              <a:t>lowerCamelCase</a:t>
            </a:r>
            <a:r>
              <a:rPr lang="ja-JP" altLang="en-US"/>
              <a:t>）と</a:t>
            </a:r>
            <a:br>
              <a:rPr lang="en-US" altLang="ja-JP" dirty="0"/>
            </a:br>
            <a:r>
              <a:rPr lang="ja-JP" altLang="en-US"/>
              <a:t>大文字にする場合（</a:t>
            </a:r>
            <a:r>
              <a:rPr lang="en-US" altLang="ja-JP" dirty="0" err="1"/>
              <a:t>UpperCamelCase</a:t>
            </a:r>
            <a:r>
              <a:rPr lang="ja-JP" altLang="en-US"/>
              <a:t>）がある．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 err="1"/>
              <a:t>snake_case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単語を全て小文字にする．スペースをアンダーバー（</a:t>
            </a:r>
            <a:r>
              <a:rPr kumimoji="1" lang="en-US" altLang="ja-JP" dirty="0"/>
              <a:t>_</a:t>
            </a:r>
            <a:r>
              <a:rPr kumimoji="1" lang="ja-JP" altLang="en-US"/>
              <a:t>）に置き換える．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/>
              <a:t>kebab-case</a:t>
            </a:r>
          </a:p>
          <a:p>
            <a:pPr lvl="1">
              <a:lnSpc>
                <a:spcPct val="120000"/>
              </a:lnSpc>
            </a:pPr>
            <a:r>
              <a:rPr lang="ja-JP" altLang="en-US"/>
              <a:t>単語を全て小文字にする．スペースをハイフン（</a:t>
            </a:r>
            <a:r>
              <a:rPr lang="en-US" altLang="ja-JP" dirty="0"/>
              <a:t>-</a:t>
            </a:r>
            <a:r>
              <a:rPr lang="ja-JP" altLang="en-US"/>
              <a:t>）に置き換える．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言語ごとに基本的な命名方法が決まっている．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その言語の習慣に従うこと．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C797D5-B2E4-7C03-FD09-F0A8E5E8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B9D383-750C-DE80-624D-66C42DE3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 sz="1800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3D81D789-8233-4723-7142-9B00D23B6735}"/>
              </a:ext>
            </a:extLst>
          </p:cNvPr>
          <p:cNvSpPr/>
          <p:nvPr/>
        </p:nvSpPr>
        <p:spPr>
          <a:xfrm>
            <a:off x="4871864" y="1840866"/>
            <a:ext cx="720000" cy="36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Java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0DE44524-98ED-60C0-D4FA-29230C13F477}"/>
              </a:ext>
            </a:extLst>
          </p:cNvPr>
          <p:cNvSpPr/>
          <p:nvPr/>
        </p:nvSpPr>
        <p:spPr>
          <a:xfrm>
            <a:off x="6600136" y="1840866"/>
            <a:ext cx="1260000" cy="36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JavaScript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40C1D32B-40F3-9547-967B-9C9D2D5148AD}"/>
              </a:ext>
            </a:extLst>
          </p:cNvPr>
          <p:cNvSpPr/>
          <p:nvPr/>
        </p:nvSpPr>
        <p:spPr>
          <a:xfrm>
            <a:off x="4871864" y="3501048"/>
            <a:ext cx="720000" cy="36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1754A5E6-A221-6622-7EA1-6ACCAD2B8A6F}"/>
              </a:ext>
            </a:extLst>
          </p:cNvPr>
          <p:cNvSpPr/>
          <p:nvPr/>
        </p:nvSpPr>
        <p:spPr>
          <a:xfrm>
            <a:off x="4871864" y="4365104"/>
            <a:ext cx="720000" cy="36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HTML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B24A5AC5-D2B5-2EB9-9BA2-76795C947604}"/>
              </a:ext>
            </a:extLst>
          </p:cNvPr>
          <p:cNvSpPr/>
          <p:nvPr/>
        </p:nvSpPr>
        <p:spPr>
          <a:xfrm>
            <a:off x="5736000" y="4365104"/>
            <a:ext cx="720000" cy="36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CSS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D8A6F080-0538-0A90-8B3F-3252AC97B87D}"/>
              </a:ext>
            </a:extLst>
          </p:cNvPr>
          <p:cNvSpPr/>
          <p:nvPr/>
        </p:nvSpPr>
        <p:spPr>
          <a:xfrm>
            <a:off x="6600136" y="4370910"/>
            <a:ext cx="720000" cy="36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Lisp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171EF7F1-A1FA-4A9A-2E34-D46DD843E7FE}"/>
              </a:ext>
            </a:extLst>
          </p:cNvPr>
          <p:cNvSpPr/>
          <p:nvPr/>
        </p:nvSpPr>
        <p:spPr>
          <a:xfrm>
            <a:off x="5736000" y="1840866"/>
            <a:ext cx="720000" cy="36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Go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21E286-12DA-58C3-B485-937D4157D0D9}"/>
              </a:ext>
            </a:extLst>
          </p:cNvPr>
          <p:cNvSpPr/>
          <p:nvPr/>
        </p:nvSpPr>
        <p:spPr>
          <a:xfrm>
            <a:off x="503582" y="1690688"/>
            <a:ext cx="11184835" cy="4612684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1670937E-D9B4-2379-7D6D-EDE08094D1D7}"/>
              </a:ext>
            </a:extLst>
          </p:cNvPr>
          <p:cNvSpPr/>
          <p:nvPr/>
        </p:nvSpPr>
        <p:spPr>
          <a:xfrm>
            <a:off x="5736000" y="3494926"/>
            <a:ext cx="720000" cy="36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Rust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CFAE63E-58D6-8E3A-B56D-DB505FEA0EE0}"/>
              </a:ext>
            </a:extLst>
          </p:cNvPr>
          <p:cNvSpPr txBox="1"/>
          <p:nvPr/>
        </p:nvSpPr>
        <p:spPr>
          <a:xfrm>
            <a:off x="1060174" y="3388264"/>
            <a:ext cx="9634330" cy="924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400" dirty="0" err="1">
                <a:latin typeface="Meiryo" panose="020B0604030504040204" pitchFamily="34" charset="-128"/>
                <a:ea typeface="Meiryo" panose="020B0604030504040204" pitchFamily="34" charset="-128"/>
              </a:rPr>
              <a:t>snake_case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>
              <a:lnSpc>
                <a:spcPct val="120000"/>
              </a:lnSpc>
            </a:pPr>
            <a:r>
              <a:rPr kumimoji="1" lang="ja-JP" altLang="en-US" sz="2200">
                <a:latin typeface="Meiryo" panose="020B0604030504040204" pitchFamily="34" charset="-128"/>
                <a:ea typeface="Meiryo" panose="020B0604030504040204" pitchFamily="34" charset="-128"/>
              </a:rPr>
              <a:t>単語を全て小文字にする．スペースをアンダーバー（</a:t>
            </a:r>
            <a:r>
              <a:rPr kumimoji="1" lang="en-US" altLang="ja-JP" sz="2200" dirty="0">
                <a:latin typeface="Meiryo" panose="020B0604030504040204" pitchFamily="34" charset="-128"/>
                <a:ea typeface="Meiryo" panose="020B0604030504040204" pitchFamily="34" charset="-128"/>
              </a:rPr>
              <a:t>_</a:t>
            </a:r>
            <a:r>
              <a:rPr kumimoji="1" lang="ja-JP" altLang="en-US" sz="2200">
                <a:latin typeface="Meiryo" panose="020B0604030504040204" pitchFamily="34" charset="-128"/>
                <a:ea typeface="Meiryo" panose="020B0604030504040204" pitchFamily="34" charset="-128"/>
              </a:rPr>
              <a:t>）に置き換える．</a:t>
            </a:r>
            <a:endParaRPr lang="ja-JP" altLang="en-US" sz="22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098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読みやすい</a:t>
            </a:r>
            <a:br>
              <a:rPr lang="en-US" altLang="ja-JP" dirty="0"/>
            </a:br>
            <a:r>
              <a:rPr lang="ja-JP" altLang="en-US"/>
              <a:t>プログラムとは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4749552" cy="41148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命名規則が一貫している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プロジェクト内で命名規則を揃えておく．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変数名，関数名，メソッド名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 dirty="0"/>
              <a:t>キャメルケース，ハンガリアン記法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適切なコメント</a:t>
            </a:r>
            <a:endParaRPr lang="ja-JP" altLang="en-US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プログラムの目的を書く．</a:t>
            </a:r>
            <a:endParaRPr lang="en-US" altLang="ja-JP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0730C9-D516-4845-AA0F-531D631A5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396408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コーディングスタイル，インデントが揃っている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大括弧（</a:t>
            </a:r>
            <a:r>
              <a:rPr lang="en-US" altLang="ja-JP" dirty="0"/>
              <a:t>{}</a:t>
            </a:r>
            <a:r>
              <a:rPr lang="ja-JP" altLang="en-US"/>
              <a:t>）の位置，改行の仕方など，プロジェクト内で揃えておく．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GNU</a:t>
            </a:r>
            <a:r>
              <a:rPr lang="ja-JP" altLang="en-US"/>
              <a:t>形式，</a:t>
            </a:r>
            <a:r>
              <a:rPr lang="en-US" altLang="ja-JP" dirty="0"/>
              <a:t>Apache</a:t>
            </a:r>
            <a:r>
              <a:rPr lang="ja-JP" altLang="en-US"/>
              <a:t>形式，．．．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インデントがあることで，ブロックが一目瞭然にわかる．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素直な処理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複雑な処理は何をしているのかわかりにくい．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F90A-C14B-4763-A506-BB86F6EA3743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pic>
        <p:nvPicPr>
          <p:cNvPr id="3076" name="Picture 4" descr="C:\Documents and Settings\tamada\Local Settings\Temporary Internet Files\Content.IE5\Y65FBWUY\MPj04221740000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92122" y="0"/>
            <a:ext cx="2699878" cy="1670550"/>
          </a:xfrm>
          <a:prstGeom prst="rect">
            <a:avLst/>
          </a:prstGeom>
          <a:noFill/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7B47E88-9E29-2B7D-A439-03F03B70CC49}"/>
              </a:ext>
            </a:extLst>
          </p:cNvPr>
          <p:cNvSpPr/>
          <p:nvPr/>
        </p:nvSpPr>
        <p:spPr>
          <a:xfrm>
            <a:off x="6201287" y="1751640"/>
            <a:ext cx="5769768" cy="412563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2C11F3-09E3-DB54-46C5-40FDC669EFF5}"/>
              </a:ext>
            </a:extLst>
          </p:cNvPr>
          <p:cNvSpPr/>
          <p:nvPr/>
        </p:nvSpPr>
        <p:spPr>
          <a:xfrm>
            <a:off x="262613" y="1910668"/>
            <a:ext cx="5769768" cy="231042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B57F80-A251-1244-BE89-A49A3112E425}"/>
              </a:ext>
            </a:extLst>
          </p:cNvPr>
          <p:cNvSpPr txBox="1"/>
          <p:nvPr/>
        </p:nvSpPr>
        <p:spPr>
          <a:xfrm>
            <a:off x="963354" y="5508512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これらは全て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，</a:t>
            </a:r>
            <a:r>
              <a:rPr kumimoji="1"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丁寧さの問題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E46BD10-4AE7-157B-C754-BE4E6DF8DB9B}"/>
              </a:ext>
            </a:extLst>
          </p:cNvPr>
          <p:cNvSpPr/>
          <p:nvPr/>
        </p:nvSpPr>
        <p:spPr>
          <a:xfrm>
            <a:off x="838200" y="5349268"/>
            <a:ext cx="5769768" cy="874194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13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C3C9B1EE-3CB4-4521-0159-91B954F6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コメントの種類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1F5E4AB6-B262-60DC-C5F7-F0C61A3D7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09928" cy="45307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ドキュメントのためのコメント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Javadoc,  </a:t>
            </a:r>
            <a:r>
              <a:rPr lang="en-US" altLang="ja-JP" dirty="0" err="1"/>
              <a:t>Doxygen</a:t>
            </a:r>
            <a:r>
              <a:rPr lang="ja-JP" altLang="en-US"/>
              <a:t>，</a:t>
            </a:r>
            <a:r>
              <a:rPr lang="en-US" altLang="ja-JP" dirty="0"/>
              <a:t>Sphinx</a:t>
            </a:r>
            <a:r>
              <a:rPr lang="ja-JP" altLang="en-US"/>
              <a:t>など．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メソッドやプルリクエストの前に書く．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フォーマットは決まっている．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このコメントからドキュメントを生成する．</a:t>
            </a:r>
            <a:endParaRPr lang="en-US" altLang="ja-JP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958FC5-6C11-E6A7-E34D-1D54A59A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572C2B-DED6-8C90-4D92-2581D26E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AB173F-5422-3245-85DE-E9DE2C6A9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19550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oxygen">
            <a:extLst>
              <a:ext uri="{FF2B5EF4-FFF2-40B4-BE49-F238E27FC236}">
                <a16:creationId xmlns:a16="http://schemas.microsoft.com/office/drawing/2014/main" id="{61E93C16-D40F-5EFE-D680-A512939B8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11" y="5375507"/>
            <a:ext cx="3684705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phinxの分かち書きアルゴリズムにMeCabを使用する | DevelopersIO">
            <a:extLst>
              <a:ext uri="{FF2B5EF4-FFF2-40B4-BE49-F238E27FC236}">
                <a16:creationId xmlns:a16="http://schemas.microsoft.com/office/drawing/2014/main" id="{7D2F2EA7-91E5-F0AA-B9D9-B78FA92C6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128" y="5015507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C909920-F7C9-1560-6A32-A4D856448674}"/>
              </a:ext>
            </a:extLst>
          </p:cNvPr>
          <p:cNvSpPr/>
          <p:nvPr/>
        </p:nvSpPr>
        <p:spPr>
          <a:xfrm>
            <a:off x="553854" y="1690688"/>
            <a:ext cx="7054313" cy="466566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2944E959-458E-08B7-EB21-893588AB6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0" y="1825625"/>
            <a:ext cx="41148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その他のコメント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左のコメント以外．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コードの補足説明のためのコメント．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本当に必要であるか精査する必要がある．　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4638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コメント</a:t>
            </a:r>
            <a:br>
              <a:rPr lang="en-US" altLang="ja-JP" dirty="0"/>
            </a:br>
            <a:r>
              <a:rPr lang="ja-JP" altLang="en-US" sz="3600"/>
              <a:t>その他のコメント</a:t>
            </a:r>
            <a:endParaRPr lang="ja-JP" altLang="en-US" sz="3600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914400" y="1981199"/>
            <a:ext cx="10363200" cy="316565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 dirty="0"/>
              <a:t>無駄なコメントは不要．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無駄な</a:t>
            </a:r>
            <a:r>
              <a:rPr lang="ja-JP" altLang="en-US" dirty="0"/>
              <a:t>コメントは可読性を著しく下げる．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コメントの内容が常に正しいように，コードを更新したら，コメントも更新しなければならない．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 dirty="0"/>
              <a:t>コメントには，なぜその処理を行うのかを書く．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複雑なアルゴリズムの場合，アルゴリズム名と，そのアルゴリズムを選択した理由を書いておくのも良い．</a:t>
            </a:r>
            <a:endParaRPr lang="en-US" altLang="ja-JP" dirty="0"/>
          </a:p>
          <a:p>
            <a:pPr>
              <a:lnSpc>
                <a:spcPct val="120000"/>
              </a:lnSpc>
            </a:pPr>
            <a:endParaRPr lang="en-US" altLang="ja-JP" dirty="0"/>
          </a:p>
        </p:txBody>
      </p:sp>
      <p:sp>
        <p:nvSpPr>
          <p:cNvPr id="10" name="日付プレースホルダ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 dirty="0"/>
          </a:p>
        </p:txBody>
      </p:sp>
      <p:sp>
        <p:nvSpPr>
          <p:cNvPr id="11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F90A-C14B-4763-A506-BB86F6EA3743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5544" y="5167529"/>
            <a:ext cx="5486400" cy="7078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 altLang="ja-JP" sz="2000" b="0" i="0" u="none" strike="noStrike" dirty="0">
                <a:solidFill>
                  <a:srgbClr val="636363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" altLang="ja-JP" sz="2000" b="0" i="0" u="none" strike="noStrike" dirty="0">
                <a:solidFill>
                  <a:srgbClr val="636363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z</a:t>
            </a:r>
            <a:r>
              <a:rPr lang="ja-JP" altLang="en-US" sz="2000" b="0" i="0" u="none" strike="noStrike">
                <a:solidFill>
                  <a:srgbClr val="636363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に</a:t>
            </a:r>
            <a:r>
              <a:rPr lang="en" altLang="ja-JP" sz="2000" b="0" i="0" u="none" strike="noStrike" dirty="0">
                <a:solidFill>
                  <a:srgbClr val="636363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x^2</a:t>
            </a:r>
            <a:r>
              <a:rPr lang="ja-JP" altLang="en-US" sz="2000" b="0" i="0" u="none" strike="noStrike">
                <a:solidFill>
                  <a:srgbClr val="636363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と</a:t>
            </a:r>
            <a:r>
              <a:rPr lang="en" altLang="ja-JP" sz="2000" b="0" i="0" u="none" strike="noStrike" dirty="0">
                <a:solidFill>
                  <a:srgbClr val="636363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y^2</a:t>
            </a:r>
            <a:r>
              <a:rPr lang="ja-JP" altLang="en-US" sz="2000" b="0" i="0" u="none" strike="noStrike">
                <a:solidFill>
                  <a:srgbClr val="636363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の和の平方根を代入する．</a:t>
            </a:r>
            <a:r>
              <a:rPr lang="ja-JP" altLang="en-US" sz="2000" b="0" i="0" u="none" strike="noStrike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" altLang="ja-JP" sz="2000" b="0" i="0" u="none" strike="noStrike" dirty="0">
                <a:solidFill>
                  <a:srgbClr val="3182B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" altLang="ja-JP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z = </a:t>
            </a:r>
            <a:r>
              <a:rPr lang="en" altLang="ja-JP" sz="2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Math.sqrt</a:t>
            </a:r>
            <a:r>
              <a:rPr lang="en" altLang="ja-JP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(x*x + y*y);</a:t>
            </a:r>
            <a:endParaRPr lang="ja-JP" altLang="en-US" sz="1969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64424" y="5907167"/>
            <a:ext cx="2568640" cy="39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969" dirty="0">
                <a:latin typeface="Meiryo" panose="020B0604030504040204" pitchFamily="34" charset="-128"/>
                <a:ea typeface="Meiryo" panose="020B0604030504040204" pitchFamily="34" charset="-128"/>
              </a:rPr>
              <a:t>無駄なコメントの例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5879976" y="5157192"/>
            <a:ext cx="6197600" cy="69839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969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ja-JP" altLang="en-US" sz="1969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ピタゴラスの定理により，斜辺の長さ</a:t>
            </a:r>
            <a:r>
              <a:rPr lang="en-US" altLang="ja-JP" sz="1969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z</a:t>
            </a:r>
            <a:r>
              <a:rPr lang="ja-JP" altLang="en-US" sz="1969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を求める．</a:t>
            </a:r>
            <a:endParaRPr lang="en-US" altLang="ja-JP" sz="1969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r>
              <a:rPr lang="en" altLang="ja-JP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" altLang="ja-JP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z = </a:t>
            </a:r>
            <a:r>
              <a:rPr lang="en" altLang="ja-JP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Math.sqrt</a:t>
            </a:r>
            <a:r>
              <a:rPr lang="en" altLang="ja-JP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(x*x + y*y);</a:t>
            </a:r>
            <a:endParaRPr lang="ja-JP" altLang="en-US" sz="1969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210078" y="5907469"/>
            <a:ext cx="3130997" cy="39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969" dirty="0">
                <a:latin typeface="Meiryo" panose="020B0604030504040204" pitchFamily="34" charset="-128"/>
                <a:ea typeface="Meiryo" panose="020B0604030504040204" pitchFamily="34" charset="-128"/>
              </a:rPr>
              <a:t>正しいコメントの書き方</a:t>
            </a:r>
          </a:p>
        </p:txBody>
      </p:sp>
      <p:pic>
        <p:nvPicPr>
          <p:cNvPr id="4099" name="Picture 3" descr="C:\Documents and Settings\tamada\Local Settings\Temporary Internet Files\Content.IE5\W38RWNGN\MCj0089893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39273" y="-87947"/>
            <a:ext cx="2165903" cy="228598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無駄なコメント例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F90A-C14B-4763-A506-BB86F6EA3743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914400" y="2444230"/>
            <a:ext cx="5058862" cy="98476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dirty="0">
                <a:solidFill>
                  <a:srgbClr val="63636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ja-JP" sz="2800" dirty="0">
                <a:solidFill>
                  <a:srgbClr val="636363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</a:t>
            </a:r>
            <a:r>
              <a:rPr lang="ja-JP" altLang="en-US" sz="2800">
                <a:solidFill>
                  <a:srgbClr val="636363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今日の日付を取得する．</a:t>
            </a:r>
            <a:r>
              <a:rPr lang="ja-JP" altLang="en-US" sz="2800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</a:t>
            </a:r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 today = </a:t>
            </a:r>
            <a:r>
              <a:rPr lang="en" altLang="ja-JP" sz="28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Date();</a:t>
            </a:r>
            <a:endParaRPr lang="ja-JP" altLang="en-US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914400" y="3645024"/>
            <a:ext cx="7408642" cy="23762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dirty="0">
                <a:solidFill>
                  <a:srgbClr val="63636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ja-JP" sz="2800" dirty="0">
                <a:solidFill>
                  <a:srgbClr val="636363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</a:t>
            </a:r>
            <a:r>
              <a:rPr lang="ja-JP" altLang="en-US" sz="2800">
                <a:solidFill>
                  <a:srgbClr val="636363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全ユーザを走査する．</a:t>
            </a:r>
            <a:endParaRPr lang="en-US" altLang="ja-JP" sz="2800" dirty="0">
              <a:solidFill>
                <a:srgbClr val="000000"/>
              </a:solidFill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r>
              <a:rPr lang="en" altLang="ja-JP" sz="28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(User user: </a:t>
            </a:r>
            <a:r>
              <a:rPr lang="en" altLang="ja-JP" sz="2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2800" dirty="0">
                <a:solidFill>
                  <a:srgbClr val="63636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" altLang="ja-JP" sz="2800" dirty="0">
                <a:solidFill>
                  <a:srgbClr val="636363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</a:t>
            </a:r>
            <a:r>
              <a:rPr lang="ja-JP" altLang="en-US" sz="2800">
                <a:solidFill>
                  <a:srgbClr val="636363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ユーザの名前を表示する．</a:t>
            </a:r>
            <a:endParaRPr lang="en-US" altLang="ja-JP" sz="2800" dirty="0">
              <a:solidFill>
                <a:srgbClr val="636363"/>
              </a:solidFill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2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2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user.getName</a:t>
            </a:r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" altLang="ja-JP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ja-JP" altLang="en-US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26" name="Picture 2" descr="C:\Users\tamada\AppData\Local\Microsoft\Windows\Temporary Internet Files\Content.IE5\80R1SZEJ\MC900199269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0" y="0"/>
            <a:ext cx="2143130" cy="221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657BC3-21F0-0046-8544-8DF9D8D5F01B}"/>
              </a:ext>
            </a:extLst>
          </p:cNvPr>
          <p:cNvSpPr txBox="1"/>
          <p:nvPr/>
        </p:nvSpPr>
        <p:spPr>
          <a:xfrm>
            <a:off x="5973262" y="2444230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変数名を見ればわかる．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7061614-82FC-3643-90F9-74713AADDF16}"/>
              </a:ext>
            </a:extLst>
          </p:cNvPr>
          <p:cNvSpPr txBox="1"/>
          <p:nvPr/>
        </p:nvSpPr>
        <p:spPr>
          <a:xfrm>
            <a:off x="8323042" y="3645024"/>
            <a:ext cx="2643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コメントがプログラムと同じ内容．</a:t>
            </a:r>
            <a:endParaRPr kumimoji="1"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060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最近のコメント談義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9376" y="1981199"/>
            <a:ext cx="5761705" cy="4375151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 dirty="0"/>
              <a:t>説明的な名前が付けられていれば，コメントは不要．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 dirty="0"/>
              <a:t>コメントは言い訳であってはならない．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 dirty="0"/>
              <a:t>プログラムコード自身に説明させるような名前を付ける方が良い．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 dirty="0"/>
              <a:t>それがうまく書けないからと言って，コメントに逃げるな．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コメント</a:t>
            </a:r>
            <a:r>
              <a:rPr lang="ja-JP" altLang="en-US"/>
              <a:t>を付けようとした箇所は，メソッドとして抽出できないか考えよう．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必要なコメント</a:t>
            </a:r>
            <a:r>
              <a:rPr lang="ja-JP" altLang="en-US"/>
              <a:t>はあまりない．</a:t>
            </a:r>
            <a:endParaRPr lang="en-US" altLang="ja-JP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F90A-C14B-4763-A506-BB86F6EA3743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  <p:grpSp>
        <p:nvGrpSpPr>
          <p:cNvPr id="7" name="グループ化 6"/>
          <p:cNvGrpSpPr/>
          <p:nvPr/>
        </p:nvGrpSpPr>
        <p:grpSpPr>
          <a:xfrm>
            <a:off x="9933033" y="40735"/>
            <a:ext cx="2193266" cy="1645993"/>
            <a:chOff x="3008784" y="476672"/>
            <a:chExt cx="6400800" cy="4803648"/>
          </a:xfrm>
        </p:grpSpPr>
        <p:pic>
          <p:nvPicPr>
            <p:cNvPr id="2051" name="Picture 3" descr="C:\Users\tamada\AppData\Local\Microsoft\Windows\Temporary Internet Files\Content.IE5\90O5N1G8\MC900433145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8784" y="476672"/>
              <a:ext cx="6400800" cy="480364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C:\Users\tamada\AppData\Local\Microsoft\Windows\Temporary Internet Files\Content.IE5\337YEH8K\MC900441760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7014" y="735754"/>
              <a:ext cx="2743199" cy="2743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正方形/長方形 10"/>
          <p:cNvSpPr/>
          <p:nvPr/>
        </p:nvSpPr>
        <p:spPr>
          <a:xfrm>
            <a:off x="6226187" y="4190295"/>
            <a:ext cx="5982410" cy="175432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z =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pythagoreanTheorem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(x, y);</a:t>
            </a:r>
          </a:p>
          <a:p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</a:p>
          <a:p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pythagoreanTheorem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x, </a:t>
            </a:r>
            <a:r>
              <a:rPr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y){</a:t>
            </a:r>
          </a:p>
          <a:p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en-US" altLang="ja-JP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.sqrt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(x*x + y*y);</a:t>
            </a:r>
          </a:p>
          <a:p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6226187" y="3163124"/>
            <a:ext cx="5143687" cy="646331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ja-JP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三平方の定理により，斜辺の長さ</a:t>
            </a:r>
            <a:r>
              <a:rPr lang="en-US" altLang="ja-JP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z</a:t>
            </a:r>
            <a:r>
              <a:rPr lang="ja-JP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を求める．</a:t>
            </a:r>
            <a:endParaRPr lang="en-US" altLang="ja-JP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r>
              <a:rPr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ja-JP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.sqrt(x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ja-JP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241082" y="1946596"/>
            <a:ext cx="5161195" cy="64633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altLang="ja-JP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z</a:t>
            </a:r>
            <a:r>
              <a:rPr lang="ja-JP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に</a:t>
            </a:r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x^2</a:t>
            </a:r>
            <a:r>
              <a:rPr lang="ja-JP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と</a:t>
            </a:r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y^2</a:t>
            </a:r>
            <a:r>
              <a:rPr lang="ja-JP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の和の平方根</a:t>
            </a:r>
            <a:r>
              <a:rPr lang="ja-JP" altLang="en-US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を代入する．</a:t>
            </a:r>
            <a:endParaRPr lang="en-US" altLang="ja-JP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r>
              <a:rPr lang="en-US" altLang="ja-JP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ja-JP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.sqrt(x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ja-JP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乗算記号 7"/>
          <p:cNvSpPr/>
          <p:nvPr/>
        </p:nvSpPr>
        <p:spPr>
          <a:xfrm>
            <a:off x="11235281" y="1707053"/>
            <a:ext cx="1125415" cy="1125415"/>
          </a:xfrm>
          <a:prstGeom prst="mathMultiply">
            <a:avLst>
              <a:gd name="adj1" fmla="val 7270"/>
            </a:avLst>
          </a:prstGeom>
          <a:solidFill>
            <a:srgbClr val="CC99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5"/>
          </a:p>
        </p:txBody>
      </p:sp>
      <p:sp>
        <p:nvSpPr>
          <p:cNvPr id="9" name="ドーナツ 8"/>
          <p:cNvSpPr/>
          <p:nvPr/>
        </p:nvSpPr>
        <p:spPr>
          <a:xfrm>
            <a:off x="11469679" y="3157864"/>
            <a:ext cx="656620" cy="656620"/>
          </a:xfrm>
          <a:prstGeom prst="donut">
            <a:avLst>
              <a:gd name="adj" fmla="val 17677"/>
            </a:avLst>
          </a:prstGeom>
          <a:solidFill>
            <a:srgbClr val="CC99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5">
              <a:solidFill>
                <a:schemeClr val="tx1"/>
              </a:solidFill>
            </a:endParaRPr>
          </a:p>
        </p:txBody>
      </p:sp>
      <p:grpSp>
        <p:nvGrpSpPr>
          <p:cNvPr id="19" name="グループ化 18"/>
          <p:cNvGrpSpPr/>
          <p:nvPr/>
        </p:nvGrpSpPr>
        <p:grpSpPr>
          <a:xfrm>
            <a:off x="11387382" y="4123437"/>
            <a:ext cx="821214" cy="821214"/>
            <a:chOff x="8939696" y="4031486"/>
            <a:chExt cx="667236" cy="667236"/>
          </a:xfrm>
          <a:solidFill>
            <a:srgbClr val="CC99FF"/>
          </a:solidFill>
        </p:grpSpPr>
        <p:sp>
          <p:nvSpPr>
            <p:cNvPr id="21" name="ドーナツ 20"/>
            <p:cNvSpPr/>
            <p:nvPr/>
          </p:nvSpPr>
          <p:spPr>
            <a:xfrm>
              <a:off x="8939696" y="4031486"/>
              <a:ext cx="667236" cy="667236"/>
            </a:xfrm>
            <a:prstGeom prst="donut">
              <a:avLst>
                <a:gd name="adj" fmla="val 1125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215">
                <a:solidFill>
                  <a:schemeClr val="tx1"/>
                </a:solidFill>
              </a:endParaRPr>
            </a:p>
          </p:txBody>
        </p:sp>
        <p:sp>
          <p:nvSpPr>
            <p:cNvPr id="22" name="ドーナツ 21"/>
            <p:cNvSpPr/>
            <p:nvPr/>
          </p:nvSpPr>
          <p:spPr>
            <a:xfrm>
              <a:off x="9081815" y="4173605"/>
              <a:ext cx="382999" cy="382999"/>
            </a:xfrm>
            <a:prstGeom prst="donut">
              <a:avLst>
                <a:gd name="adj" fmla="val 21209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215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266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13D001-4EF6-75F8-14B6-805F6799A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コメント内容の種類</a:t>
            </a:r>
            <a:r>
              <a:rPr lang="en-US" altLang="ja-JP" baseline="30000" dirty="0"/>
              <a:t>[3]</a:t>
            </a:r>
            <a:endParaRPr kumimoji="1" lang="ja-JP" altLang="en-US" baseline="300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76F93F-A891-ED20-28B9-ADFC4BF37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3984" cy="388439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複雑なコードの説明．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パッと読んでわかりにくい部分をコメントで補足する．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トレーサビリティ．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いつ誰がどのような変更を行なったのかをコメントで説明する．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文脈の説明．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どのように利用するのか目的を書く．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5B3288-E682-BE73-3CC3-EC36BE00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510F3E-CAFB-972E-16B6-D1DF5CD1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15</a:t>
            </a:fld>
            <a:endParaRPr lang="ja-JP" altLang="en-US" sz="1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95F1B7-B93B-1494-400D-E55D1EA7F83F}"/>
              </a:ext>
            </a:extLst>
          </p:cNvPr>
          <p:cNvSpPr txBox="1"/>
          <p:nvPr/>
        </p:nvSpPr>
        <p:spPr>
          <a:xfrm>
            <a:off x="829779" y="5710019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/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[3]	</a:t>
            </a:r>
            <a:r>
              <a:rPr lang="en-US" altLang="ja-JP" sz="1400" dirty="0" err="1">
                <a:latin typeface="Meiryo" panose="020B0604030504040204" pitchFamily="34" charset="-128"/>
                <a:ea typeface="Meiryo" panose="020B0604030504040204" pitchFamily="34" charset="-128"/>
              </a:rPr>
              <a:t>Elye</a:t>
            </a:r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, How Code Comments Are Obsoleting, </a:t>
            </a:r>
            <a:r>
              <a:rPr lang="ja-JP" altLang="en-US" sz="1400">
                <a:latin typeface="Meiryo" panose="020B0604030504040204" pitchFamily="34" charset="-128"/>
                <a:ea typeface="Meiryo" panose="020B0604030504040204" pitchFamily="34" charset="-128"/>
                <a:hlinkClick r:id="rId2"/>
              </a:rPr>
              <a:t>https://betterprogramming.pub/how-code-comments-are-obsoleting-333d5ca256d0</a:t>
            </a:r>
            <a:endParaRPr lang="en-US" altLang="ja-JP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9015299-5226-955B-91A8-876C313CF863}"/>
              </a:ext>
            </a:extLst>
          </p:cNvPr>
          <p:cNvGrpSpPr/>
          <p:nvPr/>
        </p:nvGrpSpPr>
        <p:grpSpPr>
          <a:xfrm>
            <a:off x="7696200" y="1689754"/>
            <a:ext cx="3649178" cy="1260000"/>
            <a:chOff x="7696200" y="1689754"/>
            <a:chExt cx="3649178" cy="1260000"/>
          </a:xfrm>
        </p:grpSpPr>
        <p:sp>
          <p:nvSpPr>
            <p:cNvPr id="11" name="三角形 10">
              <a:extLst>
                <a:ext uri="{FF2B5EF4-FFF2-40B4-BE49-F238E27FC236}">
                  <a16:creationId xmlns:a16="http://schemas.microsoft.com/office/drawing/2014/main" id="{EC97C040-3D9C-8E5A-3F83-384E5DEF7912}"/>
                </a:ext>
              </a:extLst>
            </p:cNvPr>
            <p:cNvSpPr/>
            <p:nvPr/>
          </p:nvSpPr>
          <p:spPr>
            <a:xfrm rot="16200000">
              <a:off x="7623048" y="1862554"/>
              <a:ext cx="1060704" cy="914400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482AE833-634A-02E0-4FBA-A8C93B427B9C}"/>
                </a:ext>
              </a:extLst>
            </p:cNvPr>
            <p:cNvSpPr/>
            <p:nvPr/>
          </p:nvSpPr>
          <p:spPr>
            <a:xfrm>
              <a:off x="7961378" y="1689754"/>
              <a:ext cx="3384000" cy="1260000"/>
            </a:xfrm>
            <a:prstGeom prst="roundRect">
              <a:avLst>
                <a:gd name="adj" fmla="val 743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9BB7A6B4-85B0-30F1-7D41-81536C4D19AC}"/>
                </a:ext>
              </a:extLst>
            </p:cNvPr>
            <p:cNvSpPr txBox="1"/>
            <p:nvPr/>
          </p:nvSpPr>
          <p:spPr>
            <a:xfrm>
              <a:off x="8051378" y="1781145"/>
              <a:ext cx="32040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そもそも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複雑な処理を書かない．どうしても書かなければならない場合は，関数として取り出し，関数名で説明する．</a:t>
              </a:r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AC4BD228-4BEA-5C41-04ED-F91B40132399}"/>
              </a:ext>
            </a:extLst>
          </p:cNvPr>
          <p:cNvGrpSpPr/>
          <p:nvPr/>
        </p:nvGrpSpPr>
        <p:grpSpPr>
          <a:xfrm>
            <a:off x="7696200" y="3069887"/>
            <a:ext cx="3649178" cy="1260000"/>
            <a:chOff x="7696200" y="3069887"/>
            <a:chExt cx="3649178" cy="1260000"/>
          </a:xfrm>
        </p:grpSpPr>
        <p:sp>
          <p:nvSpPr>
            <p:cNvPr id="12" name="三角形 11">
              <a:extLst>
                <a:ext uri="{FF2B5EF4-FFF2-40B4-BE49-F238E27FC236}">
                  <a16:creationId xmlns:a16="http://schemas.microsoft.com/office/drawing/2014/main" id="{6AFBEFE4-4CB7-EDC9-04FA-9668A826B933}"/>
                </a:ext>
              </a:extLst>
            </p:cNvPr>
            <p:cNvSpPr/>
            <p:nvPr/>
          </p:nvSpPr>
          <p:spPr>
            <a:xfrm rot="16200000">
              <a:off x="7623048" y="3242687"/>
              <a:ext cx="1060704" cy="914400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C5E7F32B-542C-5AB3-4814-FBE9C0226533}"/>
                </a:ext>
              </a:extLst>
            </p:cNvPr>
            <p:cNvSpPr/>
            <p:nvPr/>
          </p:nvSpPr>
          <p:spPr>
            <a:xfrm>
              <a:off x="7961378" y="3069887"/>
              <a:ext cx="3384000" cy="1260000"/>
            </a:xfrm>
            <a:prstGeom prst="roundRect">
              <a:avLst>
                <a:gd name="adj" fmla="val 743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B64D341-B29B-DEE9-AE75-3E3B00C15C3E}"/>
                </a:ext>
              </a:extLst>
            </p:cNvPr>
            <p:cNvSpPr txBox="1"/>
            <p:nvPr/>
          </p:nvSpPr>
          <p:spPr>
            <a:xfrm>
              <a:off x="8051378" y="3376722"/>
              <a:ext cx="320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Meiryo" panose="020B0604030504040204" pitchFamily="34" charset="-128"/>
                  <a:ea typeface="Meiryo" panose="020B0604030504040204" pitchFamily="34" charset="-128"/>
                </a:rPr>
                <a:t>Git</a:t>
              </a:r>
              <a:r>
                <a: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rPr>
                <a:t>などの版管理システムのコミットログに書く．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7B1340ED-6C4C-3CFC-0143-1143B898E885}"/>
              </a:ext>
            </a:extLst>
          </p:cNvPr>
          <p:cNvGrpSpPr/>
          <p:nvPr/>
        </p:nvGrpSpPr>
        <p:grpSpPr>
          <a:xfrm>
            <a:off x="7696200" y="4450019"/>
            <a:ext cx="3649178" cy="1260000"/>
            <a:chOff x="7696200" y="4450019"/>
            <a:chExt cx="3649178" cy="1260000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BCAC4FB3-FADE-7041-A120-E3C31C355954}"/>
                </a:ext>
              </a:extLst>
            </p:cNvPr>
            <p:cNvSpPr/>
            <p:nvPr/>
          </p:nvSpPr>
          <p:spPr>
            <a:xfrm rot="16200000">
              <a:off x="7623048" y="4622820"/>
              <a:ext cx="1060704" cy="914400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7AF72DD2-99D8-558F-2A37-C028756ECE68}"/>
                </a:ext>
              </a:extLst>
            </p:cNvPr>
            <p:cNvSpPr/>
            <p:nvPr/>
          </p:nvSpPr>
          <p:spPr>
            <a:xfrm>
              <a:off x="7961378" y="4450019"/>
              <a:ext cx="3384000" cy="1260000"/>
            </a:xfrm>
            <a:prstGeom prst="roundRect">
              <a:avLst>
                <a:gd name="adj" fmla="val 743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C96A1651-B612-5EDE-29F2-423AD4B80360}"/>
                </a:ext>
              </a:extLst>
            </p:cNvPr>
            <p:cNvSpPr txBox="1"/>
            <p:nvPr/>
          </p:nvSpPr>
          <p:spPr>
            <a:xfrm>
              <a:off x="8051378" y="4756854"/>
              <a:ext cx="320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ドキュメンテーションコメントとして書く．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266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4751B6-D7B4-D4A1-B4E8-7859499F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コードの美しさ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A6A7C6-EAEC-6FE2-EA06-5B3467279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目に優しいコードである．</a:t>
            </a:r>
            <a:endParaRPr kumimoji="1" lang="en-US" altLang="ja-JP" dirty="0"/>
          </a:p>
          <a:p>
            <a:pPr lvl="1"/>
            <a:r>
              <a:rPr lang="ja-JP" altLang="en-US"/>
              <a:t>余白，配置，順序に気を配る．</a:t>
            </a:r>
            <a:endParaRPr lang="en-US" altLang="ja-JP" dirty="0"/>
          </a:p>
          <a:p>
            <a:r>
              <a:rPr lang="ja-JP" altLang="en-US"/>
              <a:t>美しさのための３原則</a:t>
            </a:r>
            <a:endParaRPr lang="en-US" altLang="ja-JP" dirty="0"/>
          </a:p>
          <a:p>
            <a:pPr lvl="1"/>
            <a:r>
              <a:rPr kumimoji="1" lang="ja-JP" altLang="en-US"/>
              <a:t>一貫性のあるレイアウトを用いる．</a:t>
            </a:r>
            <a:endParaRPr kumimoji="1" lang="en-US" altLang="ja-JP" dirty="0"/>
          </a:p>
          <a:p>
            <a:pPr lvl="1"/>
            <a:r>
              <a:rPr lang="ja-JP" altLang="en-US"/>
              <a:t>似ているコードは似ているように見せる．</a:t>
            </a:r>
            <a:endParaRPr lang="en-US" altLang="ja-JP" dirty="0"/>
          </a:p>
          <a:p>
            <a:pPr lvl="1"/>
            <a:r>
              <a:rPr kumimoji="1" lang="ja-JP" altLang="en-US"/>
              <a:t>関連するコードはまとめる．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24E74F-EA44-B64B-938F-9F931F09B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F95F68-4F20-ADBA-F67A-508E4015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16</a:t>
            </a:fld>
            <a:endParaRPr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7251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0800E-42C2-4719-CCD3-0DB7255A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一貫性のあるレイアウト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05BB21-2787-6229-F3CF-DECD95BA7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kumimoji="1" lang="ja-JP" altLang="en-US"/>
              <a:t>改行位置</a:t>
            </a:r>
            <a:endParaRPr kumimoji="1" lang="en-US" altLang="ja-JP" dirty="0"/>
          </a:p>
          <a:p>
            <a:r>
              <a:rPr kumimoji="1" lang="ja-JP" altLang="en-US"/>
              <a:t>括弧の位置</a:t>
            </a:r>
            <a:endParaRPr lang="en-US" altLang="ja-JP" dirty="0"/>
          </a:p>
          <a:p>
            <a:r>
              <a:rPr kumimoji="1" lang="ja-JP" altLang="en-US"/>
              <a:t>縦に揃える</a:t>
            </a:r>
            <a:endParaRPr kumimoji="1" lang="en-US" altLang="ja-JP" dirty="0"/>
          </a:p>
          <a:p>
            <a:r>
              <a:rPr lang="ja-JP" altLang="en-US"/>
              <a:t>一貫性のある順序</a:t>
            </a:r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A9E456-F22E-1ED3-B1A1-10D80D0F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FB2A98-E7C0-AAD1-86B0-6D10CC8B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17</a:t>
            </a:fld>
            <a:endParaRPr lang="ja-JP" altLang="en-US" sz="18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97883C8-D4F2-067F-31AF-B780DA9BF685}"/>
              </a:ext>
            </a:extLst>
          </p:cNvPr>
          <p:cNvSpPr txBox="1"/>
          <p:nvPr/>
        </p:nvSpPr>
        <p:spPr>
          <a:xfrm>
            <a:off x="7293073" y="1825625"/>
            <a:ext cx="4060727" cy="11695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details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'details</a:t>
            </a:r>
            <a:r>
              <a:rPr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location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location'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phone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phone'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email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email'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1400" dirty="0" err="1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CF893F-CF07-C86B-D826-EC7539F7CB22}"/>
              </a:ext>
            </a:extLst>
          </p:cNvPr>
          <p:cNvSpPr txBox="1"/>
          <p:nvPr/>
        </p:nvSpPr>
        <p:spPr>
          <a:xfrm>
            <a:off x="7293073" y="3130113"/>
            <a:ext cx="4060727" cy="11695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details 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'details</a:t>
            </a:r>
            <a:r>
              <a:rPr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location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location'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phone   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phone'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email   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email'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=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request.POST.get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1400" dirty="0" err="1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1" lang="en-US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42CAFA-2966-AE1E-88CE-0D0FC86159BE}"/>
              </a:ext>
            </a:extLst>
          </p:cNvPr>
          <p:cNvSpPr txBox="1"/>
          <p:nvPr/>
        </p:nvSpPr>
        <p:spPr>
          <a:xfrm>
            <a:off x="7293073" y="5007412"/>
            <a:ext cx="4060727" cy="11695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if details: 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record.details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 = details</a:t>
            </a:r>
          </a:p>
          <a:p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if phone:    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record.phone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   = phone</a:t>
            </a:r>
          </a:p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if email:   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record.email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   = email</a:t>
            </a:r>
          </a:p>
          <a:p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:      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record.url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= 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endParaRPr lang="en-US" altLang="ja-JP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if location: </a:t>
            </a:r>
            <a:r>
              <a:rPr kumimoji="1"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record.location</a:t>
            </a:r>
            <a:r>
              <a:rPr kumimoji="1"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= location</a:t>
            </a:r>
          </a:p>
        </p:txBody>
      </p:sp>
      <p:sp>
        <p:nvSpPr>
          <p:cNvPr id="23" name="フリーフォーム 22">
            <a:extLst>
              <a:ext uri="{FF2B5EF4-FFF2-40B4-BE49-F238E27FC236}">
                <a16:creationId xmlns:a16="http://schemas.microsoft.com/office/drawing/2014/main" id="{3150C26B-C8CC-1DE1-CF9E-9911FD9821C3}"/>
              </a:ext>
            </a:extLst>
          </p:cNvPr>
          <p:cNvSpPr/>
          <p:nvPr/>
        </p:nvSpPr>
        <p:spPr>
          <a:xfrm flipV="1">
            <a:off x="6475478" y="3496784"/>
            <a:ext cx="817595" cy="2313507"/>
          </a:xfrm>
          <a:custGeom>
            <a:avLst/>
            <a:gdLst>
              <a:gd name="connsiteX0" fmla="*/ 614141 w 817595"/>
              <a:gd name="connsiteY0" fmla="*/ 2313507 h 2313507"/>
              <a:gd name="connsiteX1" fmla="*/ 817595 w 817595"/>
              <a:gd name="connsiteY1" fmla="*/ 2110053 h 2313507"/>
              <a:gd name="connsiteX2" fmla="*/ 614141 w 817595"/>
              <a:gd name="connsiteY2" fmla="*/ 1906599 h 2313507"/>
              <a:gd name="connsiteX3" fmla="*/ 614141 w 817595"/>
              <a:gd name="connsiteY3" fmla="*/ 2008326 h 2313507"/>
              <a:gd name="connsiteX4" fmla="*/ 359824 w 817595"/>
              <a:gd name="connsiteY4" fmla="*/ 2008326 h 2313507"/>
              <a:gd name="connsiteX5" fmla="*/ 207233 w 817595"/>
              <a:gd name="connsiteY5" fmla="*/ 1855735 h 2313507"/>
              <a:gd name="connsiteX6" fmla="*/ 207233 w 817595"/>
              <a:gd name="connsiteY6" fmla="*/ 802880 h 2313507"/>
              <a:gd name="connsiteX7" fmla="*/ 203454 w 817595"/>
              <a:gd name="connsiteY7" fmla="*/ 802880 h 2313507"/>
              <a:gd name="connsiteX8" fmla="*/ 203454 w 817595"/>
              <a:gd name="connsiteY8" fmla="*/ 457772 h 2313507"/>
              <a:gd name="connsiteX9" fmla="*/ 356045 w 817595"/>
              <a:gd name="connsiteY9" fmla="*/ 305181 h 2313507"/>
              <a:gd name="connsiteX10" fmla="*/ 610362 w 817595"/>
              <a:gd name="connsiteY10" fmla="*/ 305181 h 2313507"/>
              <a:gd name="connsiteX11" fmla="*/ 610362 w 817595"/>
              <a:gd name="connsiteY11" fmla="*/ 406908 h 2313507"/>
              <a:gd name="connsiteX12" fmla="*/ 813816 w 817595"/>
              <a:gd name="connsiteY12" fmla="*/ 203454 h 2313507"/>
              <a:gd name="connsiteX13" fmla="*/ 610362 w 817595"/>
              <a:gd name="connsiteY13" fmla="*/ 0 h 2313507"/>
              <a:gd name="connsiteX14" fmla="*/ 610362 w 817595"/>
              <a:gd name="connsiteY14" fmla="*/ 101727 h 2313507"/>
              <a:gd name="connsiteX15" fmla="*/ 356045 w 817595"/>
              <a:gd name="connsiteY15" fmla="*/ 101727 h 2313507"/>
              <a:gd name="connsiteX16" fmla="*/ 0 w 817595"/>
              <a:gd name="connsiteY16" fmla="*/ 457772 h 2313507"/>
              <a:gd name="connsiteX17" fmla="*/ 0 w 817595"/>
              <a:gd name="connsiteY17" fmla="*/ 1510627 h 2313507"/>
              <a:gd name="connsiteX18" fmla="*/ 3779 w 817595"/>
              <a:gd name="connsiteY18" fmla="*/ 1510627 h 2313507"/>
              <a:gd name="connsiteX19" fmla="*/ 3779 w 817595"/>
              <a:gd name="connsiteY19" fmla="*/ 1855735 h 2313507"/>
              <a:gd name="connsiteX20" fmla="*/ 359824 w 817595"/>
              <a:gd name="connsiteY20" fmla="*/ 2211780 h 2313507"/>
              <a:gd name="connsiteX21" fmla="*/ 614141 w 817595"/>
              <a:gd name="connsiteY21" fmla="*/ 2211780 h 231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17595" h="2313507">
                <a:moveTo>
                  <a:pt x="614141" y="2313507"/>
                </a:moveTo>
                <a:lnTo>
                  <a:pt x="817595" y="2110053"/>
                </a:lnTo>
                <a:lnTo>
                  <a:pt x="614141" y="1906599"/>
                </a:lnTo>
                <a:lnTo>
                  <a:pt x="614141" y="2008326"/>
                </a:lnTo>
                <a:lnTo>
                  <a:pt x="359824" y="2008326"/>
                </a:lnTo>
                <a:cubicBezTo>
                  <a:pt x="275550" y="2008326"/>
                  <a:pt x="207233" y="1940009"/>
                  <a:pt x="207233" y="1855735"/>
                </a:cubicBezTo>
                <a:lnTo>
                  <a:pt x="207233" y="802880"/>
                </a:lnTo>
                <a:lnTo>
                  <a:pt x="203454" y="802880"/>
                </a:lnTo>
                <a:lnTo>
                  <a:pt x="203454" y="457772"/>
                </a:lnTo>
                <a:cubicBezTo>
                  <a:pt x="203454" y="373498"/>
                  <a:pt x="271771" y="305181"/>
                  <a:pt x="356045" y="305181"/>
                </a:cubicBezTo>
                <a:lnTo>
                  <a:pt x="610362" y="305181"/>
                </a:lnTo>
                <a:lnTo>
                  <a:pt x="610362" y="406908"/>
                </a:lnTo>
                <a:lnTo>
                  <a:pt x="813816" y="203454"/>
                </a:lnTo>
                <a:lnTo>
                  <a:pt x="610362" y="0"/>
                </a:lnTo>
                <a:lnTo>
                  <a:pt x="610362" y="101727"/>
                </a:lnTo>
                <a:lnTo>
                  <a:pt x="356045" y="101727"/>
                </a:lnTo>
                <a:cubicBezTo>
                  <a:pt x="159407" y="101727"/>
                  <a:pt x="0" y="261134"/>
                  <a:pt x="0" y="457772"/>
                </a:cubicBezTo>
                <a:lnTo>
                  <a:pt x="0" y="1510627"/>
                </a:lnTo>
                <a:lnTo>
                  <a:pt x="3779" y="1510627"/>
                </a:lnTo>
                <a:lnTo>
                  <a:pt x="3779" y="1855735"/>
                </a:lnTo>
                <a:cubicBezTo>
                  <a:pt x="3779" y="2052373"/>
                  <a:pt x="163186" y="2211780"/>
                  <a:pt x="359824" y="2211780"/>
                </a:cubicBezTo>
                <a:lnTo>
                  <a:pt x="614141" y="221178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5941B4C-1BF8-8B90-5121-9603D6DB35AC}"/>
              </a:ext>
            </a:extLst>
          </p:cNvPr>
          <p:cNvSpPr txBox="1"/>
          <p:nvPr/>
        </p:nvSpPr>
        <p:spPr>
          <a:xfrm>
            <a:off x="6672064" y="4465742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順序に一貫性がないため，混乱のもとになる．</a:t>
            </a:r>
          </a:p>
        </p:txBody>
      </p:sp>
    </p:spTree>
    <p:extLst>
      <p:ext uri="{BB962C8B-B14F-4D97-AF65-F5344CB8AC3E}">
        <p14:creationId xmlns:p14="http://schemas.microsoft.com/office/powerpoint/2010/main" val="347647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23" grpId="0" animBg="1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DC9B11-CA1A-AC89-9BCB-2315025F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kumimoji="1" lang="ja-JP" altLang="en-US" sz="6600"/>
              <a:t>関連するコードはまとめる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1AB426-B4D6-0017-559C-E884794F5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kumimoji="1" lang="ja-JP" altLang="en-US"/>
              <a:t>意味ごとにまとめる．</a:t>
            </a:r>
            <a:endParaRPr kumimoji="1" lang="en-US" altLang="ja-JP" dirty="0"/>
          </a:p>
          <a:p>
            <a:pPr lvl="1">
              <a:lnSpc>
                <a:spcPct val="100000"/>
              </a:lnSpc>
            </a:pPr>
            <a:r>
              <a:rPr kumimoji="1" lang="ja-JP" altLang="en-US"/>
              <a:t>似たようなメソッドを近い位置に書く．</a:t>
            </a:r>
            <a:endParaRPr kumimoji="1" lang="en-US" altLang="ja-JP" dirty="0"/>
          </a:p>
          <a:p>
            <a:pPr lvl="1">
              <a:lnSpc>
                <a:spcPct val="100000"/>
              </a:lnSpc>
            </a:pPr>
            <a:r>
              <a:rPr kumimoji="1" lang="ja-JP" altLang="en-US"/>
              <a:t>同じ意味の処理を一つのクラス</a:t>
            </a:r>
            <a:r>
              <a:rPr kumimoji="1" lang="en-US" altLang="ja-JP" dirty="0"/>
              <a:t>/</a:t>
            </a:r>
            <a:r>
              <a:rPr kumimoji="1" lang="ja-JP" altLang="en-US"/>
              <a:t>ファイルにまとめる．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ja-JP" altLang="en-US"/>
              <a:t>「段落」に分割する．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/>
              <a:t>処理の区切りに空行を入れる．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AE5F76-2BFC-752D-3C0B-51217A0C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14B672-BD08-960C-0790-2FD5D799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18</a:t>
            </a:fld>
            <a:endParaRPr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2329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6DFC5-8ACE-F376-22D6-2316AB5D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関数</a:t>
            </a:r>
            <a:r>
              <a:rPr lang="ja-JP" altLang="en-US"/>
              <a:t>（メソッド）</a:t>
            </a:r>
            <a:r>
              <a:rPr kumimoji="1" lang="ja-JP" altLang="en-US"/>
              <a:t>の役割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C08E1A-DB98-D76D-F1F6-798E00EC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802416" cy="2433636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関数は処理を分割するためのものではない．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関数は処理に名前を付けるためのもの．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なぜ適切な名前を付けなければならないか．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複雑な処理内容を隠ぺいし，シンプルな名前で表現する．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関数の中を読まなくても内容を推測</a:t>
            </a:r>
            <a:br>
              <a:rPr lang="en-US" altLang="ja-JP" dirty="0"/>
            </a:br>
            <a:r>
              <a:rPr lang="ja-JP" altLang="en-US"/>
              <a:t>できる．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F5E174-694E-656D-FFBA-7933C0F8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2026-05-15</a:t>
            </a:r>
            <a:endParaRPr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C754DE-6FA7-A2E7-71B5-2B7ADA9E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19</a:t>
            </a:fld>
            <a:endParaRPr lang="ja-JP" altLang="en-US" sz="1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7E2AB90-89D5-2836-AA3B-AF72269A821B}"/>
              </a:ext>
            </a:extLst>
          </p:cNvPr>
          <p:cNvSpPr txBox="1"/>
          <p:nvPr/>
        </p:nvSpPr>
        <p:spPr>
          <a:xfrm>
            <a:off x="390292" y="4259262"/>
            <a:ext cx="5253361" cy="24622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(String[]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printLeapYearOrNot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Integer.valueOf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4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printLeapYearOrNot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year) {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(year %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&amp;&amp; (year %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|| year %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"%s: leap </a:t>
            </a:r>
            <a:r>
              <a:rPr lang="en" altLang="ja-JP" sz="1400" dirty="0" err="1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year%n</a:t>
            </a:r>
            <a:r>
              <a:rPr lang="en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year);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en" altLang="ja-JP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"%s: not leap </a:t>
            </a:r>
            <a:r>
              <a:rPr lang="en" altLang="ja-JP" sz="1400" dirty="0" err="1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year%n</a:t>
            </a:r>
            <a:r>
              <a:rPr lang="en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year);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kumimoji="1"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DA3758-F7E9-58FA-CC75-92E16A008581}"/>
              </a:ext>
            </a:extLst>
          </p:cNvPr>
          <p:cNvSpPr txBox="1"/>
          <p:nvPr/>
        </p:nvSpPr>
        <p:spPr>
          <a:xfrm>
            <a:off x="6548347" y="3612932"/>
            <a:ext cx="5253361" cy="31085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(String[]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printLeapYearOrNot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Integer.valueOf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4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printLeapYearOrNot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year) {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isLeapYear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(year))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"%s: leap </a:t>
            </a:r>
            <a:r>
              <a:rPr lang="en" altLang="ja-JP" sz="1400" dirty="0" err="1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year%n</a:t>
            </a:r>
            <a:r>
              <a:rPr lang="en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year);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en" altLang="ja-JP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"%s: not leap </a:t>
            </a:r>
            <a:r>
              <a:rPr lang="en" altLang="ja-JP" sz="1400" dirty="0" err="1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year%n</a:t>
            </a:r>
            <a:r>
              <a:rPr lang="en" altLang="ja-JP" sz="14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year);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" altLang="ja-JP" sz="14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4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isLeapYear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year) {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4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 %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&amp;&amp; (year %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|| year %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" altLang="ja-JP" sz="14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ja-JP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kumimoji="1"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52ED888-9D7F-4F10-066E-587582315DDD}"/>
              </a:ext>
            </a:extLst>
          </p:cNvPr>
          <p:cNvSpPr/>
          <p:nvPr/>
        </p:nvSpPr>
        <p:spPr>
          <a:xfrm>
            <a:off x="838200" y="1762696"/>
            <a:ext cx="6409927" cy="90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290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DDD4C-405C-7043-AF9D-F5837289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関数への分割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F047D1-33B9-1844-B981-F2203C1EB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785"/>
            <a:ext cx="4879504" cy="108170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コード全てを読む必要はない．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63F5DC-9CD0-3F48-A0EF-C2FACE2F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F81E70-91AB-0041-9526-FC7E27CA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F90A-C14B-4763-A506-BB86F6EA3743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6FC31E-2DFF-6741-91E4-77DF8818CCFA}"/>
              </a:ext>
            </a:extLst>
          </p:cNvPr>
          <p:cNvSpPr txBox="1"/>
          <p:nvPr/>
        </p:nvSpPr>
        <p:spPr>
          <a:xfrm>
            <a:off x="258451" y="2566491"/>
            <a:ext cx="5383792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Triangle1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(String[]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args.length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辺が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つありません．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Integer a =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Integer.parseInt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Integer b =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Integer.parseInt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Integer c =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Integer.parseInt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 &lt;=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|| b &lt;=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|| c &lt;=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長さが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以下の辺があります．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n"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((a + b) &lt;= c || (b + c) &lt;= a || (a + c) &lt;= b){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三角形になっていません．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n"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 s = (a + b + c) /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2.0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 area =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Math.sqrt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 * (s - a) * (s - b) * (s - c));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入力された三角形の面積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%</a:t>
            </a:r>
            <a:r>
              <a:rPr lang="en" altLang="ja-JP" sz="1200" dirty="0" err="1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f%n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area);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" altLang="ja-JP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ja-JP" altLang="en-US" sz="1200" dirty="0">
              <a:latin typeface="Consolas" panose="020B0609020204030204" pitchFamily="49" charset="0"/>
              <a:ea typeface="Consolas" charset="0"/>
              <a:cs typeface="Consolas" panose="020B06090202040302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C467C86-E825-A24F-848A-67B00CE7C2D1}"/>
              </a:ext>
            </a:extLst>
          </p:cNvPr>
          <p:cNvSpPr txBox="1"/>
          <p:nvPr/>
        </p:nvSpPr>
        <p:spPr>
          <a:xfrm>
            <a:off x="5921172" y="0"/>
            <a:ext cx="6194628" cy="821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Triangle2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Integer a, b, c;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(String[]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new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Triangle2().run(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(String[]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(!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readEachSide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)) {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辺が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つありません．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isTriangle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(a, b, c)) {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入力された三角形の面積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%</a:t>
            </a:r>
            <a:r>
              <a:rPr lang="en" altLang="ja-JP" sz="1200" dirty="0" err="1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f%n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calculateArea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(c, b, c));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Boolean </a:t>
            </a:r>
            <a:r>
              <a:rPr lang="en" altLang="ja-JP" sz="12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isTriangle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(Integer a, Integer b, Integer c) {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isEachSidePositive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(a, b, c) &amp;&amp;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isValidTriangle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(a, b, c);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Boolean </a:t>
            </a:r>
            <a:r>
              <a:rPr lang="en" altLang="ja-JP" sz="12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isEachSidePositive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(Integer a, Integer b, Integer c) {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(a &lt;=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|| b &lt;=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|| c &lt;=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長さが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以下の辺があります．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Boolean </a:t>
            </a:r>
            <a:r>
              <a:rPr lang="en" altLang="ja-JP" sz="12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isValidTriangle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(Integer a, Integer b, Integer c) {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((a + b) &lt;= c || (b + c) &lt;= a || (a + c) &lt;= b) {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ja-JP" altLang="en-US" sz="120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三角形になっていません．</a:t>
            </a:r>
            <a:r>
              <a:rPr lang="en-US" altLang="ja-JP" sz="1200" dirty="0">
                <a:solidFill>
                  <a:srgbClr val="756BB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Double </a:t>
            </a:r>
            <a:r>
              <a:rPr lang="en" altLang="ja-JP" sz="12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calculateArea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(Integer a, Integer b, Integer c) {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Double s = (a + b + c) /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2.0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Math.sqrt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(s * (s - a) * (s - b) * (s - c));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Boolean </a:t>
            </a:r>
            <a:r>
              <a:rPr lang="en" altLang="ja-JP" sz="12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readEachSide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(String[]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args.length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.a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Integer.parseInt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.b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Integer.parseInt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ja-JP" sz="1200" dirty="0" err="1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.c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Integer.parseInt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ja-JP" sz="1200" dirty="0">
                <a:solidFill>
                  <a:srgbClr val="31A35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>
                <a:solidFill>
                  <a:srgbClr val="3182B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7EF2868B-D9EF-B14A-99DE-4845DD08CC00}"/>
              </a:ext>
            </a:extLst>
          </p:cNvPr>
          <p:cNvSpPr/>
          <p:nvPr/>
        </p:nvSpPr>
        <p:spPr>
          <a:xfrm>
            <a:off x="5960410" y="188640"/>
            <a:ext cx="5040560" cy="2520281"/>
          </a:xfrm>
          <a:prstGeom prst="roundRect">
            <a:avLst>
              <a:gd name="adj" fmla="val 3309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541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7F9A23-B623-BCFE-3336-4DD1C4D8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Coding with AI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CF1E52-2230-ABE7-19C6-D95F25487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dirty="0"/>
              <a:t>AI</a:t>
            </a:r>
            <a:r>
              <a:rPr kumimoji="1" lang="ja-JP" altLang="en-US"/>
              <a:t>を使ってコーディングしよう。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ja-JP" altLang="en-US"/>
              <a:t>草案を作成するのには非常に有能である。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kumimoji="1" lang="ja-JP" altLang="en-US"/>
              <a:t>一方、細かい処理の修正は手作業のほうが早い場合がある。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kumimoji="1" lang="en-US" altLang="ja-JP" dirty="0"/>
              <a:t>AI</a:t>
            </a:r>
            <a:r>
              <a:rPr kumimoji="1" lang="ja-JP" altLang="en-US"/>
              <a:t>の出力内容を盲信しないこと。</a:t>
            </a:r>
            <a:endParaRPr kumimoji="1"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/>
              <a:t>あくまでも主体は人間である。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B11B9A-4228-5F37-2EEB-DF409250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1B28B0-514D-F834-CDAD-461570B6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85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22674D-B012-8909-FF12-D1F81673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CLI vs </a:t>
            </a:r>
            <a:r>
              <a:rPr kumimoji="1" lang="ja-JP" altLang="en-US"/>
              <a:t>ブラウザ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18BBDC-7742-E27E-17EF-9EB561D3C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ja-JP" altLang="en-US"/>
              <a:t>プログラミングにおいては</a:t>
            </a:r>
            <a:r>
              <a:rPr lang="en-US" altLang="ja-JP" dirty="0"/>
              <a:t>CLI</a:t>
            </a:r>
            <a:r>
              <a:rPr lang="ja-JP" altLang="en-US"/>
              <a:t>を使おう。</a:t>
            </a:r>
            <a:endParaRPr lang="en-US" altLang="ja-JP" dirty="0"/>
          </a:p>
          <a:p>
            <a:pPr>
              <a:lnSpc>
                <a:spcPct val="110000"/>
              </a:lnSpc>
            </a:pPr>
            <a:r>
              <a:rPr lang="en-US" altLang="ja-JP" dirty="0"/>
              <a:t>CLI Client</a:t>
            </a:r>
            <a:r>
              <a:rPr lang="ja-JP" altLang="en-US"/>
              <a:t>の優位点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ワークスペース全体を把握できる。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シェルコマンドを実行できるため、誤りを自己修正できる。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ソースコード、</a:t>
            </a:r>
            <a:r>
              <a:rPr lang="en-US" altLang="ja-JP" dirty="0"/>
              <a:t>README</a:t>
            </a:r>
            <a:r>
              <a:rPr lang="ja-JP" altLang="en-US"/>
              <a:t>などの修正も依頼できる。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982A42-48FC-3CEB-189D-9377F2A89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0D2264-4FB4-8006-396F-408DE365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36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B1976C-E84A-3A9D-5949-5CB86724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CLI Client of AI Agent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4E85B0-5909-8480-1243-ACB6D741D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96553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Gemini CLI</a:t>
            </a:r>
          </a:p>
          <a:p>
            <a:pPr lvl="1">
              <a:lnSpc>
                <a:spcPct val="120000"/>
              </a:lnSpc>
            </a:pPr>
            <a:r>
              <a:rPr lang="ja-JP" altLang="en-US" b="1"/>
              <a:t>設計思想</a:t>
            </a:r>
            <a:r>
              <a:rPr lang="ja-JP" altLang="en-US"/>
              <a:t>　高速な実務家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b="1"/>
              <a:t>強み　　</a:t>
            </a:r>
            <a:r>
              <a:rPr lang="ja-JP" altLang="en-US"/>
              <a:t>　巨大な記憶・速度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Claude Code</a:t>
            </a:r>
          </a:p>
          <a:p>
            <a:pPr lvl="1">
              <a:lnSpc>
                <a:spcPct val="120000"/>
              </a:lnSpc>
            </a:pPr>
            <a:r>
              <a:rPr lang="ja-JP" altLang="en-US" b="1"/>
              <a:t>設計思想</a:t>
            </a:r>
            <a:r>
              <a:rPr lang="ja-JP" altLang="en-US"/>
              <a:t>　自立型エージェント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b="1"/>
              <a:t>強み　　</a:t>
            </a:r>
            <a:r>
              <a:rPr lang="ja-JP" altLang="en-US"/>
              <a:t>　深い思考・外部連携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/>
              <a:t>GitHub Copilot CLI</a:t>
            </a:r>
          </a:p>
          <a:p>
            <a:pPr lvl="1">
              <a:lnSpc>
                <a:spcPct val="120000"/>
              </a:lnSpc>
            </a:pPr>
            <a:r>
              <a:rPr lang="ja-JP" altLang="en-US" b="1"/>
              <a:t>設計思想</a:t>
            </a:r>
            <a:r>
              <a:rPr lang="ja-JP" altLang="en-US"/>
              <a:t>　統合開発環境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 b="1"/>
              <a:t>強み　　</a:t>
            </a:r>
            <a:r>
              <a:rPr kumimoji="1" lang="ja-JP" altLang="en-US"/>
              <a:t>　</a:t>
            </a:r>
            <a:r>
              <a:rPr lang="en-US" altLang="ja-JP" dirty="0"/>
              <a:t>GitHub</a:t>
            </a:r>
            <a:r>
              <a:rPr lang="ja-JP" altLang="en-US"/>
              <a:t>との密連携</a:t>
            </a:r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B3700F-2A06-E3E2-69E1-384FB6115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10766" y="1825625"/>
            <a:ext cx="4643034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基本的にどれを使っても良い。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劇的にそれぞれの特徴を出すためにはもっと使い込む必要がある。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1930DB-D5A9-58E2-589A-0EFBFBC3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059781-E028-5E61-DF93-5A4B999D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13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E3A764-47B0-E472-721B-CF1FEB60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プロンプト</a:t>
            </a:r>
            <a:br>
              <a:rPr kumimoji="1" lang="en-US" altLang="ja-JP" dirty="0"/>
            </a:br>
            <a:r>
              <a:rPr kumimoji="1" lang="ja-JP" altLang="en-US" sz="4000"/>
              <a:t>玉田の実行結果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C91BA9F-0FA5-97DD-CE4B-7AFB69214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以降、ブランチを作成し、そこで適切なタイミングでコミットし、履歴を残してください。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/assets/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spec.md</a:t>
            </a:r>
            <a:r>
              <a:rPr lang="ja-JP" altLang="en-US"/>
              <a:t>を読んでプログラムを作成してください。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ツールの</a:t>
            </a:r>
            <a:r>
              <a:rPr lang="en-US" altLang="ja-JP" dirty="0"/>
              <a:t>CLI</a:t>
            </a:r>
            <a:r>
              <a:rPr lang="ja-JP" altLang="en-US"/>
              <a:t>インターフェースは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cli/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main.rs</a:t>
            </a:r>
            <a:r>
              <a:rPr lang="ja-JP" altLang="en-US"/>
              <a:t>に移して、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ja-JP" altLang="en-US"/>
              <a:t>以下は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lib.rs</a:t>
            </a:r>
            <a:r>
              <a:rPr lang="ja-JP" altLang="en-US"/>
              <a:t>を起点としてください。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処理を関数に分けて下さい。関数は最大でも</a:t>
            </a:r>
            <a:r>
              <a:rPr lang="en-US" altLang="ja-JP" dirty="0"/>
              <a:t>20</a:t>
            </a:r>
            <a:r>
              <a:rPr lang="ja-JP" altLang="en-US"/>
              <a:t>行以上とし、それ以上であれば適切に関数に分割してください。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結果を</a:t>
            </a:r>
            <a:r>
              <a:rPr lang="en-US" altLang="ja-JP" dirty="0"/>
              <a:t>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altLang="ja-JP" dirty="0"/>
              <a:t> </a:t>
            </a:r>
            <a:r>
              <a:rPr lang="ja-JP" altLang="en-US"/>
              <a:t>で出力するのではなく、関数の返り値として返してください。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cargo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clippy</a:t>
            </a:r>
            <a:r>
              <a:rPr lang="ja-JP" altLang="en-US"/>
              <a:t>を実行し、</a:t>
            </a:r>
            <a:r>
              <a:rPr lang="en-US" altLang="ja-JP" dirty="0"/>
              <a:t>warning</a:t>
            </a:r>
            <a:r>
              <a:rPr lang="ja-JP" altLang="en-US"/>
              <a:t>が出ないよう修正してください。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単体テストを作成し、カバレッジを高めてください。</a:t>
            </a:r>
            <a:endParaRPr lang="en-US" altLang="ja-JP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CEEAEB-F57E-ECAA-5EE4-305263BF8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E64323-3B18-B303-FC8D-FC2B024A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13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3DD2D0-1630-E9A0-9C02-5FDE96C1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コードレビュー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8DE9AE-6F01-0E4B-42CE-BBC991DE5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kumimoji="1" lang="ja-JP" altLang="en-US"/>
              <a:t>コードを読もう。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ja-JP" altLang="en-US"/>
              <a:t>わからない箇所は</a:t>
            </a:r>
            <a:r>
              <a:rPr lang="en-US" altLang="ja-JP" dirty="0"/>
              <a:t>AI</a:t>
            </a:r>
            <a:r>
              <a:rPr lang="ja-JP" altLang="en-US"/>
              <a:t>に聞こう。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kumimoji="1" lang="ja-JP" altLang="en-US"/>
              <a:t>この関数は何している？</a:t>
            </a:r>
            <a:endParaRPr lang="en-US" altLang="ja-JP" dirty="0"/>
          </a:p>
          <a:p>
            <a:pPr lvl="2">
              <a:lnSpc>
                <a:spcPct val="100000"/>
              </a:lnSpc>
            </a:pPr>
            <a:r>
              <a:rPr kumimoji="1" lang="ja-JP" altLang="en-US"/>
              <a:t>この質問のためにも細かく関数に分けるよう</a:t>
            </a:r>
            <a:r>
              <a:rPr kumimoji="1" lang="en-US" altLang="ja-JP" dirty="0"/>
              <a:t>AI</a:t>
            </a:r>
            <a:r>
              <a:rPr kumimoji="1" lang="ja-JP" altLang="en-US"/>
              <a:t>に依頼しよう。</a:t>
            </a:r>
            <a:endParaRPr kumimoji="1" lang="en-US" altLang="ja-JP" dirty="0"/>
          </a:p>
          <a:p>
            <a:pPr lvl="2">
              <a:lnSpc>
                <a:spcPct val="100000"/>
              </a:lnSpc>
            </a:pPr>
            <a:r>
              <a:rPr kumimoji="1" lang="ja-JP" altLang="en-US"/>
              <a:t>長い関数は理解が困難になる。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6F9298-7FAD-F247-5C3B-14C09C50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2026-05-15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7F3B98-123B-2593-0E1C-EEFFED65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3865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03B61-C857-00F5-16C1-AF6B7023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FD49E5-7A60-D71F-E787-2C04F00B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CB2B4B-746D-461B-A0BF-8ACF28BC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2026-04-24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80AECF1-482F-16C3-7582-F119AB73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26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00E9CE8-892D-3775-3199-F95545141967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017CE6B-E0D1-38C4-5C19-B96859913DD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D7A55A2B-1D88-556B-C200-957061DB670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1C2DCD0-4E7D-F03E-FAAF-863B327DA59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75F92984-FF00-95D2-0AB5-65CBA93F65F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C79C50A8-81D3-3687-9B8F-084397621822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89FBAAE0-F68B-5257-C938-FE5A72E2FCC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C7635EE4-30C2-4D5F-6123-8F6DA7D4EE0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873E234-4CF6-EE60-C0E8-B992C4158D6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2D1C2D4E-E158-3972-0367-3375C52CB88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8D920F9D-3CD6-AA96-D54F-5FF0E4A75BB8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93A7500-1D21-5CC9-7F49-767D1C7ECC3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72BD5D8F-30B1-F5F7-B2E1-C32CB4BF7D0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37336ACE-72AE-E717-6DB0-312B99D0D20C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23DBC740-8EAC-01E4-2B27-7A7FF6666CB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7404146F-1686-A3FB-E5F0-F5BDFC9F9A85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8496C4A9-5EBE-AD36-3FB1-8846DCDAA3A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F2C6D58E-6026-8D78-60F5-F4BBF552C541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26062B67-C431-C32D-D699-4D34905512D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AD533060-341C-FD35-3956-4F8D8A63C13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DCDDDAD9-7AB3-F3CF-C78A-0E0FC16BCF18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76043A51-73BA-36F9-AB1D-3C02001E71F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1D6B51E9-1D79-B727-FCC9-A34A81DF381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F5010D00-4D5C-3166-7F47-2B3994A4581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3C9997F2-B111-4C44-9657-FB37DE828F0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917E49D2-101F-F7E6-3D8E-64961AE31D7B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2F1BC30C-B9F9-3B93-C296-A07130F816D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72CA20D2-29F4-0AD2-2850-E459D69CD30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E0174F6D-AD73-3BD9-0DB8-3C98AE03560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71088045-BB08-3A76-3FDE-A9BA1021CAE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0AFE7B54-4D19-98A5-9E9A-BC7EE471DB12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277691FF-81E6-AE36-3AB9-5E9F3CFE66B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8F318029-4382-0D91-BA99-5493F575FC4B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449CA3C2-CE88-ED70-D506-96CF101AB1C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9D4EB8DF-AD1A-77F2-FADE-FEFA486D901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947C82E9-7E3D-869D-7BB5-A84E991C7A6C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65FA23CE-49EF-988C-39F0-6DAD219F06F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0D26B0E3-FA6E-F9D6-9E8F-E118DB34C60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8F4178D4-70D0-742D-C63D-A87FBC8CF73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54FBF9B9-52A7-F7A5-8228-5CD138A01CC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29947E9C-C361-1A24-8900-A75081C679BB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D7D0285-4416-0EE9-C2E0-42F05CDA633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FB577D13-D772-4EFD-D49C-0484EA1ACF81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241BEBEC-4B30-325C-B571-7DC7782454C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1714D08D-FF92-515D-177F-838C1F3ECCA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6E2ABB6-F026-CB4D-0651-AF8DECE95979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11158B3-6AF9-96E3-C035-CB2EF1C643E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B93262A7-534E-2A50-86C7-C3A95606B378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4AEE9E7-5E6D-BB73-900D-BCE12E335CAC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196070DF-AD95-79A0-5A1F-4E29EC04255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222B2F0-66A4-B18D-BC61-F596B409E94C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A9F523D9-B01A-FCB1-EB2C-959A7FE9DDF9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77663636-1ED1-3CEB-23A7-EF18AC84E45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14AC2A6-AE04-4D98-6BCE-38FB6FFAB68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BF72F5CE-E0F4-0BC3-B049-7AB947F1A59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AE684A8-06FC-53B9-03DC-D166187EE0E2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000AB3F1-E085-4767-E474-5C874CA958C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B8C6B612-7763-EC65-631E-444DB36F552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29F4A1DC-6063-C018-FE88-5D0F301F452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69941FAB-B0D1-ED1A-55DD-87697B8E7FB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67287C5-D51F-C521-E39C-E73357852EF0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656001C-28F5-88F0-6E3E-776CDA7B7D2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EECDACD4-554A-7F10-5C46-8F682130C9D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48EF7825-1743-24EA-48D0-3CE693F2E7B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CE7CC63A-9A68-9ADB-1C4E-8852F927A2E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F6E85D3-138C-CB3E-9715-9E589D3EC3AE}"/>
              </a:ext>
            </a:extLst>
          </p:cNvPr>
          <p:cNvSpPr/>
          <p:nvPr/>
        </p:nvSpPr>
        <p:spPr>
          <a:xfrm>
            <a:off x="712199" y="130047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AC46B6A9-C470-2F11-3D0A-BB42B681F920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63F23168-4A26-E33C-7084-76E4FFE99812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EE5C8771-25B9-D68A-EB20-CADFAE458E5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2CB60FA0-B3AC-2145-A5C8-2FAC348FB47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C5540B13-59DD-76F5-5590-520BE40F3B5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724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B92DAC1-B206-6E4D-9DDA-F3C380F9C271}" vid="{0ECE7065-281A-B545-8D42-4EC5E612C96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19749</TotalTime>
  <Words>3356</Words>
  <Application>Microsoft Macintosh PowerPoint</Application>
  <PresentationFormat>ワイド画面</PresentationFormat>
  <Paragraphs>477</Paragraphs>
  <Slides>26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2" baseType="lpstr">
      <vt:lpstr>Meiryo</vt:lpstr>
      <vt:lpstr>游ゴシック</vt:lpstr>
      <vt:lpstr>Arial</vt:lpstr>
      <vt:lpstr>Consolas</vt:lpstr>
      <vt:lpstr>Courier New</vt:lpstr>
      <vt:lpstr>Office テーマ</vt:lpstr>
      <vt:lpstr>エンピリカル ソフトウェア工学 第05回 プログラミング (1/3)</vt:lpstr>
      <vt:lpstr>講義スケジュール</vt:lpstr>
      <vt:lpstr>プログラミング 気を付けておくべきこと</vt:lpstr>
      <vt:lpstr>プログラムは読み易く なければならない．</vt:lpstr>
      <vt:lpstr>納期直前のスピード優先</vt:lpstr>
      <vt:lpstr>読みやすい プログラムとは</vt:lpstr>
      <vt:lpstr>命名規則 Naming Convention</vt:lpstr>
      <vt:lpstr>基本的な命名規則</vt:lpstr>
      <vt:lpstr>CamelCase, snake_case</vt:lpstr>
      <vt:lpstr>読みやすい プログラムとは</vt:lpstr>
      <vt:lpstr>コメントの種類</vt:lpstr>
      <vt:lpstr>コメント その他のコメント</vt:lpstr>
      <vt:lpstr>無駄なコメント例</vt:lpstr>
      <vt:lpstr>最近のコメント談義</vt:lpstr>
      <vt:lpstr>コメント内容の種類[3]</vt:lpstr>
      <vt:lpstr>コードの美しさ</vt:lpstr>
      <vt:lpstr>一貫性のあるレイアウト</vt:lpstr>
      <vt:lpstr>関連するコードはまとめる</vt:lpstr>
      <vt:lpstr>関数（メソッド）の役割</vt:lpstr>
      <vt:lpstr>関数への分割</vt:lpstr>
      <vt:lpstr>Coding with AI</vt:lpstr>
      <vt:lpstr>CLI vs ブラウザ</vt:lpstr>
      <vt:lpstr>CLI Client of AI Agent</vt:lpstr>
      <vt:lpstr>プロンプト 玉田の実行結果</vt:lpstr>
      <vt:lpstr>コードレビュー</vt:lpstr>
      <vt:lpstr>講義スケジュール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TAMADA HARUAKI</dc:creator>
  <cp:lastModifiedBy>TAMADA HARUAKI</cp:lastModifiedBy>
  <cp:revision>597</cp:revision>
  <dcterms:created xsi:type="dcterms:W3CDTF">2022-04-24T10:54:34Z</dcterms:created>
  <dcterms:modified xsi:type="dcterms:W3CDTF">2026-05-15T04:02:12Z</dcterms:modified>
</cp:coreProperties>
</file>