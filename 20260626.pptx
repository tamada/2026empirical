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546" r:id="rId3"/>
    <p:sldId id="326" r:id="rId4"/>
    <p:sldId id="334" r:id="rId5"/>
    <p:sldId id="329" r:id="rId6"/>
    <p:sldId id="327" r:id="rId7"/>
    <p:sldId id="328" r:id="rId8"/>
    <p:sldId id="332" r:id="rId9"/>
    <p:sldId id="333" r:id="rId10"/>
    <p:sldId id="339" r:id="rId11"/>
    <p:sldId id="337" r:id="rId12"/>
    <p:sldId id="338" r:id="rId13"/>
    <p:sldId id="336" r:id="rId14"/>
    <p:sldId id="555" r:id="rId15"/>
    <p:sldId id="341" r:id="rId16"/>
    <p:sldId id="340" r:id="rId17"/>
    <p:sldId id="380" r:id="rId18"/>
    <p:sldId id="382" r:id="rId19"/>
    <p:sldId id="547" r:id="rId20"/>
    <p:sldId id="548" r:id="rId21"/>
    <p:sldId id="344" r:id="rId22"/>
    <p:sldId id="342" r:id="rId23"/>
    <p:sldId id="349" r:id="rId24"/>
    <p:sldId id="343" r:id="rId25"/>
    <p:sldId id="550" r:id="rId26"/>
    <p:sldId id="551" r:id="rId27"/>
    <p:sldId id="553" r:id="rId28"/>
    <p:sldId id="508" r:id="rId29"/>
    <p:sldId id="511" r:id="rId30"/>
    <p:sldId id="512" r:id="rId31"/>
    <p:sldId id="521" r:id="rId32"/>
    <p:sldId id="520" r:id="rId33"/>
    <p:sldId id="552" r:id="rId34"/>
    <p:sldId id="554" r:id="rId35"/>
    <p:sldId id="335" r:id="rId36"/>
    <p:sldId id="549" r:id="rId3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8659"/>
    <a:srgbClr val="027D01"/>
    <a:srgbClr val="FFC56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45"/>
    <p:restoredTop sz="81233"/>
  </p:normalViewPr>
  <p:slideViewPr>
    <p:cSldViewPr snapToGrid="0" snapToObjects="1">
      <p:cViewPr varScale="1">
        <p:scale>
          <a:sx n="97" d="100"/>
          <a:sy n="97" d="100"/>
        </p:scale>
        <p:origin x="512" y="200"/>
      </p:cViewPr>
      <p:guideLst/>
    </p:cSldViewPr>
  </p:slideViewPr>
  <p:outlineViewPr>
    <p:cViewPr>
      <p:scale>
        <a:sx n="33" d="100"/>
        <a:sy n="33" d="100"/>
      </p:scale>
      <p:origin x="0" y="-1735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E0D3F-88AC-AC4C-A850-A113E8478B35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FEFE4-0067-BE4A-AB74-27D08C169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888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278A6-3D69-3F45-625D-49674D3C5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A6F71B5-3C80-3EA2-05C4-D60956ECA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FEE8E66-2EFC-C66C-853D-BED967492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7ECAFA-33A9-3DC0-40AF-D8AABF133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0934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2317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69082-4520-BF62-E34A-E7B1C8CD4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09D3900-DE4D-7BAA-AC27-DB5F81C80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0D9B4C0-E44F-8C28-B685-00131B84B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68621E-6522-54FA-46FC-1159D6EAD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36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0219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AE3F1-6860-34FB-F2AC-E3181A6AF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4CD0B15-C8B7-00F7-DBE9-D3AD533D2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AC3DEB-6E35-D2D0-EABA-F8A19BBD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835D15-762E-39B0-0A6F-14EFF50B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5DFDF9-92D5-0273-6AA5-EE561AF63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430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8965E4-8E20-9D46-6D12-F877A919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23E8D2-3A17-78BF-F4C2-CDF62ACF4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D23703-4802-F8D8-D9BF-C6ABE5C8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3C5D23-A2A0-1968-4ACC-1B1357A4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2682BA-033D-1B7D-4861-DDD343E9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06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9F4E9-7F37-2DF8-78B9-30C3125A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5BF7F8-9D3C-A422-471A-C8A1E82F8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120F65-AA40-72A0-770D-E19A2FA9B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681911-2B29-A9AD-E565-FF8CD6242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A1582B-A53B-0238-DBDB-FB5DBFD8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36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4232BC-8A6A-9D3A-A1D9-3080F812A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82D8DC-6AD4-FA7E-3F14-DB7C79ACD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DE28B2-EF25-CC14-3531-75FEF0B68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3A7B7E-A26D-8BA6-BB1E-8237CE6F2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B7E107-84C7-8B82-2567-9E3F901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7C7FA1-4591-F30A-BC2B-286C70E6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595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054A32-DEA7-69BE-B62E-A62243835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BEF868-DDA1-C4EB-6743-489DC5FCD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539B8F-A2A1-CF4F-742C-F6839C57B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13E432-90C9-F616-1A3C-AE747080A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CAA48B9-2830-0B1B-940E-B2239ADE2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B4728E-F8C1-F17A-C937-B880D97E8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3C6BA5-320F-AD96-EF9C-4688CD1C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91151E6-2A46-0BFB-C19C-182A2D46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156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FFCE36-69F6-8D82-66E2-2BE7E5650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B3D72AD-5495-9467-9401-F6186DDB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62EC51-A3D5-EC3F-7813-ADEA4FCA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3AA073C-2BE4-2466-8413-FEE9DE4D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636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4254B13-A92B-C641-0C83-88C8E8C0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0A961BE-BDDF-24BF-A624-7B4A792F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82A63C-7150-3E3B-E0A7-4FAFA23A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17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8DCBFD-B9B9-C88D-4AF2-DA5E9D14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20645C-911D-D877-789A-4ABCA1607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35085C-0945-616B-1D39-35150C87E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5E25B3-F458-1F25-BA2A-10D3E7E26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09217E-3F73-CCE8-77EF-A52308AC8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0295A2-6412-27A3-80DB-4DC7AF9F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79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AA11E3-5007-3320-F7E6-691E1139D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3AA4DA3-E363-0E1A-C5EE-67CFA080E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D13344-E496-4753-C58C-D01D8C7BC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56EEBB-B395-8892-612D-06BBEE164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A73243-636B-AD34-97B8-096CAB4B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1AB26F-070D-AA48-1A17-487ABD43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74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99E654-7E7E-36B3-ADB0-3093EC9FF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9AB095-4BA5-2299-C02F-2E56585C2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B78716-480A-7430-C0FA-4F0DC0168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B42CF7-BBCD-5D04-D7AD-CBC09AA5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8D3898-C8CD-BE96-524B-6C3F9211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145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1886E9-6CAD-71F6-5345-FA1396703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2359E1-F40F-3D47-6DF2-882BD86EA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18D548-5283-77D1-F67F-6EC5C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CD1D05-E6FD-9267-0EA3-57EE28C4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33F417-24E0-EE42-C260-DDADA437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317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2F236BC-AAF6-B861-739B-86FA3431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50FC96-8BC7-5FBA-D355-BCF93438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AD1E11-9D31-C316-E911-911DC842E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altLang="ja-JP"/>
              <a:t>2026-06-26</a:t>
            </a:r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552398-2A83-C162-F251-7C27A4C85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2060AB-9F59-AB6D-F6F6-574D92AC7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0B8845E4-5C92-A046-BB66-E5D9CC995B08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5297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66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4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qiita.com/tajima_taso/items/28938415846dcc2e83f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togetter.com/li/1943328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ttings/tokens/new" TargetMode="External"/><Relationship Id="rId2" Type="http://schemas.openxmlformats.org/officeDocument/2006/relationships/hyperlink" Target="https://docs.github.com/en/packages/working-with-a-github-packages-registry/working-with-the-container-registry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B5784E-BEC4-EB82-3848-F83C83012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2" y="1122363"/>
            <a:ext cx="12178937" cy="2387600"/>
          </a:xfrm>
        </p:spPr>
        <p:txBody>
          <a:bodyPr/>
          <a:lstStyle/>
          <a:p>
            <a:r>
              <a:rPr lang="ja-JP" altLang="en-US"/>
              <a:t>エンピリカル</a:t>
            </a:r>
            <a:br>
              <a:rPr lang="en-US" altLang="ja-JP" dirty="0"/>
            </a:br>
            <a:r>
              <a:rPr lang="ja-JP" altLang="en-US"/>
              <a:t>ソフトウェア工学</a:t>
            </a:r>
            <a:br>
              <a:rPr lang="en-US" altLang="ja-JP" dirty="0"/>
            </a:br>
            <a:r>
              <a:rPr lang="ja-JP" altLang="en-US"/>
              <a:t>第</a:t>
            </a:r>
            <a:r>
              <a:rPr lang="en-US" altLang="ja-JP" dirty="0"/>
              <a:t>11</a:t>
            </a:r>
            <a:r>
              <a:rPr lang="ja-JP" altLang="en-US"/>
              <a:t>回</a:t>
            </a:r>
            <a:r>
              <a:rPr lang="en-US" altLang="ja-JP" dirty="0"/>
              <a:t> Docker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B687755-EB78-813E-2AE5-266F2715E1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2026-06-26</a:t>
            </a:r>
          </a:p>
          <a:p>
            <a:r>
              <a:rPr lang="ja-JP" altLang="en-US"/>
              <a:t>玉田</a:t>
            </a:r>
            <a:r>
              <a:rPr lang="en-US" altLang="ja-JP" dirty="0"/>
              <a:t> </a:t>
            </a:r>
            <a:r>
              <a:rPr lang="ja-JP" altLang="en-US"/>
              <a:t>春昭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5A0BDC-22A6-7CC7-0358-1C2E0915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D24184-6358-A3E9-85F2-F35BC4F1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804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83F2D-9EC7-AAA4-916F-D8B108347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62DF32-ED01-EAAD-037C-6EFA13B65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7EFCF6-B548-6460-FF01-1D45622F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B2BE71D-DE8B-4B22-0247-E4041A532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98F7DAAB-1C11-D77A-0B19-C3343D7A2487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5A934CCB-C4FD-AB81-A889-39A1D5B9BA8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2EDEA52D-86B0-538B-E2FC-BD8862C2E526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E3D89B4-5EC5-D355-B723-803EF7EFE82A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2161F351-5199-A7AC-CE11-C84D4A971DC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6A5107D3-0FEA-D2D6-5C24-760B449A505D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D10173C9-10A0-5FF7-6254-2CC432AC4D7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B9AE4B59-4A56-9661-9346-FC7267B6168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AECC3025-C1F1-EFD4-FF9C-0668D71E9F3D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6B7DC040-B271-150B-6A24-2028C606A0AC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06BA45C9-68AA-DA6E-5D2E-5CE36EF669CA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E723EEA1-3E92-AF4E-A92F-F310813EA4C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BA9CEB57-23B0-6385-CB04-3177B1B115A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7FF99B14-889A-1011-F8F4-EC1FFE0274F2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68273DFF-8DC8-5034-AACC-7DDB90A2D69D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FF37D942-30FB-2C88-1F3E-BFBACE6DA924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6CFF1DF8-69CF-5768-5921-EB74B83C800A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AB2A8C62-3C9D-B0F3-5E0A-4F830D7B704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4899495C-2906-5558-6601-76BB83FF6C8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AB53A582-0408-FC05-72F8-1BC0647F77D5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4B6B5D9-5B28-92C2-6932-DAEBC7EBBC08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A87DBB9C-1292-22B0-CBE7-3C2C506B711B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A2028652-ED87-3DC4-39F9-E63C2E0BF8B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84AB6C02-47C6-C0D8-C854-EFDAEDFDE982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C7FFDCFA-5228-2C25-23DA-3FD5130570EA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02D497E1-3F52-F24A-162F-2DB2D881BC95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597CDF0D-1A23-EDAA-024C-B924CAF07EAB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FC039023-8CF4-7353-1D0A-0E704CF082A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4B1BD11D-C849-A1FD-5B93-D024923D4AE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41F820FD-9911-B1CF-45FE-9B73A28C8E2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EB964AD0-EE49-039A-298B-BC40BF1C3762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0978D76B-C677-AABA-B2F9-3A3DF0F4D7A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BDA4636E-EB4D-007B-70EF-29F37B2C74A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40204FF3-3B17-5E31-D137-95FD18CF0DE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F1F40D0B-468A-D2E2-0768-65B8ABACFC8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A85C5743-75C7-1BFD-2D9B-FA4ACA5CD3A4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18C3186E-A538-937B-8550-F2FD90FC8A34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19361D24-07DA-EBA7-CF0D-2A119454B16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8DB04672-EC83-F47C-C267-F34A40837A3E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6D412A2E-B04C-34CD-C4DA-DA140FB55A5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FFF3D64E-E565-7A71-E121-CAA7EA31696F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A52552EA-FDE9-1532-2DA9-A6A69AEFFE0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C0547561-7FDD-8F1D-D98D-62EC74E0F11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55B2F28D-9C8B-3631-9470-75FEED6294CB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60FFC8B6-EB57-3D9B-AACD-AC47A8E24ADF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3616966E-8D12-539B-F509-1D1C5F2670A5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2D40E0B1-177D-2F41-E419-3CAB4229554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B57FD160-A512-773F-4232-32F675E53897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3A5809EF-6005-86B2-F1F7-C843F7D7460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5D63E947-E5C0-98D5-ADED-32B7E544E0F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E10B19ED-251C-1BA2-1E99-506F864357BA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13AB1A7D-5E46-F3C4-0E73-E1A6323F5E3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6EE807C3-ECE8-972C-D672-A24FCB4635C0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2385214B-5E8C-01D0-2581-73C2E85FA92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3F63C276-92FD-C55C-D76D-B428200203C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予備日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E0B23A69-3D0A-30DE-D63A-CFB9F422BBD6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2AB6D48D-57CE-9B33-EC74-9593FB8234B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FA426E4F-2AF5-F1E0-51E9-7BE7B03CF06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8FAD5CBD-77EA-7BA5-BE48-AB384AC12D68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2AD3DBD6-3FCC-C09A-A55F-ECD9B71DED8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23F0E1D2-0FC6-61C8-3079-7BC12F9B54CF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38212CD8-F2B5-E6E5-472E-30540C4BB08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3149CD1E-3B06-017B-3185-8D86BFCFAF3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2E82047E-CB5B-11DA-7510-402ABF9572B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D26253C2-AE8C-0499-2B00-8B3768B4162A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A8C48FE-5BC3-19F6-C3A4-109394D6D1F4}"/>
              </a:ext>
            </a:extLst>
          </p:cNvPr>
          <p:cNvSpPr/>
          <p:nvPr/>
        </p:nvSpPr>
        <p:spPr>
          <a:xfrm>
            <a:off x="707282" y="1291928"/>
            <a:ext cx="10777435" cy="55575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C32A51A3-AE96-5B7A-7467-E4A2135CEC3E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462FBDF8-6842-66AA-ED02-A976619EAAF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CCEA1C9F-94BA-4D46-AB52-1317364CBCF0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2392CD05-FD5D-C26E-ACDC-8760179B53C1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050D9C10-83DA-A39D-1712-C7514F9E878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502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B54FA2-A6B3-C2D6-9BAD-789602A1D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Docker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440403-984C-ADAB-D470-282CB58DC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Build, Ship, Run</a:t>
            </a:r>
          </a:p>
          <a:p>
            <a:pPr lvl="1">
              <a:lnSpc>
                <a:spcPct val="120000"/>
              </a:lnSpc>
            </a:pPr>
            <a:r>
              <a:rPr lang="ja-JP" altLang="en-US"/>
              <a:t>構築して，運び出して，動かす．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一度構築した環境は，基本的に</a:t>
            </a:r>
            <a:r>
              <a:rPr lang="ja-JP" altLang="en-US"/>
              <a:t>，</a:t>
            </a:r>
            <a:r>
              <a:rPr kumimoji="1" lang="ja-JP" altLang="en-US"/>
              <a:t>共有できれば半永久的に動く．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動作環境を閉じ込めている．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どのように動いているかを理解することは重要である．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ただし，多くの場合専門的になり過ぎる．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ユーザとして，利用できる状態にできれば十分であろう．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en-US" altLang="ja-JP" dirty="0">
                <a:hlinkClick r:id="rId2"/>
              </a:rPr>
              <a:t>https://qiita.com/tajima_taso/items/28938415846dcc2e83ff</a:t>
            </a: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6547AD-3A00-16D6-F4CB-4A7DB58A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46DC6DB-4BD1-16CD-1E7F-B542E23B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3</a:t>
            </a:fld>
            <a:endParaRPr kumimoji="1" lang="ja-JP" altLang="en-US"/>
          </a:p>
        </p:txBody>
      </p:sp>
      <p:pic>
        <p:nvPicPr>
          <p:cNvPr id="1026" name="Picture 2" descr="Docker | DevOps Hub | SB C&amp;S">
            <a:extLst>
              <a:ext uri="{FF2B5EF4-FFF2-40B4-BE49-F238E27FC236}">
                <a16:creationId xmlns:a16="http://schemas.microsoft.com/office/drawing/2014/main" id="{6D0B4E24-2D71-8EEE-8C2D-004AE5CE5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999" y="0"/>
            <a:ext cx="2480978" cy="182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983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B7C111-1722-C539-81DF-116827E4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6000"/>
              <a:t>ソフトウェアは</a:t>
            </a:r>
            <a:r>
              <a:rPr lang="ja-JP" altLang="en-US" sz="6000"/>
              <a:t>何もしないと壊れる</a:t>
            </a:r>
            <a:endParaRPr kumimoji="1" lang="ja-JP" altLang="en-US" sz="60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A10231-FE4F-0DF8-DF84-7964ABE40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9984" y="1825625"/>
            <a:ext cx="4713816" cy="4351338"/>
          </a:xfrm>
        </p:spPr>
        <p:txBody>
          <a:bodyPr/>
          <a:lstStyle/>
          <a:p>
            <a:r>
              <a:rPr kumimoji="1" lang="en-US" altLang="ja-JP" dirty="0" err="1"/>
              <a:t>RubyKaigi</a:t>
            </a:r>
            <a:r>
              <a:rPr kumimoji="1" lang="en-US" altLang="ja-JP" dirty="0"/>
              <a:t> 2022.</a:t>
            </a:r>
          </a:p>
          <a:p>
            <a:pPr lvl="1"/>
            <a:r>
              <a:rPr kumimoji="1" lang="en" altLang="ja-JP" dirty="0">
                <a:hlinkClick r:id="rId2"/>
              </a:rPr>
              <a:t>https://togetter.com/li/1943328</a:t>
            </a:r>
            <a:endParaRPr lang="en-US" altLang="ja-JP" dirty="0"/>
          </a:p>
          <a:p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246ACB-3314-D968-B04D-C3C6CCED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AD55E66-C7A3-35C0-BED1-CD009FAA4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4</a:t>
            </a:fld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A20B52-1B94-5353-8AC3-78FD655A4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4122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B9739D-195E-5ECA-744D-E4B0C580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Docker</a:t>
            </a:r>
            <a:r>
              <a:rPr kumimoji="1" lang="ja-JP" altLang="en-US"/>
              <a:t>コンテナとは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362E19-2245-664A-009D-241E6564A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仮想マシンよりも軽量な環境となる．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/>
              <a:t>Docker</a:t>
            </a:r>
            <a:r>
              <a:rPr lang="ja-JP" altLang="en-US"/>
              <a:t>イメージを配布すると，</a:t>
            </a:r>
            <a:r>
              <a:rPr lang="en-US" altLang="ja-JP" dirty="0"/>
              <a:t>Docker</a:t>
            </a:r>
            <a:r>
              <a:rPr lang="ja-JP" altLang="en-US"/>
              <a:t>が動く環境ではどこでも動く．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en-US" altLang="ja-JP" dirty="0" err="1"/>
              <a:t>IaC</a:t>
            </a:r>
            <a:r>
              <a:rPr lang="en-US" altLang="ja-JP" dirty="0"/>
              <a:t> (Infrastructure as a Code)</a:t>
            </a:r>
          </a:p>
          <a:p>
            <a:pPr lvl="1">
              <a:lnSpc>
                <a:spcPct val="120000"/>
              </a:lnSpc>
            </a:pPr>
            <a:r>
              <a:rPr lang="ja-JP" altLang="en-US"/>
              <a:t>複雑な依存関係があっても，その関係ごと配布できる．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配布後に環境が壊れることがない．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30E644-33E9-433C-9F5E-52175A05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1E2D3D8-FEBF-1FD3-BFDE-70F22DE01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7529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87C641-FCE1-1765-B24E-EE00D23C4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Docker</a:t>
            </a:r>
            <a:r>
              <a:rPr lang="en-US" altLang="ja-JP" dirty="0"/>
              <a:t> Alternatives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CDAA9A-76DB-4B89-09CA-D50015F6B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2CA900B-FEDD-6C76-44E9-76FCE01F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2C0E5C-2A05-897A-1E66-244B148AB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Build</a:t>
            </a:r>
          </a:p>
          <a:p>
            <a:pPr lvl="1">
              <a:lnSpc>
                <a:spcPct val="120000"/>
              </a:lnSpc>
            </a:pPr>
            <a:r>
              <a:rPr lang="ja-JP" altLang="en-US"/>
              <a:t>構築に</a:t>
            </a:r>
            <a:r>
              <a:rPr lang="en-US" altLang="ja-JP" dirty="0"/>
              <a:t>Docker</a:t>
            </a:r>
            <a:r>
              <a:rPr lang="ja-JP" altLang="en-US"/>
              <a:t>は必須ではない．</a:t>
            </a:r>
            <a:endParaRPr lang="en-US" altLang="ja-JP" dirty="0"/>
          </a:p>
          <a:p>
            <a:pPr lvl="5">
              <a:lnSpc>
                <a:spcPct val="120000"/>
              </a:lnSpc>
            </a:pPr>
            <a:endParaRPr lang="en-US" altLang="ja-JP" dirty="0"/>
          </a:p>
          <a:p>
            <a:pPr lvl="6">
              <a:lnSpc>
                <a:spcPct val="120000"/>
              </a:lnSpc>
            </a:pP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en-US" altLang="ja-JP" dirty="0"/>
              <a:t>Ship</a:t>
            </a:r>
          </a:p>
          <a:p>
            <a:pPr>
              <a:lnSpc>
                <a:spcPct val="120000"/>
              </a:lnSpc>
            </a:pP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en-US" altLang="ja-JP" dirty="0"/>
              <a:t>Run</a:t>
            </a:r>
          </a:p>
          <a:p>
            <a:pPr lvl="4">
              <a:lnSpc>
                <a:spcPct val="120000"/>
              </a:lnSpc>
            </a:pP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とはいえ，</a:t>
            </a:r>
            <a:r>
              <a:rPr kumimoji="1" lang="en-US" altLang="ja-JP" dirty="0"/>
              <a:t>Docker</a:t>
            </a:r>
            <a:r>
              <a:rPr kumimoji="1" lang="ja-JP" altLang="en-US"/>
              <a:t>が今日のデファクトスタンダードである．</a:t>
            </a:r>
          </a:p>
          <a:p>
            <a:pPr>
              <a:lnSpc>
                <a:spcPct val="120000"/>
              </a:lnSpc>
            </a:pPr>
            <a:endParaRPr kumimoji="1" lang="ja-JP" altLang="en-US"/>
          </a:p>
        </p:txBody>
      </p:sp>
      <p:pic>
        <p:nvPicPr>
          <p:cNvPr id="1026" name="Picture 2" descr="Episode 13: Sharing Images and Containers (Push-Pull in ...">
            <a:extLst>
              <a:ext uri="{FF2B5EF4-FFF2-40B4-BE49-F238E27FC236}">
                <a16:creationId xmlns:a16="http://schemas.microsoft.com/office/drawing/2014/main" id="{16DC97FD-3EFB-90A2-B850-B7BB24BA9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77" y="3011281"/>
            <a:ext cx="2069053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Frog Ltd. · GitHub">
            <a:extLst>
              <a:ext uri="{FF2B5EF4-FFF2-40B4-BE49-F238E27FC236}">
                <a16:creationId xmlns:a16="http://schemas.microsoft.com/office/drawing/2014/main" id="{D09113A8-CE95-F5F7-445F-878F87E59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970" y="3011281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oogleCloudのPrive Docker Registryをを使う | Shimer-System BLOG">
            <a:extLst>
              <a:ext uri="{FF2B5EF4-FFF2-40B4-BE49-F238E27FC236}">
                <a16:creationId xmlns:a16="http://schemas.microsoft.com/office/drawing/2014/main" id="{EDF0F938-9E92-88B7-7401-C29F5C727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398" y="3011281"/>
            <a:ext cx="1708572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uildah | buildah.io">
            <a:extLst>
              <a:ext uri="{FF2B5EF4-FFF2-40B4-BE49-F238E27FC236}">
                <a16:creationId xmlns:a16="http://schemas.microsoft.com/office/drawing/2014/main" id="{C89E33A8-794A-A640-C025-BBD1FDB45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77" y="1789167"/>
            <a:ext cx="2193926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jib を使って Java アプリケーションを超簡単にコンテナ化！｜ 開発者ブログ ｜ 株式会社アイソルート">
            <a:extLst>
              <a:ext uri="{FF2B5EF4-FFF2-40B4-BE49-F238E27FC236}">
                <a16:creationId xmlns:a16="http://schemas.microsoft.com/office/drawing/2014/main" id="{704873A2-26EB-38B6-4585-4DFCBE397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395" y="1789167"/>
            <a:ext cx="1318246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uildpacksのビルダーをスクラッチから作ってみる | フューチャー技術ブログ">
            <a:extLst>
              <a:ext uri="{FF2B5EF4-FFF2-40B4-BE49-F238E27FC236}">
                <a16:creationId xmlns:a16="http://schemas.microsoft.com/office/drawing/2014/main" id="{1E1D638F-9CA8-C52F-692D-A2ABBAA5A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733" y="1823889"/>
            <a:ext cx="1900642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8914D105-0BB2-23D4-3E7D-83517D6E3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4652" y="4324122"/>
            <a:ext cx="954064" cy="540000"/>
          </a:xfrm>
          <a:prstGeom prst="rect">
            <a:avLst/>
          </a:prstGeom>
        </p:spPr>
      </p:pic>
      <p:pic>
        <p:nvPicPr>
          <p:cNvPr id="2050" name="Picture 2" descr="Docker Desktopの代替サービスを探す旅。Podman Desktopを試してみる。 #DockerDesktop - Qiita">
            <a:extLst>
              <a:ext uri="{FF2B5EF4-FFF2-40B4-BE49-F238E27FC236}">
                <a16:creationId xmlns:a16="http://schemas.microsoft.com/office/drawing/2014/main" id="{F94F066D-C373-2AE5-C5F3-D4581907B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259" y="4324122"/>
            <a:ext cx="210891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79D62476-5F7D-EADD-A1CC-EBA9A0FF6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77" y="4324122"/>
            <a:ext cx="2137732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5F5C5436-BB68-F3CC-8BF3-1174016C1F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45970" y="3011281"/>
            <a:ext cx="1053000" cy="1080000"/>
          </a:xfrm>
          <a:prstGeom prst="rect">
            <a:avLst/>
          </a:prstGeom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56718DA5-629E-5FFE-2CA7-A1A3918E97E4}"/>
              </a:ext>
            </a:extLst>
          </p:cNvPr>
          <p:cNvGrpSpPr/>
          <p:nvPr/>
        </p:nvGrpSpPr>
        <p:grpSpPr>
          <a:xfrm>
            <a:off x="8610600" y="4324122"/>
            <a:ext cx="2302021" cy="540000"/>
            <a:chOff x="8610600" y="4324122"/>
            <a:chExt cx="2302021" cy="540000"/>
          </a:xfrm>
        </p:grpSpPr>
        <p:pic>
          <p:nvPicPr>
            <p:cNvPr id="6" name="図 5" descr="Containerization logo">
              <a:extLst>
                <a:ext uri="{FF2B5EF4-FFF2-40B4-BE49-F238E27FC236}">
                  <a16:creationId xmlns:a16="http://schemas.microsoft.com/office/drawing/2014/main" id="{C871E4C9-C07B-0A8E-A16C-9DE32DFB0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610600" y="4324122"/>
              <a:ext cx="540000" cy="540000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358CD8A6-A56D-BB74-1E73-12E16B40D813}"/>
                </a:ext>
              </a:extLst>
            </p:cNvPr>
            <p:cNvSpPr txBox="1"/>
            <p:nvPr/>
          </p:nvSpPr>
          <p:spPr>
            <a:xfrm>
              <a:off x="9150600" y="4409456"/>
              <a:ext cx="1762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Arial" panose="020B0604020202020204" pitchFamily="34" charset="0"/>
                  <a:cs typeface="Arial" panose="020B0604020202020204" pitchFamily="34" charset="0"/>
                </a:rPr>
                <a:t>apple/container</a:t>
              </a:r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426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C8DE7B-5082-F20B-BC12-729D15F35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kumimoji="1" lang="ja-JP" altLang="en-US" sz="6000"/>
              <a:t>安全な</a:t>
            </a:r>
            <a:r>
              <a:rPr kumimoji="1" lang="en-US" altLang="ja-JP" sz="6000" dirty="0"/>
              <a:t>Docker</a:t>
            </a:r>
            <a:r>
              <a:rPr kumimoji="1" lang="ja-JP" altLang="en-US" sz="6000"/>
              <a:t>イメージのために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BB1EE8-C2EE-BC54-AC90-933452063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できるだけ公式イメージを用いる．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イメージを最小化する．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不要なツール，ライブラリ，ファイルは含めない．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最小特権ユーザーを用いる．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デフォルトユーザは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root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になっている</a:t>
            </a:r>
            <a:r>
              <a:rPr lang="ja-JP" altLang="en-US"/>
              <a:t>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それを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nonroot</a:t>
            </a:r>
            <a:r>
              <a:rPr lang="ja-JP" altLang="en-US"/>
              <a:t>などの非特権ユーザを用いるよう変更する．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イメージ内に複数の目的を含めない．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コンテナ同士を結びつける</a:t>
            </a:r>
            <a:r>
              <a:rPr kumimoji="1" lang="en-US" altLang="ja-JP" dirty="0"/>
              <a:t> 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docker-compose </a:t>
            </a:r>
            <a:r>
              <a:rPr kumimoji="1" lang="ja-JP" altLang="en-US"/>
              <a:t>も容易に利用できる．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54DEC5-46EC-90C8-E42C-088997D83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D22396C-A3D5-06BB-71AD-4C5F21BBF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1559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91843C-6400-F236-2FFC-CB7DA0ED0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6000" dirty="0"/>
              <a:t>Docker</a:t>
            </a:r>
            <a:r>
              <a:rPr kumimoji="1" lang="ja-JP" altLang="en-US" sz="6000"/>
              <a:t>イメージ構築のために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62248D-9872-515D-803B-A3B3DF402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ja-JP" dirty="0"/>
              <a:t>alpine, </a:t>
            </a:r>
            <a:r>
              <a:rPr lang="en-US" altLang="ja-JP" dirty="0" err="1"/>
              <a:t>distroless</a:t>
            </a:r>
            <a:r>
              <a:rPr lang="en-US" altLang="ja-JP" dirty="0"/>
              <a:t>, slim, bookworm, bullseye, buster, stretch, jessie</a:t>
            </a:r>
          </a:p>
          <a:p>
            <a:pPr>
              <a:lnSpc>
                <a:spcPct val="120000"/>
              </a:lnSpc>
            </a:pPr>
            <a:r>
              <a:rPr lang="en-US" altLang="ja-JP" dirty="0"/>
              <a:t>Linux</a:t>
            </a:r>
            <a:r>
              <a:rPr lang="ja-JP" altLang="en-US"/>
              <a:t>の種類（ディストリビューション）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/>
              <a:t>Debian, Ubuntu, Alpine</a:t>
            </a:r>
          </a:p>
          <a:p>
            <a:pPr>
              <a:lnSpc>
                <a:spcPct val="120000"/>
              </a:lnSpc>
            </a:pPr>
            <a:r>
              <a:rPr lang="en-US" altLang="ja-JP" dirty="0"/>
              <a:t>Debian</a:t>
            </a:r>
            <a:r>
              <a:rPr lang="ja-JP" altLang="en-US"/>
              <a:t>のバージョンのコードネーム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/>
              <a:t>bookworm, bullseye, buster, stretch, jessie</a:t>
            </a:r>
          </a:p>
          <a:p>
            <a:pPr>
              <a:lnSpc>
                <a:spcPct val="120000"/>
              </a:lnSpc>
            </a:pPr>
            <a:r>
              <a:rPr lang="en-US" altLang="ja-JP" dirty="0"/>
              <a:t>Docker</a:t>
            </a:r>
            <a:r>
              <a:rPr lang="ja-JP" altLang="en-US"/>
              <a:t>イメージの種類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/>
              <a:t>slim, </a:t>
            </a:r>
            <a:r>
              <a:rPr lang="en-US" altLang="ja-JP" dirty="0" err="1"/>
              <a:t>distroless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F6A39A-ADE8-BF59-00F4-D01E6D619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C7530FD-BADE-6CCC-B9DB-EB84998E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6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F248F3-87F0-B8E8-8ED8-232E9EE8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軽量な</a:t>
            </a:r>
            <a:r>
              <a:rPr kumimoji="1" lang="en-US" altLang="ja-JP" dirty="0"/>
              <a:t>Docker</a:t>
            </a:r>
            <a:r>
              <a:rPr kumimoji="1" lang="ja-JP" altLang="en-US"/>
              <a:t>イメージ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302019-0634-A86C-57E3-72D977258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ja-JP" dirty="0"/>
              <a:t>a</a:t>
            </a:r>
            <a:r>
              <a:rPr kumimoji="1" lang="en-US" altLang="ja-JP" dirty="0"/>
              <a:t>lpine</a:t>
            </a:r>
            <a:r>
              <a:rPr kumimoji="1" lang="ja-JP" altLang="en-US"/>
              <a:t>を用いる．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軽量重視で作られた</a:t>
            </a:r>
            <a:r>
              <a:rPr kumimoji="1" lang="en-US" altLang="ja-JP" dirty="0"/>
              <a:t>Linux</a:t>
            </a:r>
            <a:r>
              <a:rPr kumimoji="1" lang="ja-JP" altLang="en-US"/>
              <a:t>ディストリビューション．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ただし，</a:t>
            </a:r>
            <a:r>
              <a:rPr lang="en-US" altLang="ja-JP" dirty="0"/>
              <a:t>Glibc</a:t>
            </a:r>
            <a:r>
              <a:rPr lang="ja-JP" altLang="en-US"/>
              <a:t>ではなく</a:t>
            </a:r>
            <a:r>
              <a:rPr lang="en-US" altLang="ja-JP" dirty="0" err="1"/>
              <a:t>musl</a:t>
            </a:r>
            <a:r>
              <a:rPr lang="ja-JP" altLang="en-US"/>
              <a:t>が使われている．</a:t>
            </a:r>
            <a:endParaRPr lang="en-US" altLang="ja-JP" dirty="0"/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ja-JP" dirty="0" err="1"/>
              <a:t>d</a:t>
            </a:r>
            <a:r>
              <a:rPr kumimoji="1" lang="en-US" altLang="ja-JP" dirty="0" err="1"/>
              <a:t>istroless</a:t>
            </a:r>
            <a:r>
              <a:rPr kumimoji="1" lang="ja-JP" altLang="en-US"/>
              <a:t>を用いる．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セキュアでスリムなイメージ（</a:t>
            </a:r>
            <a:r>
              <a:rPr lang="en-US" altLang="ja-JP" dirty="0"/>
              <a:t>Google</a:t>
            </a:r>
            <a:r>
              <a:rPr lang="ja-JP" altLang="en-US"/>
              <a:t>が運営）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シェルがない．</a:t>
            </a:r>
            <a:endParaRPr lang="en-US" altLang="ja-JP" dirty="0"/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ja-JP" dirty="0"/>
              <a:t>s</a:t>
            </a:r>
            <a:r>
              <a:rPr kumimoji="1" lang="en-US" altLang="ja-JP" dirty="0"/>
              <a:t>lim</a:t>
            </a:r>
            <a:r>
              <a:rPr kumimoji="1" lang="ja-JP" altLang="en-US"/>
              <a:t>を用いる．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最近は，</a:t>
            </a:r>
            <a:r>
              <a:rPr lang="en-US" altLang="ja-JP" dirty="0"/>
              <a:t>slim</a:t>
            </a:r>
            <a:r>
              <a:rPr lang="ja-JP" altLang="en-US"/>
              <a:t>でも十分軽量．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6F6498-BA61-B8F1-09A0-BDCEF4FD0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4B3C450-408F-5D34-2141-83FBE2C05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4660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5B9BC8-741C-EA29-9A05-FFDE8D39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用語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4ED17B-3C2B-7F90-B84D-E3E532777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イメージ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実行環境を閉じ込めたもの．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多くの場合，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Dockerfile</a:t>
            </a:r>
            <a:r>
              <a:rPr kumimoji="1" lang="ja-JP" altLang="en-US"/>
              <a:t>から構築する．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docker image ls</a:t>
            </a:r>
            <a:endParaRPr kumimoji="1" lang="ja-JP" alt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kumimoji="1" lang="ja-JP" altLang="en-US"/>
              <a:t>コンテナ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イメージを動かしたもの（停止していることも）．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ocker container ls</a:t>
            </a:r>
          </a:p>
          <a:p>
            <a:pPr>
              <a:lnSpc>
                <a:spcPct val="120000"/>
              </a:lnSpc>
            </a:pPr>
            <a:r>
              <a:rPr lang="ja-JP" altLang="en-US"/>
              <a:t>イメージ名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[REGISTRY[:PORT]/]USER/REPO[:TAG]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ja-JP" altLang="en-US"/>
              <a:t>イメージを区別するためのもの．ビルド時に指定する．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コンテナ名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多くの場合，勝手に付けられる．実行時（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docker run</a:t>
            </a:r>
            <a:r>
              <a:rPr lang="ja-JP" altLang="en-US"/>
              <a:t>）に指定することもできる．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15DCE7-DDAC-6179-D201-A41ABBFB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9C8CCEB-9B62-B438-BFF8-7AEB0BCE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37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BC2EC32-32AF-B499-7224-B5D935325B99}"/>
              </a:ext>
            </a:extLst>
          </p:cNvPr>
          <p:cNvSpPr/>
          <p:nvPr/>
        </p:nvSpPr>
        <p:spPr>
          <a:xfrm>
            <a:off x="3745521" y="1534258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891FDA4-9061-8745-47CC-CBBFE6CAB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Docker</a:t>
            </a:r>
            <a:r>
              <a:rPr kumimoji="1" lang="ja-JP" altLang="en-US"/>
              <a:t>イメージの名前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DA5633-947A-EC43-5272-AAA7950C1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ghcr.io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/wildcherry:0.5.1</a:t>
            </a:r>
          </a:p>
          <a:p>
            <a:pPr>
              <a:lnSpc>
                <a:spcPct val="120000"/>
              </a:lnSpc>
            </a:pPr>
            <a:endParaRPr kumimoji="1" lang="en-US" altLang="ja-JP" dirty="0"/>
          </a:p>
          <a:p>
            <a:pPr>
              <a:lnSpc>
                <a:spcPct val="120000"/>
              </a:lnSpc>
            </a:pP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en-US" altLang="ja-JP" dirty="0"/>
              <a:t>Docker</a:t>
            </a:r>
            <a:r>
              <a:rPr kumimoji="1" lang="ja-JP" altLang="en-US"/>
              <a:t>のイメージ名は，スラッシュで区切った名前とタグで構成される．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en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[REGISTRY[:PORT]/]USER/REPO[:TAG]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ja-JP" altLang="en-US"/>
              <a:t>レジストリのホスト名を前につけても良い．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省略した場合は，</a:t>
            </a:r>
            <a:r>
              <a:rPr lang="en" altLang="ja-JP" b="0" i="0" u="none" strike="noStrike" dirty="0">
                <a:solidFill>
                  <a:srgbClr val="454545"/>
                </a:solidFill>
                <a:effectLst/>
                <a:latin typeface="Monaco" pitchFamily="2" charset="0"/>
              </a:rPr>
              <a:t>registry-1.docker.io</a:t>
            </a:r>
            <a:r>
              <a:rPr lang="ja-JP" altLang="en-US" b="0" i="0" u="none" strike="noStrike">
                <a:solidFill>
                  <a:srgbClr val="454545"/>
                </a:solidFill>
                <a:effectLst/>
                <a:latin typeface="Monaco" pitchFamily="2" charset="0"/>
              </a:rPr>
              <a:t>になる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D06BD4-844A-30CD-0D9F-783223E2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D640083-56C2-DE6C-0AB7-E324E99B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6" name="右中かっこ 5">
            <a:extLst>
              <a:ext uri="{FF2B5EF4-FFF2-40B4-BE49-F238E27FC236}">
                <a16:creationId xmlns:a16="http://schemas.microsoft.com/office/drawing/2014/main" id="{735784B8-24CB-76D0-5B6F-81150D962FEE}"/>
              </a:ext>
            </a:extLst>
          </p:cNvPr>
          <p:cNvSpPr/>
          <p:nvPr/>
        </p:nvSpPr>
        <p:spPr>
          <a:xfrm rot="5400000">
            <a:off x="1761852" y="1895748"/>
            <a:ext cx="312857" cy="1486553"/>
          </a:xfrm>
          <a:prstGeom prst="rightBrace">
            <a:avLst>
              <a:gd name="adj1" fmla="val 130533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右中かっこ 6">
            <a:extLst>
              <a:ext uri="{FF2B5EF4-FFF2-40B4-BE49-F238E27FC236}">
                <a16:creationId xmlns:a16="http://schemas.microsoft.com/office/drawing/2014/main" id="{16035782-5921-9444-EECB-6C1270CA121E}"/>
              </a:ext>
            </a:extLst>
          </p:cNvPr>
          <p:cNvSpPr/>
          <p:nvPr/>
        </p:nvSpPr>
        <p:spPr>
          <a:xfrm rot="5400000">
            <a:off x="4603393" y="762788"/>
            <a:ext cx="263126" cy="3702746"/>
          </a:xfrm>
          <a:prstGeom prst="rightBrace">
            <a:avLst>
              <a:gd name="adj1" fmla="val 130533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右中かっこ 7">
            <a:extLst>
              <a:ext uri="{FF2B5EF4-FFF2-40B4-BE49-F238E27FC236}">
                <a16:creationId xmlns:a16="http://schemas.microsoft.com/office/drawing/2014/main" id="{EA36F529-8503-056B-69C0-4FC660E5A4AB}"/>
              </a:ext>
            </a:extLst>
          </p:cNvPr>
          <p:cNvSpPr/>
          <p:nvPr/>
        </p:nvSpPr>
        <p:spPr>
          <a:xfrm rot="5400000">
            <a:off x="7183493" y="2080816"/>
            <a:ext cx="312855" cy="1093630"/>
          </a:xfrm>
          <a:prstGeom prst="rightBrace">
            <a:avLst>
              <a:gd name="adj1" fmla="val 130533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EAF7FDD-8CF5-EF13-BCC3-1200F717C0E2}"/>
              </a:ext>
            </a:extLst>
          </p:cNvPr>
          <p:cNvSpPr txBox="1"/>
          <p:nvPr/>
        </p:nvSpPr>
        <p:spPr>
          <a:xfrm>
            <a:off x="1358749" y="293599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ドメイン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省略可能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B5BD4EF-667B-7882-8A52-A95EEA984216}"/>
              </a:ext>
            </a:extLst>
          </p:cNvPr>
          <p:cNvSpPr txBox="1"/>
          <p:nvPr/>
        </p:nvSpPr>
        <p:spPr>
          <a:xfrm>
            <a:off x="4418455" y="293038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パス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803D077-C06D-8E36-8EE4-EBD5BAA2E375}"/>
              </a:ext>
            </a:extLst>
          </p:cNvPr>
          <p:cNvSpPr txBox="1"/>
          <p:nvPr/>
        </p:nvSpPr>
        <p:spPr>
          <a:xfrm>
            <a:off x="7016754" y="2930389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タグ</a:t>
            </a:r>
          </a:p>
        </p:txBody>
      </p:sp>
      <p:sp>
        <p:nvSpPr>
          <p:cNvPr id="12" name="右中かっこ 11">
            <a:extLst>
              <a:ext uri="{FF2B5EF4-FFF2-40B4-BE49-F238E27FC236}">
                <a16:creationId xmlns:a16="http://schemas.microsoft.com/office/drawing/2014/main" id="{91B60500-A03C-C6C3-518F-4430BC6A7164}"/>
              </a:ext>
            </a:extLst>
          </p:cNvPr>
          <p:cNvSpPr/>
          <p:nvPr/>
        </p:nvSpPr>
        <p:spPr>
          <a:xfrm rot="16200000">
            <a:off x="4373729" y="-1664466"/>
            <a:ext cx="286088" cy="6683538"/>
          </a:xfrm>
          <a:prstGeom prst="rightBrace">
            <a:avLst>
              <a:gd name="adj1" fmla="val 130533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1E1C631-C6C2-884F-FF27-5F52D9A099B0}"/>
              </a:ext>
            </a:extLst>
          </p:cNvPr>
          <p:cNvSpPr txBox="1"/>
          <p:nvPr/>
        </p:nvSpPr>
        <p:spPr>
          <a:xfrm>
            <a:off x="8141682" y="1640959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イメージ名</a:t>
            </a:r>
          </a:p>
        </p:txBody>
      </p:sp>
      <p:cxnSp>
        <p:nvCxnSpPr>
          <p:cNvPr id="15" name="カギ線コネクタ 14">
            <a:extLst>
              <a:ext uri="{FF2B5EF4-FFF2-40B4-BE49-F238E27FC236}">
                <a16:creationId xmlns:a16="http://schemas.microsoft.com/office/drawing/2014/main" id="{EED36DE9-402B-E1D5-059D-F19D22E6D2B2}"/>
              </a:ext>
            </a:extLst>
          </p:cNvPr>
          <p:cNvCxnSpPr>
            <a:cxnSpLocks/>
            <a:stCxn id="17" idx="0"/>
            <a:endCxn id="13" idx="0"/>
          </p:cNvCxnSpPr>
          <p:nvPr/>
        </p:nvCxnSpPr>
        <p:spPr>
          <a:xfrm rot="16200000" flipH="1">
            <a:off x="6451153" y="-714175"/>
            <a:ext cx="106701" cy="4603566"/>
          </a:xfrm>
          <a:prstGeom prst="bentConnector3">
            <a:avLst>
              <a:gd name="adj1" fmla="val -21424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27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7585BF-D90E-B3C2-1D2B-826B90152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Docker</a:t>
            </a:r>
            <a:r>
              <a:rPr kumimoji="1" lang="ja-JP" altLang="en-US"/>
              <a:t>イメージのタグ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FD008D-B715-1993-DB02-F989CA90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各イメージを区別するためのもの．</a:t>
            </a:r>
            <a:endParaRPr lang="en-US" altLang="ja-JP" dirty="0"/>
          </a:p>
          <a:p>
            <a:r>
              <a:rPr kumimoji="1" lang="ja-JP" altLang="en-US"/>
              <a:t>実行環境を分けることもある．</a:t>
            </a:r>
            <a:endParaRPr kumimoji="1" lang="en-US" altLang="ja-JP" dirty="0"/>
          </a:p>
          <a:p>
            <a:pPr lvl="1"/>
            <a:r>
              <a:rPr lang="ja-JP" altLang="en-US"/>
              <a:t>同じイメージに別のタグをつけることもある．</a:t>
            </a:r>
            <a:endParaRPr lang="en-US" altLang="ja-JP" dirty="0"/>
          </a:p>
          <a:p>
            <a:pPr lvl="2"/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latest</a:t>
            </a:r>
            <a:r>
              <a:rPr lang="en-US" altLang="ja-JP" dirty="0"/>
              <a:t>, 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1.0.0</a:t>
            </a:r>
            <a:r>
              <a:rPr lang="en-US" altLang="ja-JP" dirty="0"/>
              <a:t>, 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1.0</a:t>
            </a:r>
            <a:r>
              <a:rPr lang="en-US" altLang="ja-JP" dirty="0"/>
              <a:t>, 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ja-JP" altLang="en-US"/>
              <a:t>など．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E1079A-9BB2-DC5D-0D9D-F007D730B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F01A9B2-8106-FE8D-A2D6-F7ADACCDD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80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F64FCF-0A86-619E-CA45-E003AC15C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Docker</a:t>
            </a:r>
            <a:r>
              <a:rPr kumimoji="1" lang="ja-JP" altLang="en-US"/>
              <a:t>イメージ構築方法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E15178-735B-2530-2339-826C38263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docker build -t &lt;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image_name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&gt; .</a:t>
            </a:r>
          </a:p>
          <a:p>
            <a:pPr>
              <a:lnSpc>
                <a:spcPct val="120000"/>
              </a:lnSpc>
            </a:pPr>
            <a:r>
              <a:rPr kumimoji="1" lang="ja-JP" altLang="en-US"/>
              <a:t>最後のピリオドは，どのディレクトリでビルドするかを指定する．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大体，プロジェクトのトップディレクトリ（カレントディレクトリ）を指定する．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-f</a:t>
            </a:r>
            <a:r>
              <a:rPr kumimoji="1" lang="ja-JP" altLang="en-US"/>
              <a:t>で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Dockerfile</a:t>
            </a:r>
            <a:r>
              <a:rPr kumimoji="1" lang="ja-JP" altLang="en-US"/>
              <a:t>を指定することもできる．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指定しないと</a:t>
            </a:r>
            <a:r>
              <a:rPr lang="en-US" altLang="ja-JP" dirty="0"/>
              <a:t> 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./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Dockerfile</a:t>
            </a:r>
            <a:r>
              <a:rPr lang="en-US" altLang="ja-JP" dirty="0"/>
              <a:t> </a:t>
            </a:r>
            <a:r>
              <a:rPr lang="ja-JP" altLang="en-US"/>
              <a:t>が使われる．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最近は、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Dockerfile</a:t>
            </a:r>
            <a:r>
              <a:rPr kumimoji="1" lang="ja-JP" altLang="en-US"/>
              <a:t>ではなく、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Containerfile</a:t>
            </a:r>
            <a:r>
              <a:rPr kumimoji="1" lang="ja-JP" altLang="en-US"/>
              <a:t>として定義される場合もある。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image_name</a:t>
            </a:r>
            <a:r>
              <a:rPr lang="en-US" altLang="ja-JP" dirty="0"/>
              <a:t> </a:t>
            </a:r>
            <a:r>
              <a:rPr lang="ja-JP" altLang="en-US"/>
              <a:t>で配布場所も指定する。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1E5219-B106-9A27-621C-9491DCAD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90B9F5C-C921-ADB6-56B3-48C77781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768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A5EB00-6B82-1F1D-BE89-A3D869E0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どこで配布するか。</a:t>
            </a:r>
            <a:br>
              <a:rPr kumimoji="1" lang="en-US" altLang="ja-JP" dirty="0"/>
            </a:br>
            <a:r>
              <a:rPr kumimoji="1" lang="en-US" altLang="ja-JP" sz="3600" dirty="0"/>
              <a:t>Container registry</a:t>
            </a:r>
            <a:endParaRPr kumimoji="1" lang="ja-JP" altLang="en-US" sz="36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4E7A5B-DE61-49C0-5F95-373CCC2DE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無料で利用できる</a:t>
            </a:r>
            <a:r>
              <a:rPr kumimoji="1" lang="en-US" altLang="ja-JP" dirty="0"/>
              <a:t>Container registry</a:t>
            </a:r>
            <a:r>
              <a:rPr kumimoji="1" lang="ja-JP" altLang="en-US"/>
              <a:t>はいくつかある。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/>
              <a:t>Docker Hub (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docker.io</a:t>
            </a:r>
            <a:r>
              <a:rPr lang="en-US" altLang="ja-JP" dirty="0"/>
              <a:t>),</a:t>
            </a:r>
          </a:p>
          <a:p>
            <a:pPr lvl="1">
              <a:lnSpc>
                <a:spcPct val="120000"/>
              </a:lnSpc>
            </a:pPr>
            <a:r>
              <a:rPr lang="en-US" altLang="ja-JP" dirty="0"/>
              <a:t>GitHub registry (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ghcr.io</a:t>
            </a:r>
            <a:r>
              <a:rPr lang="en-US" altLang="ja-JP" dirty="0"/>
              <a:t>), </a:t>
            </a:r>
          </a:p>
          <a:p>
            <a:pPr lvl="1">
              <a:lnSpc>
                <a:spcPct val="120000"/>
              </a:lnSpc>
            </a:pPr>
            <a:r>
              <a:rPr lang="en-US" altLang="ja-JP" dirty="0" err="1"/>
              <a:t>Quay.io</a:t>
            </a:r>
            <a:r>
              <a:rPr lang="en-US" altLang="ja-JP" dirty="0"/>
              <a:t> (</a:t>
            </a:r>
            <a:r>
              <a:rPr lang="en-US" altLang="ja-JP" dirty="0" err="1"/>
              <a:t>quay.io</a:t>
            </a:r>
            <a:r>
              <a:rPr lang="en-US" altLang="ja-JP" dirty="0"/>
              <a:t>),</a:t>
            </a:r>
          </a:p>
          <a:p>
            <a:pPr lvl="1">
              <a:lnSpc>
                <a:spcPct val="120000"/>
              </a:lnSpc>
            </a:pPr>
            <a:r>
              <a:rPr lang="en-US" altLang="ja-JP" dirty="0"/>
              <a:t>GitLab registry </a:t>
            </a:r>
            <a:br>
              <a:rPr lang="en-US" altLang="ja-JP" dirty="0"/>
            </a:br>
            <a:r>
              <a:rPr lang="en-US" altLang="ja-JP" dirty="0"/>
              <a:t>(</a:t>
            </a:r>
            <a:r>
              <a:rPr lang="ja-JP" altLang="ja-JP">
                <a:latin typeface="Consolas" panose="020B0609020204030204" pitchFamily="49" charset="0"/>
                <a:cs typeface="Consolas" panose="020B0609020204030204" pitchFamily="49" charset="0"/>
              </a:rPr>
              <a:t>registry.gitlab.com</a:t>
            </a:r>
            <a:r>
              <a:rPr lang="en-US" altLang="ja-JP" dirty="0"/>
              <a:t>),</a:t>
            </a:r>
          </a:p>
          <a:p>
            <a:pPr lvl="1">
              <a:lnSpc>
                <a:spcPct val="120000"/>
              </a:lnSpc>
            </a:pPr>
            <a:r>
              <a:rPr kumimoji="1" lang="ja-JP" altLang="en-US"/>
              <a:t>イメージ名のドメイン名で指定する。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省略すると、</a:t>
            </a:r>
            <a:r>
              <a:rPr lang="en-US" altLang="ja-JP" dirty="0"/>
              <a:t>Docker Hub</a:t>
            </a:r>
            <a:r>
              <a:rPr lang="ja-JP" altLang="en-US"/>
              <a:t>が指定されたことになる。</a:t>
            </a: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4500AB-43C5-138B-62AF-E1346FCF4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2A00210-A85A-9D65-1DFD-11271597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7" name="ドーナツ 6">
            <a:extLst>
              <a:ext uri="{FF2B5EF4-FFF2-40B4-BE49-F238E27FC236}">
                <a16:creationId xmlns:a16="http://schemas.microsoft.com/office/drawing/2014/main" id="{D8ECFBEF-4912-FDF1-0B18-60EC777B1EEB}"/>
              </a:ext>
            </a:extLst>
          </p:cNvPr>
          <p:cNvSpPr>
            <a:spLocks noChangeAspect="1"/>
          </p:cNvSpPr>
          <p:nvPr/>
        </p:nvSpPr>
        <p:spPr>
          <a:xfrm>
            <a:off x="838200" y="3018896"/>
            <a:ext cx="360000" cy="360000"/>
          </a:xfrm>
          <a:prstGeom prst="donut">
            <a:avLst>
              <a:gd name="adj" fmla="val 171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ドーナツ 7">
            <a:extLst>
              <a:ext uri="{FF2B5EF4-FFF2-40B4-BE49-F238E27FC236}">
                <a16:creationId xmlns:a16="http://schemas.microsoft.com/office/drawing/2014/main" id="{0090B778-ECE3-9AC7-0CAE-94096F5F5751}"/>
              </a:ext>
            </a:extLst>
          </p:cNvPr>
          <p:cNvSpPr>
            <a:spLocks noChangeAspect="1"/>
          </p:cNvSpPr>
          <p:nvPr/>
        </p:nvSpPr>
        <p:spPr>
          <a:xfrm>
            <a:off x="838200" y="3558283"/>
            <a:ext cx="360000" cy="360000"/>
          </a:xfrm>
          <a:prstGeom prst="donut">
            <a:avLst>
              <a:gd name="adj" fmla="val 171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ドーナツ 9">
            <a:extLst>
              <a:ext uri="{FF2B5EF4-FFF2-40B4-BE49-F238E27FC236}">
                <a16:creationId xmlns:a16="http://schemas.microsoft.com/office/drawing/2014/main" id="{058878FB-24F3-4578-0DD3-9EAC70EFB7FC}"/>
              </a:ext>
            </a:extLst>
          </p:cNvPr>
          <p:cNvSpPr>
            <a:spLocks noChangeAspect="1"/>
          </p:cNvSpPr>
          <p:nvPr/>
        </p:nvSpPr>
        <p:spPr>
          <a:xfrm>
            <a:off x="838200" y="2480889"/>
            <a:ext cx="360000" cy="360000"/>
          </a:xfrm>
          <a:prstGeom prst="donut">
            <a:avLst>
              <a:gd name="adj" fmla="val 171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9AA7C4B6-5FC8-4006-7A85-A7FED65E93AE}"/>
              </a:ext>
            </a:extLst>
          </p:cNvPr>
          <p:cNvGrpSpPr/>
          <p:nvPr/>
        </p:nvGrpSpPr>
        <p:grpSpPr>
          <a:xfrm>
            <a:off x="6725744" y="2316576"/>
            <a:ext cx="4664499" cy="2224847"/>
            <a:chOff x="6725744" y="2316576"/>
            <a:chExt cx="4664499" cy="2224847"/>
          </a:xfrm>
        </p:grpSpPr>
        <p:sp>
          <p:nvSpPr>
            <p:cNvPr id="12" name="三角形 11">
              <a:extLst>
                <a:ext uri="{FF2B5EF4-FFF2-40B4-BE49-F238E27FC236}">
                  <a16:creationId xmlns:a16="http://schemas.microsoft.com/office/drawing/2014/main" id="{75D41AFB-F40C-D5BE-2644-29BA061B40FC}"/>
                </a:ext>
              </a:extLst>
            </p:cNvPr>
            <p:cNvSpPr/>
            <p:nvPr/>
          </p:nvSpPr>
          <p:spPr>
            <a:xfrm rot="16200000">
              <a:off x="6652592" y="2971799"/>
              <a:ext cx="1060704" cy="914400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D7581700-82D0-5E54-00DA-94563E7B408C}"/>
                </a:ext>
              </a:extLst>
            </p:cNvPr>
            <p:cNvSpPr/>
            <p:nvPr/>
          </p:nvSpPr>
          <p:spPr>
            <a:xfrm>
              <a:off x="6993834" y="2316576"/>
              <a:ext cx="4396409" cy="2224847"/>
            </a:xfrm>
            <a:prstGeom prst="roundRect">
              <a:avLst>
                <a:gd name="adj" fmla="val 4883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ja-JP" dirty="0" err="1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docker.io</a:t>
              </a:r>
              <a:endParaRPr lang="en-US" altLang="ja-JP" dirty="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lvl="1"/>
              <a:r>
                <a:rPr lang="ja-JP" altLang="en-US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デファクトスタンダード。</a:t>
              </a:r>
              <a:endParaRPr lang="en-US" altLang="ja-JP" dirty="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ja-JP" dirty="0" err="1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ghcr.io</a:t>
              </a:r>
              <a:endParaRPr lang="en-US" altLang="ja-JP" dirty="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ja-JP" altLang="en-US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コードの保存先と同じ。ただし、ダウンロードにも要認証。</a:t>
              </a:r>
              <a:endParaRPr lang="en-US" altLang="ja-JP" dirty="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ja-JP" dirty="0" err="1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quay.io</a:t>
              </a:r>
              <a:endParaRPr lang="en-US" altLang="ja-JP" dirty="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altLang="ja-JP" dirty="0" err="1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Redhat</a:t>
              </a:r>
              <a:r>
                <a:rPr lang="ja-JP" altLang="en-US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が運営するレジストリ。</a:t>
              </a:r>
              <a:endParaRPr lang="en-US" altLang="ja-JP" dirty="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465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EC9DD9-F430-FCDF-CA0F-B703E795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6000" dirty="0" err="1">
                <a:latin typeface="Consolas" panose="020B0609020204030204" pitchFamily="49" charset="0"/>
                <a:cs typeface="Consolas" panose="020B0609020204030204" pitchFamily="49" charset="0"/>
              </a:rPr>
              <a:t>Dockerfile</a:t>
            </a:r>
            <a:r>
              <a:rPr kumimoji="1" lang="en-US" altLang="ja-JP" sz="60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en-US" altLang="ja-JP" sz="6000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Containerfile</a:t>
            </a:r>
            <a:endParaRPr kumimoji="1" lang="ja-JP" altLang="en-US" sz="6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46FB5B-6B16-09B7-624F-1B74B2605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Docker</a:t>
            </a:r>
            <a:r>
              <a:rPr kumimoji="1" lang="ja-JP" altLang="en-US"/>
              <a:t>イメージを構築するための手順書のこと．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ja-JP" altLang="en-US"/>
              <a:t>から始まる．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基本的には命令ごとにレイヤが追加される．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できるだけ少ないレイヤにすることがイメージの軽量化につながる．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r>
              <a:rPr lang="en-US" altLang="ja-JP" dirty="0"/>
              <a:t>, 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ENTRYPOINT</a:t>
            </a:r>
            <a:r>
              <a:rPr lang="ja-JP" altLang="en-US"/>
              <a:t>などの優先度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" altLang="ja-JP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" altLang="ja-JP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entrypoint</a:t>
            </a:r>
            <a:r>
              <a:rPr lang="en" altLang="ja-JP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オプション </a:t>
            </a:r>
            <a:r>
              <a:rPr lang="en-US" altLang="ja-JP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&gt; </a:t>
            </a:r>
            <a:r>
              <a:rPr lang="en" altLang="ja-JP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ENTRYPOINT</a:t>
            </a:r>
            <a:r>
              <a:rPr lang="en" altLang="ja-JP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&gt; </a:t>
            </a:r>
            <a:r>
              <a:rPr lang="en" altLang="ja-JP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ja-JP" altLang="en-US" b="0" i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引数 </a:t>
            </a:r>
            <a:r>
              <a:rPr lang="en-US" altLang="ja-JP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&gt; </a:t>
            </a:r>
            <a:r>
              <a:rPr lang="en" altLang="ja-JP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</a:p>
          <a:p>
            <a:pPr>
              <a:lnSpc>
                <a:spcPct val="120000"/>
              </a:lnSpc>
            </a:pPr>
            <a:endParaRPr kumimoji="1" lang="ja-JP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74A395-FED5-4563-C2E5-E0C41D1C6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7D5646F-BA01-8430-837F-CA0B2390B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15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6AD2566-7486-6535-7B9E-CA5F6F2EF3CB}"/>
              </a:ext>
            </a:extLst>
          </p:cNvPr>
          <p:cNvSpPr txBox="1"/>
          <p:nvPr/>
        </p:nvSpPr>
        <p:spPr>
          <a:xfrm>
            <a:off x="2871633" y="5807631"/>
            <a:ext cx="6448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https://www.tohoho-web.com/docker/dockerfile.html</a:t>
            </a:r>
          </a:p>
        </p:txBody>
      </p:sp>
    </p:spTree>
    <p:extLst>
      <p:ext uri="{BB962C8B-B14F-4D97-AF65-F5344CB8AC3E}">
        <p14:creationId xmlns:p14="http://schemas.microsoft.com/office/powerpoint/2010/main" val="306390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B2656E-C0F5-072F-BA65-939D651F5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kumimoji="1" lang="en-US" altLang="ja-JP" dirty="0"/>
              <a:t>Docker</a:t>
            </a:r>
            <a:r>
              <a:rPr kumimoji="1" lang="ja-JP" altLang="en-US"/>
              <a:t>イメージの実行方法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951EA6-D588-0D0A-7D86-8F829B4D9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docker run -it --rm -v HVP:CVP &lt;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image_name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&gt; [command...]</a:t>
            </a:r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-it</a:t>
            </a:r>
            <a:r>
              <a:rPr lang="en-US" altLang="ja-JP" dirty="0"/>
              <a:t> 		stdin/</a:t>
            </a:r>
            <a:r>
              <a:rPr lang="en-US" altLang="ja-JP" dirty="0" err="1"/>
              <a:t>stdout</a:t>
            </a:r>
            <a:r>
              <a:rPr lang="ja-JP" altLang="en-US"/>
              <a:t>をアタッチする．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en-US" altLang="ja-JP" dirty="0"/>
              <a:t>Docker</a:t>
            </a:r>
            <a:r>
              <a:rPr lang="ja-JP" altLang="en-US"/>
              <a:t>イメージでの入出力をターミナルと繋げる．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--rm</a:t>
            </a:r>
            <a:r>
              <a:rPr kumimoji="1" lang="en-US" altLang="ja-JP" dirty="0"/>
              <a:t> </a:t>
            </a:r>
            <a:r>
              <a:rPr lang="en-US" altLang="ja-JP" dirty="0"/>
              <a:t>	</a:t>
            </a:r>
            <a:r>
              <a:rPr kumimoji="1" lang="en-US" altLang="ja-JP" dirty="0"/>
              <a:t>	</a:t>
            </a:r>
            <a:r>
              <a:rPr lang="ja-JP" altLang="en-US"/>
              <a:t>コンテナは終了後破棄される．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-v</a:t>
            </a:r>
            <a:r>
              <a:rPr kumimoji="1" lang="ja-JP" altLang="en-US"/>
              <a:t>オプション</a:t>
            </a:r>
            <a:r>
              <a:rPr kumimoji="1" lang="en-US" altLang="ja-JP" dirty="0"/>
              <a:t>	HVP (Host Volume Path)</a:t>
            </a:r>
            <a:r>
              <a:rPr lang="ja-JP" altLang="en-US"/>
              <a:t>を</a:t>
            </a:r>
            <a:r>
              <a:rPr lang="en-US" altLang="ja-JP" dirty="0"/>
              <a:t>CVP (Container Volume Path)</a:t>
            </a:r>
            <a:r>
              <a:rPr lang="ja-JP" altLang="en-US"/>
              <a:t>にマウントする．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image_name</a:t>
            </a:r>
            <a:r>
              <a:rPr kumimoji="1" lang="en-US" altLang="ja-JP" dirty="0"/>
              <a:t>	</a:t>
            </a:r>
            <a:r>
              <a:rPr lang="ja-JP" altLang="en-US"/>
              <a:t>イメージ名。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タグを省略すると</a:t>
            </a:r>
            <a:r>
              <a:rPr lang="en-US" altLang="ja-JP" dirty="0"/>
              <a:t>latest</a:t>
            </a:r>
            <a:r>
              <a:rPr lang="ja-JP" altLang="en-US"/>
              <a:t>が指定される．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command</a:t>
            </a:r>
            <a:r>
              <a:rPr kumimoji="1" lang="en-US" altLang="ja-JP" dirty="0"/>
              <a:t>		</a:t>
            </a:r>
            <a:r>
              <a:rPr kumimoji="1" lang="ja-JP" altLang="en-US"/>
              <a:t>コンテナで実行するコマンド．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省略されると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r>
              <a:rPr kumimoji="1" lang="en-US" altLang="ja-JP" dirty="0"/>
              <a:t>, 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ENTRYPOINT</a:t>
            </a:r>
            <a:r>
              <a:rPr lang="ja-JP" altLang="en-US"/>
              <a:t>の内容となる．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49565F-9AF1-2F22-4FA4-C3B0AC5B6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3CB43F9-705A-9A00-A0A0-30F005A9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333E29-EC8E-6ADC-B529-3A14EB6900C3}"/>
              </a:ext>
            </a:extLst>
          </p:cNvPr>
          <p:cNvSpPr txBox="1"/>
          <p:nvPr/>
        </p:nvSpPr>
        <p:spPr>
          <a:xfrm>
            <a:off x="1987345" y="5712659"/>
            <a:ext cx="7746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https://www.tohoho-web.com/docker/dockerfile.html#entrypoint</a:t>
            </a:r>
          </a:p>
        </p:txBody>
      </p:sp>
    </p:spTree>
    <p:extLst>
      <p:ext uri="{BB962C8B-B14F-4D97-AF65-F5344CB8AC3E}">
        <p14:creationId xmlns:p14="http://schemas.microsoft.com/office/powerpoint/2010/main" val="4007086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2D236C-BF7A-E87F-F743-2B5E8EA4C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668432" cy="1325563"/>
          </a:xfrm>
        </p:spPr>
        <p:txBody>
          <a:bodyPr/>
          <a:lstStyle/>
          <a:p>
            <a:r>
              <a:rPr kumimoji="1" lang="en-US" altLang="ja-JP" sz="3600" dirty="0"/>
              <a:t>Docker</a:t>
            </a:r>
            <a:r>
              <a:rPr kumimoji="1" lang="ja-JP" altLang="en-US" sz="3600"/>
              <a:t>イメージの構築</a:t>
            </a:r>
            <a:br>
              <a:rPr kumimoji="1" lang="en-US" altLang="ja-JP" dirty="0"/>
            </a:br>
            <a:r>
              <a:rPr kumimoji="1" lang="ja-JP" altLang="en-US"/>
              <a:t>マルチステージビルド</a:t>
            </a:r>
            <a:r>
              <a:rPr lang="ja-JP" altLang="en-US"/>
              <a:t>（</a:t>
            </a:r>
            <a:r>
              <a:rPr lang="en-US" altLang="ja-JP" dirty="0"/>
              <a:t>1/2</a:t>
            </a:r>
            <a:r>
              <a:rPr lang="ja-JP" altLang="en-US"/>
              <a:t>）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7D446D-AECC-8040-0E70-326690A4B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前提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最終的なイメージには開発環境は不要である．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コンパイルには開発環境が必要である．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マルチステージビルド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コンパイル用のイメージを用いてコンパイルする．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コンパイル用のイメージから必要なファイル（実行ファイル）のみを実行用のイメージにコピーする．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07A381-AFF5-3808-41C6-6F32190A2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3774C96-E80B-1401-CEDE-B22A1255D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5C2EA-A201-0F41-BE6C-96A0CC88D6B3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33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6A7-4CA1-80AD-7FBA-B89504AB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B9EA83-7D39-AE49-991E-B87537A19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889658" cy="1325563"/>
          </a:xfrm>
        </p:spPr>
        <p:txBody>
          <a:bodyPr/>
          <a:lstStyle/>
          <a:p>
            <a:r>
              <a:rPr kumimoji="1" lang="en-US" altLang="ja-JP" sz="3600" dirty="0"/>
              <a:t>Docker</a:t>
            </a:r>
            <a:r>
              <a:rPr kumimoji="1" lang="ja-JP" altLang="en-US" sz="3600"/>
              <a:t>イメージの構築</a:t>
            </a:r>
            <a:br>
              <a:rPr kumimoji="1" lang="en-US" altLang="ja-JP" dirty="0"/>
            </a:br>
            <a:r>
              <a:rPr kumimoji="1" lang="ja-JP" altLang="en-US"/>
              <a:t>マルチステージビルド</a:t>
            </a:r>
            <a:r>
              <a:rPr lang="ja-JP" altLang="en-US"/>
              <a:t>（</a:t>
            </a:r>
            <a:r>
              <a:rPr lang="en-US" altLang="ja-JP" dirty="0"/>
              <a:t>2/2</a:t>
            </a:r>
            <a:r>
              <a:rPr lang="ja-JP" altLang="en-US"/>
              <a:t>）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540545-B926-13BC-836B-C02EB21E5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407E237-01C1-074E-E2B9-326DFD37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5C2EA-A201-0F41-BE6C-96A0CC88D6B3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B585E80-B8D2-54D0-752F-650835155080}"/>
              </a:ext>
            </a:extLst>
          </p:cNvPr>
          <p:cNvSpPr txBox="1"/>
          <p:nvPr/>
        </p:nvSpPr>
        <p:spPr>
          <a:xfrm>
            <a:off x="2168829" y="1853262"/>
            <a:ext cx="8211098" cy="40934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ja-JP" sz="200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FROM rust:1.96.0 AS builder</a:t>
            </a:r>
          </a:p>
          <a:p>
            <a:endParaRPr lang="ja-JP" altLang="ja-JP" sz="2000"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ja-JP" altLang="ja-JP" sz="200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WORKDIR /app</a:t>
            </a:r>
          </a:p>
          <a:p>
            <a:r>
              <a:rPr lang="ja-JP" altLang="ja-JP" sz="200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COPY . .</a:t>
            </a:r>
          </a:p>
          <a:p>
            <a:r>
              <a:rPr lang="ja-JP" altLang="ja-JP" sz="200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RUN cargo build </a:t>
            </a:r>
            <a:r>
              <a:rPr lang="en-US" altLang="ja-JP" sz="2000" dirty="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ja-JP" altLang="ja-JP" sz="200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release</a:t>
            </a:r>
            <a:endParaRPr lang="en-US" altLang="ja-JP" sz="2000" dirty="0"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ja-JP" altLang="ja-JP" sz="2000"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ja-JP" altLang="ja-JP" sz="2000"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ja-JP" altLang="ja-JP" sz="200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FROM dhi.io/debian-base:trixie</a:t>
            </a:r>
          </a:p>
          <a:p>
            <a:endParaRPr lang="ja-JP" altLang="ja-JP" sz="2000"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ja-JP" altLang="ja-JP" sz="200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COPY --from=builder /app/target/release/lis /app/lis</a:t>
            </a:r>
          </a:p>
          <a:p>
            <a:r>
              <a:rPr lang="ja-JP" altLang="ja-JP" sz="200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WORKDIR /opt</a:t>
            </a:r>
          </a:p>
          <a:p>
            <a:endParaRPr lang="ja-JP" altLang="ja-JP" sz="2000"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ja-JP" altLang="ja-JP" sz="2000"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ENTRYPOINT [ "/app/lis" ]</a:t>
            </a: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65128320-AE4D-0398-0BA4-BDFC6389D513}"/>
              </a:ext>
            </a:extLst>
          </p:cNvPr>
          <p:cNvSpPr/>
          <p:nvPr/>
        </p:nvSpPr>
        <p:spPr>
          <a:xfrm>
            <a:off x="2168828" y="1853262"/>
            <a:ext cx="8211098" cy="1800000"/>
          </a:xfrm>
          <a:prstGeom prst="roundRect">
            <a:avLst>
              <a:gd name="adj" fmla="val 7878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B8AAC022-5249-8254-68FC-7B9DCD7FAA96}"/>
              </a:ext>
            </a:extLst>
          </p:cNvPr>
          <p:cNvSpPr/>
          <p:nvPr/>
        </p:nvSpPr>
        <p:spPr>
          <a:xfrm>
            <a:off x="2168827" y="3769090"/>
            <a:ext cx="8211098" cy="2160000"/>
          </a:xfrm>
          <a:prstGeom prst="roundRect">
            <a:avLst>
              <a:gd name="adj" fmla="val 4924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3E3C75E-CDC1-F895-75C0-A224446642D3}"/>
              </a:ext>
            </a:extLst>
          </p:cNvPr>
          <p:cNvSpPr txBox="1"/>
          <p:nvPr/>
        </p:nvSpPr>
        <p:spPr>
          <a:xfrm>
            <a:off x="8126694" y="1967841"/>
            <a:ext cx="133882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ビルドする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EE53C3E-5AB4-943E-7118-7E38A38EE3BB}"/>
              </a:ext>
            </a:extLst>
          </p:cNvPr>
          <p:cNvSpPr txBox="1"/>
          <p:nvPr/>
        </p:nvSpPr>
        <p:spPr>
          <a:xfrm>
            <a:off x="6510867" y="5520710"/>
            <a:ext cx="295465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配布用イメージを構築する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72030C-1F2D-E9A8-072F-40B70E37105B}"/>
              </a:ext>
            </a:extLst>
          </p:cNvPr>
          <p:cNvSpPr txBox="1"/>
          <p:nvPr/>
        </p:nvSpPr>
        <p:spPr>
          <a:xfrm>
            <a:off x="528905" y="1853262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Dockerfile</a:t>
            </a:r>
            <a:endParaRPr kumimoji="1" lang="ja-JP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559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857B20-66E5-3A99-6AAE-8DAB9B982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DHI</a:t>
            </a:r>
            <a:br>
              <a:rPr lang="en-US" altLang="ja-JP" dirty="0"/>
            </a:br>
            <a:r>
              <a:rPr lang="en-US" altLang="ja-JP" sz="3200" dirty="0"/>
              <a:t>(</a:t>
            </a:r>
            <a:r>
              <a:rPr lang="ja-JP" altLang="ja-JP" sz="3200"/>
              <a:t>Docker Hardened Images</a:t>
            </a:r>
            <a:r>
              <a:rPr lang="en-US" altLang="ja-JP" sz="3200" dirty="0"/>
              <a:t>)</a:t>
            </a:r>
            <a:endParaRPr kumimoji="1" lang="ja-JP" altLang="en-US" sz="32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AA66F0-7186-07DA-45F3-5E4544EDF3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高セキュリティ仕様のイメージ。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/>
              <a:t>2025</a:t>
            </a:r>
            <a:r>
              <a:rPr lang="ja-JP" altLang="en-US"/>
              <a:t>年末から無償利用できるようになった。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/>
              <a:t>Docker</a:t>
            </a:r>
            <a:r>
              <a:rPr lang="ja-JP" altLang="en-US"/>
              <a:t>社が公式メンテナンス・配布している。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本番環境に向けてのイメージ。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endParaRPr lang="en-US" altLang="ja-JP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1247324-A009-9A4B-369E-2E3D876DA8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特徴・メリット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脆弱性</a:t>
            </a:r>
            <a:r>
              <a:rPr lang="en-US" altLang="ja-JP" dirty="0"/>
              <a:t>0</a:t>
            </a:r>
          </a:p>
          <a:p>
            <a:pPr lvl="1">
              <a:lnSpc>
                <a:spcPct val="120000"/>
              </a:lnSpc>
            </a:pPr>
            <a:r>
              <a:rPr lang="ja-JP" altLang="en-US"/>
              <a:t>徹底した最小構成（</a:t>
            </a:r>
            <a:r>
              <a:rPr lang="en-US" altLang="ja-JP" dirty="0" err="1"/>
              <a:t>distroless</a:t>
            </a:r>
            <a:r>
              <a:rPr lang="ja-JP" altLang="en-US"/>
              <a:t>思想）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身元証明（</a:t>
            </a:r>
            <a:r>
              <a:rPr lang="en-US" altLang="ja-JP" dirty="0"/>
              <a:t>SBOM/SLSA</a:t>
            </a:r>
            <a:r>
              <a:rPr lang="ja-JP" altLang="en-US"/>
              <a:t>）が標準的に備わっている。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完全無料（</a:t>
            </a:r>
            <a:r>
              <a:rPr lang="en-US" altLang="ja-JP" dirty="0"/>
              <a:t>Apache 2.0</a:t>
            </a:r>
            <a:r>
              <a:rPr lang="ja-JP" altLang="en-US"/>
              <a:t>ライセンス）</a:t>
            </a:r>
            <a:endParaRPr lang="en-US" altLang="ja-JP" dirty="0"/>
          </a:p>
          <a:p>
            <a:pPr>
              <a:lnSpc>
                <a:spcPct val="120000"/>
              </a:lnSpc>
            </a:pPr>
            <a:endParaRPr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2118C2-C652-7774-BBD7-5A848356D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A2E7DDF-868D-9899-60C1-14F7CA059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2834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8566C4-04D8-635A-E3FB-4D2AACBE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DHI</a:t>
            </a:r>
            <a:r>
              <a:rPr lang="ja-JP" altLang="en-US"/>
              <a:t>イメージの利用</a:t>
            </a:r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D65B0D6-4C81-05FE-F228-0E31BDD9C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配布イメージには積極的に</a:t>
            </a:r>
            <a:r>
              <a:rPr lang="en-US" altLang="ja-JP" dirty="0"/>
              <a:t>DHI</a:t>
            </a:r>
            <a:r>
              <a:rPr lang="ja-JP" altLang="en-US"/>
              <a:t>を利用しよう。</a:t>
            </a:r>
            <a:endParaRPr lang="en-US" altLang="ja-JP" dirty="0"/>
          </a:p>
          <a:p>
            <a:r>
              <a:rPr lang="ja-JP" altLang="en-US"/>
              <a:t>利用にはログインが必要となる。</a:t>
            </a:r>
            <a:endParaRPr lang="en-US" altLang="ja-JP" dirty="0"/>
          </a:p>
          <a:p>
            <a:pPr lvl="1"/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docker login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dhi.io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altLang="ja-JP" dirty="0"/>
              <a:t>Docker Hub</a:t>
            </a:r>
            <a:r>
              <a:rPr lang="ja-JP" altLang="en-US"/>
              <a:t>のアカウントでログインするため、特に認証情報を入力しなくても成功する。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B169BE-2072-28B4-147F-4FD007CD4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96674D-4E7E-B610-8B9E-8F2286A52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1161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CF0106-79FD-2073-7E78-6F2519944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マルチプラットフォームビルド（</a:t>
            </a:r>
            <a:r>
              <a:rPr kumimoji="1" lang="en-US" altLang="ja-JP" dirty="0"/>
              <a:t>1/4</a:t>
            </a:r>
            <a:r>
              <a:rPr kumimoji="1" lang="ja-JP" altLang="en-US"/>
              <a:t>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FE03B4-206A-2A20-4766-6984092E2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kumimoji="1" lang="ja-JP" altLang="en-US"/>
              <a:t>複数のアーキテクチャ向けのイメージを同じ名前（タグ名）で</a:t>
            </a:r>
            <a:r>
              <a:rPr lang="ja-JP" altLang="en-US"/>
              <a:t>管理できる仕組み．</a:t>
            </a:r>
            <a:endParaRPr lang="en-US" altLang="ja-JP" dirty="0"/>
          </a:p>
          <a:p>
            <a:pPr lvl="1">
              <a:lnSpc>
                <a:spcPct val="100000"/>
              </a:lnSpc>
            </a:pPr>
            <a:r>
              <a:rPr kumimoji="1" lang="ja-JP" altLang="en-US"/>
              <a:t>実行環境に合ったアーキテクチャのイメージで実行できる．</a:t>
            </a: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54F75F-018D-C798-A249-0E95A590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E1F6E3D-E78F-69DE-FF5E-CBC501A4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535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D8DC21-32E2-37FB-A300-083B7A9A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マルチプラットフォームビルド（</a:t>
            </a:r>
            <a:r>
              <a:rPr kumimoji="1" lang="en-US" altLang="ja-JP" dirty="0"/>
              <a:t>2/4</a:t>
            </a:r>
            <a:r>
              <a:rPr kumimoji="1" lang="ja-JP" altLang="en-US"/>
              <a:t>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8EA693-8001-0FCE-0329-DA633601C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docker-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buildx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ja-JP" altLang="en-US"/>
              <a:t>を用いる．</a:t>
            </a:r>
            <a:endParaRPr kumimoji="1" lang="en-US" altLang="ja-JP" dirty="0"/>
          </a:p>
          <a:p>
            <a:r>
              <a:rPr lang="ja-JP" altLang="en-US"/>
              <a:t>最初に次のコマンドを実行しておこう．</a:t>
            </a:r>
            <a:endParaRPr lang="en-US" altLang="ja-JP" dirty="0"/>
          </a:p>
          <a:p>
            <a:pPr lvl="1"/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docker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buildx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create --use</a:t>
            </a:r>
          </a:p>
          <a:p>
            <a:pPr lvl="2"/>
            <a:r>
              <a:rPr kumimoji="1" lang="ja-JP" altLang="en-US"/>
              <a:t>これで，</a:t>
            </a:r>
            <a:r>
              <a:rPr lang="ja-JP" altLang="en-US"/>
              <a:t>ビルダー</a:t>
            </a:r>
            <a:r>
              <a:rPr kumimoji="1" lang="ja-JP" altLang="en-US"/>
              <a:t>インスタンスを立ち上げて</a:t>
            </a:r>
            <a:r>
              <a:rPr lang="ja-JP" altLang="en-US"/>
              <a:t>，今後これを</a:t>
            </a:r>
            <a:r>
              <a:rPr kumimoji="1" lang="ja-JP" altLang="en-US"/>
              <a:t>利用する．</a:t>
            </a:r>
            <a:endParaRPr kumimoji="1" lang="en-US" altLang="ja-JP" dirty="0"/>
          </a:p>
          <a:p>
            <a:pPr lvl="2"/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docker 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buildx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ls</a:t>
            </a:r>
            <a:r>
              <a:rPr kumimoji="1" lang="ja-JP" altLang="en-US"/>
              <a:t>でビルダーインスタンスの一覧が見られる．</a:t>
            </a:r>
            <a:endParaRPr kumimoji="1"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0C0DC1-A133-5A68-2B75-7FA736F4A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1C8E527-BAEE-F1BF-3A93-9AB2377C6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46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5E9A5B-6099-7CCE-E8AB-B78F4988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マルチプラットフォームビルド（</a:t>
            </a:r>
            <a:r>
              <a:rPr lang="en-US" altLang="ja-JP" dirty="0"/>
              <a:t>3</a:t>
            </a:r>
            <a:r>
              <a:rPr kumimoji="1" lang="en-US" altLang="ja-JP" dirty="0"/>
              <a:t>/4</a:t>
            </a:r>
            <a:r>
              <a:rPr kumimoji="1" lang="ja-JP" altLang="en-US"/>
              <a:t>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4C81B0-2214-E415-B0BD-9C042630F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レジストリへのログインが必要になる．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アーキテクチャが合っていないイメージは保存できない。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イメージを構築してレジストリに登録する必要がある。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GitHub packages</a:t>
            </a:r>
            <a:r>
              <a:rPr lang="ja-JP" altLang="en-US"/>
              <a:t>にログインする．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>
                <a:hlinkClick r:id="rId2"/>
              </a:rPr>
              <a:t>アクセストークンの発行が必要となる</a:t>
            </a:r>
            <a:r>
              <a:rPr kumimoji="1" lang="ja-JP" altLang="en-US"/>
              <a:t>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en-US" altLang="ja-JP" dirty="0">
                <a:hlinkClick r:id="rId3"/>
              </a:rPr>
              <a:t>https://github.com/settings/tokens/new</a:t>
            </a:r>
            <a:endParaRPr kumimoji="1" lang="en-US" altLang="ja-JP" dirty="0"/>
          </a:p>
          <a:p>
            <a:pPr lvl="3">
              <a:lnSpc>
                <a:spcPct val="120000"/>
              </a:lnSpc>
            </a:pP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write:packages</a:t>
            </a:r>
            <a:r>
              <a:rPr kumimoji="1" lang="ja-JP" altLang="en-US"/>
              <a:t>へのチェックが必要となる．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cat $ACCESS_TOKEN | docker login 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ghcr.io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-u 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--password-stdin</a:t>
            </a:r>
          </a:p>
          <a:p>
            <a:pPr lvl="2">
              <a:lnSpc>
                <a:spcPct val="12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これで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docker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から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ghcr.io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へログインできるようになる．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lnSpc>
                <a:spcPct val="120000"/>
              </a:lnSpc>
            </a:pP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6B07A6-C512-CEDA-3E0A-D4410D17B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1BB879-75B6-CCFC-7E90-1824FB97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4872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0A3A51-3B92-EA48-4841-5E09E86A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マルチプラットフォームビルド（</a:t>
            </a:r>
            <a:r>
              <a:rPr kumimoji="1" lang="en-US" altLang="ja-JP" dirty="0"/>
              <a:t>4</a:t>
            </a:r>
            <a:r>
              <a:rPr lang="en-US" altLang="ja-JP" dirty="0"/>
              <a:t>/4</a:t>
            </a:r>
            <a:r>
              <a:rPr kumimoji="1" lang="ja-JP" altLang="en-US"/>
              <a:t>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0F40DD-A3EB-C3F2-9337-DDB56AF57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docker 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buildx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build --push \</a:t>
            </a:r>
            <a:b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	--platform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linux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/amd64,linux/arm64 \</a:t>
            </a:r>
            <a:b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	-t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ghcr.io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/lis:0.5.2 \</a:t>
            </a:r>
            <a:b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	-t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ghcr.io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lis:latest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ja-JP" altLang="en-US"/>
              <a:t>オプション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--push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　　　</a:t>
            </a:r>
            <a:r>
              <a:rPr lang="ja-JP" altLang="en-US"/>
              <a:t>ビルド後にレジストリに</a:t>
            </a:r>
            <a:r>
              <a:rPr lang="en-US" altLang="ja-JP" dirty="0"/>
              <a:t>push</a:t>
            </a:r>
            <a:r>
              <a:rPr lang="ja-JP" altLang="en-US"/>
              <a:t>する．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--platform</a:t>
            </a:r>
            <a:r>
              <a:rPr lang="ja-JP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　</a:t>
            </a:r>
            <a:r>
              <a:rPr lang="ja-JP" altLang="en-US"/>
              <a:t>プラットフォームを指定する．</a:t>
            </a:r>
            <a:endParaRPr lang="en-US" altLang="ja-JP" dirty="0"/>
          </a:p>
          <a:p>
            <a:pPr>
              <a:lnSpc>
                <a:spcPct val="120000"/>
              </a:lnSpc>
            </a:pP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FF51E0-8F42-EB4F-E4D1-58D298A52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CC36E6F-DBE5-063C-7481-D38D1548F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127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C1D17F-8BB7-666D-6AE6-2FFE4DCB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8757" cy="1325563"/>
          </a:xfrm>
        </p:spPr>
        <p:txBody>
          <a:bodyPr/>
          <a:lstStyle/>
          <a:p>
            <a:r>
              <a:rPr kumimoji="1" lang="ja-JP" altLang="en-US"/>
              <a:t>メタデータ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2355FD-31B5-EF51-2CC1-00C940647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kumimoji="1" lang="ja-JP" altLang="en-US"/>
              <a:t>コンテナイメージには、アノテーションをつけることが推奨されている。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kumimoji="1" lang="en-US" altLang="ja-JP" dirty="0" err="1"/>
              <a:t>org.opencontainers.image</a:t>
            </a:r>
            <a:r>
              <a:rPr kumimoji="1" lang="en-US" altLang="ja-JP" dirty="0"/>
              <a:t> </a:t>
            </a:r>
            <a:r>
              <a:rPr kumimoji="1" lang="ja-JP" altLang="en-US"/>
              <a:t>をプレフィックスにして、次のようなものが推奨されている。</a:t>
            </a:r>
            <a:endParaRPr kumimoji="1" lang="en-US" altLang="ja-JP" dirty="0"/>
          </a:p>
          <a:p>
            <a:pPr lvl="2">
              <a:lnSpc>
                <a:spcPct val="110000"/>
              </a:lnSpc>
            </a:pPr>
            <a:r>
              <a:rPr kumimoji="1" lang="en-US" altLang="ja-JP" dirty="0"/>
              <a:t>title, description, licenses (SPDX</a:t>
            </a:r>
            <a:r>
              <a:rPr kumimoji="1" lang="ja-JP" altLang="en-US"/>
              <a:t>表記</a:t>
            </a:r>
            <a:r>
              <a:rPr kumimoji="1" lang="en-US" altLang="ja-JP" dirty="0"/>
              <a:t>), authors, version, revision, created, source</a:t>
            </a:r>
            <a:r>
              <a:rPr kumimoji="1" lang="ja-JP" altLang="en-US"/>
              <a:t>など。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2FF455-0792-12E4-755D-9419E90A3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 dirty="0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54323EE-5D56-2E42-5CA0-CE6B69EE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672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D5B34A-7C16-A748-F9A1-AF5675E96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最終的な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Containerfile</a:t>
            </a:r>
            <a:endParaRPr kumimoji="1" lang="ja-JP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D438F2-704A-F49D-C254-028798D3B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C0442C9-31B3-72C5-FC28-03FDCAB68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26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619F758-298F-D016-5440-032B1CE59488}"/>
              </a:ext>
            </a:extLst>
          </p:cNvPr>
          <p:cNvSpPr txBox="1"/>
          <p:nvPr/>
        </p:nvSpPr>
        <p:spPr>
          <a:xfrm>
            <a:off x="0" y="1410355"/>
            <a:ext cx="8388626" cy="544764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" altLang="ja-JP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------------------------------</a:t>
            </a:r>
          </a:p>
          <a:p>
            <a:r>
              <a:rPr lang="en" altLang="ja-JP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Stage 1. Build an app</a:t>
            </a:r>
          </a:p>
          <a:p>
            <a:r>
              <a:rPr lang="en" altLang="ja-JP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------------------------------</a:t>
            </a:r>
          </a:p>
          <a:p>
            <a:r>
              <a:rPr lang="en" altLang="ja-JP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rust:1.96.0 </a:t>
            </a:r>
            <a:r>
              <a:rPr lang="en" altLang="ja-JP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builder</a:t>
            </a:r>
          </a:p>
          <a:p>
            <a:r>
              <a:rPr lang="en" altLang="ja-JP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WORKDIR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/app</a:t>
            </a:r>
          </a:p>
          <a:p>
            <a:r>
              <a:rPr lang="en" altLang="ja-JP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COPY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. .</a:t>
            </a:r>
          </a:p>
          <a:p>
            <a:r>
              <a:rPr lang="en" altLang="ja-JP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cargo build --release</a:t>
            </a:r>
          </a:p>
          <a:p>
            <a:endParaRPr lang="en" altLang="ja-JP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------------------------------</a:t>
            </a:r>
          </a:p>
          <a:p>
            <a:r>
              <a:rPr lang="en" altLang="ja-JP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Stage 2. Build for runtime</a:t>
            </a:r>
          </a:p>
          <a:p>
            <a:r>
              <a:rPr lang="en" altLang="ja-JP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------------------------------</a:t>
            </a:r>
          </a:p>
          <a:p>
            <a:r>
              <a:rPr lang="en" altLang="ja-JP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dhi.io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debian-base:trixie</a:t>
            </a:r>
            <a:endParaRPr lang="en" altLang="ja-JP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ja-JP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GIT_REVISION</a:t>
            </a:r>
          </a:p>
          <a:p>
            <a:r>
              <a:rPr lang="en" altLang="ja-JP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BUILD_DATE</a:t>
            </a:r>
          </a:p>
          <a:p>
            <a:r>
              <a:rPr lang="en" altLang="ja-JP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VERSION</a:t>
            </a:r>
          </a:p>
          <a:p>
            <a:r>
              <a:rPr lang="en" altLang="ja-JP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org.opencontainers.image.title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ja-JP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</a:t>
            </a:r>
            <a:r>
              <a:rPr lang="en" altLang="ja-JP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org.opencontainers.image.description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"Minimal and alternative ls implementation in Rust"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org.opencontainers.image.url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"https://</a:t>
            </a:r>
            <a:r>
              <a:rPr lang="en" altLang="ja-JP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tamada.github.io</a:t>
            </a:r>
            <a:r>
              <a:rPr lang="en" altLang="ja-JP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" altLang="ja-JP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</a:t>
            </a:r>
            <a:r>
              <a:rPr lang="en" altLang="ja-JP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org.opencontainers.image.source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"https://</a:t>
            </a:r>
            <a:r>
              <a:rPr lang="en" altLang="ja-JP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github.com</a:t>
            </a:r>
            <a:r>
              <a:rPr lang="en" altLang="ja-JP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" altLang="ja-JP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tamada</a:t>
            </a:r>
            <a:r>
              <a:rPr lang="en" altLang="ja-JP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" altLang="ja-JP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</a:t>
            </a:r>
            <a:r>
              <a:rPr lang="en" altLang="ja-JP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org.opencontainers.image.version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=${VERSION} \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org.opencontainers.image.revision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=${GIT_REVISION} \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org.opencontainers.image.created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=${BUILD_DATE} \</a:t>
            </a:r>
          </a:p>
          <a:p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org.opencontainers.image.licenses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ja-JP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"CC0-1.0"</a:t>
            </a:r>
          </a:p>
          <a:p>
            <a:endParaRPr lang="en" altLang="ja-JP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COPY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--from=builder /app/target/release/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lis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/app/</a:t>
            </a:r>
            <a:r>
              <a:rPr lang="en" altLang="ja-JP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lis</a:t>
            </a:r>
            <a:endParaRPr lang="en" altLang="ja-JP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ja-JP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WORKDIR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/opt</a:t>
            </a:r>
          </a:p>
          <a:p>
            <a:r>
              <a:rPr lang="en" altLang="ja-JP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ENTRYPOINT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[ </a:t>
            </a:r>
            <a:r>
              <a:rPr lang="en" altLang="ja-JP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"/app/</a:t>
            </a:r>
            <a:r>
              <a:rPr lang="en" altLang="ja-JP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</a:t>
            </a:r>
            <a:r>
              <a:rPr lang="en" altLang="ja-JP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ja-JP" sz="1200" dirty="0">
                <a:latin typeface="Consolas" panose="020B0609020204030204" pitchFamily="49" charset="0"/>
                <a:cs typeface="Consolas" panose="020B0609020204030204" pitchFamily="49" charset="0"/>
              </a:rPr>
              <a:t> ]</a:t>
            </a:r>
            <a:endParaRPr lang="ja-JP" altLang="en-US" sz="12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870D76EB-0A9B-8502-2421-25E2927A7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2393" y="1410356"/>
            <a:ext cx="8160026" cy="177756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GIT_REVISION</a:t>
            </a:r>
            <a:r>
              <a:rPr lang="en-US" altLang="ja-JP" dirty="0"/>
              <a:t>, 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BUILD_DATE</a:t>
            </a:r>
            <a:r>
              <a:rPr lang="en-US" altLang="ja-JP" dirty="0"/>
              <a:t>, 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VERSION</a:t>
            </a:r>
            <a:r>
              <a:rPr lang="ja-JP" altLang="en-US"/>
              <a:t>はイメージ構築時に与える。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DB10DCF-C5BB-2204-B9A4-9A98469D4AFE}"/>
              </a:ext>
            </a:extLst>
          </p:cNvPr>
          <p:cNvSpPr txBox="1"/>
          <p:nvPr/>
        </p:nvSpPr>
        <p:spPr>
          <a:xfrm>
            <a:off x="4138445" y="2563865"/>
            <a:ext cx="7215355" cy="16004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docker build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--build-arg GIT_REVISION=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"3b807fb"</a:t>
            </a:r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--build-arg BUILD_DATE=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"2026-06-19T02:21:20Z"</a:t>
            </a:r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--build-arg VERSION=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0.0.10</a:t>
            </a:r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-t </a:t>
            </a:r>
            <a:r>
              <a:rPr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ghcr.io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tamada/lis:latest -t </a:t>
            </a:r>
            <a:r>
              <a:rPr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ghcr.io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tamada/lis: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0.0.10</a:t>
            </a:r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-f Containerfile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endParaRPr lang="ja-JP" altLang="en-US" sz="1400"/>
          </a:p>
        </p:txBody>
      </p:sp>
    </p:spTree>
    <p:extLst>
      <p:ext uri="{BB962C8B-B14F-4D97-AF65-F5344CB8AC3E}">
        <p14:creationId xmlns:p14="http://schemas.microsoft.com/office/powerpoint/2010/main" val="281055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076BC7-B472-D655-4B45-4D9B5E3D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構築時に</a:t>
            </a:r>
            <a:br>
              <a:rPr kumimoji="1" lang="en-US" altLang="ja-JP" dirty="0"/>
            </a:br>
            <a:r>
              <a:rPr kumimoji="1" lang="ja-JP" altLang="en-US"/>
              <a:t>与える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27BF31-2ECA-5421-0F6B-FB06CDD46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kumimoji="1" lang="ja-JP" altLang="en-US"/>
              <a:t>毎回構築時にコマンド</a:t>
            </a:r>
            <a:br>
              <a:rPr kumimoji="1" lang="en-US" altLang="ja-JP" dirty="0"/>
            </a:br>
            <a:r>
              <a:rPr kumimoji="1" lang="ja-JP" altLang="en-US"/>
              <a:t>ライン引数で与えるの</a:t>
            </a:r>
            <a:br>
              <a:rPr kumimoji="1" lang="en-US" altLang="ja-JP" dirty="0"/>
            </a:br>
            <a:r>
              <a:rPr kumimoji="1" lang="ja-JP" altLang="en-US"/>
              <a:t>は現実的ではない。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kumimoji="1" lang="ja-JP" altLang="en-US"/>
              <a:t>必ず忘れる。</a:t>
            </a:r>
            <a:endParaRPr kumimoji="1" lang="en-US" altLang="ja-JP" dirty="0"/>
          </a:p>
          <a:p>
            <a:pPr>
              <a:lnSpc>
                <a:spcPct val="110000"/>
              </a:lnSpc>
            </a:pPr>
            <a:r>
              <a:rPr kumimoji="1" lang="ja-JP" altLang="en-US"/>
              <a:t>一連のコマンドを簡単なコマンドで実現しよう。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/scripts/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build_docker.sh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10000"/>
              </a:lnSpc>
            </a:pPr>
            <a:r>
              <a:rPr kumimoji="1" lang="ja-JP" altLang="en-US"/>
              <a:t>ビルドツール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EACCCA-BF1C-17B1-F2FF-2F71B3FB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49B8D91-425A-C04C-C9CA-84EC83559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27</a:t>
            </a:fld>
            <a:endParaRPr kumimoji="1" lang="ja-JP" altLang="en-US"/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D37A66EE-527C-8A81-06BF-0561D1064ECF}"/>
              </a:ext>
            </a:extLst>
          </p:cNvPr>
          <p:cNvSpPr/>
          <p:nvPr/>
        </p:nvSpPr>
        <p:spPr>
          <a:xfrm>
            <a:off x="1427966" y="5347396"/>
            <a:ext cx="3031299" cy="65257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21C4DFD-69EF-F304-18E9-F01CB8A45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15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46518E-612B-5B76-8512-4C815B5BB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6000"/>
              <a:t>ビルドツール</a:t>
            </a:r>
            <a:r>
              <a:rPr kumimoji="1" lang="en-US" altLang="ja-JP" sz="6000" dirty="0"/>
              <a:t>/</a:t>
            </a:r>
            <a:r>
              <a:rPr kumimoji="1" lang="ja-JP" altLang="en-US" sz="6000"/>
              <a:t>タスクランナー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3CF9BE84-2FD8-FD49-8C76-46D923008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6432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ja-JP" dirty="0"/>
              <a:t>1</a:t>
            </a:r>
            <a:r>
              <a:rPr lang="ja-JP" altLang="en-US"/>
              <a:t>つのソフトウェアが複数のソースファイルから構成されることは珍しくない．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ソースファイルを一つずつコンパイルするのは面倒．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ソフトウェアの作成に必要なのはコンパイルだけではない．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配布ファイルやドキュメントなどの作成も含まれる．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一覧の作業を自動化するためにビルドツールが利用される．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ビルドのルールをビルドファイルに記載する．</a:t>
            </a:r>
            <a:endParaRPr lang="en-US" altLang="ja-JP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50A511-AAEC-B314-9100-6E268E1E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ソフトウェア工学</a:t>
            </a:r>
            <a:r>
              <a:rPr kumimoji="1" lang="en" altLang="ja-JP"/>
              <a:t>I </a:t>
            </a:r>
            <a:r>
              <a:rPr kumimoji="1" lang="ja-JP" altLang="en-US"/>
              <a:t>第</a:t>
            </a:r>
            <a:r>
              <a:rPr kumimoji="1" lang="en-US" altLang="ja-JP"/>
              <a:t>14</a:t>
            </a:r>
            <a:r>
              <a:rPr kumimoji="1" lang="ja-JP" altLang="en-US"/>
              <a:t>講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6E8B689-FB8A-EC72-BBEE-6694BC5C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28</a:t>
            </a:fld>
            <a:endParaRPr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61863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E43818-A43D-9120-9169-886E860BD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ビルドツールのトレンド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EB1276-D56A-617D-971A-FAAB034B3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10515599" cy="2719079"/>
          </a:xfrm>
        </p:spPr>
        <p:txBody>
          <a:bodyPr numCol="2"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ja-JP" dirty="0"/>
              <a:t>Declarative</a:t>
            </a:r>
            <a:r>
              <a:rPr kumimoji="1" lang="ja-JP" altLang="en-US"/>
              <a:t>（宣言的）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実行したいことを書く．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コンパイル，デプロイ，リリースなど．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ビルドツールに適している．</a:t>
            </a:r>
            <a:endParaRPr kumimoji="1" lang="en-US" altLang="ja-JP" dirty="0"/>
          </a:p>
          <a:p>
            <a:pPr lvl="2">
              <a:lnSpc>
                <a:spcPct val="120000"/>
              </a:lnSpc>
            </a:pPr>
            <a:r>
              <a:rPr kumimoji="1" lang="ja-JP" altLang="en-US"/>
              <a:t>ビルドしたい，デプロイしたいなど，目的が決まっている．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endParaRPr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Imperative</a:t>
            </a:r>
            <a:r>
              <a:rPr lang="ja-JP" altLang="en-US"/>
              <a:t>（命令的）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実行することを書く．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javac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  <a:r>
              <a:rPr kumimoji="1" lang="ja-JP" altLang="en-US"/>
              <a:t>，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tar 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cvfz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tool-1.2.3.tar.gz ...</a:t>
            </a:r>
          </a:p>
          <a:p>
            <a:pPr lvl="1">
              <a:lnSpc>
                <a:spcPct val="12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タスクランナーに適している．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lnSpc>
                <a:spcPct val="120000"/>
              </a:lnSpc>
            </a:pP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複雑なコマンドを覚えさせたい，とりあえずこれを入力しろと伝えたい．</a:t>
            </a:r>
            <a:endParaRPr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8415354-5652-E65F-B006-93FE8F919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4544703"/>
            <a:ext cx="10515601" cy="1632259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どちらが優れているか，という話ではない．</a:t>
            </a:r>
            <a:endParaRPr kumimoji="1" lang="en-US" altLang="ja-JP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ja-JP" altLang="en-US">
                <a:cs typeface="Consolas" panose="020B0609020204030204" pitchFamily="49" charset="0"/>
              </a:rPr>
              <a:t>近年は</a:t>
            </a:r>
            <a:r>
              <a:rPr lang="en-US" altLang="ja-JP" dirty="0">
                <a:cs typeface="Consolas" panose="020B0609020204030204" pitchFamily="49" charset="0"/>
              </a:rPr>
              <a:t>Declarative</a:t>
            </a:r>
            <a:r>
              <a:rPr lang="ja-JP" altLang="en-US">
                <a:cs typeface="Consolas" panose="020B0609020204030204" pitchFamily="49" charset="0"/>
              </a:rPr>
              <a:t>の方が持ち上げられているが，</a:t>
            </a:r>
            <a:r>
              <a:rPr lang="en-US" altLang="ja-JP" dirty="0">
                <a:cs typeface="Consolas" panose="020B0609020204030204" pitchFamily="49" charset="0"/>
              </a:rPr>
              <a:t>Imperative</a:t>
            </a:r>
            <a:r>
              <a:rPr lang="ja-JP" altLang="en-US">
                <a:cs typeface="Consolas" panose="020B0609020204030204" pitchFamily="49" charset="0"/>
              </a:rPr>
              <a:t>がダメなわけではない．</a:t>
            </a:r>
            <a:endParaRPr lang="en-US" altLang="ja-JP" dirty="0"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kumimoji="1" lang="ja-JP" altLang="en-US">
                <a:cs typeface="Consolas" panose="020B0609020204030204" pitchFamily="49" charset="0"/>
              </a:rPr>
              <a:t>用途によって使い分けが重要となる．</a:t>
            </a:r>
          </a:p>
          <a:p>
            <a:endParaRPr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42C991-5B54-6C2F-BFA2-81C404FB2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2025-04-25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8BD9904-D972-7AD3-496B-3B8902E6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898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293486-998E-54D1-0458-5A24129A1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著名なビルドツール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F2E3AA-CC5C-2ED2-3508-2BF30283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2025-04-25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EA94283-581C-6BA4-E445-CF192951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30</a:t>
            </a:fld>
            <a:endParaRPr kumimoji="1"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7E1C05E1-2097-4A64-4878-CB1435043057}"/>
              </a:ext>
            </a:extLst>
          </p:cNvPr>
          <p:cNvCxnSpPr>
            <a:cxnSpLocks/>
          </p:cNvCxnSpPr>
          <p:nvPr/>
        </p:nvCxnSpPr>
        <p:spPr>
          <a:xfrm>
            <a:off x="838200" y="4001294"/>
            <a:ext cx="105156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C039A1E9-20FA-DB46-2569-7FFD32304F42}"/>
              </a:ext>
            </a:extLst>
          </p:cNvPr>
          <p:cNvCxnSpPr>
            <a:cxnSpLocks/>
          </p:cNvCxnSpPr>
          <p:nvPr/>
        </p:nvCxnSpPr>
        <p:spPr>
          <a:xfrm flipV="1">
            <a:off x="6096000" y="1825625"/>
            <a:ext cx="0" cy="435133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20CA24F-FB6D-A03F-A65E-0167F753D534}"/>
              </a:ext>
            </a:extLst>
          </p:cNvPr>
          <p:cNvSpPr txBox="1"/>
          <p:nvPr/>
        </p:nvSpPr>
        <p:spPr>
          <a:xfrm>
            <a:off x="187220" y="3631962"/>
            <a:ext cx="1373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imperative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3EEFBFF-2DAD-B448-30CD-FDA3F123F3E7}"/>
              </a:ext>
            </a:extLst>
          </p:cNvPr>
          <p:cNvSpPr txBox="1"/>
          <p:nvPr/>
        </p:nvSpPr>
        <p:spPr>
          <a:xfrm>
            <a:off x="10651654" y="3631962"/>
            <a:ext cx="1404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declarative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0F8C084-CE5A-29E1-75D1-0B270CF2D911}"/>
              </a:ext>
            </a:extLst>
          </p:cNvPr>
          <p:cNvSpPr txBox="1"/>
          <p:nvPr/>
        </p:nvSpPr>
        <p:spPr>
          <a:xfrm>
            <a:off x="4618672" y="1456293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ビルドファイルの記述言語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A97823A-74C0-0116-1657-3B72A88DC72D}"/>
              </a:ext>
            </a:extLst>
          </p:cNvPr>
          <p:cNvSpPr txBox="1"/>
          <p:nvPr/>
        </p:nvSpPr>
        <p:spPr>
          <a:xfrm>
            <a:off x="6095999" y="1825625"/>
            <a:ext cx="2023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DSL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（独自言語）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CBEEA81-C057-3B34-13CB-9AF459CCC9A9}"/>
              </a:ext>
            </a:extLst>
          </p:cNvPr>
          <p:cNvSpPr txBox="1"/>
          <p:nvPr/>
        </p:nvSpPr>
        <p:spPr>
          <a:xfrm>
            <a:off x="6095999" y="5807632"/>
            <a:ext cx="2063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XML, </a:t>
            </a:r>
            <a:r>
              <a:rPr kumimoji="1" lang="en-US" altLang="ja-JP" dirty="0" err="1">
                <a:latin typeface="Meiryo" panose="020B0604030504040204" pitchFamily="34" charset="-128"/>
                <a:ea typeface="Meiryo" panose="020B0604030504040204" pitchFamily="34" charset="-128"/>
              </a:rPr>
              <a:t>Yaml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, </a:t>
            </a:r>
            <a:r>
              <a:rPr kumimoji="1" lang="en-US" altLang="ja-JP" dirty="0" err="1">
                <a:latin typeface="Meiryo" panose="020B0604030504040204" pitchFamily="34" charset="-128"/>
                <a:ea typeface="Meiryo" panose="020B0604030504040204" pitchFamily="34" charset="-128"/>
              </a:rPr>
              <a:t>Toml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5" name="Picture 4" descr="Apache Ant - Wikipedia">
            <a:extLst>
              <a:ext uri="{FF2B5EF4-FFF2-40B4-BE49-F238E27FC236}">
                <a16:creationId xmlns:a16="http://schemas.microsoft.com/office/drawing/2014/main" id="{BCFE14D9-2C96-7F18-A922-3351C2634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139" y="5138920"/>
            <a:ext cx="1374084" cy="853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F117137-A6D0-572B-1A74-2A149F24C307}"/>
              </a:ext>
            </a:extLst>
          </p:cNvPr>
          <p:cNvSpPr txBox="1"/>
          <p:nvPr/>
        </p:nvSpPr>
        <p:spPr>
          <a:xfrm>
            <a:off x="874139" y="2614164"/>
            <a:ext cx="938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Make</a:t>
            </a:r>
            <a:endParaRPr kumimoji="1" lang="ja-JP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4436EC5-F62E-DCCC-4867-D812AF47CB93}"/>
              </a:ext>
            </a:extLst>
          </p:cNvPr>
          <p:cNvSpPr txBox="1"/>
          <p:nvPr/>
        </p:nvSpPr>
        <p:spPr>
          <a:xfrm>
            <a:off x="3185117" y="2854405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Rake</a:t>
            </a:r>
            <a:endParaRPr kumimoji="1" lang="ja-JP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9368D9A-795E-8D83-FEEC-E4889966336E}"/>
              </a:ext>
            </a:extLst>
          </p:cNvPr>
          <p:cNvSpPr txBox="1"/>
          <p:nvPr/>
        </p:nvSpPr>
        <p:spPr>
          <a:xfrm>
            <a:off x="3184098" y="2355248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Just</a:t>
            </a:r>
            <a:endParaRPr kumimoji="1" lang="ja-JP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8" descr="入門】Gradle とは？ Maven リポジトリで Dependencies を解決 | ほげほげテクノロジー">
            <a:extLst>
              <a:ext uri="{FF2B5EF4-FFF2-40B4-BE49-F238E27FC236}">
                <a16:creationId xmlns:a16="http://schemas.microsoft.com/office/drawing/2014/main" id="{C33CEF43-6242-3398-4B97-5C7E9F245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475" y="2249526"/>
            <a:ext cx="1337727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 descr="Bazel 入門 (1) - 事始め｜npaka｜note">
            <a:extLst>
              <a:ext uri="{FF2B5EF4-FFF2-40B4-BE49-F238E27FC236}">
                <a16:creationId xmlns:a16="http://schemas.microsoft.com/office/drawing/2014/main" id="{CDB456EF-81A3-CD94-F717-C2F0F275B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860" y="2904548"/>
            <a:ext cx="108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2" descr="SBT basics – Emmanouil Gkatziouras">
            <a:extLst>
              <a:ext uri="{FF2B5EF4-FFF2-40B4-BE49-F238E27FC236}">
                <a16:creationId xmlns:a16="http://schemas.microsoft.com/office/drawing/2014/main" id="{B1A92ABB-2B26-8A27-2ECA-DF4CA726A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174" y="2249526"/>
            <a:ext cx="12487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Earthly">
            <a:extLst>
              <a:ext uri="{FF2B5EF4-FFF2-40B4-BE49-F238E27FC236}">
                <a16:creationId xmlns:a16="http://schemas.microsoft.com/office/drawing/2014/main" id="{AA43301F-C2D8-4F62-136D-0CCE6F1C1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339" y="2889697"/>
            <a:ext cx="135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6">
            <a:extLst>
              <a:ext uri="{FF2B5EF4-FFF2-40B4-BE49-F238E27FC236}">
                <a16:creationId xmlns:a16="http://schemas.microsoft.com/office/drawing/2014/main" id="{A14824FC-0886-958E-8ADC-4F9ADAF91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5124" y="4347461"/>
            <a:ext cx="1422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B56FBA86-A7E1-78FE-3A2A-7D90BC7E27EA}"/>
              </a:ext>
            </a:extLst>
          </p:cNvPr>
          <p:cNvGrpSpPr/>
          <p:nvPr/>
        </p:nvGrpSpPr>
        <p:grpSpPr>
          <a:xfrm>
            <a:off x="7734334" y="4786056"/>
            <a:ext cx="1714009" cy="720000"/>
            <a:chOff x="7819860" y="5064752"/>
            <a:chExt cx="1714009" cy="720000"/>
          </a:xfrm>
        </p:grpSpPr>
        <p:pic>
          <p:nvPicPr>
            <p:cNvPr id="25" name="Picture 18" descr="Cargo Logo">
              <a:extLst>
                <a:ext uri="{FF2B5EF4-FFF2-40B4-BE49-F238E27FC236}">
                  <a16:creationId xmlns:a16="http://schemas.microsoft.com/office/drawing/2014/main" id="{F4C0F9D5-FA1C-2974-CB2C-89E8F7EE4A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19860" y="5064752"/>
              <a:ext cx="801163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C26A9106-4ED7-7E42-53F8-8D8088850156}"/>
                </a:ext>
              </a:extLst>
            </p:cNvPr>
            <p:cNvSpPr txBox="1"/>
            <p:nvPr/>
          </p:nvSpPr>
          <p:spPr>
            <a:xfrm>
              <a:off x="8509230" y="5196047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>
                  <a:latin typeface="Arial" panose="020B0604020202020204" pitchFamily="34" charset="0"/>
                  <a:cs typeface="Arial" panose="020B0604020202020204" pitchFamily="34" charset="0"/>
                </a:rPr>
                <a:t>Cargo</a:t>
              </a:r>
              <a:endParaRPr kumimoji="1" lang="ja-JP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9CEF7B9-879A-DCD6-54A2-13B81F2BC78F}"/>
              </a:ext>
            </a:extLst>
          </p:cNvPr>
          <p:cNvSpPr txBox="1"/>
          <p:nvPr/>
        </p:nvSpPr>
        <p:spPr>
          <a:xfrm>
            <a:off x="3205184" y="4789833"/>
            <a:ext cx="817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endParaRPr kumimoji="1" lang="ja-JP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DC0D0C42-394B-D5FD-92BD-F9A6B8FCAB4A}"/>
              </a:ext>
            </a:extLst>
          </p:cNvPr>
          <p:cNvSpPr/>
          <p:nvPr/>
        </p:nvSpPr>
        <p:spPr>
          <a:xfrm>
            <a:off x="3156684" y="2306529"/>
            <a:ext cx="997393" cy="61278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715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71072-143B-2DAF-BA11-029D1B0A3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902EA2-56C3-F9F0-F3BD-C91E9E38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なぜ？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1E8EAB-61BC-5747-224D-AF439A2EE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2025-04-25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C54550-8386-8E7A-2568-EECAF262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31</a:t>
            </a:fld>
            <a:endParaRPr kumimoji="1"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B9D51838-4ADC-F91E-C554-56AD76162E38}"/>
              </a:ext>
            </a:extLst>
          </p:cNvPr>
          <p:cNvCxnSpPr>
            <a:cxnSpLocks/>
          </p:cNvCxnSpPr>
          <p:nvPr/>
        </p:nvCxnSpPr>
        <p:spPr>
          <a:xfrm>
            <a:off x="838200" y="4001294"/>
            <a:ext cx="105156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E7598C3E-FA15-9DB4-A499-44106448F78F}"/>
              </a:ext>
            </a:extLst>
          </p:cNvPr>
          <p:cNvCxnSpPr>
            <a:cxnSpLocks/>
          </p:cNvCxnSpPr>
          <p:nvPr/>
        </p:nvCxnSpPr>
        <p:spPr>
          <a:xfrm flipV="1">
            <a:off x="6096000" y="1825625"/>
            <a:ext cx="0" cy="435133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467669E-B060-CA53-E212-CFE67F3BC5A2}"/>
              </a:ext>
            </a:extLst>
          </p:cNvPr>
          <p:cNvSpPr txBox="1"/>
          <p:nvPr/>
        </p:nvSpPr>
        <p:spPr>
          <a:xfrm>
            <a:off x="187220" y="3631962"/>
            <a:ext cx="1373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imperative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5D86928-42BD-20A3-4A77-5AB684609F7B}"/>
              </a:ext>
            </a:extLst>
          </p:cNvPr>
          <p:cNvSpPr txBox="1"/>
          <p:nvPr/>
        </p:nvSpPr>
        <p:spPr>
          <a:xfrm>
            <a:off x="10651654" y="3631962"/>
            <a:ext cx="1404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declarative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90C1190-5EA9-2708-E76F-F8FD8E8AD03F}"/>
              </a:ext>
            </a:extLst>
          </p:cNvPr>
          <p:cNvSpPr txBox="1"/>
          <p:nvPr/>
        </p:nvSpPr>
        <p:spPr>
          <a:xfrm>
            <a:off x="4618672" y="1456293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ビルドファイルの記述言語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6E28F76-5A34-B2B9-362C-E9855CBCBF69}"/>
              </a:ext>
            </a:extLst>
          </p:cNvPr>
          <p:cNvSpPr txBox="1"/>
          <p:nvPr/>
        </p:nvSpPr>
        <p:spPr>
          <a:xfrm>
            <a:off x="6095999" y="1825625"/>
            <a:ext cx="2023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DSL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（独自言語）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A1F3818-D0EE-AE23-FDBE-FFCF84F002A8}"/>
              </a:ext>
            </a:extLst>
          </p:cNvPr>
          <p:cNvSpPr txBox="1"/>
          <p:nvPr/>
        </p:nvSpPr>
        <p:spPr>
          <a:xfrm>
            <a:off x="6095999" y="5807632"/>
            <a:ext cx="2063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XML, </a:t>
            </a:r>
            <a:r>
              <a:rPr kumimoji="1" lang="en-US" altLang="ja-JP" dirty="0" err="1">
                <a:latin typeface="Meiryo" panose="020B0604030504040204" pitchFamily="34" charset="-128"/>
                <a:ea typeface="Meiryo" panose="020B0604030504040204" pitchFamily="34" charset="-128"/>
              </a:rPr>
              <a:t>Yaml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, </a:t>
            </a:r>
            <a:r>
              <a:rPr kumimoji="1" lang="en-US" altLang="ja-JP" dirty="0" err="1">
                <a:latin typeface="Meiryo" panose="020B0604030504040204" pitchFamily="34" charset="-128"/>
                <a:ea typeface="Meiryo" panose="020B0604030504040204" pitchFamily="34" charset="-128"/>
              </a:rPr>
              <a:t>Toml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5" name="Picture 4" descr="Apache Ant - Wikipedia">
            <a:extLst>
              <a:ext uri="{FF2B5EF4-FFF2-40B4-BE49-F238E27FC236}">
                <a16:creationId xmlns:a16="http://schemas.microsoft.com/office/drawing/2014/main" id="{88FEA7A6-7762-6AA9-89AD-F9D0DC0FF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139" y="5138920"/>
            <a:ext cx="1374084" cy="853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F434188-EFF5-A1A7-15B5-0089A584CD27}"/>
              </a:ext>
            </a:extLst>
          </p:cNvPr>
          <p:cNvSpPr txBox="1"/>
          <p:nvPr/>
        </p:nvSpPr>
        <p:spPr>
          <a:xfrm>
            <a:off x="874139" y="2614164"/>
            <a:ext cx="938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Make</a:t>
            </a:r>
            <a:endParaRPr kumimoji="1" lang="ja-JP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0477EFD-073E-55D2-C37F-E9D99F0B6CCB}"/>
              </a:ext>
            </a:extLst>
          </p:cNvPr>
          <p:cNvSpPr txBox="1"/>
          <p:nvPr/>
        </p:nvSpPr>
        <p:spPr>
          <a:xfrm>
            <a:off x="3185117" y="2854405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Rake</a:t>
            </a:r>
            <a:endParaRPr kumimoji="1" lang="ja-JP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8" descr="入門】Gradle とは？ Maven リポジトリで Dependencies を解決 | ほげほげテクノロジー">
            <a:extLst>
              <a:ext uri="{FF2B5EF4-FFF2-40B4-BE49-F238E27FC236}">
                <a16:creationId xmlns:a16="http://schemas.microsoft.com/office/drawing/2014/main" id="{B84F51CD-951E-3D02-AEDC-6C11BF41E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475" y="2249526"/>
            <a:ext cx="1337727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 descr="Bazel 入門 (1) - 事始め｜npaka｜note">
            <a:extLst>
              <a:ext uri="{FF2B5EF4-FFF2-40B4-BE49-F238E27FC236}">
                <a16:creationId xmlns:a16="http://schemas.microsoft.com/office/drawing/2014/main" id="{86E85777-7B6C-6B0C-1438-CA83A1F68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860" y="2904548"/>
            <a:ext cx="108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2" descr="SBT basics – Emmanouil Gkatziouras">
            <a:extLst>
              <a:ext uri="{FF2B5EF4-FFF2-40B4-BE49-F238E27FC236}">
                <a16:creationId xmlns:a16="http://schemas.microsoft.com/office/drawing/2014/main" id="{E53399F2-935E-51DA-2686-FD36190FA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174" y="2249526"/>
            <a:ext cx="12487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Earthly">
            <a:extLst>
              <a:ext uri="{FF2B5EF4-FFF2-40B4-BE49-F238E27FC236}">
                <a16:creationId xmlns:a16="http://schemas.microsoft.com/office/drawing/2014/main" id="{5F16CFD6-9ADF-E43F-4B91-0793B2492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339" y="2889697"/>
            <a:ext cx="135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6">
            <a:extLst>
              <a:ext uri="{FF2B5EF4-FFF2-40B4-BE49-F238E27FC236}">
                <a16:creationId xmlns:a16="http://schemas.microsoft.com/office/drawing/2014/main" id="{ED1E18B1-AABF-F4F4-6F0B-45A559B44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5124" y="4347461"/>
            <a:ext cx="1422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EE7A7B09-8772-D1BA-D152-8BD421BBA543}"/>
              </a:ext>
            </a:extLst>
          </p:cNvPr>
          <p:cNvGrpSpPr/>
          <p:nvPr/>
        </p:nvGrpSpPr>
        <p:grpSpPr>
          <a:xfrm>
            <a:off x="7734334" y="4786056"/>
            <a:ext cx="1714009" cy="720000"/>
            <a:chOff x="7819860" y="5064752"/>
            <a:chExt cx="1714009" cy="720000"/>
          </a:xfrm>
        </p:grpSpPr>
        <p:pic>
          <p:nvPicPr>
            <p:cNvPr id="25" name="Picture 18" descr="Cargo Logo">
              <a:extLst>
                <a:ext uri="{FF2B5EF4-FFF2-40B4-BE49-F238E27FC236}">
                  <a16:creationId xmlns:a16="http://schemas.microsoft.com/office/drawing/2014/main" id="{52075189-D8EA-7F63-7705-48882A8196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19860" y="5064752"/>
              <a:ext cx="801163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1FD2F5B5-B94C-0C29-543D-498DBE1C69AD}"/>
                </a:ext>
              </a:extLst>
            </p:cNvPr>
            <p:cNvSpPr txBox="1"/>
            <p:nvPr/>
          </p:nvSpPr>
          <p:spPr>
            <a:xfrm>
              <a:off x="8509230" y="5196047"/>
              <a:ext cx="10246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>
                  <a:latin typeface="Arial" panose="020B0604020202020204" pitchFamily="34" charset="0"/>
                  <a:cs typeface="Arial" panose="020B0604020202020204" pitchFamily="34" charset="0"/>
                </a:rPr>
                <a:t>Cargo</a:t>
              </a:r>
              <a:endParaRPr kumimoji="1" lang="ja-JP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3C99997-6E2C-75AD-9FE6-A2D793A2CF19}"/>
              </a:ext>
            </a:extLst>
          </p:cNvPr>
          <p:cNvSpPr txBox="1"/>
          <p:nvPr/>
        </p:nvSpPr>
        <p:spPr>
          <a:xfrm>
            <a:off x="3205184" y="4789833"/>
            <a:ext cx="817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endParaRPr kumimoji="1" lang="ja-JP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31ADAB3-B181-B948-3662-5ACC9A804232}"/>
              </a:ext>
            </a:extLst>
          </p:cNvPr>
          <p:cNvSpPr/>
          <p:nvPr/>
        </p:nvSpPr>
        <p:spPr>
          <a:xfrm>
            <a:off x="198010" y="1392128"/>
            <a:ext cx="11993990" cy="496422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95C36A5-D129-6204-E5DB-72CDFCB73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010" y="3113321"/>
            <a:ext cx="5897987" cy="3063642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レガシーツール（</a:t>
            </a:r>
            <a:r>
              <a:rPr lang="en-US" altLang="ja-JP" dirty="0"/>
              <a:t>Make</a:t>
            </a:r>
            <a:r>
              <a:rPr lang="ja-JP" altLang="en-US"/>
              <a:t>）は捨てよう．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今日のツールとしては問題点が多い．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独特の記法を覚えるのが大変．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タブとスペースの間違いで動かなくなる．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en-US" altLang="ja-JP" dirty="0"/>
              <a:t>PHONY</a:t>
            </a:r>
            <a:r>
              <a:rPr lang="ja-JP" altLang="en-US"/>
              <a:t>（擬似ターゲット）を指定しないといけない．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多くのバージョンがあり，微妙な差異が存在する．</a:t>
            </a:r>
            <a:endParaRPr lang="en-US" altLang="ja-JP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B8654C2-19FC-5A40-DD0F-E9201FF9CBBC}"/>
              </a:ext>
            </a:extLst>
          </p:cNvPr>
          <p:cNvSpPr txBox="1"/>
          <p:nvPr/>
        </p:nvSpPr>
        <p:spPr>
          <a:xfrm>
            <a:off x="3184098" y="2355248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Just</a:t>
            </a:r>
            <a:endParaRPr kumimoji="1" lang="ja-JP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8A5A0255-3DCA-F063-BA3A-E97DDA74BE8A}"/>
              </a:ext>
            </a:extLst>
          </p:cNvPr>
          <p:cNvSpPr/>
          <p:nvPr/>
        </p:nvSpPr>
        <p:spPr>
          <a:xfrm>
            <a:off x="3156684" y="2306529"/>
            <a:ext cx="997393" cy="61278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コンテンツ プレースホルダー 5">
            <a:extLst>
              <a:ext uri="{FF2B5EF4-FFF2-40B4-BE49-F238E27FC236}">
                <a16:creationId xmlns:a16="http://schemas.microsoft.com/office/drawing/2014/main" id="{6D43FE10-34FA-1A71-2DEE-E26891FC68F3}"/>
              </a:ext>
            </a:extLst>
          </p:cNvPr>
          <p:cNvSpPr txBox="1">
            <a:spLocks/>
          </p:cNvSpPr>
          <p:nvPr/>
        </p:nvSpPr>
        <p:spPr>
          <a:xfrm>
            <a:off x="6131942" y="3075829"/>
            <a:ext cx="5681512" cy="306364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32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ja-JP" altLang="en-US"/>
              <a:t>今後のビルドツールに求められるもの．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一つの設定ファイルで完結すること．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読みやすいこと（</a:t>
            </a:r>
            <a:r>
              <a:rPr lang="en-US" altLang="ja-JP" dirty="0"/>
              <a:t>XML, </a:t>
            </a:r>
            <a:r>
              <a:rPr lang="en-US" altLang="ja-JP" dirty="0" err="1"/>
              <a:t>Yaml</a:t>
            </a:r>
            <a:r>
              <a:rPr lang="ja-JP" altLang="en-US"/>
              <a:t>はダメ）．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ワンバイナリで，インストールもワンライナーでできる．</a:t>
            </a:r>
            <a:endParaRPr lang="en-US" altLang="ja-JP" dirty="0"/>
          </a:p>
          <a:p>
            <a:pPr lvl="2">
              <a:lnSpc>
                <a:spcPct val="120000"/>
              </a:lnSpc>
            </a:pPr>
            <a:r>
              <a:rPr lang="ja-JP" altLang="en-US"/>
              <a:t>色々な環境で利用することになるため，インストールが簡単でないとダメ．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4664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331580-8B8B-DB32-B45C-BF55F74C8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なぜ</a:t>
            </a:r>
            <a:r>
              <a:rPr kumimoji="1" lang="en-US" altLang="ja-JP" dirty="0"/>
              <a:t>Just</a:t>
            </a:r>
            <a:r>
              <a:rPr kumimoji="1" lang="ja-JP" altLang="en-US"/>
              <a:t>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9D3BA3-9701-8DE7-3A85-EFE4FF647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ja-JP" altLang="en-US"/>
              <a:t>記述言語として書きやすい．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例外も少ない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lang="en-US" altLang="ja-JP" dirty="0"/>
              <a:t>XML, </a:t>
            </a:r>
            <a:r>
              <a:rPr lang="en-US" altLang="ja-JP" dirty="0" err="1"/>
              <a:t>Yaml</a:t>
            </a:r>
            <a:r>
              <a:rPr lang="ja-JP" altLang="en-US"/>
              <a:t>ではない（</a:t>
            </a:r>
            <a:r>
              <a:rPr lang="en-US" altLang="ja-JP" dirty="0"/>
              <a:t>Task</a:t>
            </a:r>
            <a:r>
              <a:rPr lang="ja-JP" altLang="en-US"/>
              <a:t>は</a:t>
            </a:r>
            <a:r>
              <a:rPr lang="en-US" altLang="ja-JP" dirty="0" err="1"/>
              <a:t>Yaml</a:t>
            </a:r>
            <a:r>
              <a:rPr lang="ja-JP" altLang="en-US"/>
              <a:t>）．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思いの外書きにくい．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lang="ja-JP" altLang="en-US"/>
              <a:t>ビルドツール</a:t>
            </a:r>
            <a:r>
              <a:rPr lang="en-US" altLang="ja-JP" dirty="0"/>
              <a:t>/</a:t>
            </a:r>
            <a:r>
              <a:rPr lang="ja-JP" altLang="en-US"/>
              <a:t>タスクランナーとして便利なように設計されている．</a:t>
            </a:r>
            <a:endParaRPr kumimoji="1" lang="en-US" altLang="ja-JP" dirty="0"/>
          </a:p>
          <a:p>
            <a:pPr>
              <a:lnSpc>
                <a:spcPct val="120000"/>
              </a:lnSpc>
              <a:spcBef>
                <a:spcPts val="1600"/>
              </a:spcBef>
            </a:pPr>
            <a:r>
              <a:rPr lang="en-US" altLang="ja-JP" dirty="0"/>
              <a:t>Just</a:t>
            </a:r>
            <a:r>
              <a:rPr lang="ja-JP" altLang="en-US"/>
              <a:t>である必要性は低い．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他に便利なツールがあれば良い．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現時点ではベターな選択であると思う．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94028B-C977-02D1-E5A9-3659EE950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2025-04-25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C4DAEA6-818D-DB31-26BB-9C22FFDD6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396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E97AFA-3A95-AD1E-D3EA-1A69B1515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Justfile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588E93-2426-35A9-C757-475DC8969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2716696" cy="435133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C903F2-97AF-92F8-69B0-3D3ED61CA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DCDAB2D-BAE7-C1ED-FB78-B29294603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33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26DB4A7-32EB-B13E-940B-8565E4203B26}"/>
              </a:ext>
            </a:extLst>
          </p:cNvPr>
          <p:cNvSpPr txBox="1"/>
          <p:nvPr/>
        </p:nvSpPr>
        <p:spPr>
          <a:xfrm>
            <a:off x="2716696" y="1503770"/>
            <a:ext cx="9475304" cy="6555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git_revision := `git rev-parse --short HEAD`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app_version := `awk -F'"' '/^\[package\]/{p=1} p &amp;&amp; /^version *=/{print $2; exit}' Cargo.toml`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build_date := `date -u +%Y-%m-%dT%H:%M:%SZ`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container_runner := "docker”</a:t>
            </a:r>
            <a:endParaRPr lang="en-US" altLang="ja-JP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container_image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 = '</a:t>
            </a:r>
            <a:r>
              <a:rPr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qua.io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/tama5/</a:t>
            </a:r>
            <a:r>
              <a:rPr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lis'</a:t>
            </a:r>
            <a:endParaRPr lang="ja-JP" altLang="en-US" sz="1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test: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cargo llvm-cov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docs: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cargo llvm-cov --html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cd docs &amp;&amp; {{ container_runner }} run -it --rm hugomods/hugo:0.163.0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rm -rf docs/public/coverage &amp;&amp; cp -r target/llvm-cov/html docs/public/coverage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build: test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cargo build --release</a:t>
            </a:r>
            <a:endParaRPr lang="en-US" altLang="ja-JP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container-local: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{{</a:t>
            </a:r>
            <a:r>
              <a:rPr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container_runner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}}</a:t>
            </a:r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build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--build-arg GIT_REVISION={{git_revision}}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--build-arg BUILD_DATE={{build_date}}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--build-arg VERSION={{app_version}}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-t 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{{</a:t>
            </a:r>
            <a:r>
              <a:rPr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container_image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}}</a:t>
            </a:r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:latest -t 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{{</a:t>
            </a:r>
            <a:r>
              <a:rPr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container_image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}} </a:t>
            </a:r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:{{ app_version }}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-f Containerfile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container:</a:t>
            </a:r>
          </a:p>
          <a:p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 {{</a:t>
            </a:r>
            <a:r>
              <a:rPr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container_runner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}}</a:t>
            </a:r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buildx build --push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--platform linux/amd64,linux/arm64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--build-arg GIT_REVISION={{git_revision}}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--build-arg BUILD_DATE={{build_date}}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--build-arg VERSION={{ app_version }}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-t 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{{</a:t>
            </a:r>
            <a:r>
              <a:rPr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container_image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}}</a:t>
            </a:r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:latest -t 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{{</a:t>
            </a:r>
            <a:r>
              <a:rPr lang="en-US" altLang="ja-JP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container_image</a:t>
            </a:r>
            <a:r>
              <a:rPr lang="en-US" altLang="ja-JP" sz="1400" dirty="0">
                <a:latin typeface="Consolas" panose="020B0609020204030204" pitchFamily="49" charset="0"/>
                <a:cs typeface="Consolas" panose="020B0609020204030204" pitchFamily="49" charset="0"/>
              </a:rPr>
              <a:t>}}</a:t>
            </a:r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:{{ app_version }}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-f Containerfile \</a:t>
            </a:r>
          </a:p>
          <a:p>
            <a:r>
              <a:rPr lang="ja-JP" altLang="en-US" sz="1400">
                <a:latin typeface="Consolas" panose="020B0609020204030204" pitchFamily="49" charset="0"/>
                <a:cs typeface="Consolas" panose="020B0609020204030204" pitchFamily="49" charset="0"/>
              </a:rPr>
              <a:t>        .</a:t>
            </a:r>
          </a:p>
        </p:txBody>
      </p:sp>
    </p:spTree>
    <p:extLst>
      <p:ext uri="{BB962C8B-B14F-4D97-AF65-F5344CB8AC3E}">
        <p14:creationId xmlns:p14="http://schemas.microsoft.com/office/powerpoint/2010/main" val="14316909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DB085A-182D-6536-4B1A-74C9251F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GitHub Actions</a:t>
            </a:r>
            <a:r>
              <a:rPr kumimoji="1" lang="ja-JP" altLang="en-US"/>
              <a:t>にも</a:t>
            </a:r>
            <a:br>
              <a:rPr kumimoji="1" lang="en-US" altLang="ja-JP" dirty="0"/>
            </a:br>
            <a:r>
              <a:rPr kumimoji="1" lang="ja-JP" altLang="en-US"/>
              <a:t>組み込もう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ABB274-56B0-9E98-4BD8-5865A9E13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67190" cy="4351338"/>
          </a:xfrm>
        </p:spPr>
        <p:txBody>
          <a:bodyPr/>
          <a:lstStyle/>
          <a:p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inalize</a:t>
            </a:r>
            <a:r>
              <a:rPr kumimoji="1" lang="ja-JP" altLang="en-US"/>
              <a:t>の前に右のようなものを入れる。</a:t>
            </a:r>
            <a:endParaRPr kumimoji="1" lang="en-US" altLang="ja-JP" dirty="0"/>
          </a:p>
          <a:p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finalize</a:t>
            </a:r>
            <a:r>
              <a:rPr lang="ja-JP" altLang="en-US"/>
              <a:t>の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needs</a:t>
            </a:r>
            <a:r>
              <a:rPr lang="ja-JP" altLang="en-US"/>
              <a:t>を以下に変更する。</a:t>
            </a:r>
            <a:endParaRPr lang="en-US" altLang="ja-JP" dirty="0"/>
          </a:p>
          <a:p>
            <a:pPr lvl="1"/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needs:[publish, 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container_image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100022-1C76-16A6-F92E-75729C71D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316E075-AE5C-5547-0B96-DF77F45E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34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D7BE512-B4E6-A18B-2548-7023DA0E652B}"/>
              </a:ext>
            </a:extLst>
          </p:cNvPr>
          <p:cNvSpPr txBox="1"/>
          <p:nvPr/>
        </p:nvSpPr>
        <p:spPr>
          <a:xfrm>
            <a:off x="7105390" y="1171673"/>
            <a:ext cx="5086610" cy="565924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container_image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runs-on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ubuntu-latest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permissions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contents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packages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needs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publish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steps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Setup just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uses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extractions/setup-just@v4</a:t>
            </a:r>
            <a:b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Checkout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uses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actions/checkout@v6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ref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fetch-depth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B5CEA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 up QEMU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uses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docker/setup-qemu-action@v3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 up Docker Buildx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uses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docker/setup-buildx-action@v3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Log in to the Container registry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uses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docker/login-action@v3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registry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ghcr.io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username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${{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github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actor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password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${{ 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secrets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ja-JP" altLang="ja-JP" sz="1400" b="0">
                <a:solidFill>
                  <a:srgbClr val="FFA65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GITHUB_TOKEN</a:t>
            </a:r>
            <a:r>
              <a:rPr lang="ja-JP" altLang="ja-JP" sz="1400" b="0">
                <a:solidFill>
                  <a:srgbClr val="D4D4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}}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Build Container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ja-JP" altLang="ja-JP" sz="1400" b="0">
                <a:solidFill>
                  <a:srgbClr val="7EE78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ja-JP" altLang="ja-JP" sz="1400" b="0">
                <a:solidFill>
                  <a:srgbClr val="BBBEB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-US" altLang="ja-JP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ja-JP" altLang="ja-JP" sz="1400" b="0">
                <a:solidFill>
                  <a:srgbClr val="A5D6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just container</a:t>
            </a:r>
            <a:endParaRPr lang="ja-JP" altLang="ja-JP" sz="1400" b="0">
              <a:solidFill>
                <a:srgbClr val="BBBEBF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6811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F30CAA-F589-50EA-4B5E-F078017B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参考書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D6CCE4-142E-AED8-6F54-CB3903027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6CC35A-DBFC-73F5-592F-E2EDE4F30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35</a:t>
            </a:fld>
            <a:endParaRPr kumimoji="1" lang="ja-JP" alt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2E0726E-4EA3-66C3-71E2-B0D47C0B1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825625"/>
            <a:ext cx="2747175" cy="3970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19B7017-71A0-53F1-5C33-15FA1D883CC7}"/>
              </a:ext>
            </a:extLst>
          </p:cNvPr>
          <p:cNvSpPr txBox="1"/>
          <p:nvPr/>
        </p:nvSpPr>
        <p:spPr>
          <a:xfrm>
            <a:off x="1072330" y="5891567"/>
            <a:ext cx="2274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b="0" i="0" u="none" strike="noStrike" dirty="0">
                <a:solidFill>
                  <a:srgbClr val="0F1111"/>
                </a:solidFill>
                <a:effectLst/>
                <a:latin typeface="Hiragino Kaku Gothic ProN" panose="020B0300000000000000" pitchFamily="34" charset="-128"/>
                <a:ea typeface="Hiragino Kaku Gothic ProN" panose="020B0300000000000000" pitchFamily="34" charset="-128"/>
              </a:rPr>
              <a:t>ISBN978-4297140557</a:t>
            </a:r>
            <a:endParaRPr lang="ja-JP" altLang="en-US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8291D61F-3F90-37E4-9260-DBD57A98E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828" y="1825625"/>
            <a:ext cx="3142388" cy="397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03BA147-D4BA-34F8-779A-2A0BF95A34B4}"/>
              </a:ext>
            </a:extLst>
          </p:cNvPr>
          <p:cNvSpPr txBox="1"/>
          <p:nvPr/>
        </p:nvSpPr>
        <p:spPr>
          <a:xfrm>
            <a:off x="4311570" y="5891567"/>
            <a:ext cx="2363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b="0" i="0" u="none" strike="noStrike" dirty="0">
                <a:solidFill>
                  <a:srgbClr val="0F1111"/>
                </a:solidFill>
                <a:effectLst/>
                <a:latin typeface="Hiragino Kaku Gothic ProN" panose="020B0300000000000000" pitchFamily="34" charset="-128"/>
                <a:ea typeface="Hiragino Kaku Gothic ProN" panose="020B0300000000000000" pitchFamily="34" charset="-128"/>
              </a:rPr>
              <a:t>ISBN978-4297140175</a:t>
            </a:r>
            <a:endParaRPr lang="ja-JP" altLang="en-US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33BD6C65-D280-E63E-973A-5F2590CFC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6666" y="1825625"/>
            <a:ext cx="3077131" cy="397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9A39398-1DAF-0F8A-504C-08BB10B24A14}"/>
              </a:ext>
            </a:extLst>
          </p:cNvPr>
          <p:cNvSpPr txBox="1"/>
          <p:nvPr/>
        </p:nvSpPr>
        <p:spPr>
          <a:xfrm>
            <a:off x="8633518" y="5891567"/>
            <a:ext cx="2363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b="0" i="0" u="none" strike="noStrike" dirty="0">
                <a:solidFill>
                  <a:srgbClr val="0F1111"/>
                </a:solidFill>
                <a:effectLst/>
                <a:latin typeface="Hiragino Kaku Gothic ProN" panose="020B0300000000000000" pitchFamily="34" charset="-128"/>
                <a:ea typeface="Hiragino Kaku Gothic ProN" panose="020B0300000000000000" pitchFamily="34" charset="-128"/>
              </a:rPr>
              <a:t>ISBN</a:t>
            </a:r>
            <a:r>
              <a:rPr lang="en-US" altLang="ja-JP" b="0" i="0" u="none" strike="noStrike" dirty="0">
                <a:solidFill>
                  <a:srgbClr val="0F1111"/>
                </a:solidFill>
                <a:effectLst/>
                <a:highlight>
                  <a:srgbClr val="FFFFFF"/>
                </a:highlight>
                <a:latin typeface="Hiragino Kaku Gothic ProN" panose="020B0300000000000000" pitchFamily="34" charset="-128"/>
                <a:ea typeface="Hiragino Kaku Gothic ProN" panose="020B0300000000000000" pitchFamily="34" charset="-128"/>
              </a:rPr>
              <a:t>978-4798071503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690564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0659A-753C-DE2A-7557-E85B4E256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67C49E-2DF5-6433-33AF-5A84DC0E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0C54B5-C96E-BC84-46A4-B165AB4C7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2026-06-26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5FAF1C0-116C-5AEF-0E2E-FAC5681FF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36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A25D86CC-07B6-7DDF-B5E4-C5CC55AE6E30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C9773FBA-E81D-A5C2-4243-5B2AF689BC0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CF7D06E4-1BA8-7B5C-C5E8-32AB6456945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2750666B-4604-21CD-C2E6-3CA7E0F950B3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28E2EE39-1163-E1AF-3631-6994849F6FCF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A71AD403-365C-6188-24E5-A4074C2CD51E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98180D98-A4D1-FDC9-DCDB-7D57F8EE8002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9862BC4E-0DB5-3B5F-CDC3-FDACB74A80FC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3B1A001F-66B4-8812-0D39-E32D1D4EFF2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9E112197-E19A-7D61-A439-D561AE3AD0E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D69F1285-A430-DECB-0D1B-0E577AA949F6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03C774B4-119A-3852-401B-D9D93157F9D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E3C268DD-3194-E7C0-835F-AB1B20EAD2E1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26CCACC5-6D80-8F42-3410-648664FB7FE1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83DA8222-9BD8-E36E-1360-8847D53921B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48C7C6AD-3F14-4362-7AF0-88880F86FE97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8AB89FCD-3769-6E9A-9FB8-FAFEFBFF7D9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B15549A5-0F51-6868-0F16-D6430B166216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B9A2461C-FE64-BE65-1077-EFEF4FF64453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79072623-BE60-5BB4-656D-2F5FBDA2260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4FBE674C-8E86-5D7A-52A1-D1BA831DF9E9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E8981F8-F46E-785D-CB24-4278DD155744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BAD82017-183D-05C7-4DBA-A7B89BB7D71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24D54FA4-EF0B-D7C8-5047-42AC4A1CA701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AA08AEC5-8083-B2EE-78BF-F8901B011E8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E01686B7-729F-82C4-A67F-D490B1957670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072C714A-BFA7-EB29-25AA-BF8FC9D790C4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903354EB-1948-1A9A-25DB-E3DABD4AF054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1B88D246-B3E6-E1BB-DD32-23AA10722EAD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5652078E-BA13-C23A-E767-185C741AE23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601CFE37-27B2-91AF-1EDB-E12D4C76695E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91C77A54-0B0B-ACE1-0C5B-73EE856AAA2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BDA82EAF-2944-5F7B-CCE6-3322286BF0A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1327F3D3-AAAC-D37F-A44B-8EDFC7F779A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42EEAE5D-1AAE-B1CB-64C3-D2B822DB895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2DD31E70-6CCD-50AD-7CE6-C4D265B73CE6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180BBE5C-D526-0636-8104-EB2136302DD7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456849A1-0D41-F950-AF66-9B45532D2C56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59D8F432-95E3-5998-BA1F-BC6A9937039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44B648DF-FBAB-24B4-F5B6-C883FC7B336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0A3ECB04-6179-0EA8-75A3-AFF87D186C31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879480B2-BCCD-4280-EEB3-F6F44BD1F75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2D0961A7-017A-CE23-30C3-69372064168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A6C8983F-C075-2E88-FF88-14D2682813EA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CA8A24E3-792F-60B6-DF66-716ADD0AE2C3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BD198C90-51B6-B618-8A8C-A4B4F1446257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F8B72E2C-88DD-F502-4A6B-BF01A4757DD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ACA1D9E3-F819-9E34-121A-70508DD52A2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3634E89B-5DFE-67A5-05A0-5512161DC2B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D0F147A2-4737-0DBF-3688-26CC2A129E6A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予備日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1E6A51D3-1295-92AD-E8E3-7103BF8FEE4A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B54ADD92-C083-F7A4-585C-44745500DFE2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7C585957-41C8-E3E0-3492-6B53DC90412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E2D1181A-7726-1C4C-3121-5AF577F34B8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20F14D3C-4D57-6675-2925-1BBA82F80AE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7B1B7AA4-B3F5-9559-A415-FE94F2C0FD5D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E9DF5081-B72E-108E-DC8C-29E3960254D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A0CDEE6D-97A2-A133-F8D8-41CD4963F0F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813452C7-8024-98D0-CF0C-AA310D6FE853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BA076B86-AE59-4EE7-1B66-F831D73288C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1BD13DF5-9FF6-2DC8-31E2-99DC5EFE4C5F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33568DD7-5C5D-17D4-E66C-F2BFB3FFE6ED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273809BB-37F0-F0C8-5BA4-631C7E9864B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1929E419-2BD3-A0E7-5676-4E53943DCA08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5E43DC4B-54C1-D452-3FC2-AD513E36B633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8981805-7A95-44DD-A4F7-6D71C9DE634E}"/>
              </a:ext>
            </a:extLst>
          </p:cNvPr>
          <p:cNvSpPr/>
          <p:nvPr/>
        </p:nvSpPr>
        <p:spPr>
          <a:xfrm>
            <a:off x="707282" y="1291928"/>
            <a:ext cx="10777435" cy="55575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230B3EE6-2CA3-4324-EE20-65B786E4038C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EB240077-D102-A63A-7C3C-D3687DF7FFA9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2FE968F0-31B8-0AF6-8D2E-C4CCEA85C608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0D80DF34-6E0F-DE19-7189-1E5BCEFC539B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0E2BDFCC-0D3F-A6E6-F5BC-5A5DAA772B66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231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9B92DAC1-B206-6E4D-9DDA-F3C380F9C271}" vid="{0ECE7065-281A-B545-8D42-4EC5E612C96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30570</TotalTime>
  <Words>3225</Words>
  <Application>Microsoft Macintosh PowerPoint</Application>
  <PresentationFormat>ワイド画面</PresentationFormat>
  <Paragraphs>538</Paragraphs>
  <Slides>36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36</vt:i4>
      </vt:variant>
    </vt:vector>
  </HeadingPairs>
  <TitlesOfParts>
    <vt:vector size="43" baseType="lpstr">
      <vt:lpstr>Hiragino Kaku Gothic ProN</vt:lpstr>
      <vt:lpstr>Meiryo</vt:lpstr>
      <vt:lpstr>游ゴシック</vt:lpstr>
      <vt:lpstr>Arial</vt:lpstr>
      <vt:lpstr>Consolas</vt:lpstr>
      <vt:lpstr>Monaco</vt:lpstr>
      <vt:lpstr>Office テーマ</vt:lpstr>
      <vt:lpstr>エンピリカル ソフトウェア工学 第11回 Docker</vt:lpstr>
      <vt:lpstr>講義スケジュール</vt:lpstr>
      <vt:lpstr>Docker</vt:lpstr>
      <vt:lpstr>ソフトウェアは何もしないと壊れる</vt:lpstr>
      <vt:lpstr>Dockerコンテナとは</vt:lpstr>
      <vt:lpstr>Docker Alternatives</vt:lpstr>
      <vt:lpstr>安全なDockerイメージのために</vt:lpstr>
      <vt:lpstr>Dockerイメージ構築のために</vt:lpstr>
      <vt:lpstr>軽量なDockerイメージ</vt:lpstr>
      <vt:lpstr>用語</vt:lpstr>
      <vt:lpstr>Dockerイメージの名前</vt:lpstr>
      <vt:lpstr>Dockerイメージのタグ</vt:lpstr>
      <vt:lpstr>Dockerイメージ構築方法</vt:lpstr>
      <vt:lpstr>どこで配布するか。 Container registry</vt:lpstr>
      <vt:lpstr>Dockerfile/Containerfile</vt:lpstr>
      <vt:lpstr>Dockerイメージの実行方法</vt:lpstr>
      <vt:lpstr>Dockerイメージの構築 マルチステージビルド（1/2）</vt:lpstr>
      <vt:lpstr>Dockerイメージの構築 マルチステージビルド（2/2）</vt:lpstr>
      <vt:lpstr>DHI (Docker Hardened Images)</vt:lpstr>
      <vt:lpstr>DHIイメージの利用</vt:lpstr>
      <vt:lpstr>マルチプラットフォームビルド（1/4）</vt:lpstr>
      <vt:lpstr>マルチプラットフォームビルド（2/4）</vt:lpstr>
      <vt:lpstr>マルチプラットフォームビルド（3/4）</vt:lpstr>
      <vt:lpstr>マルチプラットフォームビルド（4/4）</vt:lpstr>
      <vt:lpstr>メタデータ</vt:lpstr>
      <vt:lpstr>最終的なContainerfile</vt:lpstr>
      <vt:lpstr>構築時に 与える</vt:lpstr>
      <vt:lpstr>ビルドツール/タスクランナー</vt:lpstr>
      <vt:lpstr>ビルドツールのトレンド</vt:lpstr>
      <vt:lpstr>著名なビルドツール</vt:lpstr>
      <vt:lpstr>なぜ？</vt:lpstr>
      <vt:lpstr>なぜJustか</vt:lpstr>
      <vt:lpstr>Justfile</vt:lpstr>
      <vt:lpstr>GitHub Actionsにも 組み込もう</vt:lpstr>
      <vt:lpstr>参考書</vt:lpstr>
      <vt:lpstr>講義スケジュール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TAMADA HARUAKI</dc:creator>
  <cp:lastModifiedBy>TAMADA HARUAKI</cp:lastModifiedBy>
  <cp:revision>753</cp:revision>
  <dcterms:created xsi:type="dcterms:W3CDTF">2022-04-24T10:54:34Z</dcterms:created>
  <dcterms:modified xsi:type="dcterms:W3CDTF">2026-06-22T06:06:15Z</dcterms:modified>
</cp:coreProperties>
</file>