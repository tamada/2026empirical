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543" r:id="rId3"/>
    <p:sldId id="544" r:id="rId4"/>
    <p:sldId id="327" r:id="rId5"/>
    <p:sldId id="328" r:id="rId6"/>
    <p:sldId id="329" r:id="rId7"/>
    <p:sldId id="330" r:id="rId8"/>
    <p:sldId id="331" r:id="rId9"/>
    <p:sldId id="336" r:id="rId10"/>
    <p:sldId id="275" r:id="rId11"/>
    <p:sldId id="338" r:id="rId12"/>
    <p:sldId id="326" r:id="rId13"/>
    <p:sldId id="277" r:id="rId14"/>
    <p:sldId id="545" r:id="rId15"/>
    <p:sldId id="276" r:id="rId16"/>
    <p:sldId id="369" r:id="rId17"/>
    <p:sldId id="370" r:id="rId18"/>
    <p:sldId id="371" r:id="rId19"/>
    <p:sldId id="334" r:id="rId20"/>
    <p:sldId id="335" r:id="rId21"/>
    <p:sldId id="337" r:id="rId22"/>
    <p:sldId id="373" r:id="rId23"/>
    <p:sldId id="372" r:id="rId24"/>
    <p:sldId id="374" r:id="rId25"/>
    <p:sldId id="375" r:id="rId26"/>
    <p:sldId id="376" r:id="rId27"/>
    <p:sldId id="546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659"/>
    <a:srgbClr val="027D01"/>
    <a:srgbClr val="FFC56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9"/>
    <p:restoredTop sz="90822"/>
  </p:normalViewPr>
  <p:slideViewPr>
    <p:cSldViewPr snapToGrid="0" snapToObjects="1">
      <p:cViewPr varScale="1">
        <p:scale>
          <a:sx n="109" d="100"/>
          <a:sy n="109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03FE-3D04-2660-E2D3-0177F4F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4271AA-BA4A-8375-62ED-948D378D0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A5F140-5792-BDFB-04E7-ECD42C22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C15930-96FF-677A-2C2D-7F3E19898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2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00F3-00EA-D494-A79A-44B468BE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24EC36-044F-6453-E2F7-653C848C9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CD5A58-6904-B1A6-464E-80239E67C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41E2D6-7760-61CD-8764-B65901475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880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852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ワードプレス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4AB4F-3C80-9F45-B6F3-16A39F9282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37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13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278A6-3D69-3F45-625D-49674D3C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6F71B5-3C80-3EA2-05C4-D60956ECA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EE8E66-2EFC-C66C-853D-BED96749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7ECAFA-33A9-3DC0-40AF-D8AABF133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93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2026-06-12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name.github.io/" TargetMode="External"/><Relationship Id="rId2" Type="http://schemas.openxmlformats.org/officeDocument/2006/relationships/hyperlink" Target="https://username.github.io/projectnam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github.com/tamada/tamada.github.io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web+%E3%83%87%E3%82%B6%E3%82%A4%E3%83%B3+%E3%83%88%E3%83%AC%E3%83%B3%E3%83%89&amp;sca_esv=c48753f2ce9d3764&amp;sca_upv=1&amp;sxsrf=ADLYWILb6sVncSfgnkCWZAH7d2pF6Rp1dg%3A1718070521023&amp;ei=-axnZqaNAdz11e8PjJy2MA&amp;ved=0ahUKEwjm7eq4t9KGAxXcevUHHQyODQYQ4dUDCBA&amp;uact=5&amp;oq=web+%E3%83%87%E3%82%B6%E3%82%A4%E3%83%B3+%E3%83%88%E3%83%AC%E3%83%B3%E3%83%89&amp;gs_lp=Egxnd3Mtd2l6LXNlcnAiHXdlYiDjg4fjgrbjgqTjg7Mg44OI44Os44Oz44OJMgUQABiABDIFEAAYgAQyBBAAGB5IjR1Q4AhYsxRwAngBkAEAmAGEAaAB8waqAQM2LjO4AQPIAQD4AQGYAgmgAqcFwgIKEAAYsAMY1gQYR8ICCBAhGKABGMMEwgIIEAAYBBgHGB7CAgYQABgHGB7CAgcQABiABBgNwgIHEAAYgAQYBMICBhAAGAQYHpgDAIgGAZAGCpIHAzcuMqAHxRU&amp;sclient=gws-wiz-ser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hyperlink" Target="https://gohugo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svg"/><Relationship Id="rId5" Type="http://schemas.openxmlformats.org/officeDocument/2006/relationships/image" Target="../media/image7.png"/><Relationship Id="rId10" Type="http://schemas.openxmlformats.org/officeDocument/2006/relationships/hyperlink" Target="https://fand.jp/static-site-generator-trends-2021/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jamstack.org/generators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ubiqmedia.cse.kyoto-su.ac.jp/" TargetMode="External"/><Relationship Id="rId13" Type="http://schemas.openxmlformats.org/officeDocument/2006/relationships/hyperlink" Target="http://www.cc.kyoto-su.ac.jp/~hidehiko/index.php" TargetMode="External"/><Relationship Id="rId3" Type="http://schemas.openxmlformats.org/officeDocument/2006/relationships/hyperlink" Target="https://ksubpb.github.io/2025/" TargetMode="External"/><Relationship Id="rId7" Type="http://schemas.openxmlformats.org/officeDocument/2006/relationships/hyperlink" Target="http://www.rudds.jp/" TargetMode="External"/><Relationship Id="rId12" Type="http://schemas.openxmlformats.org/officeDocument/2006/relationships/hyperlink" Target="http://www.cc.kyoto-su.ac.jp/~kawamura/" TargetMode="External"/><Relationship Id="rId2" Type="http://schemas.openxmlformats.org/officeDocument/2006/relationships/hyperlink" Target="https://ksuap.github.io/2024spr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unekata-lab.github.io/" TargetMode="External"/><Relationship Id="rId11" Type="http://schemas.openxmlformats.org/officeDocument/2006/relationships/hyperlink" Target="http://aokilab.kyoto-su.ac.jp/index-j.html" TargetMode="External"/><Relationship Id="rId5" Type="http://schemas.openxmlformats.org/officeDocument/2006/relationships/hyperlink" Target="http://milab.kyoto-su.ac.jp/" TargetMode="External"/><Relationship Id="rId10" Type="http://schemas.openxmlformats.org/officeDocument/2006/relationships/hyperlink" Target="http://sensors.kyoto-su.ac.jp/" TargetMode="External"/><Relationship Id="rId4" Type="http://schemas.openxmlformats.org/officeDocument/2006/relationships/hyperlink" Target="https://tamadalab.github.io/" TargetMode="External"/><Relationship Id="rId9" Type="http://schemas.openxmlformats.org/officeDocument/2006/relationships/hyperlink" Target="https://kidsserv.kyoto-su.ac.jp/" TargetMode="External"/><Relationship Id="rId14" Type="http://schemas.openxmlformats.org/officeDocument/2006/relationships/hyperlink" Target="https://aklab.kyoto-su.ac.jp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jpanther.github.io/congo/docs/installation/#install-manually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hemes.gohugo.io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cumak.net/blog/jquery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iita.com/hikaruright/items/e569ad6c050f23f550e0" TargetMode="External"/><Relationship Id="rId5" Type="http://schemas.openxmlformats.org/officeDocument/2006/relationships/image" Target="../media/image15.emf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2" y="1122363"/>
            <a:ext cx="12178937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/>
              <a:t>第</a:t>
            </a:r>
            <a:r>
              <a:rPr lang="en-US" altLang="ja-JP" dirty="0"/>
              <a:t>9</a:t>
            </a:r>
            <a:r>
              <a:rPr lang="ja-JP" altLang="en-US"/>
              <a:t>回</a:t>
            </a:r>
            <a:r>
              <a:rPr lang="en-US" altLang="ja-JP" dirty="0"/>
              <a:t> </a:t>
            </a:r>
            <a:r>
              <a:rPr lang="ja-JP" altLang="en-US"/>
              <a:t>ドキュメント</a:t>
            </a:r>
            <a:r>
              <a:rPr lang="en-US" altLang="ja-JP" dirty="0"/>
              <a:t> (1/2)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2026-06-12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1183-6512-0658-DC7D-F8E4A793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51D8F-FDF9-382E-7936-64DC19F9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59F76-C9FE-E21A-CF33-A028C268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190477-ABC1-A732-486F-13A636F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42A339A-46C2-3EC3-01AD-55697C9B38A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09D41AD-E3E8-669D-BC06-DD15F69A7B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520076-C3F6-E6CE-210A-0D98F1B4FF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77194F2-AE43-8638-D2AA-EA64890ACC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2CA2F63-F1DC-D507-E4BD-F8404588EE8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DA5E8F-EA1C-A9F1-171C-C4147D5111EF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D1158B1-7C9D-FF28-EB60-E432232421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5E11F0E-665A-1CCE-201D-B7ACABDA33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81C07F9-0E22-E229-16EE-1CCCC0BCBEB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D198E45-A400-1BBF-89BE-F6EDE6E571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D2B1A6D-1148-C863-5481-34CB4BB19023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955E4B-AAA9-ADF3-8EE0-627679653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11E5817-72E5-6A99-90D3-BA4E54C180D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624E98C-2448-E467-ABEF-2BD16D99E3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B4D19F41-ACB8-0456-C664-A44C844AFF3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81BE804-E16B-87D7-504E-67AB8B62C97A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B60994E-5176-C20D-8651-CE224A51F5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D2FB71C-B113-1D61-5842-4F626BFE3A4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5EA67EA-3CED-9AB3-9598-6081C148C86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445C71F6-28F0-7498-2B63-EB47F71C6A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B5FB344-382A-1A2A-B1F6-EF0C09E8EF94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D24976C-9EE6-979A-EFB4-14E4F2A6264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AF6134F-9BA9-AD22-EDEA-17F08C78C2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FE1D876-6096-1371-7C1E-DBEC35FCEB4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96FAAE3A-8F25-A7C2-72CC-6A9E4743A86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D8C4C7-4421-16F2-D935-91A6476A130D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150746-669C-2E95-CE3D-CB8B337F7B3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2BEF3FC-EC0C-60CE-5FC0-4D153E07291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9E2A65-8350-6BC5-FA09-5C2FF480D78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FD409111-474C-9CCC-2522-3C3F1DA513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CC46EF-A9E8-557D-F0F2-CC3F8197BA35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DE9BF90-249D-526A-39EA-E19A2B0C6CB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D3EFFB42-D554-43A7-11D9-39C5AD4BA4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C53E9F6-4BAF-1884-4C1D-EF496B8CFF4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F08E94-A580-E68C-A3C9-A3CB990036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5A44585-9B19-2EFA-3154-8C14BBFDE22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B23564-1458-946C-945B-DA77FB32F0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BFA32EC-4154-A944-E1BD-F8EDF6FB604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B40C7EA-A9F0-F1FE-BFA4-890F0CE79EB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3204CE9-635B-B6A4-F4F5-59AA3FA471B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CAD5903-56CC-C164-4686-71AC1F98563D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5CBD32D-49F4-679F-0765-0B7BB13B845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7ECBBF9C-A3A7-9541-CC9D-E06CD00F15F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7E5A798-EC59-B471-6D50-8F3528F187A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535908C0-42E8-7BC7-028D-AD00E63F5F7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AB438-07B4-287E-EBB5-3CA610848DBC}"/>
              </a:ext>
            </a:extLst>
          </p:cNvPr>
          <p:cNvSpPr/>
          <p:nvPr/>
        </p:nvSpPr>
        <p:spPr>
          <a:xfrm>
            <a:off x="707282" y="1300479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918CDC8-892E-EAEB-77B9-05C902C2B959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508CD17-1CC5-FED3-2BD2-99379E48D74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73541E5-F13B-38E1-4202-6FE847E6EC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EAE641A-DEE4-AFDD-A4C4-9706D595396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AEA4FB4-67E3-8D51-018D-60DE20487AD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1153808-5448-59E9-2529-11A7C522D29F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BB426D7-690D-6B2A-46E9-6B37DB9AE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835DFD1-002E-5377-CA57-78957DF011D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66AC1F3-F8ED-DD5A-8B5C-CD5A2286D6C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BF222F9-09A8-72CE-449B-EB1BF1CAAD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5EF1609-65E4-B8E1-4F6B-3B7615127A9A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D8EA1489-5979-6521-A328-A60F1CCC5AC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95BC841-2AFB-8CAF-1C61-2F10768F61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67454CA-7A0C-4890-069B-DD1A6628B95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0A4FBD7-CBFB-150F-D541-E303F666A73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CB9498AE-3F20-F11E-3F63-799D23E0B5CE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4EB4FF7-E963-053F-AF5A-2348C728C2E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CC565EF-6E65-5E44-6D71-9B41DB0CFC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823BFF7-D473-CD9C-E3F8-9D749FD8553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1C50EFE-0288-9881-2176-38F44844EE4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4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4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AD65692-51D4-88BA-F7E8-1E4A78C4096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01B3E597-394B-D74D-9078-D4469506816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215599A-28ED-DB07-B5FA-3DD206391BA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97D0E3A-93D3-67E6-EFEB-4DFF19BEC83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A296795-372C-7CCB-58B9-A86CC0A67B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7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DA9B-CC20-457F-E6D6-4C39360C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9B5BF-2440-C2FB-E81C-0531EAB2B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0D404-5709-0178-C7A4-935769AB6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DD3B6B-04FA-261C-B454-52D822E3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87DFE74-3071-5D68-E4E6-454D4B9DF61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AB83103-67EF-F9FA-C121-AE0DD9ED42C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9071B948-DB4F-28A9-DE91-7E2DA7104C7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4B33120-1438-214B-7C8B-F7A233C01C7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97F5F4FB-BBBA-1AE3-C681-98D4F0A007D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7F405BD5-2A66-9AA6-4072-70D27759C305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03ACA76A-CC84-F632-3928-9B2D2B76EB0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D978A023-5D01-F643-8795-06D8F279802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A2C1AB8-DB12-7461-B913-39B286FFCCD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BB77F5DE-274E-EE78-6BEF-213BC971BCF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152EBDF0-9D3D-1266-9B16-9A276C108F39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2F89150A-0AA4-10F1-7326-3F076D1C8E6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AFFA5C37-0DC1-E349-3C5B-421DE01AF08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EFB550A-1181-1BBD-0EE2-F2942C1A022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663402B8-1290-9C21-15B1-FD043C1A9D8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78E7D302-2C2C-728D-82B0-D9B24FA33A1F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4143FC27-7DE0-D345-8E9B-C876EFB19C7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ADC4EF01-0B14-FE1B-421A-448B24AE103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1284209E-7985-AB32-7524-3985B41956D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701A98BA-BE05-4C20-0B43-BD2E5CDCF68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FA71DC3-C140-6AB1-95DC-FED262B1EB93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C6765D3-69AD-E2FE-7299-AF202259702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C9DD69BA-FC1B-5714-A8C3-4619BF14DF0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46B9541-F906-8704-46D1-39914ECB34F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57A58F15-44BE-C76D-E4F3-6DFB815A193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B81CA9B-B666-EB09-7CB3-C351E66A82F0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4077411-D3A7-9CAD-31B3-DD72F7B0A4E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71EE697B-DB5A-C31D-039D-51240143E25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8137F03-DD73-79E5-1697-BFE3AE0089B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A93957FA-921E-501E-0F3F-F033365ACDA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C470FDE8-B304-B3F3-76CD-8C2A0A3D6DDA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33AE35F-754B-F0A3-C8AF-EEBA7DB5A5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8AE6613B-5DCA-1502-CAE0-4A8922614FF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82A8677-37E3-DDAF-2C3F-B81DB597DFE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90EE24C2-810A-7945-9EE1-2243AB6E9B6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E4C7C38A-FC72-AA5E-3B59-969D0E3C2BE7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B5FE10AF-11A2-26B9-A6D3-ED620C8FAAB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50001C35-FE0F-859E-A1AF-6E7C586CDCB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C95665F-0EF2-10C6-4C6D-82F1B1F425B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790FD6CC-157C-E056-D60A-08F52EDBD28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77868A54-EA6E-78B1-CA25-DA4341A2D3A9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94DD4C2-AD15-BC3A-6C90-EE1F556BA2A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947DB243-6463-A650-7F00-ECF8009E9C1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FBDB68F2-C12D-FCC7-38F4-993E7A665E1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0260E65F-F08B-4B07-8813-F3E4340E82B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5F0912A1-3A5F-60D5-CE72-5F6B0A4A4DE4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39FDD599-1374-FB6A-155A-B39EA02CCF6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9C2152A-F2A3-00E0-3B11-B961C9EDD6F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13152DD2-E26A-A7D9-133A-043B3EB65FF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998D1968-4020-00A5-F65E-2B2ED5E679E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F44A5AB4-A52B-29FF-36B8-29745A0AF118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66DAAF7E-4E5F-0E19-BCF5-8ABB511EA5F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97F55895-A27F-4EFF-D25C-93C0C379AAF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658049FC-0C77-79D6-C34D-9CE063DB10C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A1B944B9-5A22-428B-5DC2-A55392310A1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425BB92F-ECFF-12AF-EBD0-795A7B50823A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74ADE4E7-234E-1432-F7A8-4AA1861408F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433ABEC0-4DB9-36ED-8375-E928D486ABC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F751601D-C11F-C742-3424-037A72375D6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AC748E63-1D82-1514-7B02-D6C67C24760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4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4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F18DEED-308C-B9A5-569F-0BA75287E08F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1F95D5B3-D80F-AFA9-9F1B-76334ECB0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3A12D908-2F1B-0A44-0CE0-16613549BB3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40DDE176-AC04-A4D6-954B-DE7671AAFC5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ED67E490-8F51-A729-4F96-9FEFE7D9889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6FB3BC1-3F48-26E2-4B2B-B3AD86920D48}"/>
              </a:ext>
            </a:extLst>
          </p:cNvPr>
          <p:cNvSpPr/>
          <p:nvPr/>
        </p:nvSpPr>
        <p:spPr>
          <a:xfrm>
            <a:off x="707282" y="1300479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DB331F2-90D3-0F35-EC4D-09473CC3DE05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85BCC591-E20B-3C36-3EB9-DDC560268BD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FEBC3A43-88D1-9D85-854B-2E8029497F0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E4BD2044-CA60-9B88-EBA4-40FD3C8F684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2F09BC8-031C-0D76-FCE2-5723D1A82E3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20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C025A-8B13-E471-FDE3-6DD7FD31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Web</a:t>
            </a:r>
            <a:r>
              <a:rPr lang="ja-JP" altLang="en-US"/>
              <a:t>サイト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D790A7-91DD-B40A-724D-F0C7D32C2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75381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ツールを作成したら，</a:t>
            </a:r>
            <a:r>
              <a:rPr lang="en-US" altLang="ja-JP" dirty="0"/>
              <a:t>Web</a:t>
            </a:r>
            <a:r>
              <a:rPr lang="ja-JP" altLang="en-US"/>
              <a:t>サイト</a:t>
            </a:r>
            <a:r>
              <a:rPr kumimoji="1" lang="ja-JP" altLang="en-US"/>
              <a:t>を公開する必要がある．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/>
              <a:t>は開発者向けの情報を提示する．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Web</a:t>
            </a:r>
            <a:r>
              <a:rPr lang="ja-JP" altLang="en-US"/>
              <a:t>サイトは一般向けの情報を提示する．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Web</a:t>
            </a:r>
            <a:r>
              <a:rPr kumimoji="1" lang="ja-JP" altLang="en-US"/>
              <a:t>サイトがないのは存在していないのと同じ．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基本的には，</a:t>
            </a:r>
            <a:r>
              <a:rPr kumimoji="1" lang="en-US" altLang="ja-JP" dirty="0"/>
              <a:t>README</a:t>
            </a:r>
            <a:r>
              <a:rPr kumimoji="1" lang="ja-JP" altLang="en-US"/>
              <a:t>に記載されている内容を一般向けに</a:t>
            </a:r>
            <a:r>
              <a:rPr lang="ja-JP" altLang="en-US"/>
              <a:t>分かりやすく書く</a:t>
            </a:r>
            <a:r>
              <a:rPr kumimoji="1" lang="ja-JP" altLang="en-US"/>
              <a:t>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7C753-45A1-7654-6708-F2E170FF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0C4052-4853-B1D1-1292-90FD49BF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2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866DA8-0364-7A14-78CD-D192E20F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半永久的に残る</a:t>
            </a:r>
            <a:r>
              <a:rPr kumimoji="1" lang="en-US" altLang="ja-JP" dirty="0"/>
              <a:t>Web</a:t>
            </a:r>
            <a:r>
              <a:rPr kumimoji="1" lang="ja-JP" altLang="en-US"/>
              <a:t>サイト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78E31B-31DD-91F7-516E-ED8236DFD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URL</a:t>
            </a:r>
            <a:r>
              <a:rPr kumimoji="1" lang="ja-JP" altLang="en-US"/>
              <a:t>が頻繁に変わってはダメ．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URL</a:t>
            </a:r>
            <a:r>
              <a:rPr kumimoji="1" lang="ja-JP" altLang="en-US"/>
              <a:t>大事．とっても大事．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基本的に半永久的に残しておく．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一度削除すると復活させられない．つまり，歴史が途絶える．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色々な理由で削除しようとする人がいるが，明らかに有害な情報でない限り，残しておいた方が良い（私見）．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古くなり，正しい情報でなくなる可能性はある．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そのページにタイムスタンプを書いておけば良い．</a:t>
            </a:r>
            <a:endParaRPr lang="en-US" altLang="ja-JP" dirty="0"/>
          </a:p>
          <a:p>
            <a:pPr lvl="3">
              <a:lnSpc>
                <a:spcPct val="120000"/>
              </a:lnSpc>
            </a:pPr>
            <a:r>
              <a:rPr lang="en-US" altLang="ja-JP" dirty="0" err="1"/>
              <a:t>Qiita.com</a:t>
            </a:r>
            <a:r>
              <a:rPr lang="ja-JP" altLang="en-US"/>
              <a:t>や</a:t>
            </a:r>
            <a:r>
              <a:rPr lang="en-US" altLang="ja-JP" dirty="0" err="1"/>
              <a:t>Zenn.dev</a:t>
            </a:r>
            <a:r>
              <a:rPr lang="ja-JP" altLang="en-US"/>
              <a:t>などは「書かれてから</a:t>
            </a:r>
            <a:r>
              <a:rPr lang="en-US" altLang="ja-JP" dirty="0"/>
              <a:t>n</a:t>
            </a:r>
            <a:r>
              <a:rPr lang="ja-JP" altLang="en-US"/>
              <a:t>年経っている」のような警告が出る．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CA320-7189-1658-EC79-EB756352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613B777-DCC2-00D9-5700-5430BD92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82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3825C-59DD-2DC5-AFD0-41EFB579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3503" cy="1325563"/>
          </a:xfrm>
        </p:spPr>
        <p:txBody>
          <a:bodyPr/>
          <a:lstStyle/>
          <a:p>
            <a:r>
              <a:rPr lang="ja-JP" altLang="en-US"/>
              <a:t>半永久的に残しておくために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71C2CE-1D8E-1802-DFA4-1BDB1B78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どこに置くかを考えよう．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自分で管理するサイトで公開する．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自分が管理しなくなった／できなくなった時点で歴史が途絶える．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著名な会社が運営するサイトで公開する．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その会社が永遠に続くわけではない．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上記のトレードオフを踏まえて，自分で決める．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（私見）著名な会社が運営するサイトで公開するのが良い．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今日の</a:t>
            </a:r>
            <a:r>
              <a:rPr lang="en-US" altLang="ja-JP" dirty="0"/>
              <a:t>GitHub</a:t>
            </a:r>
            <a:r>
              <a:rPr lang="ja-JP" altLang="en-US"/>
              <a:t>などが運営を維持できなくなるリスクと</a:t>
            </a:r>
            <a:br>
              <a:rPr lang="en-US" altLang="ja-JP" dirty="0"/>
            </a:br>
            <a:r>
              <a:rPr lang="ja-JP" altLang="en-US"/>
              <a:t>自分がサイトを維持できなくなる可能性</a:t>
            </a:r>
            <a:r>
              <a:rPr lang="en-US" altLang="ja-JP" dirty="0"/>
              <a:t> </a:t>
            </a:r>
            <a:r>
              <a:rPr lang="ja-JP" altLang="en-US"/>
              <a:t>を比べよう．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自分で管理するサイトは</a:t>
            </a:r>
            <a:r>
              <a:rPr kumimoji="1" lang="en-US" altLang="ja-JP" dirty="0"/>
              <a:t>Web</a:t>
            </a:r>
            <a:r>
              <a:rPr lang="ja-JP" altLang="en-US"/>
              <a:t>ページ</a:t>
            </a:r>
            <a:r>
              <a:rPr kumimoji="1" lang="ja-JP" altLang="en-US"/>
              <a:t>の管理コストの他に，</a:t>
            </a:r>
            <a:br>
              <a:rPr kumimoji="1" lang="en-US" altLang="ja-JP" dirty="0"/>
            </a:br>
            <a:r>
              <a:rPr kumimoji="1" lang="en-US" altLang="ja-JP" dirty="0"/>
              <a:t>Web</a:t>
            </a:r>
            <a:r>
              <a:rPr kumimoji="1" lang="ja-JP" altLang="en-US"/>
              <a:t>サイトの管理コストも必要になる．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DA7894-0149-30EA-98D3-FE81B421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E2D46B-C43C-DDE0-2616-6B9F2142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03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A9B11C-6010-565F-D203-3E26C5EC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Web</a:t>
            </a:r>
            <a:r>
              <a:rPr kumimoji="1" lang="ja-JP" altLang="en-US"/>
              <a:t>サイトの公開場所候補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4EC251-9FA0-29F6-9A31-4594B0FA8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798747" cy="478091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探せば色々ある．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好きなものを使えば良い。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（私見）プロジェクトを</a:t>
            </a:r>
            <a:r>
              <a:rPr lang="en-US" altLang="ja-JP" dirty="0"/>
              <a:t>GitHub</a:t>
            </a:r>
            <a:r>
              <a:rPr lang="ja-JP" altLang="en-US"/>
              <a:t>で管理していれば，</a:t>
            </a:r>
            <a:r>
              <a:rPr lang="en-US" altLang="ja-JP" dirty="0"/>
              <a:t>GitHub</a:t>
            </a:r>
            <a:r>
              <a:rPr lang="ja-JP" altLang="en-US"/>
              <a:t>で公開しよう．</a:t>
            </a:r>
            <a:endParaRPr lang="en-US" altLang="ja-JP" dirty="0"/>
          </a:p>
          <a:p>
            <a:pPr lvl="3">
              <a:lnSpc>
                <a:spcPct val="120000"/>
              </a:lnSpc>
            </a:pPr>
            <a:r>
              <a:rPr kumimoji="1" lang="ja-JP" altLang="en-US"/>
              <a:t>わざわざ別のサービスを利用する意義があまりない．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サービス間の連携もそこまで難しくない．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玉田研の</a:t>
            </a:r>
            <a:r>
              <a:rPr kumimoji="1" lang="en-US" altLang="ja-JP" dirty="0"/>
              <a:t>Web</a:t>
            </a:r>
            <a:r>
              <a:rPr kumimoji="1" lang="ja-JP" altLang="en-US"/>
              <a:t>サイト</a:t>
            </a:r>
            <a:endParaRPr kumimoji="1" lang="en-US" altLang="ja-JP" dirty="0"/>
          </a:p>
          <a:p>
            <a:pPr lvl="3">
              <a:lnSpc>
                <a:spcPct val="120000"/>
              </a:lnSpc>
            </a:pPr>
            <a:r>
              <a:rPr kumimoji="1" lang="en-US" altLang="ja-JP" dirty="0"/>
              <a:t>GitHub Pages</a:t>
            </a:r>
            <a:r>
              <a:rPr kumimoji="1" lang="ja-JP" altLang="en-US"/>
              <a:t>で公開し，</a:t>
            </a:r>
            <a:r>
              <a:rPr kumimoji="1" lang="en-US" altLang="ja-JP" dirty="0"/>
              <a:t>Google Firebase</a:t>
            </a:r>
            <a:r>
              <a:rPr kumimoji="1" lang="ja-JP" altLang="en-US"/>
              <a:t>と連携している．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24919-B74C-EF75-06E4-7FFD2F2D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F18DC1-9099-C97E-E608-CF2F1C77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1026" name="Picture 2" descr="Netlify - Wikipedia">
            <a:extLst>
              <a:ext uri="{FF2B5EF4-FFF2-40B4-BE49-F238E27FC236}">
                <a16:creationId xmlns:a16="http://schemas.microsoft.com/office/drawing/2014/main" id="{05D98C30-3181-3EFE-231C-1931FDB51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47" y="3007616"/>
            <a:ext cx="2644898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7C4C273-D158-6211-FE9B-F66A35234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47" y="1690688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w to Publish a Website with GitLab Pages">
            <a:extLst>
              <a:ext uri="{FF2B5EF4-FFF2-40B4-BE49-F238E27FC236}">
                <a16:creationId xmlns:a16="http://schemas.microsoft.com/office/drawing/2014/main" id="{F8A15FCE-7911-1AE9-9E0A-985E76B80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47" y="4324545"/>
            <a:ext cx="192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D358C5FD-15FE-0FF9-2142-4E32ABEDF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36947" y="1690687"/>
            <a:ext cx="1800000" cy="108000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 descr="Vercelの細部に焦点を当てて｜MIICHISOFT株式会社">
            <a:extLst>
              <a:ext uri="{FF2B5EF4-FFF2-40B4-BE49-F238E27FC236}">
                <a16:creationId xmlns:a16="http://schemas.microsoft.com/office/drawing/2014/main" id="{6485AA46-7F71-B05B-C892-D3BAD6419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947" y="5641475"/>
            <a:ext cx="206328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2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87699-C3E7-D65E-2DF3-68D509DD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GitHub Pages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547A23-1FEA-7D2D-6B7E-8746595E6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URL</a:t>
            </a:r>
            <a:r>
              <a:rPr kumimoji="1" lang="ja-JP" altLang="en-US"/>
              <a:t>は</a:t>
            </a:r>
            <a:r>
              <a:rPr kumimoji="1" lang="en-US" altLang="ja-JP" dirty="0"/>
              <a:t> 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username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.github.io/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projectname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ja-JP" altLang="en-US"/>
              <a:t>になる．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プロジェクト内の</a:t>
            </a:r>
            <a:r>
              <a:rPr lang="en-US" altLang="ja-JP" dirty="0"/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lang="en-US" altLang="ja-JP" dirty="0"/>
              <a:t> </a:t>
            </a:r>
            <a:r>
              <a:rPr lang="ja-JP" altLang="en-US"/>
              <a:t>ブランチに置かれた</a:t>
            </a:r>
            <a:r>
              <a:rPr lang="en-US" altLang="ja-JP" dirty="0"/>
              <a:t>HTML</a:t>
            </a:r>
            <a:r>
              <a:rPr lang="ja-JP" altLang="en-US"/>
              <a:t>が公開される（デフォルト）．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あるブランチの指定されたフォルダの</a:t>
            </a:r>
            <a:r>
              <a:rPr kumimoji="1" lang="en-US" altLang="ja-JP" dirty="0"/>
              <a:t>HTML</a:t>
            </a:r>
            <a:r>
              <a:rPr kumimoji="1" lang="ja-JP" altLang="en-US"/>
              <a:t>が公開される．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username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.github.io/</a:t>
            </a:r>
            <a:r>
              <a:rPr lang="en-US" altLang="ja-JP" dirty="0"/>
              <a:t> </a:t>
            </a:r>
            <a:r>
              <a:rPr lang="ja-JP" altLang="en-US"/>
              <a:t>は</a:t>
            </a:r>
            <a:r>
              <a:rPr lang="en-US" altLang="ja-JP" dirty="0"/>
              <a:t>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.github.io</a:t>
            </a:r>
            <a:r>
              <a:rPr lang="en-US" altLang="ja-JP" dirty="0"/>
              <a:t> </a:t>
            </a:r>
            <a:r>
              <a:rPr lang="ja-JP" altLang="en-US"/>
              <a:t>プロジェクトでの内容が公開される．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  <a:hlinkClick r:id="rId4"/>
              </a:rPr>
              <a:t>https://github.com/tamada/tamada.github.io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71BA78-3C5A-C9F0-3A61-6B5CD747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9C324A-BD0D-4BCE-1AA2-4B47DEB8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2687F111-F732-179E-F932-EB22CD8AC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816" y="0"/>
            <a:ext cx="2878183" cy="172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10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07FE1D-C9AC-1021-1007-73DBD182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Web</a:t>
            </a:r>
            <a:r>
              <a:rPr kumimoji="1" lang="ja-JP" altLang="en-US"/>
              <a:t>デザインのトレンド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FBC812-1E8E-85BE-B674-4F79E661C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「</a:t>
            </a:r>
            <a:r>
              <a:rPr kumimoji="1" lang="en-US" altLang="ja-JP" dirty="0">
                <a:hlinkClick r:id="rId2"/>
              </a:rPr>
              <a:t>Web</a:t>
            </a:r>
            <a:r>
              <a:rPr kumimoji="1" lang="ja-JP" altLang="en-US">
                <a:hlinkClick r:id="rId2"/>
              </a:rPr>
              <a:t>デザイン</a:t>
            </a:r>
            <a:r>
              <a:rPr kumimoji="1" lang="en-US" altLang="ja-JP" dirty="0">
                <a:hlinkClick r:id="rId2"/>
              </a:rPr>
              <a:t> </a:t>
            </a:r>
            <a:r>
              <a:rPr kumimoji="1" lang="ja-JP" altLang="en-US">
                <a:hlinkClick r:id="rId2"/>
              </a:rPr>
              <a:t>トレンド</a:t>
            </a:r>
            <a:r>
              <a:rPr kumimoji="1" lang="ja-JP" altLang="en-US"/>
              <a:t>」などでググるといくつか見つかる．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デザインのプロではないので，採用する／しないは自由である．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よく見るデザインながらも，議論が多いものもある．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例　ハンバーガーメニュー（≡のようなメニュー）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メリット　　小さい領域に多くのメニューを設置できる．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デメリット　</a:t>
            </a:r>
            <a:r>
              <a:rPr kumimoji="1" lang="en-US" altLang="ja-JP" dirty="0"/>
              <a:t>Web</a:t>
            </a:r>
            <a:r>
              <a:rPr kumimoji="1" lang="ja-JP" altLang="en-US"/>
              <a:t>サイトの構造を曖昧にする．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179D13-5A27-D6C3-8A6A-DBB2FB0A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19C5C9-3F06-A8E0-A57F-284D1C63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22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35E36-B3E7-56D3-9F02-79B60755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ドキュメントサイトの構築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16FC8E-1AA8-7D36-6A5C-044879EA7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Static Site Generator</a:t>
            </a:r>
            <a:r>
              <a:rPr kumimoji="1" lang="ja-JP" altLang="en-US"/>
              <a:t>（</a:t>
            </a:r>
            <a:r>
              <a:rPr kumimoji="1" lang="en-US" altLang="ja-JP" dirty="0"/>
              <a:t>SSG</a:t>
            </a:r>
            <a:r>
              <a:rPr kumimoji="1" lang="ja-JP" altLang="en-US"/>
              <a:t>）を用いて作成する．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静的に</a:t>
            </a:r>
            <a:r>
              <a:rPr lang="en-US" altLang="ja-JP" dirty="0"/>
              <a:t>HTML</a:t>
            </a:r>
            <a:r>
              <a:rPr lang="ja-JP" altLang="en-US"/>
              <a:t>ページを作成する．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動的にページを作成する</a:t>
            </a:r>
            <a:r>
              <a:rPr lang="en-US" altLang="ja-JP" dirty="0"/>
              <a:t>SSR (Server-Side Rendering) </a:t>
            </a:r>
            <a:r>
              <a:rPr lang="ja-JP" altLang="en-US"/>
              <a:t>や</a:t>
            </a:r>
            <a:r>
              <a:rPr lang="en-US" altLang="ja-JP" dirty="0"/>
              <a:t>CSR (Client-Side Rendering)</a:t>
            </a:r>
            <a:r>
              <a:rPr lang="ja-JP" altLang="en-US"/>
              <a:t>に比べて以下の利点がある．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特別なサーバが不要である．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閲覧が早い．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逆にインタラクティブな操作に一定の制限がある．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とはいえ，近年は</a:t>
            </a:r>
            <a:r>
              <a:rPr lang="en-US" altLang="ja-JP" dirty="0"/>
              <a:t>JavaScript</a:t>
            </a:r>
            <a:r>
              <a:rPr lang="ja-JP" altLang="en-US"/>
              <a:t>である程度のことができる．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F14A1C-17DD-0C72-3477-2998D637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278FE2-5DD4-20C8-BB24-6110EB51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60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7E2D1-04F5-5902-CC4F-D6947436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SSR</a:t>
            </a:r>
            <a:r>
              <a:rPr lang="en-US" altLang="ja-JP" dirty="0"/>
              <a:t> </a:t>
            </a:r>
            <a:r>
              <a:rPr kumimoji="1" lang="en-US" altLang="ja-JP" dirty="0" err="1"/>
              <a:t>v.s</a:t>
            </a:r>
            <a:r>
              <a:rPr lang="en-US" altLang="ja-JP" dirty="0"/>
              <a:t>. SSG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1F33A-F8BA-467C-E8E2-22AF55CFD7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SSR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リクエストのたびに動的にページを生成する．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SSR</a:t>
            </a:r>
            <a:r>
              <a:rPr kumimoji="1" lang="ja-JP" altLang="en-US"/>
              <a:t>サーバ（と多くの場合データベース）を用意しておく必要がある．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動的なページが作成できる．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低パフォーマンス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SSG</a:t>
            </a:r>
            <a:r>
              <a:rPr lang="ja-JP" altLang="en-US"/>
              <a:t>と比較しての話．</a:t>
            </a:r>
            <a:endParaRPr kumimoji="1" lang="en-US" altLang="ja-JP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0B0402-944E-26A2-BD63-140E0FF3AD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/>
              <a:t>SSG (Static Site Generator)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静的にページを生成し，</a:t>
            </a:r>
            <a:r>
              <a:rPr lang="ja-JP" altLang="en-US"/>
              <a:t>通常の</a:t>
            </a:r>
            <a:r>
              <a:rPr lang="en-US" altLang="ja-JP" dirty="0"/>
              <a:t>Web</a:t>
            </a:r>
            <a:r>
              <a:rPr lang="ja-JP" altLang="en-US"/>
              <a:t>サーバに配置しておく．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Web</a:t>
            </a:r>
            <a:r>
              <a:rPr kumimoji="1" lang="ja-JP" altLang="en-US"/>
              <a:t>サーバのみがあれば良い．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動的なページの作成には</a:t>
            </a:r>
            <a:r>
              <a:rPr lang="en-US" altLang="ja-JP" dirty="0"/>
              <a:t>JavaScript</a:t>
            </a:r>
            <a:r>
              <a:rPr lang="ja-JP" altLang="en-US"/>
              <a:t>などの知識が必要となる．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高パフォーマンス．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通常の</a:t>
            </a:r>
            <a:r>
              <a:rPr lang="en-US" altLang="ja-JP" dirty="0"/>
              <a:t>HTML</a:t>
            </a:r>
            <a:r>
              <a:rPr lang="ja-JP" altLang="en-US"/>
              <a:t>ページのやり取りと同じ．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76F535-AB50-01F0-32C8-F5FF761D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BC746A-0BF1-A004-1899-543E03B1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E9FDC1-50EF-A7FC-E803-9EA8B95D0E29}"/>
              </a:ext>
            </a:extLst>
          </p:cNvPr>
          <p:cNvSpPr txBox="1"/>
          <p:nvPr/>
        </p:nvSpPr>
        <p:spPr>
          <a:xfrm>
            <a:off x="1874521" y="1760310"/>
            <a:ext cx="6100354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(Server-Side Rendering)</a:t>
            </a:r>
          </a:p>
        </p:txBody>
      </p:sp>
    </p:spTree>
    <p:extLst>
      <p:ext uri="{BB962C8B-B14F-4D97-AF65-F5344CB8AC3E}">
        <p14:creationId xmlns:p14="http://schemas.microsoft.com/office/powerpoint/2010/main" val="8249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D0F2B4-C269-7BE9-DE1F-1A7F1D4E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SSG</a:t>
            </a:r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97BBBA-E1DA-153B-2112-C60141B5C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36769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非常に多くのツールがリリースされている．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今回は，</a:t>
            </a:r>
            <a:r>
              <a:rPr lang="en-US" altLang="ja-JP" dirty="0"/>
              <a:t>Go</a:t>
            </a:r>
            <a:r>
              <a:rPr lang="ja-JP" altLang="en-US"/>
              <a:t>製の</a:t>
            </a:r>
            <a:r>
              <a:rPr lang="en-US" altLang="ja-JP" dirty="0"/>
              <a:t>Hugo</a:t>
            </a:r>
            <a:r>
              <a:rPr lang="ja-JP" altLang="en-US"/>
              <a:t>を利用する．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" altLang="ja-JP" dirty="0">
                <a:hlinkClick r:id="rId2"/>
              </a:rPr>
              <a:t>https://gohugo.io</a:t>
            </a:r>
            <a:endParaRPr lang="en" altLang="ja-JP" dirty="0"/>
          </a:p>
          <a:p>
            <a:pPr lvl="2">
              <a:lnSpc>
                <a:spcPct val="120000"/>
              </a:lnSpc>
            </a:pPr>
            <a:r>
              <a:rPr lang="en" altLang="ja-JP" dirty="0"/>
              <a:t>JavaScript</a:t>
            </a:r>
            <a:r>
              <a:rPr lang="ja-JP" altLang="en-US"/>
              <a:t>製以外でトップの人気である．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Go</a:t>
            </a:r>
            <a:r>
              <a:rPr lang="ja-JP" altLang="en-US"/>
              <a:t>言語で書かれている．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68EA2-51BA-D8FD-8477-30D0B625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27FAD2-2504-9E7E-CA58-ACA16E87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1026" name="Picture 2" descr="The world's fastest framework for building websites | Hugo">
            <a:extLst>
              <a:ext uri="{FF2B5EF4-FFF2-40B4-BE49-F238E27FC236}">
                <a16:creationId xmlns:a16="http://schemas.microsoft.com/office/drawing/2014/main" id="{A8A5F489-952F-C66F-BFBD-2B4B346A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30" y="439498"/>
            <a:ext cx="2748522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Mstackフレームワーク比較| JAMstackブログ | 合同会社TamaT">
            <a:extLst>
              <a:ext uri="{FF2B5EF4-FFF2-40B4-BE49-F238E27FC236}">
                <a16:creationId xmlns:a16="http://schemas.microsoft.com/office/drawing/2014/main" id="{15A6F134-D3FC-F6D6-D24A-FD63CD2BE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800" y="2588230"/>
            <a:ext cx="2594838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hexojs/hexo: A fast, simple &amp; powerful blog framework, powered by  Node.js.">
            <a:extLst>
              <a:ext uri="{FF2B5EF4-FFF2-40B4-BE49-F238E27FC236}">
                <a16:creationId xmlns:a16="http://schemas.microsoft.com/office/drawing/2014/main" id="{4D8EFD97-EE9A-60D5-482A-1047730F6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91" y="5090736"/>
            <a:ext cx="216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cusaurus ロゴ - ソーシャルメディアとロゴ アイコン">
            <a:extLst>
              <a:ext uri="{FF2B5EF4-FFF2-40B4-BE49-F238E27FC236}">
                <a16:creationId xmlns:a16="http://schemas.microsoft.com/office/drawing/2014/main" id="{F796F90B-7E45-194C-023D-CDDE4D6F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385" y="439498"/>
            <a:ext cx="144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ekyll&quot; Icon - Download for free – Iconduck">
            <a:extLst>
              <a:ext uri="{FF2B5EF4-FFF2-40B4-BE49-F238E27FC236}">
                <a16:creationId xmlns:a16="http://schemas.microsoft.com/office/drawing/2014/main" id="{4213664D-02DE-4848-5BA5-3A9063F14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800" y="1513864"/>
            <a:ext cx="176158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ocumenting Your Rust Projects With mdBook">
            <a:extLst>
              <a:ext uri="{FF2B5EF4-FFF2-40B4-BE49-F238E27FC236}">
                <a16:creationId xmlns:a16="http://schemas.microsoft.com/office/drawing/2014/main" id="{E48ED031-D670-3AC0-6397-B2FAAB757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800" y="4736963"/>
            <a:ext cx="288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E2B786-E444-334F-7D19-4FC4F248267D}"/>
              </a:ext>
            </a:extLst>
          </p:cNvPr>
          <p:cNvSpPr txBox="1"/>
          <p:nvPr/>
        </p:nvSpPr>
        <p:spPr>
          <a:xfrm>
            <a:off x="448854" y="5502547"/>
            <a:ext cx="6100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9"/>
              </a:rPr>
              <a:t>https://jamstack.org/generators/</a:t>
            </a:r>
            <a:endParaRPr lang="en-US" altLang="ja-JP" dirty="0"/>
          </a:p>
          <a:p>
            <a:r>
              <a:rPr lang="ja-JP" altLang="en-US">
                <a:hlinkClick r:id="rId10"/>
              </a:rPr>
              <a:t>https://fand.jp/static-site-generator-trends-2021/</a:t>
            </a:r>
            <a:endParaRPr lang="en-US" altLang="ja-JP" dirty="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4AEBCD8-81B2-2A45-436C-8CCC13B13098}"/>
              </a:ext>
            </a:extLst>
          </p:cNvPr>
          <p:cNvSpPr/>
          <p:nvPr/>
        </p:nvSpPr>
        <p:spPr>
          <a:xfrm>
            <a:off x="5076092" y="230188"/>
            <a:ext cx="3240000" cy="1080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0EE2C7D5-1E14-FE38-7C46-4CD743159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3799" y="3662596"/>
            <a:ext cx="19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0D7064-CDDB-0516-6675-81798BAE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関連ページ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C3FA57-0AA6-ACD3-1052-B29316679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Hugo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発プロ　</a:t>
            </a:r>
            <a:r>
              <a:rPr kumimoji="1" lang="en-US" altLang="ja-JP" dirty="0">
                <a:hlinkClick r:id="rId2"/>
              </a:rPr>
              <a:t>https://ksuap.github.io/2024spring/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プロ演</a:t>
            </a:r>
            <a:r>
              <a:rPr lang="en-US" altLang="ja-JP" dirty="0"/>
              <a:t>B </a:t>
            </a:r>
            <a:r>
              <a:rPr lang="en-US" altLang="ja-JP" dirty="0">
                <a:hlinkClick r:id="rId3"/>
              </a:rPr>
              <a:t>https://ksubpb.github.io/2025/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玉田研　</a:t>
            </a:r>
            <a:r>
              <a:rPr lang="en-US" altLang="ja-JP" dirty="0">
                <a:hlinkClick r:id="rId4"/>
              </a:rPr>
              <a:t>https://tamadalab.github.io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宮森研　</a:t>
            </a:r>
            <a:r>
              <a:rPr lang="en" altLang="ja-JP" dirty="0">
                <a:hlinkClick r:id="rId5"/>
              </a:rPr>
              <a:t>http://milab.kyoto-su.ac.jp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棟方研　</a:t>
            </a:r>
            <a:r>
              <a:rPr lang="en" altLang="ja-JP" dirty="0">
                <a:hlinkClick r:id="rId6"/>
              </a:rPr>
              <a:t>https://munekata-lab.github.io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 err="1"/>
              <a:t>Wordpress</a:t>
            </a:r>
            <a:r>
              <a:rPr kumimoji="1" lang="en-US" altLang="ja-JP" dirty="0"/>
              <a:t>?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林原研　</a:t>
            </a:r>
            <a:r>
              <a:rPr lang="en" altLang="ja-JP" dirty="0">
                <a:hlinkClick r:id="rId7"/>
              </a:rPr>
              <a:t>http://www.rudds.jp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平</a:t>
            </a:r>
            <a:r>
              <a:rPr lang="en-US" altLang="ja-JP" dirty="0"/>
              <a:t>#</a:t>
            </a:r>
            <a:r>
              <a:rPr lang="ja-JP" altLang="en-US"/>
              <a:t>研　</a:t>
            </a:r>
            <a:r>
              <a:rPr lang="en" altLang="ja-JP" dirty="0">
                <a:hlinkClick r:id="rId8"/>
              </a:rPr>
              <a:t>http://ubiqmedia.cse.kyoto-su.ac.jp</a:t>
            </a:r>
            <a:endParaRPr lang="en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荻野研　</a:t>
            </a:r>
            <a:r>
              <a:rPr lang="en" altLang="ja-JP" dirty="0">
                <a:hlinkClick r:id="rId9"/>
              </a:rPr>
              <a:t>https://kidsserv.kyoto-su.ac.jp</a:t>
            </a:r>
            <a:endParaRPr lang="en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瀬川研　</a:t>
            </a:r>
            <a:r>
              <a:rPr lang="en" altLang="ja-JP" dirty="0">
                <a:hlinkClick r:id="rId10"/>
              </a:rPr>
              <a:t>http://sensors.kyoto-su.ac.jp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lang="en-US" altLang="ja-JP" dirty="0"/>
          </a:p>
          <a:p>
            <a:pPr>
              <a:lnSpc>
                <a:spcPct val="120000"/>
              </a:lnSpc>
            </a:pP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手書き？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青木研　</a:t>
            </a:r>
            <a:r>
              <a:rPr lang="en" altLang="ja-JP" dirty="0">
                <a:hlinkClick r:id="rId11"/>
              </a:rPr>
              <a:t>http://aokilab.kyoto-su.ac.jp/index-j.html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川村研</a:t>
            </a:r>
            <a:r>
              <a:rPr lang="ja-JP" altLang="en-US"/>
              <a:t>　</a:t>
            </a:r>
            <a:r>
              <a:rPr kumimoji="1" lang="en" altLang="ja-JP" dirty="0">
                <a:hlinkClick r:id="rId12"/>
              </a:rPr>
              <a:t>http://www.cc.kyoto-su.ac.jp/~kawamura/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岡田研　</a:t>
            </a:r>
            <a:r>
              <a:rPr lang="en" altLang="ja-JP" dirty="0">
                <a:hlinkClick r:id="rId13"/>
              </a:rPr>
              <a:t>http://www.cc.kyoto-su.ac.jp/~hidehiko/index.php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Google Site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秋山・小林研　</a:t>
            </a:r>
            <a:r>
              <a:rPr kumimoji="1" lang="en" altLang="ja-JP" dirty="0">
                <a:hlinkClick r:id="rId14"/>
              </a:rPr>
              <a:t>https://aklab.kyoto-su.ac.jp</a:t>
            </a:r>
            <a:endParaRPr lang="en" altLang="ja-JP" dirty="0"/>
          </a:p>
          <a:p>
            <a:pPr lvl="1">
              <a:lnSpc>
                <a:spcPct val="120000"/>
              </a:lnSpc>
            </a:pP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2152A0-B5AD-D2B2-64F6-92C99116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528E92-435D-E5EB-533B-5FE22CD7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78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5A6B9-7E44-9A73-97F6-4261D295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/>
              <a:t>に書いてもらうのも良い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22F444-5924-BD55-3223-126F30E3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898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デザインを</a:t>
            </a:r>
            <a:r>
              <a:rPr kumimoji="1" lang="en-US" altLang="ja-JP" dirty="0"/>
              <a:t>AI</a:t>
            </a:r>
            <a:r>
              <a:rPr lang="ja-JP" altLang="en-US"/>
              <a:t>に任せて直に</a:t>
            </a:r>
            <a:r>
              <a:rPr lang="en-US" altLang="ja-JP" dirty="0"/>
              <a:t>HTML</a:t>
            </a:r>
            <a:r>
              <a:rPr lang="ja-JP" altLang="en-US"/>
              <a:t>を吐かせるのも良い。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その際、どのようなフレームワークを利用するかを指定しよう。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Bootstrap, </a:t>
            </a:r>
            <a:r>
              <a:rPr lang="en-US" altLang="ja-JP" dirty="0" err="1"/>
              <a:t>TailwindCSS</a:t>
            </a:r>
            <a:r>
              <a:rPr lang="ja-JP" altLang="en-US"/>
              <a:t>とか、</a:t>
            </a:r>
            <a:r>
              <a:rPr lang="en-US" altLang="ja-JP" dirty="0"/>
              <a:t>Sass/SCSS, </a:t>
            </a:r>
            <a:r>
              <a:rPr lang="en-US" altLang="ja-JP" dirty="0" err="1"/>
              <a:t>PostCSS</a:t>
            </a:r>
            <a:r>
              <a:rPr lang="ja-JP" altLang="en-US"/>
              <a:t>とか。</a:t>
            </a:r>
            <a:endParaRPr lang="en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（私見）今までの資産との整合性を重要視するのが良いと思う。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異なるプロダクトだから違うデザインを採用するのも良い。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0215C4-281C-AECB-EC28-0EF3D2E5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6CB470-64CA-B279-AB23-22DAD224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11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D11EFC-16EA-4872-113D-A1594AA8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ドキュメントへの掲載内容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0CCF4A-539C-4C8C-A942-606CC33F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en-US" altLang="ja-JP" dirty="0"/>
              <a:t> </a:t>
            </a:r>
            <a:r>
              <a:rPr lang="ja-JP" altLang="en-US"/>
              <a:t>の内容に加えて，より詳細を載せる．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アルゴリズム，チュートリアル，複数の実行例など．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ja-JP" altLang="en-US"/>
              <a:t>には</a:t>
            </a:r>
            <a:r>
              <a:rPr lang="en-US" altLang="ja-JP" dirty="0"/>
              <a:t>1, 2</a:t>
            </a:r>
            <a:r>
              <a:rPr lang="ja-JP" altLang="en-US"/>
              <a:t>の実行例があると良い．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6F54A5-2E15-BE97-8A26-01CF5EE5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3F11748-5ADC-2920-B2E7-547E93E5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81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1F213-6689-3E81-913D-AF678389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Hugo</a:t>
            </a:r>
            <a:br>
              <a:rPr kumimoji="1" lang="en-US" altLang="ja-JP" dirty="0"/>
            </a:br>
            <a:r>
              <a:rPr kumimoji="1" lang="ja-JP" altLang="en-US"/>
              <a:t>初期化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985BC3-6FF7-A2B8-D4CA-220C1506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ja-JP" altLang="en-US"/>
              <a:t>プロジェクトのトップページにて以下を実行する．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hugo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new site 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がコマンドで，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docs</a:t>
            </a:r>
            <a:r>
              <a:rPr lang="ja-JP" altLang="en-US"/>
              <a:t>ディレクトリに</a:t>
            </a:r>
            <a:r>
              <a:rPr lang="en-US" altLang="ja-JP" dirty="0" err="1"/>
              <a:t>hugo</a:t>
            </a:r>
            <a:r>
              <a:rPr lang="ja-JP" altLang="en-US"/>
              <a:t>に必要なファイルを展開する．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docs</a:t>
            </a:r>
            <a:r>
              <a:rPr kumimoji="1" lang="ja-JP" altLang="en-US"/>
              <a:t>以下で重要なのは，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config</a:t>
            </a:r>
            <a:r>
              <a:rPr kumimoji="1" lang="en-US" altLang="ja-JP" dirty="0"/>
              <a:t>, 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themes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ja-JP" altLang="en-US"/>
              <a:t>の</a:t>
            </a:r>
            <a:r>
              <a:rPr lang="en-US" altLang="ja-JP" dirty="0"/>
              <a:t>5</a:t>
            </a:r>
            <a:r>
              <a:rPr lang="ja-JP" altLang="en-US"/>
              <a:t>つ．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CC73EA-9341-EB99-1BB3-DDD043AE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DFAC72-4876-50FC-F48E-17A66015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6" name="Picture 2" descr="GoHugo.io · GitHub">
            <a:extLst>
              <a:ext uri="{FF2B5EF4-FFF2-40B4-BE49-F238E27FC236}">
                <a16:creationId xmlns:a16="http://schemas.microsoft.com/office/drawing/2014/main" id="{5284F6D2-04BC-136D-6AF2-879DB9BCD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800" y="48790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3E4411-E6DF-1FF0-9820-16ACB7FE23BA}"/>
              </a:ext>
            </a:extLst>
          </p:cNvPr>
          <p:cNvSpPr txBox="1"/>
          <p:nvPr/>
        </p:nvSpPr>
        <p:spPr>
          <a:xfrm>
            <a:off x="1136470" y="3032109"/>
            <a:ext cx="4253087" cy="584775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hugo</a:t>
            </a:r>
            <a:r>
              <a:rPr kumimoji="1" lang="en-US" altLang="ja-JP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new site docs</a:t>
            </a:r>
            <a:endParaRPr kumimoji="1" lang="ja-JP" altLang="en-US" sz="320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7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1F213-6689-3E81-913D-AF678389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Hugo</a:t>
            </a:r>
            <a:br>
              <a:rPr kumimoji="1" lang="en-US" altLang="ja-JP" dirty="0"/>
            </a:br>
            <a:r>
              <a:rPr lang="ja-JP" altLang="en-US"/>
              <a:t>ディレクトリの内容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985BC3-6FF7-A2B8-D4CA-220C15065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4469"/>
          </a:xfrm>
        </p:spPr>
        <p:txBody>
          <a:bodyPr numCol="2"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config/_default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設定ファイルが置かれるディレクトリ．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hugo.toml</a:t>
            </a: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や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params.toml</a:t>
            </a: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など．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具体的な設定内容はテーマのチュートリアルなどを参考にすること．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ja-JP" dirty="0"/>
              <a:t>Web</a:t>
            </a:r>
            <a:r>
              <a:rPr lang="ja-JP" altLang="en-US"/>
              <a:t>ページの内容そのもの．</a:t>
            </a:r>
            <a:r>
              <a:rPr lang="en-US" altLang="ja-JP" dirty="0"/>
              <a:t>Markdown</a:t>
            </a:r>
            <a:r>
              <a:rPr lang="ja-JP" altLang="en-US"/>
              <a:t>形式で書き，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hugo</a:t>
            </a:r>
            <a:r>
              <a:rPr lang="ja-JP" altLang="en-US"/>
              <a:t>を実行することで</a:t>
            </a:r>
            <a:r>
              <a:rPr lang="en-US" altLang="ja-JP" dirty="0"/>
              <a:t>HTML</a:t>
            </a:r>
            <a:r>
              <a:rPr lang="ja-JP" altLang="en-US"/>
              <a:t>に変換される．</a:t>
            </a:r>
            <a:endParaRPr kumimoji="1" lang="en-US" altLang="ja-JP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layouts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/>
              <a:t>HTML</a:t>
            </a:r>
            <a:r>
              <a:rPr lang="ja-JP" altLang="en-US"/>
              <a:t>に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ja-JP" altLang="en-US"/>
              <a:t>をどのように配置するかを決めるファイル．</a:t>
            </a:r>
            <a:r>
              <a:rPr lang="en-US" altLang="ja-JP" dirty="0"/>
              <a:t>themes</a:t>
            </a:r>
            <a:r>
              <a:rPr lang="ja-JP" altLang="en-US"/>
              <a:t>以下にも存在している．</a:t>
            </a:r>
            <a:endParaRPr kumimoji="1" lang="en-US" altLang="ja-JP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ja-JP" altLang="en-US"/>
              <a:t>変換されないそのまま</a:t>
            </a:r>
            <a:r>
              <a:rPr lang="en-US" altLang="ja-JP" dirty="0"/>
              <a:t>Web</a:t>
            </a:r>
            <a:r>
              <a:rPr lang="ja-JP" altLang="en-US"/>
              <a:t>ページに掲載されるものはこちらに置く．画像など．ただし，画像も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ja-JP" altLang="en-US"/>
              <a:t>以下に置くやり方もある．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themes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ja-JP" altLang="en-US"/>
              <a:t>テーマを置くディレクトリ．複数のテーマを置くことも可能（同時に利用できるのは１つ）．</a:t>
            </a:r>
            <a:endParaRPr lang="en-US" altLang="ja-JP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ja-JP" altLang="en-US"/>
              <a:t>最新の</a:t>
            </a:r>
            <a:r>
              <a:rPr lang="en-US" altLang="ja-JP" dirty="0"/>
              <a:t>Hugo</a:t>
            </a:r>
            <a:r>
              <a:rPr lang="ja-JP" altLang="en-US"/>
              <a:t>では</a:t>
            </a:r>
            <a:r>
              <a:rPr lang="en-US" altLang="ja-JP" dirty="0"/>
              <a:t>mod</a:t>
            </a:r>
            <a:r>
              <a:rPr lang="ja-JP" altLang="en-US"/>
              <a:t>機能を使うと不要．</a:t>
            </a:r>
            <a:endParaRPr lang="en-US" altLang="ja-JP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1" lang="ja-JP" altLang="en-US"/>
              <a:t>変換後の</a:t>
            </a:r>
            <a:r>
              <a:rPr lang="en-US" altLang="ja-JP" dirty="0"/>
              <a:t>Web</a:t>
            </a:r>
            <a:r>
              <a:rPr lang="ja-JP" altLang="en-US"/>
              <a:t>サイトが置かれるディレクトリ．</a:t>
            </a:r>
            <a:endParaRPr lang="en-US" altLang="ja-JP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1" lang="ja-JP" altLang="en-US"/>
              <a:t>このディレクトリを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ja-JP" altLang="en-US"/>
              <a:t>ブランチに設定しておくと良い（後述）．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CC73EA-9341-EB99-1BB3-DDD043AE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DFAC72-4876-50FC-F48E-17A66015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6" name="Picture 2" descr="GoHugo.io · GitHub">
            <a:extLst>
              <a:ext uri="{FF2B5EF4-FFF2-40B4-BE49-F238E27FC236}">
                <a16:creationId xmlns:a16="http://schemas.microsoft.com/office/drawing/2014/main" id="{5284F6D2-04BC-136D-6AF2-879DB9BCD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800" y="48790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64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A777E4-FE91-468C-F58E-FCE9578F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Hugo</a:t>
            </a:r>
            <a:br>
              <a:rPr kumimoji="1" lang="en-US" altLang="ja-JP" dirty="0"/>
            </a:br>
            <a:r>
              <a:rPr lang="ja-JP" altLang="en-US"/>
              <a:t>テーマの適用方法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0E454E-7F4F-0037-2121-72F3E9895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 err="1"/>
              <a:t>h</a:t>
            </a:r>
            <a:r>
              <a:rPr kumimoji="1" lang="en-US" altLang="ja-JP" dirty="0" err="1"/>
              <a:t>ugo</a:t>
            </a:r>
            <a:r>
              <a:rPr kumimoji="1" lang="en-US" altLang="ja-JP" dirty="0"/>
              <a:t> module</a:t>
            </a:r>
            <a:r>
              <a:rPr kumimoji="1" lang="ja-JP" altLang="en-US"/>
              <a:t>（推奨）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新しいテーマであればこの方法を用いる．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hugo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mod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REPO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# 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自分のユーザ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・リポジトリ名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en-US" altLang="ja-JP" dirty="0"/>
              <a:t>Go</a:t>
            </a:r>
            <a:r>
              <a:rPr kumimoji="1" lang="ja-JP" altLang="en-US"/>
              <a:t>が必要となる．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git submodule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少し古い</a:t>
            </a:r>
            <a:r>
              <a:rPr lang="en-US" altLang="ja-JP" dirty="0" err="1"/>
              <a:t>hugo</a:t>
            </a:r>
            <a:r>
              <a:rPr lang="ja-JP" altLang="en-US"/>
              <a:t>の標準的な方法．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他の</a:t>
            </a:r>
            <a:r>
              <a:rPr kumimoji="1" lang="en-US" altLang="ja-JP" dirty="0"/>
              <a:t>git</a:t>
            </a:r>
            <a:r>
              <a:rPr kumimoji="1" lang="ja-JP" altLang="en-US"/>
              <a:t>リポジトリを</a:t>
            </a:r>
            <a:r>
              <a:rPr lang="ja-JP" altLang="en-US"/>
              <a:t>自分の</a:t>
            </a:r>
            <a:r>
              <a:rPr lang="en-US" altLang="ja-JP" dirty="0"/>
              <a:t>git</a:t>
            </a:r>
            <a:r>
              <a:rPr lang="ja-JP" altLang="en-US"/>
              <a:t>リポジトリ配下に</a:t>
            </a:r>
            <a:r>
              <a:rPr kumimoji="1" lang="ja-JP" altLang="en-US"/>
              <a:t>取り込む方法．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 submodule add 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THEME_GIT_URL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themes/</a:t>
            </a:r>
            <a:r>
              <a:rPr lang="en-US" altLang="ja-JP" i="1" dirty="0">
                <a:latin typeface="Consolas" panose="020B0609020204030204" pitchFamily="49" charset="0"/>
                <a:cs typeface="Consolas" panose="020B0609020204030204" pitchFamily="49" charset="0"/>
              </a:rPr>
              <a:t>THEME_NAME</a:t>
            </a:r>
          </a:p>
          <a:p>
            <a:pPr>
              <a:lnSpc>
                <a:spcPct val="120000"/>
              </a:lnSpc>
            </a:pPr>
            <a:r>
              <a:rPr kumimoji="1" lang="ja-JP" altLang="en-US"/>
              <a:t>ファイルコピー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必要なファイルを，適切なフォルダにコピーする．</a:t>
            </a:r>
            <a:endParaRPr kumimoji="1" lang="en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以下のサイト（</a:t>
            </a:r>
            <a:r>
              <a:rPr lang="en-US" altLang="ja-JP" dirty="0" err="1"/>
              <a:t>congo</a:t>
            </a:r>
            <a:r>
              <a:rPr lang="ja-JP" altLang="en-US"/>
              <a:t>テーマ）でも確認できる．</a:t>
            </a:r>
            <a:endParaRPr kumimoji="1" lang="en" altLang="ja-JP" dirty="0"/>
          </a:p>
          <a:p>
            <a:pPr lvl="1">
              <a:lnSpc>
                <a:spcPct val="120000"/>
              </a:lnSpc>
            </a:pPr>
            <a:r>
              <a:rPr kumimoji="1" lang="en" altLang="ja-JP" dirty="0">
                <a:hlinkClick r:id="rId2"/>
              </a:rPr>
              <a:t>https://jpanther.github.io/congo/docs/installation/#install-manually</a:t>
            </a:r>
            <a:endParaRPr kumimoji="1" lang="en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1D0620-ED6D-263C-685A-23193FA2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486F95-5D5C-BED2-EF39-C0CE9B15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6" name="Picture 2" descr="GoHugo.io · GitHub">
            <a:extLst>
              <a:ext uri="{FF2B5EF4-FFF2-40B4-BE49-F238E27FC236}">
                <a16:creationId xmlns:a16="http://schemas.microsoft.com/office/drawing/2014/main" id="{4F3FDF58-A7DC-5633-7614-6D88012A4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800" y="48790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A7F1B0-D3B1-A6E5-FADE-AD1D46C94269}"/>
              </a:ext>
            </a:extLst>
          </p:cNvPr>
          <p:cNvSpPr txBox="1"/>
          <p:nvPr/>
        </p:nvSpPr>
        <p:spPr>
          <a:xfrm>
            <a:off x="-391886" y="4467497"/>
            <a:ext cx="184731" cy="369332"/>
          </a:xfrm>
          <a:prstGeom prst="rect">
            <a:avLst/>
          </a:prstGeom>
          <a:noFill/>
        </p:spPr>
        <p:txBody>
          <a:bodyPr wrap="none" numCol="2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76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E664E-5320-C9E8-9244-914F2CC9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出力先はどうする？</a:t>
            </a:r>
            <a:endParaRPr kumimoji="1" lang="ja-JP" altLang="en-US" sz="32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88613-2DBD-9FDD-451C-ABCD9C394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GitHub Pages</a:t>
            </a:r>
            <a:r>
              <a:rPr kumimoji="1" lang="ja-JP" altLang="en-US"/>
              <a:t>用のブランチ（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ja-JP" altLang="en-US"/>
              <a:t>）を用意し，そこに出力するようにする．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worktree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/>
              <a:t>で，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docs/public</a:t>
            </a:r>
            <a:r>
              <a:rPr lang="ja-JP" altLang="en-US"/>
              <a:t>フォルダを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lang="ja-JP" altLang="en-US"/>
              <a:t>ブランチとして扱える．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worktree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add docs/public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</a:p>
          <a:p>
            <a:pPr lvl="2">
              <a:lnSpc>
                <a:spcPct val="120000"/>
              </a:lnSpc>
            </a:pPr>
            <a:r>
              <a:rPr kumimoji="1" lang="ja-JP" altLang="en-US"/>
              <a:t>これで，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1" lang="en-US" altLang="ja-JP" dirty="0"/>
              <a:t> </a:t>
            </a:r>
            <a:r>
              <a:rPr kumimoji="1" lang="ja-JP" altLang="en-US"/>
              <a:t>フォルダが</a:t>
            </a:r>
            <a:r>
              <a:rPr kumimoji="1" lang="en-US" altLang="ja-JP" dirty="0"/>
              <a:t>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en-US" altLang="ja-JP" dirty="0"/>
              <a:t> </a:t>
            </a:r>
            <a:r>
              <a:rPr kumimoji="1" lang="ja-JP" altLang="en-US"/>
              <a:t>ブランチとなる．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lang="ja-JP" altLang="en-US"/>
              <a:t>ブランチがない場合は、以下のコマンドで作成する。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 switch --orphan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これで何もないブランチを作成できる。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touch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/>
              <a:t>で空のページを作成し、コミットしよう。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192EA5-D48E-3018-5BCA-B6D0EFF2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1FCA74-197A-B2C5-A2BC-0DE40CF9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33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AD4DD-1A46-7DC8-4521-9CB5A5EE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なぜ？</a:t>
            </a:r>
            <a:br>
              <a:rPr kumimoji="1" lang="en-US" altLang="ja-JP" dirty="0"/>
            </a:br>
            <a:r>
              <a:rPr kumimoji="1" lang="ja-JP" altLang="en-US" sz="3200"/>
              <a:t>玉田の私見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88673B-353C-7808-2660-0AE1B513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SSG</a:t>
            </a:r>
            <a:r>
              <a:rPr kumimoji="1" lang="ja-JP" altLang="en-US"/>
              <a:t>の場合，</a:t>
            </a:r>
            <a:r>
              <a:rPr kumimoji="1" lang="en-US" altLang="ja-JP" dirty="0"/>
              <a:t>HTML</a:t>
            </a:r>
            <a:r>
              <a:rPr lang="ja-JP" altLang="en-US"/>
              <a:t>は</a:t>
            </a:r>
            <a:br>
              <a:rPr lang="en-US" altLang="ja-JP" dirty="0"/>
            </a:br>
            <a:r>
              <a:rPr lang="ja-JP" altLang="en-US"/>
              <a:t>自動生成される．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次の</a:t>
            </a:r>
            <a:r>
              <a:rPr kumimoji="1" lang="en-US" altLang="ja-JP" dirty="0"/>
              <a:t>2</a:t>
            </a:r>
            <a:r>
              <a:rPr kumimoji="1" lang="ja-JP" altLang="en-US"/>
              <a:t>つのコミットが</a:t>
            </a:r>
            <a:br>
              <a:rPr kumimoji="1" lang="en-US" altLang="ja-JP" dirty="0"/>
            </a:br>
            <a:r>
              <a:rPr kumimoji="1" lang="ja-JP" altLang="en-US"/>
              <a:t>混在することは避けたい．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自動生成されるファイルのコミット，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手動編集されたファイルのコミット．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同じ歴史の流れにいると，過去を振り返るときに大きなノイズになる．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4150F5-CFAC-11C3-2A79-767F3668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038E4E-E85B-9BD0-03DA-2D5EB701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76E08B-470F-E7BA-396C-439A8B4B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3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6FF89-7EF5-ED41-EBF1-6272FA9C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Hugo</a:t>
            </a:r>
            <a:r>
              <a:rPr kumimoji="1" lang="ja-JP" altLang="en-US"/>
              <a:t>で</a:t>
            </a:r>
            <a:r>
              <a:rPr kumimoji="1" lang="en-US" altLang="ja-JP" dirty="0"/>
              <a:t>Web</a:t>
            </a:r>
            <a:r>
              <a:rPr kumimoji="1" lang="ja-JP" altLang="en-US"/>
              <a:t>サイト構築</a:t>
            </a:r>
            <a:br>
              <a:rPr lang="en-US" altLang="ja-JP" dirty="0"/>
            </a:br>
            <a:r>
              <a:rPr lang="ja-JP" altLang="en-US" sz="3200"/>
              <a:t>具体的な手順</a:t>
            </a:r>
            <a:endParaRPr kumimoji="1" lang="ja-JP" altLang="en-US" sz="32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3383D8-CD1D-E6CB-4D97-8C415A86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ja-JP" altLang="en-US"/>
              <a:t>ドキュメントのためのフォルダを用意する．</a:t>
            </a:r>
            <a:endParaRPr lang="en-US" altLang="ja-JP" dirty="0"/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kumimoji="1" lang="ja-JP" altLang="en-US"/>
              <a:t>まず，テーマ一覧からテーマを決め</a:t>
            </a:r>
            <a:r>
              <a:rPr lang="ja-JP" altLang="en-US"/>
              <a:t>る</a:t>
            </a:r>
            <a:r>
              <a:rPr kumimoji="1" lang="ja-JP" altLang="en-US"/>
              <a:t>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" altLang="ja-JP" dirty="0">
                <a:hlinkClick r:id="rId2"/>
              </a:rPr>
              <a:t>https://themes.gohugo.io</a:t>
            </a:r>
            <a:endParaRPr lang="en-US" altLang="ja-JP" dirty="0"/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kumimoji="1" lang="ja-JP" altLang="en-US"/>
              <a:t>出力先のブランチを用意する．</a:t>
            </a:r>
            <a:endParaRPr kumimoji="1" lang="en-US" altLang="ja-JP" dirty="0"/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kumimoji="1" lang="ja-JP" altLang="en-US"/>
              <a:t>テーマの設定を行う．</a:t>
            </a:r>
            <a:endParaRPr kumimoji="1" lang="en-US" altLang="ja-JP" dirty="0"/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kumimoji="1" lang="ja-JP" altLang="en-US"/>
              <a:t>ドキュメントを書く．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2694A-E85D-0168-D14D-1338EF9A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EDC767-994D-3B9E-71BA-23616A8F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90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58C5A-6C21-A7A2-614E-E3CAA71E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</a:t>
            </a:r>
            <a:r>
              <a:rPr kumimoji="1" lang="ja-JP" altLang="en-US"/>
              <a:t>ドキュメントのためのフォルダを用意する．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8BD9C0-FE66-1732-A802-B72600E2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1341DF-382F-BA27-892C-01167A2D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7A73F44-D342-77A4-7E1F-135DDAD3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EF6BD59-6E67-CB1A-A5E9-9FB5287AF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3429001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1E422E-1615-CA4A-FE26-3A187065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ja-JP" altLang="en-US"/>
              <a:t>ここでは、</a:t>
            </a:r>
            <a:r>
              <a:rPr kumimoji="1" lang="en-US" altLang="ja-JP" dirty="0"/>
              <a:t>docs</a:t>
            </a:r>
            <a:r>
              <a:rPr kumimoji="1" lang="ja-JP" altLang="en-US"/>
              <a:t>フォルダ以下</a:t>
            </a:r>
            <a:r>
              <a:rPr lang="ja-JP" altLang="en-US"/>
              <a:t>を</a:t>
            </a:r>
            <a:r>
              <a:rPr kumimoji="1" lang="ja-JP" altLang="en-US"/>
              <a:t>ドキュメントとする。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/>
              <a:t>Hugo</a:t>
            </a:r>
            <a:r>
              <a:rPr kumimoji="1" lang="ja-JP" altLang="en-US"/>
              <a:t>のフォルダとして用意する．</a:t>
            </a:r>
          </a:p>
        </p:txBody>
      </p:sp>
    </p:spTree>
    <p:extLst>
      <p:ext uri="{BB962C8B-B14F-4D97-AF65-F5344CB8AC3E}">
        <p14:creationId xmlns:p14="http://schemas.microsoft.com/office/powerpoint/2010/main" val="342892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9009A-3491-E231-DCC4-1DBDCA92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 </a:t>
            </a:r>
            <a:r>
              <a:rPr kumimoji="1" lang="ja-JP" altLang="en-US"/>
              <a:t>テーマを決める．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646B1F-A89D-C1A6-A6D4-E8EF5564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13F53F-2561-BC2E-AC2E-39D5EB1E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13" name="コンテンツ プレースホルダー 9" descr="グラフィカル ユーザー インターフェイス, Web サイト&#10;&#10;自動的に生成された説明">
            <a:extLst>
              <a:ext uri="{FF2B5EF4-FFF2-40B4-BE49-F238E27FC236}">
                <a16:creationId xmlns:a16="http://schemas.microsoft.com/office/drawing/2014/main" id="{A6CF04D4-6C71-BF03-3943-4AAE8113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3331"/>
            <a:ext cx="6096000" cy="342778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FF840A2-2239-5CAC-C4B8-7415E5395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28E2DFE-1934-7BE4-077C-6D160D519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9"/>
            <a:ext cx="6096001" cy="3429001"/>
          </a:xfrm>
          <a:prstGeom prst="rect">
            <a:avLst/>
          </a:prstGeom>
        </p:spPr>
      </p:pic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1BF38FF7-0ECA-2BFB-24B8-979C4A16E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170"/>
            <a:ext cx="5257800" cy="24671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基本的には好きなものに決める．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使われている技術をもとに決めても良い．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 err="1"/>
              <a:t>TailwindCSS</a:t>
            </a:r>
            <a:r>
              <a:rPr lang="ja-JP" altLang="en-US"/>
              <a:t>など．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jQuery</a:t>
            </a:r>
            <a:r>
              <a:rPr lang="ja-JP" altLang="en-US"/>
              <a:t>はいい加減捨てよう．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" altLang="ja-JP" dirty="0">
                <a:hlinkClick r:id="rId6"/>
              </a:rPr>
              <a:t>https://qiita.com/hikaruright/items/e569ad6c050f23f550e0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" altLang="ja-JP" dirty="0">
                <a:hlinkClick r:id="rId7"/>
              </a:rPr>
              <a:t>https://cumak.net/blog/jquery/</a:t>
            </a:r>
            <a:endParaRPr lang="en" altLang="ja-JP" dirty="0"/>
          </a:p>
        </p:txBody>
      </p:sp>
    </p:spTree>
    <p:extLst>
      <p:ext uri="{BB962C8B-B14F-4D97-AF65-F5344CB8AC3E}">
        <p14:creationId xmlns:p14="http://schemas.microsoft.com/office/powerpoint/2010/main" val="365777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58C5A-6C21-A7A2-614E-E3CAA71E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6322" cy="1325563"/>
          </a:xfrm>
        </p:spPr>
        <p:txBody>
          <a:bodyPr/>
          <a:lstStyle/>
          <a:p>
            <a:r>
              <a:rPr kumimoji="1" lang="en-US" altLang="ja-JP" dirty="0"/>
              <a:t>3.</a:t>
            </a:r>
            <a:r>
              <a:rPr kumimoji="1" lang="ja-JP" altLang="en-US"/>
              <a:t>出力先ブランチを用意する．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8BD9C0-FE66-1732-A802-B72600E2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132D83-A12F-06D8-A8A4-28A040BC5CE5}"/>
              </a:ext>
            </a:extLst>
          </p:cNvPr>
          <p:cNvSpPr txBox="1"/>
          <p:nvPr/>
        </p:nvSpPr>
        <p:spPr>
          <a:xfrm>
            <a:off x="838200" y="1685084"/>
            <a:ext cx="10030097" cy="228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git switch --orphan 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-pages # </a:t>
            </a:r>
            <a:r>
              <a:rPr kumimoji="1"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何もない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r>
              <a:rPr kumimoji="1"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ブランチを作成する．</a:t>
            </a:r>
            <a:endParaRPr kumimoji="1" lang="en-US" altLang="ja-JP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touch 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# </a:t>
            </a:r>
            <a:r>
              <a:rPr kumimoji="1"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空の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kumimoji="1"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を作成する．</a:t>
            </a:r>
            <a:endParaRPr kumimoji="1" lang="en-US" altLang="ja-JP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git add 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# </a:t>
            </a:r>
            <a:r>
              <a:rPr kumimoji="1"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.html</a:t>
            </a:r>
            <a:r>
              <a:rPr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をコミットする．</a:t>
            </a:r>
            <a:endParaRPr kumimoji="1" lang="en-US" altLang="ja-JP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git commit -m "initial revision for 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-pages"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git </a:t>
            </a:r>
            <a:r>
              <a:rPr kumimoji="1" lang="en-US" altLang="ja-JP" sz="2000">
                <a:latin typeface="Consolas" panose="020B0609020204030204" pitchFamily="49" charset="0"/>
                <a:cs typeface="Consolas" panose="020B0609020204030204" pitchFamily="49" charset="0"/>
              </a:rPr>
              <a:t>switch main              </a:t>
            </a:r>
            <a:r>
              <a:rPr kumimoji="1"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kumimoji="1" lang="ja-JP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元のブランチに戻る．</a:t>
            </a:r>
            <a:endParaRPr kumimoji="1" lang="en-US" altLang="ja-JP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git 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worktree</a:t>
            </a: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 add docs/public </a:t>
            </a:r>
            <a:r>
              <a:rPr lang="en-US" altLang="ja-JP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gh</a:t>
            </a: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-pages</a:t>
            </a:r>
            <a:endParaRPr kumimoji="1" lang="ja-JP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ECBBF5D-71F0-0FED-701A-EDADDD3A1C09}"/>
              </a:ext>
            </a:extLst>
          </p:cNvPr>
          <p:cNvGrpSpPr/>
          <p:nvPr/>
        </p:nvGrpSpPr>
        <p:grpSpPr>
          <a:xfrm>
            <a:off x="1099457" y="3935350"/>
            <a:ext cx="4478383" cy="1237566"/>
            <a:chOff x="1099457" y="3935350"/>
            <a:chExt cx="4478383" cy="1237566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48EE9424-72E0-5D59-1CA2-F969E6EC7820}"/>
                </a:ext>
              </a:extLst>
            </p:cNvPr>
            <p:cNvSpPr/>
            <p:nvPr/>
          </p:nvSpPr>
          <p:spPr>
            <a:xfrm>
              <a:off x="2808296" y="3935350"/>
              <a:ext cx="1060704" cy="914400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B9BDF70E-BA06-9021-5015-32A2F2746686}"/>
                </a:ext>
              </a:extLst>
            </p:cNvPr>
            <p:cNvSpPr/>
            <p:nvPr/>
          </p:nvSpPr>
          <p:spPr>
            <a:xfrm>
              <a:off x="1099457" y="4258516"/>
              <a:ext cx="4478383" cy="914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F2AAC4F-8BFC-E7A2-6B34-0BB3B405367B}"/>
                </a:ext>
              </a:extLst>
            </p:cNvPr>
            <p:cNvSpPr txBox="1"/>
            <p:nvPr/>
          </p:nvSpPr>
          <p:spPr>
            <a:xfrm>
              <a:off x="1161669" y="4392550"/>
              <a:ext cx="43539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Consolas" panose="020B0609020204030204" pitchFamily="49" charset="0"/>
                  <a:cs typeface="Consolas" panose="020B0609020204030204" pitchFamily="49" charset="0"/>
                </a:rPr>
                <a:t>docs/public </a:t>
              </a:r>
              <a:r>
                <a:rPr kumimoji="1" lang="ja-JP" altLang="en-US"/>
                <a:t>ディレクトリを</a:t>
              </a:r>
              <a:r>
                <a:rPr lang="en-US" altLang="ja-JP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</a:t>
              </a:r>
              <a:r>
                <a:rPr lang="en-US" altLang="ja-JP" dirty="0">
                  <a:latin typeface="Consolas" panose="020B0609020204030204" pitchFamily="49" charset="0"/>
                  <a:cs typeface="Consolas" panose="020B0609020204030204" pitchFamily="49" charset="0"/>
                </a:rPr>
                <a:t>-pages</a:t>
              </a:r>
              <a:r>
                <a:rPr lang="ja-JP" altLang="en-US"/>
                <a:t>ブランチとして扱うようにする．</a:t>
              </a:r>
              <a:endParaRPr kumimoji="1" lang="ja-JP" altLang="en-US"/>
            </a:p>
          </p:txBody>
        </p:sp>
      </p:grp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134D30-48D6-0C25-6E9E-867B72E5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15151F3-8CDD-9FAC-5958-C9DBABEE8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3428999"/>
            <a:ext cx="609600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3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AADA4-6B73-7748-19E5-44BDB9F6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 </a:t>
            </a:r>
            <a:r>
              <a:rPr kumimoji="1" lang="ja-JP" altLang="en-US"/>
              <a:t>テーマの設定を行う．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AF4A6-3670-3029-EA60-A80AAAD8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ED84E6-C0D6-2740-1B19-2DB710AF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10F33D-6419-FDE3-DD78-D7EE2753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3428999"/>
            <a:ext cx="6096001" cy="3429001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57EB5B-3D63-4A92-81F2-FF2DD9DC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630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docs/config</a:t>
            </a:r>
            <a:r>
              <a:rPr kumimoji="1" lang="ja-JP" altLang="en-US"/>
              <a:t>以下の設定ファイルを適切に設定する．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基本的にはテーマのドキュメントを確認しつつ設定する．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3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AADA4-6B73-7748-19E5-44BDB9F6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 </a:t>
            </a:r>
            <a:r>
              <a:rPr lang="ja-JP" altLang="en-US"/>
              <a:t>ドキュメントを書く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AF4A6-3670-3029-EA60-A80AAAD8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ED84E6-C0D6-2740-1B19-2DB710AF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57EB5B-3D63-4A92-81F2-FF2DD9DC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56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kumimoji="1" lang="en-US" altLang="ja-JP" dirty="0"/>
              <a:t> </a:t>
            </a:r>
            <a:r>
              <a:rPr kumimoji="1" lang="ja-JP" altLang="en-US"/>
              <a:t>以下に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ja-JP" altLang="en-US"/>
              <a:t>を元に</a:t>
            </a:r>
            <a:r>
              <a:rPr kumimoji="1" lang="ja-JP" altLang="en-US"/>
              <a:t>書く．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より平易に一般的に書く．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F787A68-1645-4A08-527E-3A5C59897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3F2D-9EC7-AAA4-916F-D8B10834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2DF32-ED01-EAAD-037C-6EFA13B6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EFCF6-B548-6460-FF01-1D45622F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2026-06-12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2BE71D-DE8B-4B22-0247-E4041A53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27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8F7DAAB-1C11-D77A-0B19-C3343D7A2487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A934CCB-C4FD-AB81-A889-39A1D5B9BA8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2EDEA52D-86B0-538B-E2FC-BD8862C2E52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E3D89B4-5EC5-D355-B723-803EF7EFE82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161F351-5199-A7AC-CE11-C84D4A971DC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6A5107D3-0FEA-D2D6-5C24-760B449A505D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10173C9-10A0-5FF7-6254-2CC432AC4D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B9AE4B59-4A56-9661-9346-FC7267B6168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ECC3025-C1F1-EFD4-FF9C-0668D71E9F3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6B7DC040-B271-150B-6A24-2028C606A0A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6BA45C9-68AA-DA6E-5D2E-5CE36EF669CA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723EEA1-3E92-AF4E-A92F-F310813EA4C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BA9CEB57-23B0-6385-CB04-3177B1B115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7FF99B14-889A-1011-F8F4-EC1FFE0274F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68273DFF-8DC8-5034-AACC-7DDB90A2D69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FF37D942-30FB-2C88-1F3E-BFBACE6DA924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CFF1DF8-69CF-5768-5921-EB74B83C800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AB2A8C62-3C9D-B0F3-5E0A-4F830D7B704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4899495C-2906-5558-6601-76BB83FF6C8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AB53A582-0408-FC05-72F8-1BC0647F77D5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B6B5D9-5B28-92C2-6932-DAEBC7EBBC08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A87DBB9C-1292-22B0-CBE7-3C2C506B711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A2028652-ED87-3DC4-39F9-E63C2E0BF8B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4AB6C02-47C6-C0D8-C854-EFDAEDFDE98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C7FFDCFA-5228-2C25-23DA-3FD5130570E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2D497E1-3F52-F24A-162F-2DB2D881BC95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97CDF0D-1A23-EDAA-024C-B924CAF07EA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C039023-8CF4-7353-1D0A-0E704CF082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B1BD11D-C849-A1FD-5B93-D024923D4AE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1F820FD-9911-B1CF-45FE-9B73A28C8E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B964AD0-EE49-039A-298B-BC40BF1C3762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978D76B-C677-AABA-B2F9-3A3DF0F4D7A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BDA4636E-EB4D-007B-70EF-29F37B2C74A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0204FF3-3B17-5E31-D137-95FD18CF0DE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F1F40D0B-468A-D2E2-0768-65B8ABACFC8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85C5743-75C7-1BFD-2D9B-FA4ACA5CD3A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8C3186E-A538-937B-8550-F2FD90FC8A3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19361D24-07DA-EBA7-CF0D-2A119454B16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DB04672-EC83-F47C-C267-F34A40837A3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6D412A2E-B04C-34CD-C4DA-DA140FB55A5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FFF3D64E-E565-7A71-E121-CAA7EA31696F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52552EA-FDE9-1532-2DA9-A6A69AEFFE0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C0547561-7FDD-8F1D-D98D-62EC74E0F11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5B2F28D-9C8B-3631-9470-75FEED6294C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60FFC8B6-EB57-3D9B-AACD-AC47A8E24AD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3616966E-8D12-539B-F509-1D1C5F2670A5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2D40E0B1-177D-2F41-E419-3CAB4229554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B57FD160-A512-773F-4232-32F675E5389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3A5809EF-6005-86B2-F1F7-C843F7D7460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5D63E947-E5C0-98D5-ADED-32B7E544E0F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4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4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4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4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4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4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10B19ED-251C-1BA2-1E99-506F864357BA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13AB1A7D-5E46-F3C4-0E73-E1A6323F5E3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6EE807C3-ECE8-972C-D672-A24FCB4635C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2385214B-5E8C-01D0-2581-73C2E85FA92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3F63C276-92FD-C55C-D76D-B428200203C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23F0E1D2-0FC6-61C8-3079-7BC12F9B54CF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38212CD8-F2B5-E6E5-472E-30540C4BB0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3149CD1E-3B06-017B-3185-8D86BFCFAF3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2E82047E-CB5B-11DA-7510-402ABF9572B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26253C2-AE8C-0499-2B00-8B3768B4162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0B23A69-3D0A-30DE-D63A-CFB9F422BBD6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2AB6D48D-57CE-9B33-EC74-9593FB8234B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FA426E4F-2AF5-F1E0-51E9-7BE7B03CF06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8FAD5CBD-77EA-7BA5-BE48-AB384AC12D6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2AD3DBD6-3FCC-C09A-A55F-ECD9B71DED8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8C48FE-5BC3-19F6-C3A4-109394D6D1F4}"/>
              </a:ext>
            </a:extLst>
          </p:cNvPr>
          <p:cNvSpPr/>
          <p:nvPr/>
        </p:nvSpPr>
        <p:spPr>
          <a:xfrm>
            <a:off x="707282" y="1300479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C32A51A3-AE96-5B7A-7467-E4A2135CEC3E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62FBDF8-6842-66AA-ED02-A976619EAAF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CCEA1C9F-94BA-4D46-AB52-1317364CBCF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2392CD05-FD5D-C26E-ACDC-8760179B53C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50D9C10-83DA-A39D-1712-C7514F9E878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strike="sngStrike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 strike="sngStrike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strike="sngStrike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502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23715</TotalTime>
  <Words>2476</Words>
  <Application>Microsoft Macintosh PowerPoint</Application>
  <PresentationFormat>ワイド画面</PresentationFormat>
  <Paragraphs>399</Paragraphs>
  <Slides>27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3" baseType="lpstr">
      <vt:lpstr>Meiryo</vt:lpstr>
      <vt:lpstr>游ゴシック</vt:lpstr>
      <vt:lpstr>Arial</vt:lpstr>
      <vt:lpstr>Consolas</vt:lpstr>
      <vt:lpstr>Times New Roman</vt:lpstr>
      <vt:lpstr>Office テーマ</vt:lpstr>
      <vt:lpstr>エンピリカル ソフトウェア工学 第9回 ドキュメント (1/2)</vt:lpstr>
      <vt:lpstr>講義スケジュール</vt:lpstr>
      <vt:lpstr>講義スケジュール</vt:lpstr>
      <vt:lpstr>Webサイト</vt:lpstr>
      <vt:lpstr>半永久的に残るWebサイト</vt:lpstr>
      <vt:lpstr>半永久的に残しておくために</vt:lpstr>
      <vt:lpstr>Webサイトの公開場所候補</vt:lpstr>
      <vt:lpstr>GitHub Pages</vt:lpstr>
      <vt:lpstr>Webデザインのトレンド</vt:lpstr>
      <vt:lpstr>ドキュメントサイトの構築</vt:lpstr>
      <vt:lpstr>SSR v.s. SSG</vt:lpstr>
      <vt:lpstr>SSG</vt:lpstr>
      <vt:lpstr>関連ページ</vt:lpstr>
      <vt:lpstr>AIに書いてもらうのも良い</vt:lpstr>
      <vt:lpstr>ドキュメントへの掲載内容</vt:lpstr>
      <vt:lpstr>Hugo 初期化</vt:lpstr>
      <vt:lpstr>Hugo ディレクトリの内容</vt:lpstr>
      <vt:lpstr>Hugo テーマの適用方法</vt:lpstr>
      <vt:lpstr>出力先はどうする？</vt:lpstr>
      <vt:lpstr>なぜ？ 玉田の私見</vt:lpstr>
      <vt:lpstr>HugoでWebサイト構築 具体的な手順</vt:lpstr>
      <vt:lpstr>1.ドキュメントのためのフォルダを用意する．</vt:lpstr>
      <vt:lpstr>2. テーマを決める．</vt:lpstr>
      <vt:lpstr>3.出力先ブランチを用意する．</vt:lpstr>
      <vt:lpstr>4. テーマの設定を行う．</vt:lpstr>
      <vt:lpstr>5. ドキュメントを書く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680</cp:revision>
  <dcterms:created xsi:type="dcterms:W3CDTF">2022-04-24T10:54:34Z</dcterms:created>
  <dcterms:modified xsi:type="dcterms:W3CDTF">2026-06-12T04:13:12Z</dcterms:modified>
</cp:coreProperties>
</file>