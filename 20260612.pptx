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543" r:id="rId3"/>
    <p:sldId id="544" r:id="rId4"/>
    <p:sldId id="327" r:id="rId5"/>
    <p:sldId id="328" r:id="rId6"/>
    <p:sldId id="329" r:id="rId7"/>
    <p:sldId id="330" r:id="rId8"/>
    <p:sldId id="331" r:id="rId9"/>
    <p:sldId id="336" r:id="rId10"/>
    <p:sldId id="275" r:id="rId11"/>
    <p:sldId id="338" r:id="rId12"/>
    <p:sldId id="326" r:id="rId13"/>
    <p:sldId id="277" r:id="rId14"/>
    <p:sldId id="545" r:id="rId15"/>
    <p:sldId id="276" r:id="rId16"/>
    <p:sldId id="369" r:id="rId17"/>
    <p:sldId id="370" r:id="rId18"/>
    <p:sldId id="371" r:id="rId19"/>
    <p:sldId id="334" r:id="rId20"/>
    <p:sldId id="335" r:id="rId21"/>
    <p:sldId id="337" r:id="rId22"/>
    <p:sldId id="373" r:id="rId23"/>
    <p:sldId id="372" r:id="rId24"/>
    <p:sldId id="374" r:id="rId25"/>
    <p:sldId id="375" r:id="rId26"/>
    <p:sldId id="376" r:id="rId27"/>
    <p:sldId id="546" r:id="rId2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8659"/>
    <a:srgbClr val="027D01"/>
    <a:srgbClr val="FFC56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699"/>
    <p:restoredTop sz="90822"/>
  </p:normalViewPr>
  <p:slideViewPr>
    <p:cSldViewPr snapToGrid="0" snapToObjects="1">
      <p:cViewPr varScale="1">
        <p:scale>
          <a:sx n="109" d="100"/>
          <a:sy n="109" d="100"/>
        </p:scale>
        <p:origin x="184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9E0D3F-88AC-AC4C-A850-A113E8478B35}" type="datetimeFigureOut">
              <a:rPr kumimoji="1" lang="ja-JP" altLang="en-US" smtClean="0"/>
              <a:t>2026/6/9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6FEFE4-0067-BE4A-AB74-27D08C1697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88884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103FE-3D04-2660-E2D3-0177F4F72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24271AA-BA4A-8375-62ED-948D378D0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3A5F140-5792-BDFB-04E7-ECD42C22CE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1C15930-96FF-677A-2C2D-7F3E198988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6FEFE4-0067-BE4A-AB74-27D08C169751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42902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500F3-00EA-D494-A79A-44B468BEE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424EC36-044F-6453-E2F7-653C848C96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3CD5A58-6904-B1A6-464E-80239E67C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741E2D6-7760-61CD-8764-B65901475D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6FEFE4-0067-BE4A-AB74-27D08C169751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28805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6FEFE4-0067-BE4A-AB74-27D08C169751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78520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ワードプレス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24AB4F-3C80-9F45-B6F3-16A39F92826A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6376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6FEFE4-0067-BE4A-AB74-27D08C169751}" type="slidenum">
              <a:rPr kumimoji="1" lang="ja-JP" altLang="en-US" smtClean="0"/>
              <a:t>23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41353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278A6-3D69-3F45-625D-49674D3C5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A6F71B5-3C80-3EA2-05C4-D60956ECAA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FEE8E66-2EFC-C66C-853D-BED967492F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57ECAFA-33A9-3DC0-40AF-D8AABF1334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6FEFE4-0067-BE4A-AB74-27D08C169751}" type="slidenum">
              <a:rPr kumimoji="1" lang="ja-JP" altLang="en-US" smtClean="0"/>
              <a:t>27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309346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BAE3F1-6860-34FB-F2AC-E3181A6AF2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6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4CD0B15-C8B7-00F7-DBE9-D3AD533D27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4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4AC3DEB-6E35-D2D0-EABA-F8A19BBDE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8835D15-762E-39B0-0A6F-14EFF50BD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65DFDF9-92D5-0273-6AA5-EE561AF63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4306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8965E4-8E20-9D46-6D12-F877A919C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623E8D2-3A17-78BF-F4C2-CDF62ACF41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8D23703-4802-F8D8-D9BF-C6ABE5C8A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53C5D23-A2A0-1968-4ACC-1B1357A44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72682BA-033D-1B7D-4861-DDD343E91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4067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D29F4E9-7F37-2DF8-78B9-30C3125A5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65BF7F8-9D3C-A422-471A-C8A1E82F8D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5120F65-AA40-72A0-770D-E19A2FA9B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6681911-2B29-A9AD-E565-FF8CD6242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3A1582B-A53B-0238-DBDB-FB5DBFD8A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773621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4232BC-8A6A-9D3A-A1D9-3080F812A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F82D8DC-6AD4-FA7E-3F14-DB7C79ACDA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3DE28B2-EF25-CC14-3531-75FEF0B68A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B3A7B7E-A26D-8BA6-BB1E-8237CE6F2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CB7E107-84C7-8B82-2567-9E3F90103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57C7FA1-4591-F30A-BC2B-286C70E63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5956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054A32-DEA7-69BE-B62E-A62243835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7BEF868-DDA1-C4EB-6743-489DC5FCD7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D539B8F-A2A1-CF4F-742C-F6839C57B8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6513E432-90C9-F616-1A3C-AE747080A9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CAA48B9-2830-0B1B-940E-B2239ADE25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1B4728E-F8C1-F17A-C937-B880D97E8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F3C6BA5-320F-AD96-EF9C-4688CD1C2F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91151E6-2A46-0BFB-C19C-182A2D46D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71560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5FFCE36-69F6-8D82-66E2-2BE7E5650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B3D72AD-5495-9467-9401-F6186DDB3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D62EC51-A3D5-EC3F-7813-ADEA4FCAFC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3AA073C-2BE4-2466-8413-FEE9DE4DE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63648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4254B13-A92B-C641-0C83-88C8E8C09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0A961BE-BDDF-24BF-A624-7B4A792F8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E82A63C-7150-3E3B-E0A7-4FAFA23A7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4179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A8DCBFD-B9B9-C88D-4AF2-DA5E9D146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020645C-911D-D877-789A-4ABCA1607D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035085C-0945-616B-1D39-35150C87E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45E25B3-F458-1F25-BA2A-10D3E7E26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209217E-3F73-CCE8-77EF-A52308AC8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10295A2-6412-27A3-80DB-4DC7AF9FA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9795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AA11E3-5007-3320-F7E6-691E1139D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3AA4DA3-E363-0E1A-C5EE-67CFA080E1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CD13344-E496-4753-C58C-D01D8C7BC8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56EEBB-B395-8892-612D-06BBEE164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1A73243-636B-AD34-97B8-096CAB4BD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21AB26F-070D-AA48-1A17-487ABD430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0743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499E654-7E7E-36B3-ADB0-3093EC9FF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79AB095-4BA5-2299-C02F-2E56585C27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B78716-480A-7430-C0FA-4F0DC0168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6B42CF7-BBCD-5D04-D7AD-CBC09AA58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D8D3898-C8CD-BE96-524B-6C3F92111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71454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81886E9-6CAD-71F6-5345-FA13967037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72359E1-F40F-3D47-6DF2-882BD86EA9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118D548-5283-77D1-F67F-6EC5C16A5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8CD1D05-E6FD-9267-0EA3-57EE28C4F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833F417-24E0-EE42-C260-DDADA437A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3176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2F236BC-AAF6-B861-739B-86FA34313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550FC96-8BC7-5FBA-D355-BCF93438E1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6AD1E11-9D31-C316-E911-911DC842E1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altLang="ja-JP"/>
              <a:t>2026-06-12</a:t>
            </a:r>
            <a:endParaRPr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B552398-2A83-C162-F251-7C27A4C850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endParaRPr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82060AB-9F59-AB6D-F6F6-574D92AC70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fld id="{0B8845E4-5C92-A046-BB66-E5D9CC995B08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52976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6600" kern="1200">
          <a:solidFill>
            <a:schemeClr val="tx1"/>
          </a:solidFill>
          <a:latin typeface="Meiryo" panose="020B0604030504040204" pitchFamily="34" charset="-128"/>
          <a:ea typeface="Meiryo" panose="020B0604030504040204" pitchFamily="34" charset="-128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400" kern="1200">
          <a:solidFill>
            <a:schemeClr val="tx1"/>
          </a:solidFill>
          <a:latin typeface="Meiryo" panose="020B0604030504040204" pitchFamily="34" charset="-128"/>
          <a:ea typeface="Meiryo" panose="020B0604030504040204" pitchFamily="34" charset="-128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Meiryo" panose="020B0604030504040204" pitchFamily="34" charset="-128"/>
          <a:ea typeface="Meiryo" panose="020B0604030504040204" pitchFamily="34" charset="-128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Meiryo" panose="020B0604030504040204" pitchFamily="34" charset="-128"/>
          <a:ea typeface="Meiryo" panose="020B0604030504040204" pitchFamily="34" charset="-128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3200" kern="1200">
          <a:solidFill>
            <a:schemeClr val="tx1"/>
          </a:solidFill>
          <a:latin typeface="Meiryo" panose="020B0604030504040204" pitchFamily="34" charset="-128"/>
          <a:ea typeface="Meiryo" panose="020B0604030504040204" pitchFamily="34" charset="-128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Meiryo" panose="020B0604030504040204" pitchFamily="34" charset="-128"/>
          <a:ea typeface="Meiryo" panose="020B0604030504040204" pitchFamily="34" charset="-128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username.github.io/" TargetMode="External"/><Relationship Id="rId2" Type="http://schemas.openxmlformats.org/officeDocument/2006/relationships/hyperlink" Target="https://username.github.io/projectname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jpeg"/><Relationship Id="rId4" Type="http://schemas.openxmlformats.org/officeDocument/2006/relationships/hyperlink" Target="https://github.com/tamada/tamada.github.io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oogle.com/search?q=web+%E3%83%87%E3%82%B6%E3%82%A4%E3%83%B3+%E3%83%88%E3%83%AC%E3%83%B3%E3%83%89&amp;sca_esv=c48753f2ce9d3764&amp;sca_upv=1&amp;sxsrf=ADLYWILb6sVncSfgnkCWZAH7d2pF6Rp1dg%3A1718070521023&amp;ei=-axnZqaNAdz11e8PjJy2MA&amp;ved=0ahUKEwjm7eq4t9KGAxXcevUHHQyODQYQ4dUDCBA&amp;uact=5&amp;oq=web+%E3%83%87%E3%82%B6%E3%82%A4%E3%83%B3+%E3%83%88%E3%83%AC%E3%83%B3%E3%83%89&amp;gs_lp=Egxnd3Mtd2l6LXNlcnAiHXdlYiDjg4fjgrbjgqTjg7Mg44OI44Os44Oz44OJMgUQABiABDIFEAAYgAQyBBAAGB5IjR1Q4AhYsxRwAngBkAEAmAGEAaAB8waqAQM2LjO4AQPIAQD4AQGYAgmgAqcFwgIKEAAYsAMY1gQYR8ICCBAhGKABGMMEwgIIEAAYBBgHGB7CAgYQABgHGB7CAgcQABiABBgNwgIHEAAYgAQYBMICBhAAGAQYHpgDAIgGAZAGCpIHAzcuMqAHxRU&amp;sclient=gws-wiz-serp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jpeg"/><Relationship Id="rId7" Type="http://schemas.openxmlformats.org/officeDocument/2006/relationships/image" Target="../media/image9.png"/><Relationship Id="rId2" Type="http://schemas.openxmlformats.org/officeDocument/2006/relationships/hyperlink" Target="https://gohugo.io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1.svg"/><Relationship Id="rId5" Type="http://schemas.openxmlformats.org/officeDocument/2006/relationships/image" Target="../media/image7.png"/><Relationship Id="rId10" Type="http://schemas.openxmlformats.org/officeDocument/2006/relationships/hyperlink" Target="https://fand.jp/static-site-generator-trends-2021/" TargetMode="External"/><Relationship Id="rId4" Type="http://schemas.openxmlformats.org/officeDocument/2006/relationships/image" Target="../media/image6.png"/><Relationship Id="rId9" Type="http://schemas.openxmlformats.org/officeDocument/2006/relationships/hyperlink" Target="https://jamstack.org/generators/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://ubiqmedia.cse.kyoto-su.ac.jp/" TargetMode="External"/><Relationship Id="rId13" Type="http://schemas.openxmlformats.org/officeDocument/2006/relationships/hyperlink" Target="http://www.cc.kyoto-su.ac.jp/~hidehiko/index.php" TargetMode="External"/><Relationship Id="rId3" Type="http://schemas.openxmlformats.org/officeDocument/2006/relationships/hyperlink" Target="https://ksubpb.github.io/2025/" TargetMode="External"/><Relationship Id="rId7" Type="http://schemas.openxmlformats.org/officeDocument/2006/relationships/hyperlink" Target="http://www.rudds.jp/" TargetMode="External"/><Relationship Id="rId12" Type="http://schemas.openxmlformats.org/officeDocument/2006/relationships/hyperlink" Target="http://www.cc.kyoto-su.ac.jp/~kawamura/" TargetMode="External"/><Relationship Id="rId2" Type="http://schemas.openxmlformats.org/officeDocument/2006/relationships/hyperlink" Target="https://ksuap.github.io/2024sprin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munekata-lab.github.io/" TargetMode="External"/><Relationship Id="rId11" Type="http://schemas.openxmlformats.org/officeDocument/2006/relationships/hyperlink" Target="http://aokilab.kyoto-su.ac.jp/index-j.html" TargetMode="External"/><Relationship Id="rId5" Type="http://schemas.openxmlformats.org/officeDocument/2006/relationships/hyperlink" Target="http://milab.kyoto-su.ac.jp/" TargetMode="External"/><Relationship Id="rId10" Type="http://schemas.openxmlformats.org/officeDocument/2006/relationships/hyperlink" Target="http://sensors.kyoto-su.ac.jp/" TargetMode="External"/><Relationship Id="rId4" Type="http://schemas.openxmlformats.org/officeDocument/2006/relationships/hyperlink" Target="https://tamadalab.github.io/" TargetMode="External"/><Relationship Id="rId9" Type="http://schemas.openxmlformats.org/officeDocument/2006/relationships/hyperlink" Target="https://kidsserv.kyoto-su.ac.jp/" TargetMode="External"/><Relationship Id="rId14" Type="http://schemas.openxmlformats.org/officeDocument/2006/relationships/hyperlink" Target="https://aklab.kyoto-su.ac.jp/" TargetMode="Externa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jpanther.github.io/congo/docs/installation/#install-manually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themes.gohugo.io/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hyperlink" Target="https://cumak.net/blog/jquery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qiita.com/hikaruright/items/e569ad6c050f23f550e0" TargetMode="External"/><Relationship Id="rId5" Type="http://schemas.openxmlformats.org/officeDocument/2006/relationships/image" Target="../media/image15.emf"/><Relationship Id="rId4" Type="http://schemas.openxmlformats.org/officeDocument/2006/relationships/image" Target="../media/image17.emf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B5784E-BEC4-EB82-3848-F83C83012E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32" y="1122363"/>
            <a:ext cx="12178937" cy="2387600"/>
          </a:xfrm>
        </p:spPr>
        <p:txBody>
          <a:bodyPr/>
          <a:lstStyle/>
          <a:p>
            <a:r>
              <a:rPr lang="ja-JP" altLang="en-US"/>
              <a:t>エンピリカル</a:t>
            </a:r>
            <a:br>
              <a:rPr lang="en-US" altLang="ja-JP" dirty="0"/>
            </a:br>
            <a:r>
              <a:rPr lang="ja-JP" altLang="en-US"/>
              <a:t>ソフトウェア工学</a:t>
            </a:r>
            <a:br>
              <a:rPr lang="en-US" altLang="ja-JP" dirty="0"/>
            </a:br>
            <a:r>
              <a:rPr lang="ja-JP" altLang="en-US"/>
              <a:t>第</a:t>
            </a:r>
            <a:r>
              <a:rPr lang="en-US" altLang="ja-JP" dirty="0"/>
              <a:t>9</a:t>
            </a:r>
            <a:r>
              <a:rPr lang="ja-JP" altLang="en-US"/>
              <a:t>回</a:t>
            </a:r>
            <a:r>
              <a:rPr lang="en-US" altLang="ja-JP" dirty="0"/>
              <a:t> </a:t>
            </a:r>
            <a:r>
              <a:rPr lang="ja-JP" altLang="en-US"/>
              <a:t>ドキュメント</a:t>
            </a:r>
            <a:r>
              <a:rPr lang="en-US" altLang="ja-JP" dirty="0"/>
              <a:t> (1/2)</a:t>
            </a:r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B687755-EB78-813E-2AE5-266F2715E1A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2026-06-19</a:t>
            </a:r>
          </a:p>
          <a:p>
            <a:r>
              <a:rPr lang="ja-JP" altLang="en-US"/>
              <a:t>玉田</a:t>
            </a:r>
            <a:r>
              <a:rPr lang="en-US" altLang="ja-JP" dirty="0"/>
              <a:t> </a:t>
            </a:r>
            <a:r>
              <a:rPr lang="ja-JP" altLang="en-US"/>
              <a:t>春昭</a:t>
            </a:r>
            <a:endParaRPr kumimoji="1" lang="ja-JP" alt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75A0BDC-22A6-7CC7-0358-1C2E0915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5D24184-6358-A3E9-85F2-F35BC4F15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8042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B1183-6512-0658-DC7D-F8E4A7930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A51D8F-FDF9-382E-7936-64DC19F94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講義スケジュール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CB59F76-C9FE-E21A-CF33-A028C2689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0190477-ABC1-A732-486F-13A636F61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2</a:t>
            </a:fld>
            <a:endParaRPr kumimoji="1" lang="ja-JP" altLang="en-US"/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F42A339A-46C2-3EC3-01AD-55697C9B38A0}"/>
              </a:ext>
            </a:extLst>
          </p:cNvPr>
          <p:cNvGrpSpPr/>
          <p:nvPr/>
        </p:nvGrpSpPr>
        <p:grpSpPr>
          <a:xfrm>
            <a:off x="838200" y="1342345"/>
            <a:ext cx="4680000" cy="720000"/>
            <a:chOff x="838200" y="1690688"/>
            <a:chExt cx="4680000" cy="720000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309D41AD-E3E8-669D-BC06-DD15F69A7B85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CF520076-C3F6-E6CE-210A-0D98F1B4FFCD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2026-04-10 (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Fri</a:t>
              </a:r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01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D77194F2-AE43-8638-D2AA-EA64890ACCF5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02CA2F63-F1DC-D507-E4BD-F8404588EE87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全体説明</a:t>
              </a:r>
              <a:endParaRPr kumimoji="1" lang="en-US" altLang="ja-JP" sz="1600" dirty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2ADA5E8F-EA1C-A9F1-171C-C4147D5111EF}"/>
              </a:ext>
            </a:extLst>
          </p:cNvPr>
          <p:cNvGrpSpPr/>
          <p:nvPr/>
        </p:nvGrpSpPr>
        <p:grpSpPr>
          <a:xfrm>
            <a:off x="838200" y="5289585"/>
            <a:ext cx="4680000" cy="720000"/>
            <a:chOff x="838200" y="1690688"/>
            <a:chExt cx="4680000" cy="720000"/>
          </a:xfrm>
        </p:grpSpPr>
        <p:sp>
          <p:nvSpPr>
            <p:cNvPr id="33" name="正方形/長方形 32">
              <a:extLst>
                <a:ext uri="{FF2B5EF4-FFF2-40B4-BE49-F238E27FC236}">
                  <a16:creationId xmlns:a16="http://schemas.microsoft.com/office/drawing/2014/main" id="{CD1158B1-7C9D-FF28-EB60-E43223242176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34" name="角丸四角形 33">
              <a:extLst>
                <a:ext uri="{FF2B5EF4-FFF2-40B4-BE49-F238E27FC236}">
                  <a16:creationId xmlns:a16="http://schemas.microsoft.com/office/drawing/2014/main" id="{05E11F0E-665A-1CCE-201D-B7ACABDA3332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2026-05-22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06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35" name="正方形/長方形 34">
              <a:extLst>
                <a:ext uri="{FF2B5EF4-FFF2-40B4-BE49-F238E27FC236}">
                  <a16:creationId xmlns:a16="http://schemas.microsoft.com/office/drawing/2014/main" id="{781C07F9-0E22-E229-16EE-1CCCC0BCBEBA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36" name="角丸四角形 35">
              <a:extLst>
                <a:ext uri="{FF2B5EF4-FFF2-40B4-BE49-F238E27FC236}">
                  <a16:creationId xmlns:a16="http://schemas.microsoft.com/office/drawing/2014/main" id="{DD198E45-A400-1BBF-89BE-F6EDE6E57120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プログラミング（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/3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42" name="グループ化 41">
            <a:extLst>
              <a:ext uri="{FF2B5EF4-FFF2-40B4-BE49-F238E27FC236}">
                <a16:creationId xmlns:a16="http://schemas.microsoft.com/office/drawing/2014/main" id="{4D2B1A6D-1148-C863-5481-34CB4BB19023}"/>
              </a:ext>
            </a:extLst>
          </p:cNvPr>
          <p:cNvGrpSpPr/>
          <p:nvPr/>
        </p:nvGrpSpPr>
        <p:grpSpPr>
          <a:xfrm>
            <a:off x="6673800" y="1342345"/>
            <a:ext cx="4680000" cy="720000"/>
            <a:chOff x="838200" y="1690688"/>
            <a:chExt cx="4680000" cy="720000"/>
          </a:xfrm>
        </p:grpSpPr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43955E4B-AAA9-ADF3-8EE0-6276796531EA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44" name="角丸四角形 43">
              <a:extLst>
                <a:ext uri="{FF2B5EF4-FFF2-40B4-BE49-F238E27FC236}">
                  <a16:creationId xmlns:a16="http://schemas.microsoft.com/office/drawing/2014/main" id="{311E5817-72E5-6A99-90D3-BA4E54C180D5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2026-06-05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08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45" name="正方形/長方形 44">
              <a:extLst>
                <a:ext uri="{FF2B5EF4-FFF2-40B4-BE49-F238E27FC236}">
                  <a16:creationId xmlns:a16="http://schemas.microsoft.com/office/drawing/2014/main" id="{C624E98C-2448-E467-ABEF-2BD16D99E32F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46" name="角丸四角形 45">
              <a:extLst>
                <a:ext uri="{FF2B5EF4-FFF2-40B4-BE49-F238E27FC236}">
                  <a16:creationId xmlns:a16="http://schemas.microsoft.com/office/drawing/2014/main" id="{B4D19F41-ACB8-0456-C664-A44C844AFF34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自動テスト（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/3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D81BE804-E16B-87D7-504E-67AB8B62C97A}"/>
              </a:ext>
            </a:extLst>
          </p:cNvPr>
          <p:cNvGrpSpPr/>
          <p:nvPr/>
        </p:nvGrpSpPr>
        <p:grpSpPr>
          <a:xfrm>
            <a:off x="6673800" y="6079032"/>
            <a:ext cx="4680000" cy="720000"/>
            <a:chOff x="838200" y="1690688"/>
            <a:chExt cx="4680000" cy="720000"/>
          </a:xfrm>
        </p:grpSpPr>
        <p:sp>
          <p:nvSpPr>
            <p:cNvPr id="88" name="正方形/長方形 87">
              <a:extLst>
                <a:ext uri="{FF2B5EF4-FFF2-40B4-BE49-F238E27FC236}">
                  <a16:creationId xmlns:a16="http://schemas.microsoft.com/office/drawing/2014/main" id="{6B60994E-5176-C20D-8651-CE224A51F50D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9" name="角丸四角形 88">
              <a:extLst>
                <a:ext uri="{FF2B5EF4-FFF2-40B4-BE49-F238E27FC236}">
                  <a16:creationId xmlns:a16="http://schemas.microsoft.com/office/drawing/2014/main" id="{8D2FB71C-B113-1D61-5842-4F626BFE3A43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2026-07-17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14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90" name="正方形/長方形 89">
              <a:extLst>
                <a:ext uri="{FF2B5EF4-FFF2-40B4-BE49-F238E27FC236}">
                  <a16:creationId xmlns:a16="http://schemas.microsoft.com/office/drawing/2014/main" id="{C5EA67EA-3CED-9AB3-9598-6081C148C867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91" name="角丸四角形 90">
              <a:extLst>
                <a:ext uri="{FF2B5EF4-FFF2-40B4-BE49-F238E27FC236}">
                  <a16:creationId xmlns:a16="http://schemas.microsoft.com/office/drawing/2014/main" id="{445C71F6-28F0-7498-2B63-EB47F71C6AD6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成果物</a:t>
              </a:r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の発表会</a:t>
              </a:r>
              <a:endParaRPr kumimoji="1" lang="ja-JP" altLang="en-US" sz="160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9B5FB344-382A-1A2A-B1F6-EF0C09E8EF94}"/>
              </a:ext>
            </a:extLst>
          </p:cNvPr>
          <p:cNvGrpSpPr/>
          <p:nvPr/>
        </p:nvGrpSpPr>
        <p:grpSpPr>
          <a:xfrm>
            <a:off x="838200" y="2131793"/>
            <a:ext cx="4680000" cy="720000"/>
            <a:chOff x="838200" y="1690688"/>
            <a:chExt cx="4680000" cy="720000"/>
          </a:xfrm>
        </p:grpSpPr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8D24976C-9EE6-979A-EFB4-14E4F2A62643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FAF6134F-9BA9-AD22-EDEA-17F08C78C213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2026-04-17 (Fru)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02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7FE1D876-6096-1371-7C1E-DBEC35FCEB41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96FAAE3A-8F25-A7C2-72CC-6A9E4743A86D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Usage/README</a:t>
              </a:r>
              <a:endParaRPr kumimoji="1" lang="ja-JP" altLang="en-US" sz="160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79D8C4C7-4421-16F2-D935-91A6476A130D}"/>
              </a:ext>
            </a:extLst>
          </p:cNvPr>
          <p:cNvGrpSpPr/>
          <p:nvPr/>
        </p:nvGrpSpPr>
        <p:grpSpPr>
          <a:xfrm>
            <a:off x="838200" y="2921241"/>
            <a:ext cx="4680000" cy="720000"/>
            <a:chOff x="838200" y="1690688"/>
            <a:chExt cx="4680000" cy="720000"/>
          </a:xfrm>
        </p:grpSpPr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46150746-669C-2E95-CE3D-CB8B337F7B31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92BEF3FC-EC0C-60CE-5FC0-4D153E072915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2026-04-24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03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029E2A65-8350-6BC5-FA09-5C2FF480D784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21" name="角丸四角形 20">
              <a:extLst>
                <a:ext uri="{FF2B5EF4-FFF2-40B4-BE49-F238E27FC236}">
                  <a16:creationId xmlns:a16="http://schemas.microsoft.com/office/drawing/2014/main" id="{FD409111-474C-9CCC-2522-3C3F1DA513B7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CI/CD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（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1/2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3CCC46EF-A9E8-557D-F0F2-CC3F8197BA35}"/>
              </a:ext>
            </a:extLst>
          </p:cNvPr>
          <p:cNvGrpSpPr/>
          <p:nvPr/>
        </p:nvGrpSpPr>
        <p:grpSpPr>
          <a:xfrm>
            <a:off x="838200" y="3710689"/>
            <a:ext cx="4680000" cy="720000"/>
            <a:chOff x="838200" y="1690688"/>
            <a:chExt cx="4680000" cy="720000"/>
          </a:xfrm>
        </p:grpSpPr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4DE9BF90-249D-526A-39EA-E19A2B0C6CBC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24" name="角丸四角形 23">
              <a:extLst>
                <a:ext uri="{FF2B5EF4-FFF2-40B4-BE49-F238E27FC236}">
                  <a16:creationId xmlns:a16="http://schemas.microsoft.com/office/drawing/2014/main" id="{D3EFFB42-D554-43A7-11D9-39C5AD4BA479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2026-05-01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04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3C53E9F6-4BAF-1884-4C1D-EF496B8CFF40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26" name="角丸四角形 25">
              <a:extLst>
                <a:ext uri="{FF2B5EF4-FFF2-40B4-BE49-F238E27FC236}">
                  <a16:creationId xmlns:a16="http://schemas.microsoft.com/office/drawing/2014/main" id="{41F08E94-A580-E68C-A3C9-A3CB990036D4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CI/CD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/2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55A44585-9B19-2EFA-3154-8C14BBFDE224}"/>
              </a:ext>
            </a:extLst>
          </p:cNvPr>
          <p:cNvGrpSpPr/>
          <p:nvPr/>
        </p:nvGrpSpPr>
        <p:grpSpPr>
          <a:xfrm>
            <a:off x="838200" y="4500137"/>
            <a:ext cx="4680000" cy="720000"/>
            <a:chOff x="838200" y="1690688"/>
            <a:chExt cx="4680000" cy="720000"/>
          </a:xfrm>
        </p:grpSpPr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E4B23564-1458-946C-945B-DA77FB32F05F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29" name="角丸四角形 28">
              <a:extLst>
                <a:ext uri="{FF2B5EF4-FFF2-40B4-BE49-F238E27FC236}">
                  <a16:creationId xmlns:a16="http://schemas.microsoft.com/office/drawing/2014/main" id="{9BFA32EC-4154-A944-E1BD-F8EDF6FB6047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2026-05-15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05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2B40C7EA-A9F0-F1FE-BFA4-890F0CE79EB6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31" name="角丸四角形 30">
              <a:extLst>
                <a:ext uri="{FF2B5EF4-FFF2-40B4-BE49-F238E27FC236}">
                  <a16:creationId xmlns:a16="http://schemas.microsoft.com/office/drawing/2014/main" id="{C3204CE9-635B-B6A4-F4F5-59AA3FA471B0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プログラミング（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1/3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37" name="グループ化 36">
            <a:extLst>
              <a:ext uri="{FF2B5EF4-FFF2-40B4-BE49-F238E27FC236}">
                <a16:creationId xmlns:a16="http://schemas.microsoft.com/office/drawing/2014/main" id="{DCAD5903-56CC-C164-4686-71AC1F98563D}"/>
              </a:ext>
            </a:extLst>
          </p:cNvPr>
          <p:cNvGrpSpPr/>
          <p:nvPr/>
        </p:nvGrpSpPr>
        <p:grpSpPr>
          <a:xfrm>
            <a:off x="838200" y="6079032"/>
            <a:ext cx="4680000" cy="720000"/>
            <a:chOff x="838200" y="1690688"/>
            <a:chExt cx="4680000" cy="720000"/>
          </a:xfrm>
        </p:grpSpPr>
        <p:sp>
          <p:nvSpPr>
            <p:cNvPr id="38" name="正方形/長方形 37">
              <a:extLst>
                <a:ext uri="{FF2B5EF4-FFF2-40B4-BE49-F238E27FC236}">
                  <a16:creationId xmlns:a16="http://schemas.microsoft.com/office/drawing/2014/main" id="{C5CBD32D-49F4-679F-0765-0B7BB13B8455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39" name="角丸四角形 38">
              <a:extLst>
                <a:ext uri="{FF2B5EF4-FFF2-40B4-BE49-F238E27FC236}">
                  <a16:creationId xmlns:a16="http://schemas.microsoft.com/office/drawing/2014/main" id="{7ECBBF9C-A3A7-9541-CC9D-E06CD00F15F4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2026-05-29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07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D7E5A798-EC59-B471-6D50-8F3528F187A7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41" name="角丸四角形 40">
              <a:extLst>
                <a:ext uri="{FF2B5EF4-FFF2-40B4-BE49-F238E27FC236}">
                  <a16:creationId xmlns:a16="http://schemas.microsoft.com/office/drawing/2014/main" id="{535908C0-42E8-7BC7-028D-AD00E63F5F71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プログラミング（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3/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3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  <a:endParaRPr kumimoji="1" lang="en-US" altLang="ja-JP" sz="1600" dirty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自動テスト（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1/3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68AB438-07B4-287E-EBB5-3CA610848DBC}"/>
              </a:ext>
            </a:extLst>
          </p:cNvPr>
          <p:cNvSpPr/>
          <p:nvPr/>
        </p:nvSpPr>
        <p:spPr>
          <a:xfrm>
            <a:off x="707282" y="1300479"/>
            <a:ext cx="10777435" cy="5557521"/>
          </a:xfrm>
          <a:prstGeom prst="rect">
            <a:avLst/>
          </a:prstGeom>
          <a:solidFill>
            <a:srgbClr val="FFFFFF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67" name="グループ化 66">
            <a:extLst>
              <a:ext uri="{FF2B5EF4-FFF2-40B4-BE49-F238E27FC236}">
                <a16:creationId xmlns:a16="http://schemas.microsoft.com/office/drawing/2014/main" id="{9918CDC8-892E-EAEB-77B9-05C902C2B959}"/>
              </a:ext>
            </a:extLst>
          </p:cNvPr>
          <p:cNvGrpSpPr/>
          <p:nvPr/>
        </p:nvGrpSpPr>
        <p:grpSpPr>
          <a:xfrm>
            <a:off x="6673800" y="2921241"/>
            <a:ext cx="4680000" cy="720000"/>
            <a:chOff x="838200" y="1690688"/>
            <a:chExt cx="4680000" cy="720000"/>
          </a:xfrm>
        </p:grpSpPr>
        <p:sp>
          <p:nvSpPr>
            <p:cNvPr id="68" name="正方形/長方形 67">
              <a:extLst>
                <a:ext uri="{FF2B5EF4-FFF2-40B4-BE49-F238E27FC236}">
                  <a16:creationId xmlns:a16="http://schemas.microsoft.com/office/drawing/2014/main" id="{7508CD17-1CC5-FED3-2BD2-99379E48D748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69" name="角丸四角形 68">
              <a:extLst>
                <a:ext uri="{FF2B5EF4-FFF2-40B4-BE49-F238E27FC236}">
                  <a16:creationId xmlns:a16="http://schemas.microsoft.com/office/drawing/2014/main" id="{A73541E5-F13B-38E1-4202-6FE847E6ECCF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2026-06-19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10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0" name="正方形/長方形 69">
              <a:extLst>
                <a:ext uri="{FF2B5EF4-FFF2-40B4-BE49-F238E27FC236}">
                  <a16:creationId xmlns:a16="http://schemas.microsoft.com/office/drawing/2014/main" id="{CEAE641A-DEE4-AFDD-A4C4-9706D5953965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1" name="角丸四角形 70">
              <a:extLst>
                <a:ext uri="{FF2B5EF4-FFF2-40B4-BE49-F238E27FC236}">
                  <a16:creationId xmlns:a16="http://schemas.microsoft.com/office/drawing/2014/main" id="{DAEA4FB4-67E3-8D51-018D-60DE20487ADB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ja-JP" altLang="en-US" sz="1600" strike="sngStrike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ドキュメント（</a:t>
              </a:r>
              <a:r>
                <a:rPr lang="en-US" altLang="ja-JP" sz="1600" strike="sngStrike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1/2</a:t>
              </a:r>
              <a:r>
                <a:rPr lang="ja-JP" altLang="en-US" sz="1600" strike="sngStrike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ドキュメント（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/2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62" name="グループ化 61">
            <a:extLst>
              <a:ext uri="{FF2B5EF4-FFF2-40B4-BE49-F238E27FC236}">
                <a16:creationId xmlns:a16="http://schemas.microsoft.com/office/drawing/2014/main" id="{01153808-5448-59E9-2529-11A7C522D29F}"/>
              </a:ext>
            </a:extLst>
          </p:cNvPr>
          <p:cNvGrpSpPr/>
          <p:nvPr/>
        </p:nvGrpSpPr>
        <p:grpSpPr>
          <a:xfrm>
            <a:off x="6673800" y="2131793"/>
            <a:ext cx="4680000" cy="720000"/>
            <a:chOff x="838200" y="1690688"/>
            <a:chExt cx="4680000" cy="720000"/>
          </a:xfrm>
        </p:grpSpPr>
        <p:sp>
          <p:nvSpPr>
            <p:cNvPr id="63" name="正方形/長方形 62">
              <a:extLst>
                <a:ext uri="{FF2B5EF4-FFF2-40B4-BE49-F238E27FC236}">
                  <a16:creationId xmlns:a16="http://schemas.microsoft.com/office/drawing/2014/main" id="{6BB426D7-690D-6B2A-46E9-6B37DB9AEF0E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64" name="角丸四角形 63">
              <a:extLst>
                <a:ext uri="{FF2B5EF4-FFF2-40B4-BE49-F238E27FC236}">
                  <a16:creationId xmlns:a16="http://schemas.microsoft.com/office/drawing/2014/main" id="{B835DFD1-002E-5377-CA57-78957DF011D7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2026-06-12 (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Fri</a:t>
              </a:r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09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65" name="正方形/長方形 64">
              <a:extLst>
                <a:ext uri="{FF2B5EF4-FFF2-40B4-BE49-F238E27FC236}">
                  <a16:creationId xmlns:a16="http://schemas.microsoft.com/office/drawing/2014/main" id="{C66AC1F3-F8ED-DD5A-8B5C-CD5A2286D6C7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66" name="角丸四角形 65">
              <a:extLst>
                <a:ext uri="{FF2B5EF4-FFF2-40B4-BE49-F238E27FC236}">
                  <a16:creationId xmlns:a16="http://schemas.microsoft.com/office/drawing/2014/main" id="{3BF222F9-09A8-72CE-449B-EB1BF1CAADBE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 strike="sngStrike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自動テスト（</a:t>
              </a:r>
              <a:r>
                <a:rPr kumimoji="1" lang="en-US" altLang="ja-JP" sz="1600" strike="sngStrike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3/3</a:t>
              </a:r>
              <a:r>
                <a:rPr kumimoji="1" lang="ja-JP" altLang="en-US" sz="1600" strike="sngStrike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  <a:endParaRPr kumimoji="1" lang="en-US" altLang="ja-JP" sz="1600" strike="sngStrike" dirty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  <a:p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ドキュメント（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1/2</a:t>
              </a:r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  <a:endParaRPr kumimoji="1" lang="ja-JP" altLang="en-US" sz="160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grpSp>
        <p:nvGrpSpPr>
          <p:cNvPr id="72" name="グループ化 71">
            <a:extLst>
              <a:ext uri="{FF2B5EF4-FFF2-40B4-BE49-F238E27FC236}">
                <a16:creationId xmlns:a16="http://schemas.microsoft.com/office/drawing/2014/main" id="{D5EF1609-65E4-B8E1-4F6B-3B7615127A9A}"/>
              </a:ext>
            </a:extLst>
          </p:cNvPr>
          <p:cNvGrpSpPr/>
          <p:nvPr/>
        </p:nvGrpSpPr>
        <p:grpSpPr>
          <a:xfrm>
            <a:off x="6673800" y="3710689"/>
            <a:ext cx="4680000" cy="720000"/>
            <a:chOff x="838200" y="1690688"/>
            <a:chExt cx="4680000" cy="720000"/>
          </a:xfrm>
        </p:grpSpPr>
        <p:sp>
          <p:nvSpPr>
            <p:cNvPr id="73" name="正方形/長方形 72">
              <a:extLst>
                <a:ext uri="{FF2B5EF4-FFF2-40B4-BE49-F238E27FC236}">
                  <a16:creationId xmlns:a16="http://schemas.microsoft.com/office/drawing/2014/main" id="{D8EA1489-5979-6521-A328-A60F1CCC5AC0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4" name="角丸四角形 73">
              <a:extLst>
                <a:ext uri="{FF2B5EF4-FFF2-40B4-BE49-F238E27FC236}">
                  <a16:creationId xmlns:a16="http://schemas.microsoft.com/office/drawing/2014/main" id="{495BC841-2AFB-8CAF-1C61-2F10768F6185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2026-06-26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11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5" name="正方形/長方形 74">
              <a:extLst>
                <a:ext uri="{FF2B5EF4-FFF2-40B4-BE49-F238E27FC236}">
                  <a16:creationId xmlns:a16="http://schemas.microsoft.com/office/drawing/2014/main" id="{867454CA-7A0C-4890-069B-DD1A6628B956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6" name="角丸四角形 75">
              <a:extLst>
                <a:ext uri="{FF2B5EF4-FFF2-40B4-BE49-F238E27FC236}">
                  <a16:creationId xmlns:a16="http://schemas.microsoft.com/office/drawing/2014/main" id="{00A4FBD7-CBFB-150F-D541-E303F666A738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 strike="sngStrike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ドキュメント（</a:t>
              </a:r>
              <a:r>
                <a:rPr lang="en-US" altLang="ja-JP" sz="1600" strike="sngStrike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</a:t>
              </a:r>
              <a:r>
                <a:rPr kumimoji="1" lang="en-US" altLang="ja-JP" sz="1600" strike="sngStrike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/2</a:t>
              </a:r>
              <a:r>
                <a:rPr kumimoji="1" lang="ja-JP" altLang="en-US" sz="1600" strike="sngStrike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  <a:endParaRPr kumimoji="1" lang="en-US" altLang="ja-JP" sz="1600" strike="sngStrike" dirty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  <a:p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Docker</a:t>
              </a:r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1/1</a:t>
              </a:r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77" name="グループ化 76">
            <a:extLst>
              <a:ext uri="{FF2B5EF4-FFF2-40B4-BE49-F238E27FC236}">
                <a16:creationId xmlns:a16="http://schemas.microsoft.com/office/drawing/2014/main" id="{CB9498AE-3F20-F11E-3F63-799D23E0B5CE}"/>
              </a:ext>
            </a:extLst>
          </p:cNvPr>
          <p:cNvGrpSpPr/>
          <p:nvPr/>
        </p:nvGrpSpPr>
        <p:grpSpPr>
          <a:xfrm>
            <a:off x="6673800" y="4500137"/>
            <a:ext cx="4680000" cy="720000"/>
            <a:chOff x="838200" y="1690688"/>
            <a:chExt cx="4680000" cy="720000"/>
          </a:xfrm>
        </p:grpSpPr>
        <p:sp>
          <p:nvSpPr>
            <p:cNvPr id="78" name="正方形/長方形 77">
              <a:extLst>
                <a:ext uri="{FF2B5EF4-FFF2-40B4-BE49-F238E27FC236}">
                  <a16:creationId xmlns:a16="http://schemas.microsoft.com/office/drawing/2014/main" id="{04EB4FF7-E963-053F-AF5A-2348C728C2E5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9" name="角丸四角形 78">
              <a:extLst>
                <a:ext uri="{FF2B5EF4-FFF2-40B4-BE49-F238E27FC236}">
                  <a16:creationId xmlns:a16="http://schemas.microsoft.com/office/drawing/2014/main" id="{6CC565EF-6E65-5E44-6D71-9B41DB0CFCAA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2026-07-03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12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2823BFF7-D473-CD9C-E3F8-9D749FD85539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1" name="角丸四角形 80">
              <a:extLst>
                <a:ext uri="{FF2B5EF4-FFF2-40B4-BE49-F238E27FC236}">
                  <a16:creationId xmlns:a16="http://schemas.microsoft.com/office/drawing/2014/main" id="{91C50EFE-0288-9881-2176-38F44844EE41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400" strike="sngStrike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Docker</a:t>
              </a:r>
              <a:r>
                <a:rPr kumimoji="1" lang="ja-JP" altLang="en-US" sz="1400" strike="sngStrike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（</a:t>
              </a:r>
              <a:r>
                <a:rPr kumimoji="1" lang="en-US" altLang="ja-JP" sz="1400" strike="sngStrike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1/1</a:t>
              </a:r>
              <a:r>
                <a:rPr kumimoji="1" lang="ja-JP" altLang="en-US" sz="1400" strike="sngStrike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  <a:endParaRPr kumimoji="1" lang="en-US" altLang="ja-JP" sz="1400" strike="sngStrike" dirty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  <a:p>
              <a:r>
                <a:rPr lang="ja-JP" altLang="en-US" sz="14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補完（</a:t>
              </a:r>
              <a:r>
                <a:rPr lang="en-US" altLang="ja-JP" sz="14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1/1</a:t>
              </a:r>
              <a:r>
                <a:rPr lang="ja-JP" altLang="en-US" sz="14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  <a:endParaRPr lang="en-US" altLang="ja-JP" sz="1400" dirty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  <a:p>
              <a:r>
                <a:rPr lang="en-US" altLang="ja-JP" sz="14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Homebrew</a:t>
              </a:r>
              <a:r>
                <a:rPr lang="ja-JP" altLang="en-US" sz="14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（</a:t>
              </a:r>
              <a:r>
                <a:rPr lang="en-US" altLang="ja-JP" sz="14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1/1</a:t>
              </a:r>
              <a:r>
                <a:rPr lang="ja-JP" altLang="en-US" sz="14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82" name="グループ化 81">
            <a:extLst>
              <a:ext uri="{FF2B5EF4-FFF2-40B4-BE49-F238E27FC236}">
                <a16:creationId xmlns:a16="http://schemas.microsoft.com/office/drawing/2014/main" id="{0AD65692-51D4-88BA-F7E8-1E4A78C40961}"/>
              </a:ext>
            </a:extLst>
          </p:cNvPr>
          <p:cNvGrpSpPr/>
          <p:nvPr/>
        </p:nvGrpSpPr>
        <p:grpSpPr>
          <a:xfrm>
            <a:off x="6673800" y="5289585"/>
            <a:ext cx="4680000" cy="720000"/>
            <a:chOff x="838200" y="1690688"/>
            <a:chExt cx="4680000" cy="720000"/>
          </a:xfrm>
        </p:grpSpPr>
        <p:sp>
          <p:nvSpPr>
            <p:cNvPr id="83" name="正方形/長方形 82">
              <a:extLst>
                <a:ext uri="{FF2B5EF4-FFF2-40B4-BE49-F238E27FC236}">
                  <a16:creationId xmlns:a16="http://schemas.microsoft.com/office/drawing/2014/main" id="{01B3E597-394B-D74D-9078-D44695068163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4" name="角丸四角形 83">
              <a:extLst>
                <a:ext uri="{FF2B5EF4-FFF2-40B4-BE49-F238E27FC236}">
                  <a16:creationId xmlns:a16="http://schemas.microsoft.com/office/drawing/2014/main" id="{A215599A-28ED-DB07-B5FA-3DD206391BA3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2026-07-10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13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5" name="正方形/長方形 84">
              <a:extLst>
                <a:ext uri="{FF2B5EF4-FFF2-40B4-BE49-F238E27FC236}">
                  <a16:creationId xmlns:a16="http://schemas.microsoft.com/office/drawing/2014/main" id="{C97D0E3A-93D3-67E6-EFEB-4DFF19BEC836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6" name="角丸四角形 85">
              <a:extLst>
                <a:ext uri="{FF2B5EF4-FFF2-40B4-BE49-F238E27FC236}">
                  <a16:creationId xmlns:a16="http://schemas.microsoft.com/office/drawing/2014/main" id="{5A296795-372C-7CCB-58B9-A86CC0A67BBE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予備日</a:t>
              </a:r>
              <a:endParaRPr kumimoji="1" lang="ja-JP" altLang="en-US" sz="160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567691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8DA9B-CC20-457F-E6D6-4C39360C7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79B5BF-2440-C2FB-E81C-0531EAB2B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講義スケジュール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9E0D404-5709-0178-C7A4-935769AB6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FDD3B6B-04FA-261C-B454-52D822E3E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3</a:t>
            </a:fld>
            <a:endParaRPr kumimoji="1" lang="ja-JP" altLang="en-US"/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F87DFE74-3071-5D68-E4E6-454D4B9DF610}"/>
              </a:ext>
            </a:extLst>
          </p:cNvPr>
          <p:cNvGrpSpPr/>
          <p:nvPr/>
        </p:nvGrpSpPr>
        <p:grpSpPr>
          <a:xfrm>
            <a:off x="838200" y="1342345"/>
            <a:ext cx="4680000" cy="720000"/>
            <a:chOff x="838200" y="1690688"/>
            <a:chExt cx="4680000" cy="720000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6AB83103-67EF-F9FA-C121-AE0DD9ED42C9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9071B948-DB4F-28A9-DE91-7E2DA7104C7E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2026-04-10 (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Fri</a:t>
              </a:r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01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A4B33120-1438-214B-7C8B-F7A233C01C78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97F5F4FB-BBBA-1AE3-C681-98D4F0A007DA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全体説明</a:t>
              </a:r>
              <a:endParaRPr kumimoji="1" lang="en-US" altLang="ja-JP" sz="1600" dirty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7F405BD5-2A66-9AA6-4072-70D27759C305}"/>
              </a:ext>
            </a:extLst>
          </p:cNvPr>
          <p:cNvGrpSpPr/>
          <p:nvPr/>
        </p:nvGrpSpPr>
        <p:grpSpPr>
          <a:xfrm>
            <a:off x="838200" y="5289585"/>
            <a:ext cx="4680000" cy="720000"/>
            <a:chOff x="838200" y="1690688"/>
            <a:chExt cx="4680000" cy="720000"/>
          </a:xfrm>
        </p:grpSpPr>
        <p:sp>
          <p:nvSpPr>
            <p:cNvPr id="33" name="正方形/長方形 32">
              <a:extLst>
                <a:ext uri="{FF2B5EF4-FFF2-40B4-BE49-F238E27FC236}">
                  <a16:creationId xmlns:a16="http://schemas.microsoft.com/office/drawing/2014/main" id="{03ACA76A-CC84-F632-3928-9B2D2B76EB03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34" name="角丸四角形 33">
              <a:extLst>
                <a:ext uri="{FF2B5EF4-FFF2-40B4-BE49-F238E27FC236}">
                  <a16:creationId xmlns:a16="http://schemas.microsoft.com/office/drawing/2014/main" id="{D978A023-5D01-F643-8795-06D8F279802B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2026-05-22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06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35" name="正方形/長方形 34">
              <a:extLst>
                <a:ext uri="{FF2B5EF4-FFF2-40B4-BE49-F238E27FC236}">
                  <a16:creationId xmlns:a16="http://schemas.microsoft.com/office/drawing/2014/main" id="{CA2C1AB8-DB12-7461-B913-39B286FFCCDA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36" name="角丸四角形 35">
              <a:extLst>
                <a:ext uri="{FF2B5EF4-FFF2-40B4-BE49-F238E27FC236}">
                  <a16:creationId xmlns:a16="http://schemas.microsoft.com/office/drawing/2014/main" id="{BB77F5DE-274E-EE78-6BEF-213BC971BCF0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プログラミング（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/3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42" name="グループ化 41">
            <a:extLst>
              <a:ext uri="{FF2B5EF4-FFF2-40B4-BE49-F238E27FC236}">
                <a16:creationId xmlns:a16="http://schemas.microsoft.com/office/drawing/2014/main" id="{152EBDF0-9D3D-1266-9B16-9A276C108F39}"/>
              </a:ext>
            </a:extLst>
          </p:cNvPr>
          <p:cNvGrpSpPr/>
          <p:nvPr/>
        </p:nvGrpSpPr>
        <p:grpSpPr>
          <a:xfrm>
            <a:off x="6673800" y="1342345"/>
            <a:ext cx="4680000" cy="720000"/>
            <a:chOff x="838200" y="1690688"/>
            <a:chExt cx="4680000" cy="720000"/>
          </a:xfrm>
        </p:grpSpPr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2F89150A-0AA4-10F1-7326-3F076D1C8E69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44" name="角丸四角形 43">
              <a:extLst>
                <a:ext uri="{FF2B5EF4-FFF2-40B4-BE49-F238E27FC236}">
                  <a16:creationId xmlns:a16="http://schemas.microsoft.com/office/drawing/2014/main" id="{AFFA5C37-0DC1-E349-3C5B-421DE01AF08C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2026-06-05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08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45" name="正方形/長方形 44">
              <a:extLst>
                <a:ext uri="{FF2B5EF4-FFF2-40B4-BE49-F238E27FC236}">
                  <a16:creationId xmlns:a16="http://schemas.microsoft.com/office/drawing/2014/main" id="{1EFB550A-1181-1BBD-0EE2-F2942C1A0224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46" name="角丸四角形 45">
              <a:extLst>
                <a:ext uri="{FF2B5EF4-FFF2-40B4-BE49-F238E27FC236}">
                  <a16:creationId xmlns:a16="http://schemas.microsoft.com/office/drawing/2014/main" id="{663402B8-1290-9C21-15B1-FD043C1A9D8A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自動テスト（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/3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78E7D302-2C2C-728D-82B0-D9B24FA33A1F}"/>
              </a:ext>
            </a:extLst>
          </p:cNvPr>
          <p:cNvGrpSpPr/>
          <p:nvPr/>
        </p:nvGrpSpPr>
        <p:grpSpPr>
          <a:xfrm>
            <a:off x="6673800" y="6079032"/>
            <a:ext cx="4680000" cy="720000"/>
            <a:chOff x="838200" y="1690688"/>
            <a:chExt cx="4680000" cy="720000"/>
          </a:xfrm>
        </p:grpSpPr>
        <p:sp>
          <p:nvSpPr>
            <p:cNvPr id="88" name="正方形/長方形 87">
              <a:extLst>
                <a:ext uri="{FF2B5EF4-FFF2-40B4-BE49-F238E27FC236}">
                  <a16:creationId xmlns:a16="http://schemas.microsoft.com/office/drawing/2014/main" id="{4143FC27-7DE0-D345-8E9B-C876EFB19C74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9" name="角丸四角形 88">
              <a:extLst>
                <a:ext uri="{FF2B5EF4-FFF2-40B4-BE49-F238E27FC236}">
                  <a16:creationId xmlns:a16="http://schemas.microsoft.com/office/drawing/2014/main" id="{ADC4EF01-0B14-FE1B-421A-448B24AE103A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2026-07-17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14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90" name="正方形/長方形 89">
              <a:extLst>
                <a:ext uri="{FF2B5EF4-FFF2-40B4-BE49-F238E27FC236}">
                  <a16:creationId xmlns:a16="http://schemas.microsoft.com/office/drawing/2014/main" id="{1284209E-7985-AB32-7524-3985B41956D4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91" name="角丸四角形 90">
              <a:extLst>
                <a:ext uri="{FF2B5EF4-FFF2-40B4-BE49-F238E27FC236}">
                  <a16:creationId xmlns:a16="http://schemas.microsoft.com/office/drawing/2014/main" id="{701A98BA-BE05-4C20-0B43-BD2E5CDCF68C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成果物</a:t>
              </a:r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の発表会</a:t>
              </a:r>
              <a:endParaRPr kumimoji="1" lang="ja-JP" altLang="en-US" sz="160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DFA71DC3-C140-6AB1-95DC-FED262B1EB93}"/>
              </a:ext>
            </a:extLst>
          </p:cNvPr>
          <p:cNvGrpSpPr/>
          <p:nvPr/>
        </p:nvGrpSpPr>
        <p:grpSpPr>
          <a:xfrm>
            <a:off x="838200" y="2131793"/>
            <a:ext cx="4680000" cy="720000"/>
            <a:chOff x="838200" y="1690688"/>
            <a:chExt cx="4680000" cy="720000"/>
          </a:xfrm>
        </p:grpSpPr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6C6765D3-69AD-E2FE-7299-AF2022597024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C9DD69BA-FC1B-5714-A8C3-4619BF14DF09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2026-04-17 (Fru)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02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C46B9541-F906-8704-46D1-39914ECB34F0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57A58F15-44BE-C76D-E4F3-6DFB815A1930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Usage/README</a:t>
              </a:r>
              <a:endParaRPr kumimoji="1" lang="ja-JP" altLang="en-US" sz="160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BB81CA9B-B666-EB09-7CB3-C351E66A82F0}"/>
              </a:ext>
            </a:extLst>
          </p:cNvPr>
          <p:cNvGrpSpPr/>
          <p:nvPr/>
        </p:nvGrpSpPr>
        <p:grpSpPr>
          <a:xfrm>
            <a:off x="838200" y="2921241"/>
            <a:ext cx="4680000" cy="720000"/>
            <a:chOff x="838200" y="1690688"/>
            <a:chExt cx="4680000" cy="720000"/>
          </a:xfrm>
        </p:grpSpPr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44077411-D3A7-9CAD-31B3-DD72F7B0A4E0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71EE697B-DB5A-C31D-039D-51240143E25E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2026-04-24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03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B8137F03-DD73-79E5-1697-BFE3AE0089B8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21" name="角丸四角形 20">
              <a:extLst>
                <a:ext uri="{FF2B5EF4-FFF2-40B4-BE49-F238E27FC236}">
                  <a16:creationId xmlns:a16="http://schemas.microsoft.com/office/drawing/2014/main" id="{A93957FA-921E-501E-0F3F-F033365ACDAA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CI/CD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（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1/2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C470FDE8-B304-B3F3-76CD-8C2A0A3D6DDA}"/>
              </a:ext>
            </a:extLst>
          </p:cNvPr>
          <p:cNvGrpSpPr/>
          <p:nvPr/>
        </p:nvGrpSpPr>
        <p:grpSpPr>
          <a:xfrm>
            <a:off x="838200" y="3710689"/>
            <a:ext cx="4680000" cy="720000"/>
            <a:chOff x="838200" y="1690688"/>
            <a:chExt cx="4680000" cy="720000"/>
          </a:xfrm>
        </p:grpSpPr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B33AE35F-754B-F0A3-C8AF-EEBA7DB5A585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24" name="角丸四角形 23">
              <a:extLst>
                <a:ext uri="{FF2B5EF4-FFF2-40B4-BE49-F238E27FC236}">
                  <a16:creationId xmlns:a16="http://schemas.microsoft.com/office/drawing/2014/main" id="{8AE6613B-5DCA-1502-CAE0-4A8922614FF9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2026-05-01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04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E82A8677-37E3-DDAF-2C3F-B81DB597DFED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26" name="角丸四角形 25">
              <a:extLst>
                <a:ext uri="{FF2B5EF4-FFF2-40B4-BE49-F238E27FC236}">
                  <a16:creationId xmlns:a16="http://schemas.microsoft.com/office/drawing/2014/main" id="{90EE24C2-810A-7945-9EE1-2243AB6E9B66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CI/CD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/2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E4C7C38A-FC72-AA5E-3B59-969D0E3C2BE7}"/>
              </a:ext>
            </a:extLst>
          </p:cNvPr>
          <p:cNvGrpSpPr/>
          <p:nvPr/>
        </p:nvGrpSpPr>
        <p:grpSpPr>
          <a:xfrm>
            <a:off x="838200" y="4500137"/>
            <a:ext cx="4680000" cy="720000"/>
            <a:chOff x="838200" y="1690688"/>
            <a:chExt cx="4680000" cy="720000"/>
          </a:xfrm>
        </p:grpSpPr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B5FE10AF-11A2-26B9-A6D3-ED620C8FAAB6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29" name="角丸四角形 28">
              <a:extLst>
                <a:ext uri="{FF2B5EF4-FFF2-40B4-BE49-F238E27FC236}">
                  <a16:creationId xmlns:a16="http://schemas.microsoft.com/office/drawing/2014/main" id="{50001C35-FE0F-859E-A1AF-6E7C586CDCBC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2026-05-15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05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5C95665F-0EF2-10C6-4C6D-82F1B1F425B1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31" name="角丸四角形 30">
              <a:extLst>
                <a:ext uri="{FF2B5EF4-FFF2-40B4-BE49-F238E27FC236}">
                  <a16:creationId xmlns:a16="http://schemas.microsoft.com/office/drawing/2014/main" id="{790FD6CC-157C-E056-D60A-08F52EDBD289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プログラミング（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1/3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37" name="グループ化 36">
            <a:extLst>
              <a:ext uri="{FF2B5EF4-FFF2-40B4-BE49-F238E27FC236}">
                <a16:creationId xmlns:a16="http://schemas.microsoft.com/office/drawing/2014/main" id="{77868A54-EA6E-78B1-CA25-DA4341A2D3A9}"/>
              </a:ext>
            </a:extLst>
          </p:cNvPr>
          <p:cNvGrpSpPr/>
          <p:nvPr/>
        </p:nvGrpSpPr>
        <p:grpSpPr>
          <a:xfrm>
            <a:off x="838200" y="6079032"/>
            <a:ext cx="4680000" cy="720000"/>
            <a:chOff x="838200" y="1690688"/>
            <a:chExt cx="4680000" cy="720000"/>
          </a:xfrm>
        </p:grpSpPr>
        <p:sp>
          <p:nvSpPr>
            <p:cNvPr id="38" name="正方形/長方形 37">
              <a:extLst>
                <a:ext uri="{FF2B5EF4-FFF2-40B4-BE49-F238E27FC236}">
                  <a16:creationId xmlns:a16="http://schemas.microsoft.com/office/drawing/2014/main" id="{C94DD4C2-AD15-BC3A-6C90-EE1F556BA2AC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39" name="角丸四角形 38">
              <a:extLst>
                <a:ext uri="{FF2B5EF4-FFF2-40B4-BE49-F238E27FC236}">
                  <a16:creationId xmlns:a16="http://schemas.microsoft.com/office/drawing/2014/main" id="{947DB243-6463-A650-7F00-ECF8009E9C1F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2026-05-29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07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FBDB68F2-C12D-FCC7-38F4-993E7A665E16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41" name="角丸四角形 40">
              <a:extLst>
                <a:ext uri="{FF2B5EF4-FFF2-40B4-BE49-F238E27FC236}">
                  <a16:creationId xmlns:a16="http://schemas.microsoft.com/office/drawing/2014/main" id="{0260E65F-F08B-4B07-8813-F3E4340E82B8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プログラミング（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3/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3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  <a:endParaRPr kumimoji="1" lang="en-US" altLang="ja-JP" sz="1600" dirty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自動テスト（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1/3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67" name="グループ化 66">
            <a:extLst>
              <a:ext uri="{FF2B5EF4-FFF2-40B4-BE49-F238E27FC236}">
                <a16:creationId xmlns:a16="http://schemas.microsoft.com/office/drawing/2014/main" id="{5F0912A1-3A5F-60D5-CE72-5F6B0A4A4DE4}"/>
              </a:ext>
            </a:extLst>
          </p:cNvPr>
          <p:cNvGrpSpPr/>
          <p:nvPr/>
        </p:nvGrpSpPr>
        <p:grpSpPr>
          <a:xfrm>
            <a:off x="6673800" y="2921241"/>
            <a:ext cx="4680000" cy="720000"/>
            <a:chOff x="838200" y="1690688"/>
            <a:chExt cx="4680000" cy="720000"/>
          </a:xfrm>
        </p:grpSpPr>
        <p:sp>
          <p:nvSpPr>
            <p:cNvPr id="68" name="正方形/長方形 67">
              <a:extLst>
                <a:ext uri="{FF2B5EF4-FFF2-40B4-BE49-F238E27FC236}">
                  <a16:creationId xmlns:a16="http://schemas.microsoft.com/office/drawing/2014/main" id="{39FDD599-1374-FB6A-155A-B39EA02CCF66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69" name="角丸四角形 68">
              <a:extLst>
                <a:ext uri="{FF2B5EF4-FFF2-40B4-BE49-F238E27FC236}">
                  <a16:creationId xmlns:a16="http://schemas.microsoft.com/office/drawing/2014/main" id="{A9C2152A-F2A3-00E0-3B11-B961C9EDD6F7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2026-06-19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10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0" name="正方形/長方形 69">
              <a:extLst>
                <a:ext uri="{FF2B5EF4-FFF2-40B4-BE49-F238E27FC236}">
                  <a16:creationId xmlns:a16="http://schemas.microsoft.com/office/drawing/2014/main" id="{13152DD2-E26A-A7D9-133A-043B3EB65FF8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1" name="角丸四角形 70">
              <a:extLst>
                <a:ext uri="{FF2B5EF4-FFF2-40B4-BE49-F238E27FC236}">
                  <a16:creationId xmlns:a16="http://schemas.microsoft.com/office/drawing/2014/main" id="{998D1968-4020-00A5-F65E-2B2ED5E679E7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ja-JP" altLang="en-US" sz="1600" strike="sngStrike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ドキュメント（</a:t>
              </a:r>
              <a:r>
                <a:rPr lang="en-US" altLang="ja-JP" sz="1600" strike="sngStrike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1/2</a:t>
              </a:r>
              <a:r>
                <a:rPr lang="ja-JP" altLang="en-US" sz="1600" strike="sngStrike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ドキュメント（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/2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72" name="グループ化 71">
            <a:extLst>
              <a:ext uri="{FF2B5EF4-FFF2-40B4-BE49-F238E27FC236}">
                <a16:creationId xmlns:a16="http://schemas.microsoft.com/office/drawing/2014/main" id="{F44A5AB4-A52B-29FF-36B8-29745A0AF118}"/>
              </a:ext>
            </a:extLst>
          </p:cNvPr>
          <p:cNvGrpSpPr/>
          <p:nvPr/>
        </p:nvGrpSpPr>
        <p:grpSpPr>
          <a:xfrm>
            <a:off x="6673800" y="3710689"/>
            <a:ext cx="4680000" cy="720000"/>
            <a:chOff x="838200" y="1690688"/>
            <a:chExt cx="4680000" cy="720000"/>
          </a:xfrm>
        </p:grpSpPr>
        <p:sp>
          <p:nvSpPr>
            <p:cNvPr id="73" name="正方形/長方形 72">
              <a:extLst>
                <a:ext uri="{FF2B5EF4-FFF2-40B4-BE49-F238E27FC236}">
                  <a16:creationId xmlns:a16="http://schemas.microsoft.com/office/drawing/2014/main" id="{66DAAF7E-4E5F-0E19-BCF5-8ABB511EA5FB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4" name="角丸四角形 73">
              <a:extLst>
                <a:ext uri="{FF2B5EF4-FFF2-40B4-BE49-F238E27FC236}">
                  <a16:creationId xmlns:a16="http://schemas.microsoft.com/office/drawing/2014/main" id="{97F55895-A27F-4EFF-D25C-93C0C379AAF3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2026-06-26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11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5" name="正方形/長方形 74">
              <a:extLst>
                <a:ext uri="{FF2B5EF4-FFF2-40B4-BE49-F238E27FC236}">
                  <a16:creationId xmlns:a16="http://schemas.microsoft.com/office/drawing/2014/main" id="{658049FC-0C77-79D6-C34D-9CE063DB10CC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6" name="角丸四角形 75">
              <a:extLst>
                <a:ext uri="{FF2B5EF4-FFF2-40B4-BE49-F238E27FC236}">
                  <a16:creationId xmlns:a16="http://schemas.microsoft.com/office/drawing/2014/main" id="{A1B944B9-5A22-428B-5DC2-A55392310A1E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 strike="sngStrike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ドキュメント（</a:t>
              </a:r>
              <a:r>
                <a:rPr lang="en-US" altLang="ja-JP" sz="1600" strike="sngStrike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</a:t>
              </a:r>
              <a:r>
                <a:rPr kumimoji="1" lang="en-US" altLang="ja-JP" sz="1600" strike="sngStrike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/2</a:t>
              </a:r>
              <a:r>
                <a:rPr kumimoji="1" lang="ja-JP" altLang="en-US" sz="1600" strike="sngStrike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  <a:endParaRPr kumimoji="1" lang="en-US" altLang="ja-JP" sz="1600" strike="sngStrike" dirty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  <a:p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Docker</a:t>
              </a:r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1/1</a:t>
              </a:r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77" name="グループ化 76">
            <a:extLst>
              <a:ext uri="{FF2B5EF4-FFF2-40B4-BE49-F238E27FC236}">
                <a16:creationId xmlns:a16="http://schemas.microsoft.com/office/drawing/2014/main" id="{425BB92F-ECFF-12AF-EBD0-795A7B50823A}"/>
              </a:ext>
            </a:extLst>
          </p:cNvPr>
          <p:cNvGrpSpPr/>
          <p:nvPr/>
        </p:nvGrpSpPr>
        <p:grpSpPr>
          <a:xfrm>
            <a:off x="6673800" y="4500137"/>
            <a:ext cx="4680000" cy="720000"/>
            <a:chOff x="838200" y="1690688"/>
            <a:chExt cx="4680000" cy="720000"/>
          </a:xfrm>
        </p:grpSpPr>
        <p:sp>
          <p:nvSpPr>
            <p:cNvPr id="78" name="正方形/長方形 77">
              <a:extLst>
                <a:ext uri="{FF2B5EF4-FFF2-40B4-BE49-F238E27FC236}">
                  <a16:creationId xmlns:a16="http://schemas.microsoft.com/office/drawing/2014/main" id="{74ADE4E7-234E-1432-F7A8-4AA1861408FF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9" name="角丸四角形 78">
              <a:extLst>
                <a:ext uri="{FF2B5EF4-FFF2-40B4-BE49-F238E27FC236}">
                  <a16:creationId xmlns:a16="http://schemas.microsoft.com/office/drawing/2014/main" id="{433ABEC0-4DB9-36ED-8375-E928D486ABC2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2026-07-03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12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F751601D-C11F-C742-3424-037A72375D64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1" name="角丸四角形 80">
              <a:extLst>
                <a:ext uri="{FF2B5EF4-FFF2-40B4-BE49-F238E27FC236}">
                  <a16:creationId xmlns:a16="http://schemas.microsoft.com/office/drawing/2014/main" id="{AC748E63-1D82-1514-7B02-D6C67C24760A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400" strike="sngStrike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Docker</a:t>
              </a:r>
              <a:r>
                <a:rPr kumimoji="1" lang="ja-JP" altLang="en-US" sz="1400" strike="sngStrike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（</a:t>
              </a:r>
              <a:r>
                <a:rPr kumimoji="1" lang="en-US" altLang="ja-JP" sz="1400" strike="sngStrike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1/1</a:t>
              </a:r>
              <a:r>
                <a:rPr kumimoji="1" lang="ja-JP" altLang="en-US" sz="1400" strike="sngStrike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  <a:endParaRPr kumimoji="1" lang="en-US" altLang="ja-JP" sz="1400" strike="sngStrike" dirty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  <a:p>
              <a:r>
                <a:rPr lang="ja-JP" altLang="en-US" sz="14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補完（</a:t>
              </a:r>
              <a:r>
                <a:rPr lang="en-US" altLang="ja-JP" sz="14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1/1</a:t>
              </a:r>
              <a:r>
                <a:rPr lang="ja-JP" altLang="en-US" sz="14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  <a:endParaRPr lang="en-US" altLang="ja-JP" sz="1400" dirty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  <a:p>
              <a:r>
                <a:rPr lang="en-US" altLang="ja-JP" sz="14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Homebrew</a:t>
              </a:r>
              <a:r>
                <a:rPr lang="ja-JP" altLang="en-US" sz="14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（</a:t>
              </a:r>
              <a:r>
                <a:rPr lang="en-US" altLang="ja-JP" sz="14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1/1</a:t>
              </a:r>
              <a:r>
                <a:rPr lang="ja-JP" altLang="en-US" sz="14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82" name="グループ化 81">
            <a:extLst>
              <a:ext uri="{FF2B5EF4-FFF2-40B4-BE49-F238E27FC236}">
                <a16:creationId xmlns:a16="http://schemas.microsoft.com/office/drawing/2014/main" id="{EF18DEED-308C-B9A5-569F-0BA75287E08F}"/>
              </a:ext>
            </a:extLst>
          </p:cNvPr>
          <p:cNvGrpSpPr/>
          <p:nvPr/>
        </p:nvGrpSpPr>
        <p:grpSpPr>
          <a:xfrm>
            <a:off x="6673800" y="5289585"/>
            <a:ext cx="4680000" cy="720000"/>
            <a:chOff x="838200" y="1690688"/>
            <a:chExt cx="4680000" cy="720000"/>
          </a:xfrm>
        </p:grpSpPr>
        <p:sp>
          <p:nvSpPr>
            <p:cNvPr id="83" name="正方形/長方形 82">
              <a:extLst>
                <a:ext uri="{FF2B5EF4-FFF2-40B4-BE49-F238E27FC236}">
                  <a16:creationId xmlns:a16="http://schemas.microsoft.com/office/drawing/2014/main" id="{1F95D5B3-D80F-AFA9-9F1B-76334ECB01EA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4" name="角丸四角形 83">
              <a:extLst>
                <a:ext uri="{FF2B5EF4-FFF2-40B4-BE49-F238E27FC236}">
                  <a16:creationId xmlns:a16="http://schemas.microsoft.com/office/drawing/2014/main" id="{3A12D908-2F1B-0A44-0CE0-16613549BB33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2026-07-10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13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5" name="正方形/長方形 84">
              <a:extLst>
                <a:ext uri="{FF2B5EF4-FFF2-40B4-BE49-F238E27FC236}">
                  <a16:creationId xmlns:a16="http://schemas.microsoft.com/office/drawing/2014/main" id="{40DDE176-AC04-A4D6-954B-DE7671AAFC52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6" name="角丸四角形 85">
              <a:extLst>
                <a:ext uri="{FF2B5EF4-FFF2-40B4-BE49-F238E27FC236}">
                  <a16:creationId xmlns:a16="http://schemas.microsoft.com/office/drawing/2014/main" id="{ED67E490-8F51-A729-4F96-9FEFE7D9889B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予備日</a:t>
              </a:r>
              <a:endParaRPr kumimoji="1" lang="ja-JP" altLang="en-US" sz="160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6FB3BC1-3F48-26E2-4B2B-B3AD86920D48}"/>
              </a:ext>
            </a:extLst>
          </p:cNvPr>
          <p:cNvSpPr/>
          <p:nvPr/>
        </p:nvSpPr>
        <p:spPr>
          <a:xfrm>
            <a:off x="707282" y="1300479"/>
            <a:ext cx="10777435" cy="5557521"/>
          </a:xfrm>
          <a:prstGeom prst="rect">
            <a:avLst/>
          </a:prstGeom>
          <a:solidFill>
            <a:srgbClr val="FFFFFF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62" name="グループ化 61">
            <a:extLst>
              <a:ext uri="{FF2B5EF4-FFF2-40B4-BE49-F238E27FC236}">
                <a16:creationId xmlns:a16="http://schemas.microsoft.com/office/drawing/2014/main" id="{EDB331F2-90D3-0F35-EC4D-09473CC3DE05}"/>
              </a:ext>
            </a:extLst>
          </p:cNvPr>
          <p:cNvGrpSpPr/>
          <p:nvPr/>
        </p:nvGrpSpPr>
        <p:grpSpPr>
          <a:xfrm>
            <a:off x="6673800" y="2131793"/>
            <a:ext cx="4680000" cy="720000"/>
            <a:chOff x="838200" y="1690688"/>
            <a:chExt cx="4680000" cy="720000"/>
          </a:xfrm>
        </p:grpSpPr>
        <p:sp>
          <p:nvSpPr>
            <p:cNvPr id="63" name="正方形/長方形 62">
              <a:extLst>
                <a:ext uri="{FF2B5EF4-FFF2-40B4-BE49-F238E27FC236}">
                  <a16:creationId xmlns:a16="http://schemas.microsoft.com/office/drawing/2014/main" id="{85BCC591-E20B-3C36-3EB9-DDC560268BD3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64" name="角丸四角形 63">
              <a:extLst>
                <a:ext uri="{FF2B5EF4-FFF2-40B4-BE49-F238E27FC236}">
                  <a16:creationId xmlns:a16="http://schemas.microsoft.com/office/drawing/2014/main" id="{FEBC3A43-88D1-9D85-854B-2E8029497F0C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2026-06-12 (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Fri</a:t>
              </a:r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09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65" name="正方形/長方形 64">
              <a:extLst>
                <a:ext uri="{FF2B5EF4-FFF2-40B4-BE49-F238E27FC236}">
                  <a16:creationId xmlns:a16="http://schemas.microsoft.com/office/drawing/2014/main" id="{E4BD2044-CA60-9B88-EBA4-40FD3C8F6842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66" name="角丸四角形 65">
              <a:extLst>
                <a:ext uri="{FF2B5EF4-FFF2-40B4-BE49-F238E27FC236}">
                  <a16:creationId xmlns:a16="http://schemas.microsoft.com/office/drawing/2014/main" id="{32F09BC8-031C-0D76-FCE2-5723D1A82E33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 strike="sngStrike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自動テスト（</a:t>
              </a:r>
              <a:r>
                <a:rPr kumimoji="1" lang="en-US" altLang="ja-JP" sz="1600" strike="sngStrike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3/3</a:t>
              </a:r>
              <a:r>
                <a:rPr kumimoji="1" lang="ja-JP" altLang="en-US" sz="1600" strike="sngStrike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  <a:endParaRPr kumimoji="1" lang="en-US" altLang="ja-JP" sz="1600" strike="sngStrike" dirty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  <a:p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ドキュメント（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1/2</a:t>
              </a:r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  <a:endParaRPr kumimoji="1" lang="ja-JP" altLang="en-US" sz="160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22206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BC025A-8B13-E471-FDE3-6DD7FD31F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Web</a:t>
            </a:r>
            <a:r>
              <a:rPr lang="ja-JP" altLang="en-US"/>
              <a:t>サイト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1D790A7-91DD-B40A-724D-F0C7D32C2D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875381" cy="4530725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20000"/>
              </a:lnSpc>
            </a:pPr>
            <a:r>
              <a:rPr kumimoji="1" lang="ja-JP" altLang="en-US"/>
              <a:t>ツールを作成したら，</a:t>
            </a:r>
            <a:r>
              <a:rPr lang="en-US" altLang="ja-JP" dirty="0"/>
              <a:t>Web</a:t>
            </a:r>
            <a:r>
              <a:rPr lang="ja-JP" altLang="en-US"/>
              <a:t>サイト</a:t>
            </a:r>
            <a:r>
              <a:rPr kumimoji="1" lang="ja-JP" altLang="en-US"/>
              <a:t>を公開する必要がある．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README.md</a:t>
            </a: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ja-JP" altLang="en-US"/>
              <a:t>は開発者向けの情報を提示する．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en-US" altLang="ja-JP" dirty="0"/>
              <a:t>Web</a:t>
            </a:r>
            <a:r>
              <a:rPr lang="ja-JP" altLang="en-US"/>
              <a:t>サイトは一般向けの情報を提示する．</a:t>
            </a:r>
            <a:endParaRPr lang="en-US" altLang="ja-JP" dirty="0"/>
          </a:p>
          <a:p>
            <a:pPr>
              <a:lnSpc>
                <a:spcPct val="120000"/>
              </a:lnSpc>
            </a:pPr>
            <a:r>
              <a:rPr kumimoji="1" lang="en-US" altLang="ja-JP" dirty="0"/>
              <a:t>Web</a:t>
            </a:r>
            <a:r>
              <a:rPr kumimoji="1" lang="ja-JP" altLang="en-US"/>
              <a:t>サイトがないのは存在していないのと同じ．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kumimoji="1" lang="ja-JP" altLang="en-US"/>
              <a:t>基本的には，</a:t>
            </a:r>
            <a:r>
              <a:rPr kumimoji="1" lang="en-US" altLang="ja-JP" dirty="0"/>
              <a:t>README</a:t>
            </a:r>
            <a:r>
              <a:rPr kumimoji="1" lang="ja-JP" altLang="en-US"/>
              <a:t>に記載されている内容を一般向けに</a:t>
            </a:r>
            <a:r>
              <a:rPr lang="ja-JP" altLang="en-US"/>
              <a:t>分かりやすく書く</a:t>
            </a:r>
            <a:r>
              <a:rPr kumimoji="1" lang="ja-JP" altLang="en-US"/>
              <a:t>．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997C753-45A1-7654-6708-F2E170FF4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A0C4052-4853-B1D1-1292-90FD49BFA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7290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7866DA8-0364-7A14-78CD-D192E20FF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半永久的に残る</a:t>
            </a:r>
            <a:r>
              <a:rPr kumimoji="1" lang="en-US" altLang="ja-JP" dirty="0"/>
              <a:t>Web</a:t>
            </a:r>
            <a:r>
              <a:rPr kumimoji="1" lang="ja-JP" altLang="en-US"/>
              <a:t>サイト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E78E31B-31DD-91F7-516E-ED8236DFD1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>
              <a:lnSpc>
                <a:spcPct val="120000"/>
              </a:lnSpc>
            </a:pPr>
            <a:r>
              <a:rPr kumimoji="1" lang="en-US" altLang="ja-JP" dirty="0"/>
              <a:t>URL</a:t>
            </a:r>
            <a:r>
              <a:rPr kumimoji="1" lang="ja-JP" altLang="en-US"/>
              <a:t>が頻繁に変わってはダメ．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kumimoji="1" lang="en-US" altLang="ja-JP" dirty="0"/>
              <a:t>URL</a:t>
            </a:r>
            <a:r>
              <a:rPr kumimoji="1" lang="ja-JP" altLang="en-US"/>
              <a:t>大事．とっても大事．</a:t>
            </a:r>
            <a:endParaRPr kumimoji="1" lang="en-US" altLang="ja-JP" dirty="0"/>
          </a:p>
          <a:p>
            <a:pPr>
              <a:lnSpc>
                <a:spcPct val="120000"/>
              </a:lnSpc>
            </a:pPr>
            <a:r>
              <a:rPr kumimoji="1" lang="ja-JP" altLang="en-US"/>
              <a:t>基本的に半永久的に残しておく．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一度削除すると復活させられない．つまり，歴史が途絶える．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色々な理由で削除しようとする人がいるが，明らかに有害な情報でない限り，残しておいた方が良い（私見）．</a:t>
            </a:r>
            <a:endParaRPr lang="en-US" altLang="ja-JP" dirty="0"/>
          </a:p>
          <a:p>
            <a:pPr lvl="2">
              <a:lnSpc>
                <a:spcPct val="120000"/>
              </a:lnSpc>
            </a:pPr>
            <a:r>
              <a:rPr lang="ja-JP" altLang="en-US"/>
              <a:t>古くなり，正しい情報でなくなる可能性はある．</a:t>
            </a:r>
            <a:endParaRPr lang="en-US" altLang="ja-JP" dirty="0"/>
          </a:p>
          <a:p>
            <a:pPr lvl="2">
              <a:lnSpc>
                <a:spcPct val="120000"/>
              </a:lnSpc>
            </a:pPr>
            <a:r>
              <a:rPr lang="ja-JP" altLang="en-US"/>
              <a:t>そのページにタイムスタンプを書いておけば良い．</a:t>
            </a:r>
            <a:endParaRPr lang="en-US" altLang="ja-JP" dirty="0"/>
          </a:p>
          <a:p>
            <a:pPr lvl="3">
              <a:lnSpc>
                <a:spcPct val="120000"/>
              </a:lnSpc>
            </a:pPr>
            <a:r>
              <a:rPr lang="en-US" altLang="ja-JP" dirty="0" err="1"/>
              <a:t>Qiita.com</a:t>
            </a:r>
            <a:r>
              <a:rPr lang="ja-JP" altLang="en-US"/>
              <a:t>や</a:t>
            </a:r>
            <a:r>
              <a:rPr lang="en-US" altLang="ja-JP" dirty="0" err="1"/>
              <a:t>Zenn.dev</a:t>
            </a:r>
            <a:r>
              <a:rPr lang="ja-JP" altLang="en-US"/>
              <a:t>などは「書かれてから</a:t>
            </a:r>
            <a:r>
              <a:rPr lang="en-US" altLang="ja-JP" dirty="0"/>
              <a:t>n</a:t>
            </a:r>
            <a:r>
              <a:rPr lang="ja-JP" altLang="en-US"/>
              <a:t>年経っている」のような警告が出る．</a:t>
            </a:r>
            <a:endParaRPr lang="en-US" altLang="ja-JP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75CA320-7189-1658-EC79-EB756352A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613B777-DCC2-00D9-5700-5430BD922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8823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6D3825C-59DD-2DC5-AFD0-41EFB5799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153503" cy="1325563"/>
          </a:xfrm>
        </p:spPr>
        <p:txBody>
          <a:bodyPr/>
          <a:lstStyle/>
          <a:p>
            <a:r>
              <a:rPr lang="ja-JP" altLang="en-US"/>
              <a:t>半永久的に残しておくために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D71C2CE-1D8E-1802-DFA4-1BDB1B78C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>
              <a:lnSpc>
                <a:spcPct val="120000"/>
              </a:lnSpc>
            </a:pPr>
            <a:r>
              <a:rPr kumimoji="1" lang="ja-JP" altLang="en-US"/>
              <a:t>どこに置くかを考えよう．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自分で管理するサイトで公開する．</a:t>
            </a:r>
            <a:endParaRPr lang="en-US" altLang="ja-JP" dirty="0"/>
          </a:p>
          <a:p>
            <a:pPr lvl="2">
              <a:lnSpc>
                <a:spcPct val="120000"/>
              </a:lnSpc>
            </a:pPr>
            <a:r>
              <a:rPr kumimoji="1" lang="ja-JP" altLang="en-US"/>
              <a:t>自分が管理しなくなった／できなくなった時点で歴史が途絶える．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著名な会社が運営するサイトで公開する．</a:t>
            </a:r>
            <a:endParaRPr lang="en-US" altLang="ja-JP" dirty="0"/>
          </a:p>
          <a:p>
            <a:pPr lvl="2">
              <a:lnSpc>
                <a:spcPct val="120000"/>
              </a:lnSpc>
            </a:pPr>
            <a:r>
              <a:rPr kumimoji="1" lang="ja-JP" altLang="en-US"/>
              <a:t>その会社が永遠に続くわけではない．</a:t>
            </a:r>
            <a:endParaRPr kumimoji="1" lang="en-US" altLang="ja-JP" dirty="0"/>
          </a:p>
          <a:p>
            <a:pPr>
              <a:lnSpc>
                <a:spcPct val="120000"/>
              </a:lnSpc>
            </a:pPr>
            <a:r>
              <a:rPr lang="ja-JP" altLang="en-US"/>
              <a:t>上記のトレードオフを踏まえて，自分で決める．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kumimoji="1" lang="ja-JP" altLang="en-US"/>
              <a:t>（私見）著名な会社が運営するサイトで公開するのが良い．</a:t>
            </a:r>
            <a:endParaRPr kumimoji="1" lang="en-US" altLang="ja-JP" dirty="0"/>
          </a:p>
          <a:p>
            <a:pPr lvl="2">
              <a:lnSpc>
                <a:spcPct val="120000"/>
              </a:lnSpc>
            </a:pPr>
            <a:r>
              <a:rPr lang="ja-JP" altLang="en-US"/>
              <a:t>今日の</a:t>
            </a:r>
            <a:r>
              <a:rPr lang="en-US" altLang="ja-JP" dirty="0"/>
              <a:t>GitHub</a:t>
            </a:r>
            <a:r>
              <a:rPr lang="ja-JP" altLang="en-US"/>
              <a:t>などが運営を維持できなくなるリスクと</a:t>
            </a:r>
            <a:br>
              <a:rPr lang="en-US" altLang="ja-JP" dirty="0"/>
            </a:br>
            <a:r>
              <a:rPr lang="ja-JP" altLang="en-US"/>
              <a:t>自分がサイトを維持できなくなる可能性</a:t>
            </a:r>
            <a:r>
              <a:rPr lang="en-US" altLang="ja-JP" dirty="0"/>
              <a:t> </a:t>
            </a:r>
            <a:r>
              <a:rPr lang="ja-JP" altLang="en-US"/>
              <a:t>を比べよう．</a:t>
            </a:r>
            <a:endParaRPr lang="en-US" altLang="ja-JP" dirty="0"/>
          </a:p>
          <a:p>
            <a:pPr lvl="2">
              <a:lnSpc>
                <a:spcPct val="120000"/>
              </a:lnSpc>
            </a:pPr>
            <a:r>
              <a:rPr kumimoji="1" lang="ja-JP" altLang="en-US"/>
              <a:t>自分で管理するサイトは</a:t>
            </a:r>
            <a:r>
              <a:rPr kumimoji="1" lang="en-US" altLang="ja-JP" dirty="0"/>
              <a:t>Web</a:t>
            </a:r>
            <a:r>
              <a:rPr lang="ja-JP" altLang="en-US"/>
              <a:t>ページ</a:t>
            </a:r>
            <a:r>
              <a:rPr kumimoji="1" lang="ja-JP" altLang="en-US"/>
              <a:t>の管理コストの他に，</a:t>
            </a:r>
            <a:br>
              <a:rPr kumimoji="1" lang="en-US" altLang="ja-JP" dirty="0"/>
            </a:br>
            <a:r>
              <a:rPr kumimoji="1" lang="en-US" altLang="ja-JP" dirty="0"/>
              <a:t>Web</a:t>
            </a:r>
            <a:r>
              <a:rPr kumimoji="1" lang="ja-JP" altLang="en-US"/>
              <a:t>サイトの管理コストも必要になる．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DA7894-0149-30EA-98D3-FE81B4214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0E2D46B-C43C-DDE0-2616-6B9F2142C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3035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EA9B11C-6010-565F-D203-3E26C5EC1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Web</a:t>
            </a:r>
            <a:r>
              <a:rPr kumimoji="1" lang="ja-JP" altLang="en-US"/>
              <a:t>サイトの公開場所候補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D4EC251-9FA0-29F6-9A31-4594B0FA8B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7798747" cy="4780916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</a:pPr>
            <a:r>
              <a:rPr lang="ja-JP" altLang="en-US"/>
              <a:t>探せば色々ある．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好きなものを使えば良い。</a:t>
            </a:r>
            <a:endParaRPr lang="en-US" altLang="ja-JP" dirty="0"/>
          </a:p>
          <a:p>
            <a:pPr lvl="2">
              <a:lnSpc>
                <a:spcPct val="120000"/>
              </a:lnSpc>
            </a:pPr>
            <a:r>
              <a:rPr lang="ja-JP" altLang="en-US"/>
              <a:t>（私見）プロジェクトを</a:t>
            </a:r>
            <a:r>
              <a:rPr lang="en-US" altLang="ja-JP" dirty="0"/>
              <a:t>GitHub</a:t>
            </a:r>
            <a:r>
              <a:rPr lang="ja-JP" altLang="en-US"/>
              <a:t>で管理していれば，</a:t>
            </a:r>
            <a:r>
              <a:rPr lang="en-US" altLang="ja-JP" dirty="0"/>
              <a:t>GitHub</a:t>
            </a:r>
            <a:r>
              <a:rPr lang="ja-JP" altLang="en-US"/>
              <a:t>で公開しよう．</a:t>
            </a:r>
            <a:endParaRPr lang="en-US" altLang="ja-JP" dirty="0"/>
          </a:p>
          <a:p>
            <a:pPr lvl="3">
              <a:lnSpc>
                <a:spcPct val="120000"/>
              </a:lnSpc>
            </a:pPr>
            <a:r>
              <a:rPr kumimoji="1" lang="ja-JP" altLang="en-US"/>
              <a:t>わざわざ別のサービスを利用する意義があまりない．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kumimoji="1" lang="ja-JP" altLang="en-US"/>
              <a:t>サービス間の連携もそこまで難しくない．</a:t>
            </a:r>
            <a:endParaRPr lang="en-US" altLang="ja-JP" dirty="0"/>
          </a:p>
          <a:p>
            <a:pPr lvl="2">
              <a:lnSpc>
                <a:spcPct val="120000"/>
              </a:lnSpc>
            </a:pPr>
            <a:r>
              <a:rPr kumimoji="1" lang="ja-JP" altLang="en-US"/>
              <a:t>玉田研の</a:t>
            </a:r>
            <a:r>
              <a:rPr kumimoji="1" lang="en-US" altLang="ja-JP" dirty="0"/>
              <a:t>Web</a:t>
            </a:r>
            <a:r>
              <a:rPr kumimoji="1" lang="ja-JP" altLang="en-US"/>
              <a:t>サイト</a:t>
            </a:r>
            <a:endParaRPr kumimoji="1" lang="en-US" altLang="ja-JP" dirty="0"/>
          </a:p>
          <a:p>
            <a:pPr lvl="3">
              <a:lnSpc>
                <a:spcPct val="120000"/>
              </a:lnSpc>
            </a:pPr>
            <a:r>
              <a:rPr kumimoji="1" lang="en-US" altLang="ja-JP" dirty="0"/>
              <a:t>GitHub Pages</a:t>
            </a:r>
            <a:r>
              <a:rPr kumimoji="1" lang="ja-JP" altLang="en-US"/>
              <a:t>で公開し，</a:t>
            </a:r>
            <a:r>
              <a:rPr kumimoji="1" lang="en-US" altLang="ja-JP" dirty="0"/>
              <a:t>Google Firebase</a:t>
            </a:r>
            <a:r>
              <a:rPr kumimoji="1" lang="ja-JP" altLang="en-US"/>
              <a:t>と連携している．</a:t>
            </a:r>
            <a:endParaRPr kumimoji="1" lang="en-US" altLang="ja-JP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24919-B74C-EF75-06E4-7FFD2F2D0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4F18DC1-9099-C97E-E608-CF2F1C774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7</a:t>
            </a:fld>
            <a:endParaRPr kumimoji="1" lang="ja-JP" altLang="en-US"/>
          </a:p>
        </p:txBody>
      </p:sp>
      <p:pic>
        <p:nvPicPr>
          <p:cNvPr id="1026" name="Picture 2" descr="Netlify - Wikipedia">
            <a:extLst>
              <a:ext uri="{FF2B5EF4-FFF2-40B4-BE49-F238E27FC236}">
                <a16:creationId xmlns:a16="http://schemas.microsoft.com/office/drawing/2014/main" id="{05D98C30-3181-3EFE-231C-1931FDB510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6947" y="3007616"/>
            <a:ext cx="2644898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97C4C273-D158-6211-FE9B-F66A352347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6947" y="1690688"/>
            <a:ext cx="180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How to Publish a Website with GitLab Pages">
            <a:extLst>
              <a:ext uri="{FF2B5EF4-FFF2-40B4-BE49-F238E27FC236}">
                <a16:creationId xmlns:a16="http://schemas.microsoft.com/office/drawing/2014/main" id="{F8A15FCE-7911-1AE9-9E0A-985E76B808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6947" y="4324545"/>
            <a:ext cx="192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0">
            <a:extLst>
              <a:ext uri="{FF2B5EF4-FFF2-40B4-BE49-F238E27FC236}">
                <a16:creationId xmlns:a16="http://schemas.microsoft.com/office/drawing/2014/main" id="{D358C5FD-15FE-0FF9-2142-4E32ABEDF7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636947" y="1690687"/>
            <a:ext cx="1800000" cy="1080000"/>
          </a:xfrm>
          <a:prstGeom prst="rect">
            <a:avLst/>
          </a:prstGeom>
          <a:noFill/>
          <a:ln w="38100">
            <a:solidFill>
              <a:srgbClr val="C0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図 6" descr="Vercelの細部に焦点を当てて｜MIICHISOFT株式会社">
            <a:extLst>
              <a:ext uri="{FF2B5EF4-FFF2-40B4-BE49-F238E27FC236}">
                <a16:creationId xmlns:a16="http://schemas.microsoft.com/office/drawing/2014/main" id="{6485AA46-7F71-B05B-C892-D3BAD64197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6947" y="5641475"/>
            <a:ext cx="2063284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325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0E87699-C3E7-D65E-2DF3-68D509DD2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GitHub Pages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547A23-1FEA-7D2D-6B7E-8746595E6C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</a:pPr>
            <a:r>
              <a:rPr kumimoji="1" lang="en-US" altLang="ja-JP" dirty="0"/>
              <a:t>URL</a:t>
            </a:r>
            <a:r>
              <a:rPr kumimoji="1" lang="ja-JP" altLang="en-US"/>
              <a:t>は</a:t>
            </a:r>
            <a:r>
              <a:rPr kumimoji="1" lang="en-US" altLang="ja-JP" dirty="0"/>
              <a:t> </a:t>
            </a: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  <a:hlinkClick r:id="rId2"/>
              </a:rPr>
              <a:t>https://</a:t>
            </a:r>
            <a:r>
              <a:rPr kumimoji="1" lang="en-US" altLang="ja-JP" i="1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username</a:t>
            </a: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  <a:hlinkClick r:id="rId2"/>
              </a:rPr>
              <a:t>.github.io/</a:t>
            </a:r>
            <a:r>
              <a:rPr kumimoji="1" lang="en-US" altLang="ja-JP" i="1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projectname</a:t>
            </a: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kumimoji="1" lang="ja-JP" altLang="en-US"/>
              <a:t>になる．</a:t>
            </a:r>
            <a:endParaRPr kumimoji="1" lang="en-US" altLang="ja-JP" dirty="0"/>
          </a:p>
          <a:p>
            <a:pPr>
              <a:lnSpc>
                <a:spcPct val="120000"/>
              </a:lnSpc>
            </a:pPr>
            <a:r>
              <a:rPr lang="ja-JP" altLang="en-US"/>
              <a:t>プロジェクト内の</a:t>
            </a:r>
            <a:r>
              <a:rPr lang="en-US" altLang="ja-JP" dirty="0"/>
              <a:t> </a:t>
            </a:r>
            <a:r>
              <a:rPr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gh</a:t>
            </a: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-pages</a:t>
            </a:r>
            <a:r>
              <a:rPr lang="en-US" altLang="ja-JP" dirty="0"/>
              <a:t> </a:t>
            </a:r>
            <a:r>
              <a:rPr lang="ja-JP" altLang="en-US"/>
              <a:t>ブランチに置かれた</a:t>
            </a:r>
            <a:r>
              <a:rPr lang="en-US" altLang="ja-JP" dirty="0"/>
              <a:t>HTML</a:t>
            </a:r>
            <a:r>
              <a:rPr lang="ja-JP" altLang="en-US"/>
              <a:t>が公開される（デフォルト）．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kumimoji="1" lang="ja-JP" altLang="en-US"/>
              <a:t>あるブランチの指定されたフォルダの</a:t>
            </a:r>
            <a:r>
              <a:rPr kumimoji="1" lang="en-US" altLang="ja-JP" dirty="0"/>
              <a:t>HTML</a:t>
            </a:r>
            <a:r>
              <a:rPr kumimoji="1" lang="ja-JP" altLang="en-US"/>
              <a:t>が公開される．</a:t>
            </a:r>
            <a:endParaRPr kumimoji="1" lang="en-US" altLang="ja-JP" dirty="0"/>
          </a:p>
          <a:p>
            <a:pPr>
              <a:lnSpc>
                <a:spcPct val="120000"/>
              </a:lnSpc>
            </a:pP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</a:t>
            </a:r>
            <a:r>
              <a:rPr lang="en-US" altLang="ja-JP" i="1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username</a:t>
            </a: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.github.io/</a:t>
            </a:r>
            <a:r>
              <a:rPr lang="en-US" altLang="ja-JP" dirty="0"/>
              <a:t> </a:t>
            </a:r>
            <a:r>
              <a:rPr lang="ja-JP" altLang="en-US"/>
              <a:t>は</a:t>
            </a:r>
            <a:r>
              <a:rPr lang="en-US" altLang="ja-JP" dirty="0"/>
              <a:t> </a:t>
            </a:r>
            <a:r>
              <a:rPr lang="en-US" altLang="ja-JP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username</a:t>
            </a:r>
            <a:r>
              <a:rPr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.github.io</a:t>
            </a:r>
            <a:r>
              <a:rPr lang="en-US" altLang="ja-JP" dirty="0"/>
              <a:t> </a:t>
            </a:r>
            <a:r>
              <a:rPr lang="ja-JP" altLang="en-US"/>
              <a:t>プロジェクトでの内容が公開される．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  <a:hlinkClick r:id="rId4"/>
              </a:rPr>
              <a:t>https://github.com/tamada/tamada.github.io</a:t>
            </a:r>
            <a:endParaRPr kumimoji="1" lang="en-US" altLang="ja-JP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771BA78-3C5A-C9F0-3A61-6B5CD747FD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89C324A-BD0D-4BCE-1AA2-4B47DEB8C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8</a:t>
            </a:fld>
            <a:endParaRPr kumimoji="1" lang="ja-JP" altLang="en-US"/>
          </a:p>
        </p:txBody>
      </p:sp>
      <p:pic>
        <p:nvPicPr>
          <p:cNvPr id="6" name="Picture 10">
            <a:extLst>
              <a:ext uri="{FF2B5EF4-FFF2-40B4-BE49-F238E27FC236}">
                <a16:creationId xmlns:a16="http://schemas.microsoft.com/office/drawing/2014/main" id="{2687F111-F732-179E-F932-EB22CD8AC0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3816" y="0"/>
            <a:ext cx="2878183" cy="1726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6108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07FE1D-C9AC-1021-1007-73DBD182D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Web</a:t>
            </a:r>
            <a:r>
              <a:rPr kumimoji="1" lang="ja-JP" altLang="en-US"/>
              <a:t>デザインのトレンド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2FBC812-1E8E-85BE-B674-4F79E661C5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>
              <a:lnSpc>
                <a:spcPct val="120000"/>
              </a:lnSpc>
            </a:pPr>
            <a:r>
              <a:rPr kumimoji="1" lang="ja-JP" altLang="en-US"/>
              <a:t>「</a:t>
            </a:r>
            <a:r>
              <a:rPr kumimoji="1" lang="en-US" altLang="ja-JP" dirty="0">
                <a:hlinkClick r:id="rId2"/>
              </a:rPr>
              <a:t>Web</a:t>
            </a:r>
            <a:r>
              <a:rPr kumimoji="1" lang="ja-JP" altLang="en-US">
                <a:hlinkClick r:id="rId2"/>
              </a:rPr>
              <a:t>デザイン</a:t>
            </a:r>
            <a:r>
              <a:rPr kumimoji="1" lang="en-US" altLang="ja-JP" dirty="0">
                <a:hlinkClick r:id="rId2"/>
              </a:rPr>
              <a:t> </a:t>
            </a:r>
            <a:r>
              <a:rPr kumimoji="1" lang="ja-JP" altLang="en-US">
                <a:hlinkClick r:id="rId2"/>
              </a:rPr>
              <a:t>トレンド</a:t>
            </a:r>
            <a:r>
              <a:rPr kumimoji="1" lang="ja-JP" altLang="en-US"/>
              <a:t>」などでググるといくつか見つかる．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デザインのプロではないので，採用する／しないは自由である．</a:t>
            </a:r>
            <a:endParaRPr lang="en-US" altLang="ja-JP" dirty="0"/>
          </a:p>
          <a:p>
            <a:pPr>
              <a:lnSpc>
                <a:spcPct val="120000"/>
              </a:lnSpc>
            </a:pPr>
            <a:r>
              <a:rPr lang="ja-JP" altLang="en-US"/>
              <a:t>よく見るデザインながらも，議論が多いものもある．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kumimoji="1" lang="ja-JP" altLang="en-US"/>
              <a:t>例　ハンバーガーメニュー（≡のようなメニュー）</a:t>
            </a:r>
            <a:endParaRPr kumimoji="1" lang="en-US" altLang="ja-JP" dirty="0"/>
          </a:p>
          <a:p>
            <a:pPr lvl="2">
              <a:lnSpc>
                <a:spcPct val="120000"/>
              </a:lnSpc>
            </a:pPr>
            <a:r>
              <a:rPr kumimoji="1" lang="ja-JP" altLang="en-US"/>
              <a:t>メリット　　小さい領域に多くのメニューを設置できる．</a:t>
            </a:r>
            <a:endParaRPr kumimoji="1" lang="en-US" altLang="ja-JP" dirty="0"/>
          </a:p>
          <a:p>
            <a:pPr lvl="2">
              <a:lnSpc>
                <a:spcPct val="120000"/>
              </a:lnSpc>
            </a:pPr>
            <a:r>
              <a:rPr kumimoji="1" lang="ja-JP" altLang="en-US"/>
              <a:t>デメリット　</a:t>
            </a:r>
            <a:r>
              <a:rPr kumimoji="1" lang="en-US" altLang="ja-JP" dirty="0"/>
              <a:t>Web</a:t>
            </a:r>
            <a:r>
              <a:rPr kumimoji="1" lang="ja-JP" altLang="en-US"/>
              <a:t>サイトの構造を曖昧にする．</a:t>
            </a:r>
            <a:endParaRPr kumimoji="1" lang="en-US" altLang="ja-JP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C179D13-5A27-D6C3-8A6A-DBB2FB0AF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D19C5C9-3F06-A8E0-A57F-284D1C634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8222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735E36-B3E7-56D3-9F02-79B607558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ドキュメントサイトの構築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016FC8E-1AA8-7D36-6A5C-044879EA7A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</a:pPr>
            <a:r>
              <a:rPr kumimoji="1" lang="en-US" altLang="ja-JP" dirty="0"/>
              <a:t>Static Site Generator</a:t>
            </a:r>
            <a:r>
              <a:rPr kumimoji="1" lang="ja-JP" altLang="en-US"/>
              <a:t>（</a:t>
            </a:r>
            <a:r>
              <a:rPr kumimoji="1" lang="en-US" altLang="ja-JP" dirty="0"/>
              <a:t>SSG</a:t>
            </a:r>
            <a:r>
              <a:rPr kumimoji="1" lang="ja-JP" altLang="en-US"/>
              <a:t>）を用いて作成する．</a:t>
            </a:r>
            <a:endParaRPr kumimoji="1" lang="en-US" altLang="ja-JP" dirty="0"/>
          </a:p>
          <a:p>
            <a:pPr>
              <a:lnSpc>
                <a:spcPct val="120000"/>
              </a:lnSpc>
            </a:pPr>
            <a:r>
              <a:rPr lang="ja-JP" altLang="en-US"/>
              <a:t>静的に</a:t>
            </a:r>
            <a:r>
              <a:rPr lang="en-US" altLang="ja-JP" dirty="0"/>
              <a:t>HTML</a:t>
            </a:r>
            <a:r>
              <a:rPr lang="ja-JP" altLang="en-US"/>
              <a:t>ページを作成する．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動的にページを作成する</a:t>
            </a:r>
            <a:r>
              <a:rPr lang="en-US" altLang="ja-JP" dirty="0"/>
              <a:t>SSR (Server-Side Rendering) </a:t>
            </a:r>
            <a:r>
              <a:rPr lang="ja-JP" altLang="en-US"/>
              <a:t>や</a:t>
            </a:r>
            <a:r>
              <a:rPr lang="en-US" altLang="ja-JP" dirty="0"/>
              <a:t>CSR (Client-Side Rendering)</a:t>
            </a:r>
            <a:r>
              <a:rPr lang="ja-JP" altLang="en-US"/>
              <a:t>に比べて以下の利点がある．</a:t>
            </a:r>
            <a:endParaRPr lang="en-US" altLang="ja-JP" dirty="0"/>
          </a:p>
          <a:p>
            <a:pPr lvl="2">
              <a:lnSpc>
                <a:spcPct val="120000"/>
              </a:lnSpc>
            </a:pPr>
            <a:r>
              <a:rPr lang="ja-JP" altLang="en-US"/>
              <a:t>特別なサーバが不要である．</a:t>
            </a:r>
            <a:endParaRPr lang="en-US" altLang="ja-JP" dirty="0"/>
          </a:p>
          <a:p>
            <a:pPr lvl="2">
              <a:lnSpc>
                <a:spcPct val="120000"/>
              </a:lnSpc>
            </a:pPr>
            <a:r>
              <a:rPr lang="ja-JP" altLang="en-US"/>
              <a:t>閲覧が早い．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逆にインタラクティブな操作に一定の制限がある．</a:t>
            </a:r>
            <a:endParaRPr lang="en-US" altLang="ja-JP" dirty="0"/>
          </a:p>
          <a:p>
            <a:pPr lvl="2">
              <a:lnSpc>
                <a:spcPct val="120000"/>
              </a:lnSpc>
            </a:pPr>
            <a:r>
              <a:rPr lang="ja-JP" altLang="en-US"/>
              <a:t>とはいえ，近年は</a:t>
            </a:r>
            <a:r>
              <a:rPr lang="en-US" altLang="ja-JP" dirty="0"/>
              <a:t>JavaScript</a:t>
            </a:r>
            <a:r>
              <a:rPr lang="ja-JP" altLang="en-US"/>
              <a:t>である程度のことができる．</a:t>
            </a:r>
            <a:endParaRPr lang="en-US" altLang="ja-JP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DF14A1C-17DD-0C72-3477-2998D6378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B278FE2-5DD4-20C8-BB24-6110EB51A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5C2EA-A201-0F41-BE6C-96A0CC88D6B3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0602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E7E2D1-04F5-5902-CC4F-D6947436E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SSR</a:t>
            </a:r>
            <a:r>
              <a:rPr lang="en-US" altLang="ja-JP" dirty="0"/>
              <a:t> </a:t>
            </a:r>
            <a:r>
              <a:rPr kumimoji="1" lang="en-US" altLang="ja-JP" dirty="0" err="1"/>
              <a:t>v.s</a:t>
            </a:r>
            <a:r>
              <a:rPr lang="en-US" altLang="ja-JP" dirty="0"/>
              <a:t>. SSG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1F33A-F8BA-467C-E8E2-22AF55CFD73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62500" lnSpcReduction="20000"/>
          </a:bodyPr>
          <a:lstStyle/>
          <a:p>
            <a:pPr>
              <a:lnSpc>
                <a:spcPct val="120000"/>
              </a:lnSpc>
            </a:pPr>
            <a:r>
              <a:rPr kumimoji="1" lang="en-US" altLang="ja-JP" dirty="0"/>
              <a:t>SSR</a:t>
            </a:r>
          </a:p>
          <a:p>
            <a:pPr lvl="1">
              <a:lnSpc>
                <a:spcPct val="120000"/>
              </a:lnSpc>
            </a:pPr>
            <a:r>
              <a:rPr kumimoji="1" lang="ja-JP" altLang="en-US"/>
              <a:t>リクエストのたびに動的にページを生成する．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kumimoji="1" lang="en-US" altLang="ja-JP" dirty="0"/>
              <a:t>SSR</a:t>
            </a:r>
            <a:r>
              <a:rPr kumimoji="1" lang="ja-JP" altLang="en-US"/>
              <a:t>サーバ（と多くの場合データベース）を用意しておく必要がある．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kumimoji="1" lang="ja-JP" altLang="en-US"/>
              <a:t>動的なページが作成できる．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低パフォーマンス</a:t>
            </a:r>
            <a:endParaRPr lang="en-US" altLang="ja-JP" dirty="0"/>
          </a:p>
          <a:p>
            <a:pPr lvl="2">
              <a:lnSpc>
                <a:spcPct val="120000"/>
              </a:lnSpc>
            </a:pPr>
            <a:r>
              <a:rPr lang="en-US" altLang="ja-JP" dirty="0"/>
              <a:t>SSG</a:t>
            </a:r>
            <a:r>
              <a:rPr lang="ja-JP" altLang="en-US"/>
              <a:t>と比較しての話．</a:t>
            </a:r>
            <a:endParaRPr kumimoji="1" lang="en-US" altLang="ja-JP" dirty="0"/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A0B0402-944E-26A2-BD63-140E0FF3ADB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pPr>
              <a:lnSpc>
                <a:spcPct val="120000"/>
              </a:lnSpc>
            </a:pPr>
            <a:r>
              <a:rPr lang="en-US" altLang="ja-JP" dirty="0"/>
              <a:t>SSG (Static Site Generator)</a:t>
            </a:r>
          </a:p>
          <a:p>
            <a:pPr lvl="1">
              <a:lnSpc>
                <a:spcPct val="120000"/>
              </a:lnSpc>
            </a:pPr>
            <a:r>
              <a:rPr kumimoji="1" lang="ja-JP" altLang="en-US"/>
              <a:t>静的にページを生成し，</a:t>
            </a:r>
            <a:r>
              <a:rPr lang="ja-JP" altLang="en-US"/>
              <a:t>通常の</a:t>
            </a:r>
            <a:r>
              <a:rPr lang="en-US" altLang="ja-JP" dirty="0"/>
              <a:t>Web</a:t>
            </a:r>
            <a:r>
              <a:rPr lang="ja-JP" altLang="en-US"/>
              <a:t>サーバに配置しておく．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kumimoji="1" lang="en-US" altLang="ja-JP" dirty="0"/>
              <a:t>Web</a:t>
            </a:r>
            <a:r>
              <a:rPr kumimoji="1" lang="ja-JP" altLang="en-US"/>
              <a:t>サーバのみがあれば良い．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動的なページの作成には</a:t>
            </a:r>
            <a:r>
              <a:rPr lang="en-US" altLang="ja-JP" dirty="0"/>
              <a:t>JavaScript</a:t>
            </a:r>
            <a:r>
              <a:rPr lang="ja-JP" altLang="en-US"/>
              <a:t>などの知識が必要となる．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kumimoji="1" lang="ja-JP" altLang="en-US"/>
              <a:t>高パフォーマンス．</a:t>
            </a:r>
            <a:endParaRPr kumimoji="1" lang="en-US" altLang="ja-JP" dirty="0"/>
          </a:p>
          <a:p>
            <a:pPr lvl="2">
              <a:lnSpc>
                <a:spcPct val="120000"/>
              </a:lnSpc>
            </a:pPr>
            <a:r>
              <a:rPr lang="ja-JP" altLang="en-US"/>
              <a:t>通常の</a:t>
            </a:r>
            <a:r>
              <a:rPr lang="en-US" altLang="ja-JP" dirty="0"/>
              <a:t>HTML</a:t>
            </a:r>
            <a:r>
              <a:rPr lang="ja-JP" altLang="en-US"/>
              <a:t>ページのやり取りと同じ．</a:t>
            </a:r>
            <a:endParaRPr kumimoji="1" lang="ja-JP" alt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976F535-AB50-01F0-32C8-F5FF761DD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CBC746A-0BF1-A004-1899-543E03B12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11</a:t>
            </a:fld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DE9FDC1-50EF-A7FC-E803-9EA8B95D0E29}"/>
              </a:ext>
            </a:extLst>
          </p:cNvPr>
          <p:cNvSpPr txBox="1"/>
          <p:nvPr/>
        </p:nvSpPr>
        <p:spPr>
          <a:xfrm>
            <a:off x="1874521" y="1760310"/>
            <a:ext cx="6100354" cy="5878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kumimoji="1" lang="en-US" altLang="ja-JP" sz="2800" dirty="0">
                <a:latin typeface="Meiryo" panose="020B0604030504040204" pitchFamily="34" charset="-128"/>
                <a:ea typeface="Meiryo" panose="020B0604030504040204" pitchFamily="34" charset="-128"/>
              </a:rPr>
              <a:t>(Server-Side Rendering)</a:t>
            </a:r>
          </a:p>
        </p:txBody>
      </p:sp>
    </p:spTree>
    <p:extLst>
      <p:ext uri="{BB962C8B-B14F-4D97-AF65-F5344CB8AC3E}">
        <p14:creationId xmlns:p14="http://schemas.microsoft.com/office/powerpoint/2010/main" val="824942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CD0F2B4-C269-7BE9-DE1F-1A7F1D4E0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SSG</a:t>
            </a:r>
            <a:endParaRPr kumimoji="1" lang="ja-JP" altLang="en-US"/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597BBBA-E1DA-153B-2112-C60141B5CC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772400" cy="3676922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20000"/>
              </a:lnSpc>
            </a:pPr>
            <a:r>
              <a:rPr lang="ja-JP" altLang="en-US"/>
              <a:t>非常に多くのツールがリリースされている．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今回は，</a:t>
            </a:r>
            <a:r>
              <a:rPr lang="en-US" altLang="ja-JP" dirty="0"/>
              <a:t>Go</a:t>
            </a:r>
            <a:r>
              <a:rPr lang="ja-JP" altLang="en-US"/>
              <a:t>製の</a:t>
            </a:r>
            <a:r>
              <a:rPr lang="en-US" altLang="ja-JP" dirty="0"/>
              <a:t>Hugo</a:t>
            </a:r>
            <a:r>
              <a:rPr lang="ja-JP" altLang="en-US"/>
              <a:t>を利用する．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en" altLang="ja-JP" dirty="0">
                <a:hlinkClick r:id="rId2"/>
              </a:rPr>
              <a:t>https://gohugo.io</a:t>
            </a:r>
            <a:endParaRPr lang="en" altLang="ja-JP" dirty="0"/>
          </a:p>
          <a:p>
            <a:pPr lvl="2">
              <a:lnSpc>
                <a:spcPct val="120000"/>
              </a:lnSpc>
            </a:pPr>
            <a:r>
              <a:rPr lang="en" altLang="ja-JP" dirty="0"/>
              <a:t>JavaScript</a:t>
            </a:r>
            <a:r>
              <a:rPr lang="ja-JP" altLang="en-US"/>
              <a:t>製以外でトップの人気である．</a:t>
            </a:r>
            <a:endParaRPr lang="en-US" altLang="ja-JP" dirty="0"/>
          </a:p>
          <a:p>
            <a:pPr lvl="2">
              <a:lnSpc>
                <a:spcPct val="120000"/>
              </a:lnSpc>
            </a:pPr>
            <a:r>
              <a:rPr lang="en-US" altLang="ja-JP" dirty="0"/>
              <a:t>Go</a:t>
            </a:r>
            <a:r>
              <a:rPr lang="ja-JP" altLang="en-US"/>
              <a:t>言語で書かれている．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endParaRPr lang="ja-JP" alt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B668EA2-51BA-D8FD-8477-30D0B6251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D427FAD2-2504-9E7E-CA58-ACA16E87A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12</a:t>
            </a:fld>
            <a:endParaRPr kumimoji="1" lang="ja-JP" altLang="en-US"/>
          </a:p>
        </p:txBody>
      </p:sp>
      <p:pic>
        <p:nvPicPr>
          <p:cNvPr id="1026" name="Picture 2" descr="The world's fastest framework for building websites | Hugo">
            <a:extLst>
              <a:ext uri="{FF2B5EF4-FFF2-40B4-BE49-F238E27FC236}">
                <a16:creationId xmlns:a16="http://schemas.microsoft.com/office/drawing/2014/main" id="{A8A5F489-952F-C66F-BFBD-2B4B346ACB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3130" y="439498"/>
            <a:ext cx="2748522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JAMstackフレームワーク比較| JAMstackブログ | 合同会社TamaT">
            <a:extLst>
              <a:ext uri="{FF2B5EF4-FFF2-40B4-BE49-F238E27FC236}">
                <a16:creationId xmlns:a16="http://schemas.microsoft.com/office/drawing/2014/main" id="{15A6F134-D3FC-F6D6-D24A-FD63CD2BEE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3800" y="2588230"/>
            <a:ext cx="2594838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GitHub - hexojs/hexo: A fast, simple &amp; powerful blog framework, powered by  Node.js.">
            <a:extLst>
              <a:ext uri="{FF2B5EF4-FFF2-40B4-BE49-F238E27FC236}">
                <a16:creationId xmlns:a16="http://schemas.microsoft.com/office/drawing/2014/main" id="{4D8EFD97-EE9A-60D5-482A-1047730F63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7391" y="5090736"/>
            <a:ext cx="216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Docusaurus ロゴ - ソーシャルメディアとロゴ アイコン">
            <a:extLst>
              <a:ext uri="{FF2B5EF4-FFF2-40B4-BE49-F238E27FC236}">
                <a16:creationId xmlns:a16="http://schemas.microsoft.com/office/drawing/2014/main" id="{F796F90B-7E45-194C-023D-CDDE4D6F3D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61385" y="439498"/>
            <a:ext cx="144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Jekyll&quot; Icon - Download for free – Iconduck">
            <a:extLst>
              <a:ext uri="{FF2B5EF4-FFF2-40B4-BE49-F238E27FC236}">
                <a16:creationId xmlns:a16="http://schemas.microsoft.com/office/drawing/2014/main" id="{4213664D-02DE-4848-5BA5-3A9063F146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3800" y="1513864"/>
            <a:ext cx="176158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Documenting Your Rust Projects With mdBook">
            <a:extLst>
              <a:ext uri="{FF2B5EF4-FFF2-40B4-BE49-F238E27FC236}">
                <a16:creationId xmlns:a16="http://schemas.microsoft.com/office/drawing/2014/main" id="{E48ED031-D670-3AC0-6397-B2FAAB7572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3800" y="4736963"/>
            <a:ext cx="28800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8E2B786-E444-334F-7D19-4FC4F248267D}"/>
              </a:ext>
            </a:extLst>
          </p:cNvPr>
          <p:cNvSpPr txBox="1"/>
          <p:nvPr/>
        </p:nvSpPr>
        <p:spPr>
          <a:xfrm>
            <a:off x="448854" y="5502547"/>
            <a:ext cx="61003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>
                <a:hlinkClick r:id="rId9"/>
              </a:rPr>
              <a:t>https://jamstack.org/generators/</a:t>
            </a:r>
            <a:endParaRPr lang="en-US" altLang="ja-JP" dirty="0"/>
          </a:p>
          <a:p>
            <a:r>
              <a:rPr lang="ja-JP" altLang="en-US">
                <a:hlinkClick r:id="rId10"/>
              </a:rPr>
              <a:t>https://fand.jp/static-site-generator-trends-2021/</a:t>
            </a:r>
            <a:endParaRPr lang="en-US" altLang="ja-JP" dirty="0"/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44AEBCD8-81B2-2A45-436C-8CCC13B13098}"/>
              </a:ext>
            </a:extLst>
          </p:cNvPr>
          <p:cNvSpPr/>
          <p:nvPr/>
        </p:nvSpPr>
        <p:spPr>
          <a:xfrm>
            <a:off x="5076092" y="230188"/>
            <a:ext cx="3240000" cy="1080000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グラフィックス 10">
            <a:extLst>
              <a:ext uri="{FF2B5EF4-FFF2-40B4-BE49-F238E27FC236}">
                <a16:creationId xmlns:a16="http://schemas.microsoft.com/office/drawing/2014/main" id="{0EE2C7D5-1E14-FE38-7C46-4CD743159C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143799" y="3662596"/>
            <a:ext cx="19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6119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0D7064-CDDB-0516-6675-81798BAE8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関連ページ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EC3FA57-0AA6-ACD3-1052-B29316679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40000" lnSpcReduction="20000"/>
          </a:bodyPr>
          <a:lstStyle/>
          <a:p>
            <a:pPr>
              <a:lnSpc>
                <a:spcPct val="120000"/>
              </a:lnSpc>
            </a:pPr>
            <a:r>
              <a:rPr kumimoji="1" lang="en-US" altLang="ja-JP" dirty="0"/>
              <a:t>Hugo</a:t>
            </a:r>
          </a:p>
          <a:p>
            <a:pPr lvl="1">
              <a:lnSpc>
                <a:spcPct val="120000"/>
              </a:lnSpc>
            </a:pPr>
            <a:r>
              <a:rPr kumimoji="1" lang="ja-JP" altLang="en-US"/>
              <a:t>発プロ　</a:t>
            </a:r>
            <a:r>
              <a:rPr kumimoji="1" lang="en-US" altLang="ja-JP" dirty="0">
                <a:hlinkClick r:id="rId2"/>
              </a:rPr>
              <a:t>https://ksuap.github.io/2024spring/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プロ演</a:t>
            </a:r>
            <a:r>
              <a:rPr lang="en-US" altLang="ja-JP" dirty="0"/>
              <a:t>B </a:t>
            </a:r>
            <a:r>
              <a:rPr lang="en-US" altLang="ja-JP" dirty="0">
                <a:hlinkClick r:id="rId3"/>
              </a:rPr>
              <a:t>https://ksubpb.github.io/2025/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玉田研　</a:t>
            </a:r>
            <a:r>
              <a:rPr lang="en-US" altLang="ja-JP" dirty="0">
                <a:hlinkClick r:id="rId4"/>
              </a:rPr>
              <a:t>https://tamadalab.github.io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宮森研　</a:t>
            </a:r>
            <a:r>
              <a:rPr lang="en" altLang="ja-JP" dirty="0">
                <a:hlinkClick r:id="rId5"/>
              </a:rPr>
              <a:t>http://milab.kyoto-su.ac.jp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棟方研　</a:t>
            </a:r>
            <a:r>
              <a:rPr lang="en" altLang="ja-JP" dirty="0">
                <a:hlinkClick r:id="rId6"/>
              </a:rPr>
              <a:t>https://munekata-lab.github.io</a:t>
            </a:r>
            <a:endParaRPr lang="en-US" altLang="ja-JP" dirty="0"/>
          </a:p>
          <a:p>
            <a:pPr>
              <a:lnSpc>
                <a:spcPct val="120000"/>
              </a:lnSpc>
            </a:pPr>
            <a:r>
              <a:rPr kumimoji="1" lang="en-US" altLang="ja-JP" dirty="0" err="1"/>
              <a:t>Wordpress</a:t>
            </a:r>
            <a:r>
              <a:rPr kumimoji="1" lang="en-US" altLang="ja-JP" dirty="0"/>
              <a:t>?</a:t>
            </a:r>
          </a:p>
          <a:p>
            <a:pPr lvl="1">
              <a:lnSpc>
                <a:spcPct val="120000"/>
              </a:lnSpc>
            </a:pPr>
            <a:r>
              <a:rPr lang="ja-JP" altLang="en-US"/>
              <a:t>林原研　</a:t>
            </a:r>
            <a:r>
              <a:rPr lang="en" altLang="ja-JP" dirty="0">
                <a:hlinkClick r:id="rId7"/>
              </a:rPr>
              <a:t>http://www.rudds.jp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平</a:t>
            </a:r>
            <a:r>
              <a:rPr lang="en-US" altLang="ja-JP" dirty="0"/>
              <a:t>#</a:t>
            </a:r>
            <a:r>
              <a:rPr lang="ja-JP" altLang="en-US"/>
              <a:t>研　</a:t>
            </a:r>
            <a:r>
              <a:rPr lang="en" altLang="ja-JP" dirty="0">
                <a:hlinkClick r:id="rId8"/>
              </a:rPr>
              <a:t>http://ubiqmedia.cse.kyoto-su.ac.jp</a:t>
            </a:r>
            <a:endParaRPr lang="en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荻野研　</a:t>
            </a:r>
            <a:r>
              <a:rPr lang="en" altLang="ja-JP" dirty="0">
                <a:hlinkClick r:id="rId9"/>
              </a:rPr>
              <a:t>https://kidsserv.kyoto-su.ac.jp</a:t>
            </a:r>
            <a:endParaRPr lang="en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瀬川研　</a:t>
            </a:r>
            <a:r>
              <a:rPr lang="en" altLang="ja-JP" dirty="0">
                <a:hlinkClick r:id="rId10"/>
              </a:rPr>
              <a:t>http://sensors.kyoto-su.ac.jp</a:t>
            </a:r>
            <a:endParaRPr lang="en-US" altLang="ja-JP" dirty="0"/>
          </a:p>
          <a:p>
            <a:pPr>
              <a:lnSpc>
                <a:spcPct val="120000"/>
              </a:lnSpc>
            </a:pPr>
            <a:endParaRPr lang="en-US" altLang="ja-JP" dirty="0"/>
          </a:p>
          <a:p>
            <a:pPr>
              <a:lnSpc>
                <a:spcPct val="120000"/>
              </a:lnSpc>
            </a:pPr>
            <a:endParaRPr kumimoji="1" lang="en-US" altLang="ja-JP" dirty="0"/>
          </a:p>
          <a:p>
            <a:pPr>
              <a:lnSpc>
                <a:spcPct val="120000"/>
              </a:lnSpc>
            </a:pPr>
            <a:r>
              <a:rPr kumimoji="1" lang="ja-JP" altLang="en-US"/>
              <a:t>手書き？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青木研　</a:t>
            </a:r>
            <a:r>
              <a:rPr lang="en" altLang="ja-JP" dirty="0">
                <a:hlinkClick r:id="rId11"/>
              </a:rPr>
              <a:t>http://aokilab.kyoto-su.ac.jp/index-j.html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kumimoji="1" lang="ja-JP" altLang="en-US"/>
              <a:t>川村研</a:t>
            </a:r>
            <a:r>
              <a:rPr lang="ja-JP" altLang="en-US"/>
              <a:t>　</a:t>
            </a:r>
            <a:r>
              <a:rPr kumimoji="1" lang="en" altLang="ja-JP" dirty="0">
                <a:hlinkClick r:id="rId12"/>
              </a:rPr>
              <a:t>http://www.cc.kyoto-su.ac.jp/~kawamura/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岡田研　</a:t>
            </a:r>
            <a:r>
              <a:rPr lang="en" altLang="ja-JP" dirty="0">
                <a:hlinkClick r:id="rId13"/>
              </a:rPr>
              <a:t>http://www.cc.kyoto-su.ac.jp/~hidehiko/index.php</a:t>
            </a:r>
            <a:endParaRPr kumimoji="1" lang="en-US" altLang="ja-JP" dirty="0"/>
          </a:p>
          <a:p>
            <a:pPr>
              <a:lnSpc>
                <a:spcPct val="120000"/>
              </a:lnSpc>
            </a:pPr>
            <a:r>
              <a:rPr lang="en-US" altLang="ja-JP" dirty="0"/>
              <a:t>Google Site</a:t>
            </a:r>
          </a:p>
          <a:p>
            <a:pPr lvl="1">
              <a:lnSpc>
                <a:spcPct val="120000"/>
              </a:lnSpc>
            </a:pPr>
            <a:r>
              <a:rPr kumimoji="1" lang="ja-JP" altLang="en-US"/>
              <a:t>秋山・小林研　</a:t>
            </a:r>
            <a:r>
              <a:rPr kumimoji="1" lang="en" altLang="ja-JP" dirty="0">
                <a:hlinkClick r:id="rId14"/>
              </a:rPr>
              <a:t>https://aklab.kyoto-su.ac.jp</a:t>
            </a:r>
            <a:endParaRPr lang="en" altLang="ja-JP" dirty="0"/>
          </a:p>
          <a:p>
            <a:pPr lvl="1">
              <a:lnSpc>
                <a:spcPct val="120000"/>
              </a:lnSpc>
            </a:pPr>
            <a:endParaRPr kumimoji="1" lang="en-US" altLang="ja-JP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42152A0-B5AD-D2B2-64F6-92C99116D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7528E92-435D-E5EB-533B-5FE22CD78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5C2EA-A201-0F41-BE6C-96A0CC88D6B3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77832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15A6B9-7E44-9A73-97F6-4261D2951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AI</a:t>
            </a:r>
            <a:r>
              <a:rPr kumimoji="1" lang="ja-JP" altLang="en-US"/>
              <a:t>に書いてもらうのも良い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822F444-5924-BD55-3223-126F30E3ED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88980" cy="4351338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20000"/>
              </a:lnSpc>
            </a:pPr>
            <a:r>
              <a:rPr kumimoji="1" lang="ja-JP" altLang="en-US"/>
              <a:t>デザインを</a:t>
            </a:r>
            <a:r>
              <a:rPr kumimoji="1" lang="en-US" altLang="ja-JP" dirty="0"/>
              <a:t>AI</a:t>
            </a:r>
            <a:r>
              <a:rPr lang="ja-JP" altLang="en-US"/>
              <a:t>に任せて直に</a:t>
            </a:r>
            <a:r>
              <a:rPr lang="en-US" altLang="ja-JP" dirty="0"/>
              <a:t>HTML</a:t>
            </a:r>
            <a:r>
              <a:rPr lang="ja-JP" altLang="en-US"/>
              <a:t>を吐かせるのも良い。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その際、どのようなフレームワークを利用するかを指定しよう。</a:t>
            </a:r>
            <a:endParaRPr lang="en-US" altLang="ja-JP" dirty="0"/>
          </a:p>
          <a:p>
            <a:pPr lvl="2">
              <a:lnSpc>
                <a:spcPct val="120000"/>
              </a:lnSpc>
            </a:pPr>
            <a:r>
              <a:rPr lang="en-US" altLang="ja-JP" dirty="0"/>
              <a:t>Bootstrap, </a:t>
            </a:r>
            <a:r>
              <a:rPr lang="en-US" altLang="ja-JP" dirty="0" err="1"/>
              <a:t>TailwindCSS</a:t>
            </a:r>
            <a:r>
              <a:rPr lang="ja-JP" altLang="en-US"/>
              <a:t>とか、</a:t>
            </a:r>
            <a:r>
              <a:rPr lang="en-US" altLang="ja-JP" dirty="0"/>
              <a:t>Sass/SCSS, </a:t>
            </a:r>
            <a:r>
              <a:rPr lang="en-US" altLang="ja-JP" dirty="0" err="1"/>
              <a:t>PostCSS</a:t>
            </a:r>
            <a:r>
              <a:rPr lang="ja-JP" altLang="en-US"/>
              <a:t>とか。</a:t>
            </a:r>
            <a:endParaRPr lang="en" altLang="ja-JP" dirty="0"/>
          </a:p>
          <a:p>
            <a:pPr>
              <a:lnSpc>
                <a:spcPct val="120000"/>
              </a:lnSpc>
            </a:pPr>
            <a:r>
              <a:rPr kumimoji="1" lang="ja-JP" altLang="en-US"/>
              <a:t>（私見）今までの資産との整合性を重要視するのが良いと思う。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異なるプロダクトだから違うデザインを採用するのも良い。</a:t>
            </a:r>
            <a:endParaRPr kumimoji="1" lang="ja-JP" alt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B0215C4-281C-AECB-EC28-0EF3D2E564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96CB470-64CA-B279-AB23-22DAD2244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41196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7D11EFC-16EA-4872-113D-A1594AA85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ドキュメントへの掲載内容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10CCF4A-539C-4C8C-A942-606CC33F50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README.md</a:t>
            </a:r>
            <a:r>
              <a:rPr lang="en-US" altLang="ja-JP" dirty="0"/>
              <a:t> </a:t>
            </a:r>
            <a:r>
              <a:rPr lang="ja-JP" altLang="en-US"/>
              <a:t>の内容に加えて，より詳細を載せる．</a:t>
            </a:r>
            <a:endParaRPr lang="en-US" altLang="ja-JP" dirty="0"/>
          </a:p>
          <a:p>
            <a:pPr lvl="1">
              <a:lnSpc>
                <a:spcPct val="100000"/>
              </a:lnSpc>
            </a:pPr>
            <a:r>
              <a:rPr lang="ja-JP" altLang="en-US"/>
              <a:t>アルゴリズム，チュートリアル，複数の実行例など．</a:t>
            </a:r>
            <a:endParaRPr lang="en-US" altLang="ja-JP" dirty="0"/>
          </a:p>
          <a:p>
            <a:pPr lvl="1">
              <a:lnSpc>
                <a:spcPct val="100000"/>
              </a:lnSpc>
            </a:pPr>
            <a:r>
              <a:rPr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README.md</a:t>
            </a:r>
            <a:r>
              <a:rPr lang="ja-JP" altLang="en-US"/>
              <a:t>には</a:t>
            </a:r>
            <a:r>
              <a:rPr lang="en-US" altLang="ja-JP" dirty="0"/>
              <a:t>1, 2</a:t>
            </a:r>
            <a:r>
              <a:rPr lang="ja-JP" altLang="en-US"/>
              <a:t>の実行例があると良い．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E6F54A5-2E15-BE97-8A26-01CF5EE53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3F11748-5ADC-2920-B2E7-547E93E5B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5C2EA-A201-0F41-BE6C-96A0CC88D6B3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7816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41F213-6689-3E81-913D-AF678389B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sz="3600" dirty="0"/>
              <a:t>Hugo</a:t>
            </a:r>
            <a:br>
              <a:rPr kumimoji="1" lang="en-US" altLang="ja-JP" dirty="0"/>
            </a:br>
            <a:r>
              <a:rPr kumimoji="1" lang="ja-JP" altLang="en-US"/>
              <a:t>初期化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6985BC3-6FF7-A2B8-D4CA-220C15065F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lnSpc>
                <a:spcPct val="110000"/>
              </a:lnSpc>
            </a:pPr>
            <a:r>
              <a:rPr kumimoji="1" lang="ja-JP" altLang="en-US"/>
              <a:t>プロジェクトのトップページにて以下を実行する．</a:t>
            </a:r>
            <a:endParaRPr kumimoji="1" lang="en-US" altLang="ja-JP" dirty="0"/>
          </a:p>
          <a:p>
            <a:pPr>
              <a:lnSpc>
                <a:spcPct val="110000"/>
              </a:lnSpc>
            </a:pPr>
            <a:endParaRPr kumimoji="1" lang="en-US" altLang="ja-JP" dirty="0"/>
          </a:p>
          <a:p>
            <a:pPr>
              <a:lnSpc>
                <a:spcPct val="110000"/>
              </a:lnSpc>
            </a:pPr>
            <a:r>
              <a:rPr lang="en-US" altLang="ja-JP" dirty="0">
                <a:solidFill>
                  <a:schemeClr val="bg1"/>
                </a:solidFill>
                <a:highlight>
                  <a:srgbClr val="00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ja-JP" dirty="0" err="1">
                <a:solidFill>
                  <a:schemeClr val="bg1"/>
                </a:solidFill>
                <a:highlight>
                  <a:srgbClr val="00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hugo</a:t>
            </a:r>
            <a:r>
              <a:rPr lang="en-US" altLang="ja-JP" dirty="0">
                <a:solidFill>
                  <a:schemeClr val="bg1"/>
                </a:solidFill>
                <a:highlight>
                  <a:srgbClr val="00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new site </a:t>
            </a:r>
            <a:r>
              <a:rPr lang="ja-JP" altLang="en-US">
                <a:latin typeface="Consolas" panose="020B0609020204030204" pitchFamily="49" charset="0"/>
                <a:cs typeface="Consolas" panose="020B0609020204030204" pitchFamily="49" charset="0"/>
              </a:rPr>
              <a:t>がコマンドで，</a:t>
            </a: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docs</a:t>
            </a:r>
            <a:r>
              <a:rPr lang="ja-JP" altLang="en-US"/>
              <a:t>ディレクトリに</a:t>
            </a:r>
            <a:r>
              <a:rPr lang="en-US" altLang="ja-JP" dirty="0" err="1"/>
              <a:t>hugo</a:t>
            </a:r>
            <a:r>
              <a:rPr lang="ja-JP" altLang="en-US"/>
              <a:t>に必要なファイルを展開する．</a:t>
            </a:r>
            <a:endParaRPr lang="en-US" altLang="ja-JP" dirty="0"/>
          </a:p>
          <a:p>
            <a:pPr lvl="1">
              <a:lnSpc>
                <a:spcPct val="110000"/>
              </a:lnSpc>
            </a:pP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docs</a:t>
            </a:r>
            <a:r>
              <a:rPr kumimoji="1" lang="ja-JP" altLang="en-US"/>
              <a:t>以下で重要なのは，</a:t>
            </a: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config</a:t>
            </a:r>
            <a:r>
              <a:rPr kumimoji="1" lang="en-US" altLang="ja-JP" dirty="0"/>
              <a:t>, </a:t>
            </a: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content</a:t>
            </a:r>
            <a:r>
              <a:rPr lang="en-US" altLang="ja-JP" dirty="0"/>
              <a:t>, </a:t>
            </a: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static</a:t>
            </a:r>
            <a:r>
              <a:rPr lang="en-US" altLang="ja-JP" dirty="0"/>
              <a:t>, </a:t>
            </a: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themes</a:t>
            </a:r>
            <a:r>
              <a:rPr lang="en-US" altLang="ja-JP" dirty="0"/>
              <a:t>, </a:t>
            </a: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public</a:t>
            </a:r>
            <a:r>
              <a:rPr lang="ja-JP" altLang="en-US"/>
              <a:t>の</a:t>
            </a:r>
            <a:r>
              <a:rPr lang="en-US" altLang="ja-JP" dirty="0"/>
              <a:t>5</a:t>
            </a:r>
            <a:r>
              <a:rPr lang="ja-JP" altLang="en-US"/>
              <a:t>つ．</a:t>
            </a:r>
            <a:endParaRPr kumimoji="1" lang="ja-JP" alt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CC73EA-9341-EB99-1BB3-DDD043AEA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8DFAC72-4876-50FC-F48E-17A66015A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16</a:t>
            </a:fld>
            <a:endParaRPr kumimoji="1" lang="ja-JP" altLang="en-US"/>
          </a:p>
        </p:txBody>
      </p:sp>
      <p:pic>
        <p:nvPicPr>
          <p:cNvPr id="6" name="Picture 2" descr="GoHugo.io · GitHub">
            <a:extLst>
              <a:ext uri="{FF2B5EF4-FFF2-40B4-BE49-F238E27FC236}">
                <a16:creationId xmlns:a16="http://schemas.microsoft.com/office/drawing/2014/main" id="{5284F6D2-04BC-136D-6AF2-879DB9BCD3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3800" y="487906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63E4411-E6DF-1FF0-9820-16ACB7FE23BA}"/>
              </a:ext>
            </a:extLst>
          </p:cNvPr>
          <p:cNvSpPr txBox="1"/>
          <p:nvPr/>
        </p:nvSpPr>
        <p:spPr>
          <a:xfrm>
            <a:off x="1136470" y="3032109"/>
            <a:ext cx="4253087" cy="584775"/>
          </a:xfrm>
          <a:prstGeom prst="rect">
            <a:avLst/>
          </a:prstGeom>
          <a:solidFill>
            <a:schemeClr val="tx1"/>
          </a:solidFill>
          <a:ln w="38100"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32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hugo</a:t>
            </a:r>
            <a:r>
              <a:rPr kumimoji="1" lang="en-US" altLang="ja-JP" sz="3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new site docs</a:t>
            </a:r>
            <a:endParaRPr kumimoji="1" lang="ja-JP" altLang="en-US" sz="320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30724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41F213-6689-3E81-913D-AF678389B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sz="3600" dirty="0"/>
              <a:t>Hugo</a:t>
            </a:r>
            <a:br>
              <a:rPr kumimoji="1" lang="en-US" altLang="ja-JP" dirty="0"/>
            </a:br>
            <a:r>
              <a:rPr lang="ja-JP" altLang="en-US"/>
              <a:t>ディレクトリの内容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6985BC3-6FF7-A2B8-D4CA-220C15065F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44469"/>
          </a:xfrm>
        </p:spPr>
        <p:txBody>
          <a:bodyPr numCol="2">
            <a:normAutofit fontScale="47500" lnSpcReduction="20000"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config/_default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kumimoji="1" lang="ja-JP" altLang="en-US">
                <a:latin typeface="Consolas" panose="020B0609020204030204" pitchFamily="49" charset="0"/>
                <a:cs typeface="Consolas" panose="020B0609020204030204" pitchFamily="49" charset="0"/>
              </a:rPr>
              <a:t>設定ファイルが置かれるディレクトリ．</a:t>
            </a:r>
            <a:r>
              <a:rPr kumimoji="1"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hugo.toml</a:t>
            </a:r>
            <a:r>
              <a:rPr kumimoji="1" lang="ja-JP" altLang="en-US">
                <a:latin typeface="Consolas" panose="020B0609020204030204" pitchFamily="49" charset="0"/>
                <a:cs typeface="Consolas" panose="020B0609020204030204" pitchFamily="49" charset="0"/>
              </a:rPr>
              <a:t>や</a:t>
            </a:r>
            <a:r>
              <a:rPr kumimoji="1"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params.toml</a:t>
            </a:r>
            <a:r>
              <a:rPr kumimoji="1" lang="ja-JP" altLang="en-US">
                <a:latin typeface="Consolas" panose="020B0609020204030204" pitchFamily="49" charset="0"/>
                <a:cs typeface="Consolas" panose="020B0609020204030204" pitchFamily="49" charset="0"/>
              </a:rPr>
              <a:t>など．</a:t>
            </a:r>
            <a:endParaRPr kumimoji="1" lang="en-US" altLang="ja-JP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kumimoji="1" lang="ja-JP" altLang="en-US">
                <a:latin typeface="Consolas" panose="020B0609020204030204" pitchFamily="49" charset="0"/>
                <a:cs typeface="Consolas" panose="020B0609020204030204" pitchFamily="49" charset="0"/>
              </a:rPr>
              <a:t>具体的な設定内容はテーマのチュートリアルなどを参考にすること．</a:t>
            </a:r>
            <a:endParaRPr kumimoji="1" lang="en-US" altLang="ja-JP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content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altLang="ja-JP" dirty="0"/>
              <a:t>Web</a:t>
            </a:r>
            <a:r>
              <a:rPr lang="ja-JP" altLang="en-US"/>
              <a:t>ページの内容そのもの．</a:t>
            </a:r>
            <a:r>
              <a:rPr lang="en-US" altLang="ja-JP" dirty="0"/>
              <a:t>Markdown</a:t>
            </a:r>
            <a:r>
              <a:rPr lang="ja-JP" altLang="en-US"/>
              <a:t>形式で書き，</a:t>
            </a:r>
            <a:r>
              <a:rPr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hugo</a:t>
            </a:r>
            <a:r>
              <a:rPr lang="ja-JP" altLang="en-US"/>
              <a:t>を実行することで</a:t>
            </a:r>
            <a:r>
              <a:rPr lang="en-US" altLang="ja-JP" dirty="0"/>
              <a:t>HTML</a:t>
            </a:r>
            <a:r>
              <a:rPr lang="ja-JP" altLang="en-US"/>
              <a:t>に変換される．</a:t>
            </a:r>
            <a:endParaRPr kumimoji="1" lang="en-US" altLang="ja-JP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layouts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kumimoji="1" lang="en-US" altLang="ja-JP" dirty="0"/>
              <a:t>HTML</a:t>
            </a:r>
            <a:r>
              <a:rPr lang="ja-JP" altLang="en-US"/>
              <a:t>に</a:t>
            </a: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content</a:t>
            </a:r>
            <a:r>
              <a:rPr lang="ja-JP" altLang="en-US"/>
              <a:t>をどのように配置するかを決めるファイル．</a:t>
            </a:r>
            <a:r>
              <a:rPr lang="en-US" altLang="ja-JP" dirty="0"/>
              <a:t>themes</a:t>
            </a:r>
            <a:r>
              <a:rPr lang="ja-JP" altLang="en-US"/>
              <a:t>以下にも存在している．</a:t>
            </a:r>
            <a:endParaRPr kumimoji="1" lang="en-US" altLang="ja-JP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endParaRPr kumimoji="1" lang="en-US" altLang="ja-JP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static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ja-JP" altLang="en-US"/>
              <a:t>変換されないそのまま</a:t>
            </a:r>
            <a:r>
              <a:rPr lang="en-US" altLang="ja-JP" dirty="0"/>
              <a:t>Web</a:t>
            </a:r>
            <a:r>
              <a:rPr lang="ja-JP" altLang="en-US"/>
              <a:t>ページに掲載されるものはこちらに置く．画像など．ただし，画像も</a:t>
            </a: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content</a:t>
            </a:r>
            <a:r>
              <a:rPr lang="ja-JP" altLang="en-US"/>
              <a:t>以下に置くやり方もある．</a:t>
            </a:r>
            <a:endParaRPr kumimoji="1" lang="en-US" altLang="ja-JP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themes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ja-JP" altLang="en-US"/>
              <a:t>テーマを置くディレクトリ．複数のテーマを置くことも可能（同時に利用できるのは１つ）．</a:t>
            </a:r>
            <a:endParaRPr lang="en-US" altLang="ja-JP" dirty="0"/>
          </a:p>
          <a:p>
            <a:pPr lvl="2">
              <a:lnSpc>
                <a:spcPct val="120000"/>
              </a:lnSpc>
              <a:spcBef>
                <a:spcPts val="0"/>
              </a:spcBef>
            </a:pPr>
            <a:r>
              <a:rPr lang="ja-JP" altLang="en-US"/>
              <a:t>最新の</a:t>
            </a:r>
            <a:r>
              <a:rPr lang="en-US" altLang="ja-JP" dirty="0"/>
              <a:t>Hugo</a:t>
            </a:r>
            <a:r>
              <a:rPr lang="ja-JP" altLang="en-US"/>
              <a:t>では</a:t>
            </a:r>
            <a:r>
              <a:rPr lang="en-US" altLang="ja-JP" dirty="0"/>
              <a:t>mod</a:t>
            </a:r>
            <a:r>
              <a:rPr lang="ja-JP" altLang="en-US"/>
              <a:t>機能を使うと不要．</a:t>
            </a:r>
            <a:endParaRPr lang="en-US" altLang="ja-JP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public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kumimoji="1" lang="ja-JP" altLang="en-US"/>
              <a:t>変換後の</a:t>
            </a:r>
            <a:r>
              <a:rPr lang="en-US" altLang="ja-JP" dirty="0"/>
              <a:t>Web</a:t>
            </a:r>
            <a:r>
              <a:rPr lang="ja-JP" altLang="en-US"/>
              <a:t>サイトが置かれるディレクトリ．</a:t>
            </a:r>
            <a:endParaRPr lang="en-US" altLang="ja-JP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kumimoji="1" lang="ja-JP" altLang="en-US"/>
              <a:t>このディレクトリを</a:t>
            </a:r>
            <a:r>
              <a:rPr kumimoji="1"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gh</a:t>
            </a: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-pages</a:t>
            </a:r>
            <a:r>
              <a:rPr kumimoji="1" lang="ja-JP" altLang="en-US"/>
              <a:t>ブランチに設定しておくと良い（後述）．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CC73EA-9341-EB99-1BB3-DDD043AEA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8DFAC72-4876-50FC-F48E-17A66015A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17</a:t>
            </a:fld>
            <a:endParaRPr kumimoji="1" lang="ja-JP" altLang="en-US"/>
          </a:p>
        </p:txBody>
      </p:sp>
      <p:pic>
        <p:nvPicPr>
          <p:cNvPr id="6" name="Picture 2" descr="GoHugo.io · GitHub">
            <a:extLst>
              <a:ext uri="{FF2B5EF4-FFF2-40B4-BE49-F238E27FC236}">
                <a16:creationId xmlns:a16="http://schemas.microsoft.com/office/drawing/2014/main" id="{5284F6D2-04BC-136D-6AF2-879DB9BCD3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3800" y="487906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26401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A777E4-FE91-468C-F58E-FCE9578F77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sz="3600" dirty="0"/>
              <a:t>Hugo</a:t>
            </a:r>
            <a:br>
              <a:rPr kumimoji="1" lang="en-US" altLang="ja-JP" dirty="0"/>
            </a:br>
            <a:r>
              <a:rPr lang="ja-JP" altLang="en-US"/>
              <a:t>テーマの適用方法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50E454E-7F4F-0037-2121-72F3E9895A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pPr>
              <a:lnSpc>
                <a:spcPct val="120000"/>
              </a:lnSpc>
            </a:pPr>
            <a:r>
              <a:rPr lang="en-US" altLang="ja-JP" dirty="0" err="1"/>
              <a:t>h</a:t>
            </a:r>
            <a:r>
              <a:rPr kumimoji="1" lang="en-US" altLang="ja-JP" dirty="0" err="1"/>
              <a:t>ugo</a:t>
            </a:r>
            <a:r>
              <a:rPr kumimoji="1" lang="en-US" altLang="ja-JP" dirty="0"/>
              <a:t> module</a:t>
            </a:r>
            <a:r>
              <a:rPr kumimoji="1" lang="ja-JP" altLang="en-US"/>
              <a:t>（推奨）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新しいテーマであればこの方法を用いる．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kumimoji="1"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hugo</a:t>
            </a: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 mod </a:t>
            </a:r>
            <a:r>
              <a:rPr kumimoji="1"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init</a:t>
            </a: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kumimoji="1"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github.com</a:t>
            </a: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kumimoji="1" lang="en-US" altLang="ja-JP" i="1" dirty="0">
                <a:latin typeface="Consolas" panose="020B0609020204030204" pitchFamily="49" charset="0"/>
                <a:cs typeface="Consolas" panose="020B0609020204030204" pitchFamily="49" charset="0"/>
              </a:rPr>
              <a:t>USER</a:t>
            </a: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kumimoji="1" lang="en-US" altLang="ja-JP" i="1" dirty="0" err="1">
                <a:latin typeface="Consolas" panose="020B0609020204030204" pitchFamily="49" charset="0"/>
                <a:cs typeface="Consolas" panose="020B0609020204030204" pitchFamily="49" charset="0"/>
              </a:rPr>
              <a:t>REPO</a:t>
            </a:r>
            <a:r>
              <a:rPr kumimoji="1"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.git</a:t>
            </a: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 # </a:t>
            </a:r>
            <a:r>
              <a:rPr lang="ja-JP" altLang="en-US">
                <a:latin typeface="Consolas" panose="020B0609020204030204" pitchFamily="49" charset="0"/>
                <a:cs typeface="Consolas" panose="020B0609020204030204" pitchFamily="49" charset="0"/>
              </a:rPr>
              <a:t>自分のユーザ</a:t>
            </a: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ID</a:t>
            </a:r>
            <a:r>
              <a:rPr lang="ja-JP" altLang="en-US">
                <a:latin typeface="Consolas" panose="020B0609020204030204" pitchFamily="49" charset="0"/>
                <a:cs typeface="Consolas" panose="020B0609020204030204" pitchFamily="49" charset="0"/>
              </a:rPr>
              <a:t>・リポジトリ名</a:t>
            </a:r>
            <a:endParaRPr kumimoji="1" lang="en-US" altLang="ja-JP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120000"/>
              </a:lnSpc>
            </a:pPr>
            <a:r>
              <a:rPr kumimoji="1" lang="en-US" altLang="ja-JP" dirty="0"/>
              <a:t>Go</a:t>
            </a:r>
            <a:r>
              <a:rPr kumimoji="1" lang="ja-JP" altLang="en-US"/>
              <a:t>が必要となる．</a:t>
            </a:r>
            <a:endParaRPr kumimoji="1" lang="en-US" altLang="ja-JP" dirty="0"/>
          </a:p>
          <a:p>
            <a:pPr>
              <a:lnSpc>
                <a:spcPct val="120000"/>
              </a:lnSpc>
            </a:pPr>
            <a:r>
              <a:rPr lang="en-US" altLang="ja-JP" dirty="0"/>
              <a:t>git submodule</a:t>
            </a:r>
          </a:p>
          <a:p>
            <a:pPr lvl="1">
              <a:lnSpc>
                <a:spcPct val="120000"/>
              </a:lnSpc>
            </a:pPr>
            <a:r>
              <a:rPr lang="ja-JP" altLang="en-US"/>
              <a:t>少し古い</a:t>
            </a:r>
            <a:r>
              <a:rPr lang="en-US" altLang="ja-JP" dirty="0" err="1"/>
              <a:t>hugo</a:t>
            </a:r>
            <a:r>
              <a:rPr lang="ja-JP" altLang="en-US"/>
              <a:t>の標準的な方法．</a:t>
            </a:r>
            <a:endParaRPr lang="en-US" altLang="ja-JP" dirty="0"/>
          </a:p>
          <a:p>
            <a:pPr lvl="2">
              <a:lnSpc>
                <a:spcPct val="120000"/>
              </a:lnSpc>
            </a:pPr>
            <a:r>
              <a:rPr kumimoji="1" lang="ja-JP" altLang="en-US"/>
              <a:t>他の</a:t>
            </a:r>
            <a:r>
              <a:rPr kumimoji="1" lang="en-US" altLang="ja-JP" dirty="0"/>
              <a:t>git</a:t>
            </a:r>
            <a:r>
              <a:rPr kumimoji="1" lang="ja-JP" altLang="en-US"/>
              <a:t>リポジトリを</a:t>
            </a:r>
            <a:r>
              <a:rPr lang="ja-JP" altLang="en-US"/>
              <a:t>自分の</a:t>
            </a:r>
            <a:r>
              <a:rPr lang="en-US" altLang="ja-JP" dirty="0"/>
              <a:t>git</a:t>
            </a:r>
            <a:r>
              <a:rPr lang="ja-JP" altLang="en-US"/>
              <a:t>リポジトリ配下に</a:t>
            </a:r>
            <a:r>
              <a:rPr kumimoji="1" lang="ja-JP" altLang="en-US"/>
              <a:t>取り込む方法．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git submodule add </a:t>
            </a:r>
            <a:r>
              <a:rPr lang="en-US" altLang="ja-JP" i="1" dirty="0">
                <a:latin typeface="Consolas" panose="020B0609020204030204" pitchFamily="49" charset="0"/>
                <a:cs typeface="Consolas" panose="020B0609020204030204" pitchFamily="49" charset="0"/>
              </a:rPr>
              <a:t>THEME_GIT_URL</a:t>
            </a: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 themes/</a:t>
            </a:r>
            <a:r>
              <a:rPr lang="en-US" altLang="ja-JP" i="1" dirty="0">
                <a:latin typeface="Consolas" panose="020B0609020204030204" pitchFamily="49" charset="0"/>
                <a:cs typeface="Consolas" panose="020B0609020204030204" pitchFamily="49" charset="0"/>
              </a:rPr>
              <a:t>THEME_NAME</a:t>
            </a:r>
          </a:p>
          <a:p>
            <a:pPr>
              <a:lnSpc>
                <a:spcPct val="120000"/>
              </a:lnSpc>
            </a:pPr>
            <a:r>
              <a:rPr kumimoji="1" lang="ja-JP" altLang="en-US"/>
              <a:t>ファイルコピー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必要なファイルを，適切なフォルダにコピーする．</a:t>
            </a:r>
            <a:endParaRPr kumimoji="1" lang="en" altLang="ja-JP" dirty="0"/>
          </a:p>
          <a:p>
            <a:pPr>
              <a:lnSpc>
                <a:spcPct val="120000"/>
              </a:lnSpc>
            </a:pPr>
            <a:r>
              <a:rPr lang="ja-JP" altLang="en-US"/>
              <a:t>以下のサイト（</a:t>
            </a:r>
            <a:r>
              <a:rPr lang="en-US" altLang="ja-JP" dirty="0" err="1"/>
              <a:t>congo</a:t>
            </a:r>
            <a:r>
              <a:rPr lang="ja-JP" altLang="en-US"/>
              <a:t>テーマ）でも確認できる．</a:t>
            </a:r>
            <a:endParaRPr kumimoji="1" lang="en" altLang="ja-JP" dirty="0"/>
          </a:p>
          <a:p>
            <a:pPr lvl="1">
              <a:lnSpc>
                <a:spcPct val="120000"/>
              </a:lnSpc>
            </a:pPr>
            <a:r>
              <a:rPr kumimoji="1" lang="en" altLang="ja-JP" dirty="0">
                <a:hlinkClick r:id="rId2"/>
              </a:rPr>
              <a:t>https://jpanther.github.io/congo/docs/installation/#install-manually</a:t>
            </a:r>
            <a:endParaRPr kumimoji="1" lang="en" altLang="ja-JP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61D0620-ED6D-263C-685A-23193FA20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2486F95-5D5C-BED2-EF39-C0CE9B151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18</a:t>
            </a:fld>
            <a:endParaRPr kumimoji="1" lang="ja-JP" altLang="en-US"/>
          </a:p>
        </p:txBody>
      </p:sp>
      <p:pic>
        <p:nvPicPr>
          <p:cNvPr id="6" name="Picture 2" descr="GoHugo.io · GitHub">
            <a:extLst>
              <a:ext uri="{FF2B5EF4-FFF2-40B4-BE49-F238E27FC236}">
                <a16:creationId xmlns:a16="http://schemas.microsoft.com/office/drawing/2014/main" id="{4F3FDF58-A7DC-5633-7614-6D88012A4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3800" y="487906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2A7F1B0-D3B1-A6E5-FADE-AD1D46C94269}"/>
              </a:ext>
            </a:extLst>
          </p:cNvPr>
          <p:cNvSpPr txBox="1"/>
          <p:nvPr/>
        </p:nvSpPr>
        <p:spPr>
          <a:xfrm>
            <a:off x="-391886" y="4467497"/>
            <a:ext cx="184731" cy="369332"/>
          </a:xfrm>
          <a:prstGeom prst="rect">
            <a:avLst/>
          </a:prstGeom>
          <a:noFill/>
        </p:spPr>
        <p:txBody>
          <a:bodyPr wrap="none" numCol="2" rtlCol="0">
            <a:spAutoFit/>
          </a:bodyPr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27605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CE664E-5320-C9E8-9244-914F2CC92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出力先はどうする？</a:t>
            </a:r>
            <a:endParaRPr kumimoji="1" lang="ja-JP" altLang="en-US" sz="320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688613-2DBD-9FDD-451C-ABCD9C3943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>
              <a:lnSpc>
                <a:spcPct val="120000"/>
              </a:lnSpc>
            </a:pPr>
            <a:r>
              <a:rPr kumimoji="1" lang="en-US" altLang="ja-JP" dirty="0"/>
              <a:t>GitHub Pages</a:t>
            </a:r>
            <a:r>
              <a:rPr kumimoji="1" lang="ja-JP" altLang="en-US"/>
              <a:t>用のブランチ（</a:t>
            </a:r>
            <a:r>
              <a:rPr kumimoji="1"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gh</a:t>
            </a: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-pages</a:t>
            </a:r>
            <a:r>
              <a:rPr kumimoji="1" lang="ja-JP" altLang="en-US"/>
              <a:t>）を用意し，そこに出力するようにする．</a:t>
            </a:r>
            <a:endParaRPr kumimoji="1" lang="en-US" altLang="ja-JP" dirty="0"/>
          </a:p>
          <a:p>
            <a:pPr>
              <a:lnSpc>
                <a:spcPct val="120000"/>
              </a:lnSpc>
            </a:pP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git </a:t>
            </a:r>
            <a:r>
              <a:rPr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worktree</a:t>
            </a: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ja-JP" altLang="en-US"/>
              <a:t>で，</a:t>
            </a: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docs/public</a:t>
            </a:r>
            <a:r>
              <a:rPr lang="ja-JP" altLang="en-US"/>
              <a:t>フォルダを</a:t>
            </a:r>
            <a:r>
              <a:rPr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gh</a:t>
            </a: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-pages</a:t>
            </a:r>
            <a:r>
              <a:rPr lang="ja-JP" altLang="en-US"/>
              <a:t>ブランチとして扱える．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git </a:t>
            </a:r>
            <a:r>
              <a:rPr kumimoji="1"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worktree</a:t>
            </a: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 add docs/public </a:t>
            </a:r>
            <a:r>
              <a:rPr kumimoji="1"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gh</a:t>
            </a: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-pages</a:t>
            </a:r>
          </a:p>
          <a:p>
            <a:pPr lvl="2">
              <a:lnSpc>
                <a:spcPct val="120000"/>
              </a:lnSpc>
            </a:pPr>
            <a:r>
              <a:rPr kumimoji="1" lang="ja-JP" altLang="en-US"/>
              <a:t>これで，</a:t>
            </a: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public</a:t>
            </a:r>
            <a:r>
              <a:rPr kumimoji="1" lang="en-US" altLang="ja-JP" dirty="0"/>
              <a:t> </a:t>
            </a:r>
            <a:r>
              <a:rPr kumimoji="1" lang="ja-JP" altLang="en-US"/>
              <a:t>フォルダが</a:t>
            </a:r>
            <a:r>
              <a:rPr kumimoji="1" lang="en-US" altLang="ja-JP" dirty="0"/>
              <a:t> </a:t>
            </a:r>
            <a:r>
              <a:rPr kumimoji="1"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gh</a:t>
            </a: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-pages</a:t>
            </a:r>
            <a:r>
              <a:rPr kumimoji="1" lang="en-US" altLang="ja-JP" dirty="0"/>
              <a:t> </a:t>
            </a:r>
            <a:r>
              <a:rPr kumimoji="1" lang="ja-JP" altLang="en-US"/>
              <a:t>ブランチとなる．</a:t>
            </a:r>
            <a:endParaRPr kumimoji="1" lang="en-US" altLang="ja-JP" dirty="0"/>
          </a:p>
          <a:p>
            <a:pPr>
              <a:lnSpc>
                <a:spcPct val="120000"/>
              </a:lnSpc>
            </a:pPr>
            <a:r>
              <a:rPr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gh</a:t>
            </a: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-pages</a:t>
            </a:r>
            <a:r>
              <a:rPr lang="ja-JP" altLang="en-US"/>
              <a:t>ブランチがない場合は、以下のコマンドで作成する。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git switch --orphan </a:t>
            </a:r>
            <a:r>
              <a:rPr kumimoji="1"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gh</a:t>
            </a: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-pages</a:t>
            </a:r>
          </a:p>
          <a:p>
            <a:pPr lvl="1">
              <a:lnSpc>
                <a:spcPct val="120000"/>
              </a:lnSpc>
            </a:pPr>
            <a:r>
              <a:rPr kumimoji="1" lang="ja-JP" altLang="en-US"/>
              <a:t>これで何もないブランチを作成できる。</a:t>
            </a:r>
            <a:endParaRPr kumimoji="1" lang="en-US" altLang="ja-JP" dirty="0"/>
          </a:p>
          <a:p>
            <a:pPr lvl="2">
              <a:lnSpc>
                <a:spcPct val="120000"/>
              </a:lnSpc>
            </a:pP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touch </a:t>
            </a:r>
            <a:r>
              <a:rPr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index.html</a:t>
            </a: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ja-JP" altLang="en-US"/>
              <a:t>で空のページを作成し、コミットしよう。</a:t>
            </a:r>
            <a:endParaRPr kumimoji="1" lang="en-US" altLang="ja-JP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1192EA5-D48E-3018-5BCA-B6D0EFF2D2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B1FCA74-197A-B2C5-A2BC-0DE40CF99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19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1339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EAD4DD-1A46-7DC8-4521-9CB5A5EEE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なぜ？</a:t>
            </a:r>
            <a:br>
              <a:rPr kumimoji="1" lang="en-US" altLang="ja-JP" dirty="0"/>
            </a:br>
            <a:r>
              <a:rPr kumimoji="1" lang="ja-JP" altLang="en-US" sz="3200"/>
              <a:t>玉田の私見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288673B-353C-7808-2660-0AE1B51339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>
              <a:lnSpc>
                <a:spcPct val="120000"/>
              </a:lnSpc>
            </a:pPr>
            <a:r>
              <a:rPr kumimoji="1" lang="en-US" altLang="ja-JP" dirty="0"/>
              <a:t>SSG</a:t>
            </a:r>
            <a:r>
              <a:rPr kumimoji="1" lang="ja-JP" altLang="en-US"/>
              <a:t>の場合，</a:t>
            </a:r>
            <a:r>
              <a:rPr kumimoji="1" lang="en-US" altLang="ja-JP" dirty="0"/>
              <a:t>HTML</a:t>
            </a:r>
            <a:r>
              <a:rPr lang="ja-JP" altLang="en-US"/>
              <a:t>は</a:t>
            </a:r>
            <a:br>
              <a:rPr lang="en-US" altLang="ja-JP" dirty="0"/>
            </a:br>
            <a:r>
              <a:rPr lang="ja-JP" altLang="en-US"/>
              <a:t>自動生成される．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kumimoji="1" lang="ja-JP" altLang="en-US"/>
              <a:t>次の</a:t>
            </a:r>
            <a:r>
              <a:rPr kumimoji="1" lang="en-US" altLang="ja-JP" dirty="0"/>
              <a:t>2</a:t>
            </a:r>
            <a:r>
              <a:rPr kumimoji="1" lang="ja-JP" altLang="en-US"/>
              <a:t>つのコミットが</a:t>
            </a:r>
            <a:br>
              <a:rPr kumimoji="1" lang="en-US" altLang="ja-JP" dirty="0"/>
            </a:br>
            <a:r>
              <a:rPr kumimoji="1" lang="ja-JP" altLang="en-US"/>
              <a:t>混在することは避けたい．</a:t>
            </a:r>
            <a:endParaRPr kumimoji="1" lang="en-US" altLang="ja-JP" dirty="0"/>
          </a:p>
          <a:p>
            <a:pPr lvl="2">
              <a:lnSpc>
                <a:spcPct val="120000"/>
              </a:lnSpc>
            </a:pPr>
            <a:r>
              <a:rPr kumimoji="1" lang="ja-JP" altLang="en-US"/>
              <a:t>自動生成されるファイルのコミット，</a:t>
            </a:r>
            <a:endParaRPr kumimoji="1" lang="en-US" altLang="ja-JP" dirty="0"/>
          </a:p>
          <a:p>
            <a:pPr lvl="2">
              <a:lnSpc>
                <a:spcPct val="120000"/>
              </a:lnSpc>
            </a:pPr>
            <a:r>
              <a:rPr kumimoji="1" lang="ja-JP" altLang="en-US"/>
              <a:t>手動編集されたファイルのコミット．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kumimoji="1" lang="ja-JP" altLang="en-US"/>
              <a:t>同じ歴史の流れにいると，過去を振り返るときに大きなノイズになる．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94150F5-CFAC-11C3-2A79-767F3668F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3038E4E-E85B-9BD0-03DA-2D5EB7019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20</a:t>
            </a:fld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9476E08B-470F-E7BA-396C-439A8B4B0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"/>
            <a:ext cx="60960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233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16FF89-7EF5-ED41-EBF1-6272FA9C5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Hugo</a:t>
            </a:r>
            <a:r>
              <a:rPr kumimoji="1" lang="ja-JP" altLang="en-US"/>
              <a:t>で</a:t>
            </a:r>
            <a:r>
              <a:rPr kumimoji="1" lang="en-US" altLang="ja-JP" dirty="0"/>
              <a:t>Web</a:t>
            </a:r>
            <a:r>
              <a:rPr kumimoji="1" lang="ja-JP" altLang="en-US"/>
              <a:t>サイト構築</a:t>
            </a:r>
            <a:br>
              <a:rPr lang="en-US" altLang="ja-JP" dirty="0"/>
            </a:br>
            <a:r>
              <a:rPr lang="ja-JP" altLang="en-US" sz="3200"/>
              <a:t>具体的な手順</a:t>
            </a:r>
            <a:endParaRPr kumimoji="1" lang="ja-JP" altLang="en-US" sz="320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83383D8-CD1D-E6CB-4D97-8C415A862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742950" indent="-742950">
              <a:lnSpc>
                <a:spcPct val="110000"/>
              </a:lnSpc>
              <a:buFont typeface="+mj-lt"/>
              <a:buAutoNum type="arabicPeriod"/>
            </a:pPr>
            <a:r>
              <a:rPr lang="ja-JP" altLang="en-US"/>
              <a:t>ドキュメントのためのフォルダを用意する．</a:t>
            </a:r>
            <a:endParaRPr lang="en-US" altLang="ja-JP" dirty="0"/>
          </a:p>
          <a:p>
            <a:pPr marL="742950" indent="-742950">
              <a:lnSpc>
                <a:spcPct val="110000"/>
              </a:lnSpc>
              <a:buFont typeface="+mj-lt"/>
              <a:buAutoNum type="arabicPeriod"/>
            </a:pPr>
            <a:r>
              <a:rPr kumimoji="1" lang="ja-JP" altLang="en-US"/>
              <a:t>まず，テーマ一覧からテーマを決め</a:t>
            </a:r>
            <a:r>
              <a:rPr lang="ja-JP" altLang="en-US"/>
              <a:t>る</a:t>
            </a:r>
            <a:r>
              <a:rPr kumimoji="1" lang="ja-JP" altLang="en-US"/>
              <a:t>．</a:t>
            </a:r>
            <a:endParaRPr kumimoji="1" lang="en-US" altLang="ja-JP" dirty="0"/>
          </a:p>
          <a:p>
            <a:pPr lvl="1">
              <a:lnSpc>
                <a:spcPct val="110000"/>
              </a:lnSpc>
            </a:pPr>
            <a:r>
              <a:rPr kumimoji="1" lang="en" altLang="ja-JP" dirty="0">
                <a:hlinkClick r:id="rId2"/>
              </a:rPr>
              <a:t>https://themes.gohugo.io</a:t>
            </a:r>
            <a:endParaRPr lang="en-US" altLang="ja-JP" dirty="0"/>
          </a:p>
          <a:p>
            <a:pPr marL="742950" indent="-742950">
              <a:lnSpc>
                <a:spcPct val="110000"/>
              </a:lnSpc>
              <a:buFont typeface="+mj-lt"/>
              <a:buAutoNum type="arabicPeriod"/>
            </a:pPr>
            <a:r>
              <a:rPr kumimoji="1" lang="ja-JP" altLang="en-US"/>
              <a:t>出力先のブランチを用意する．</a:t>
            </a:r>
            <a:endParaRPr kumimoji="1" lang="en-US" altLang="ja-JP" dirty="0"/>
          </a:p>
          <a:p>
            <a:pPr marL="742950" indent="-742950">
              <a:lnSpc>
                <a:spcPct val="110000"/>
              </a:lnSpc>
              <a:buFont typeface="+mj-lt"/>
              <a:buAutoNum type="arabicPeriod"/>
            </a:pPr>
            <a:r>
              <a:rPr kumimoji="1" lang="ja-JP" altLang="en-US"/>
              <a:t>テーマの設定を行う．</a:t>
            </a:r>
            <a:endParaRPr kumimoji="1" lang="en-US" altLang="ja-JP" dirty="0"/>
          </a:p>
          <a:p>
            <a:pPr marL="742950" indent="-742950">
              <a:lnSpc>
                <a:spcPct val="110000"/>
              </a:lnSpc>
              <a:buFont typeface="+mj-lt"/>
              <a:buAutoNum type="arabicPeriod"/>
            </a:pPr>
            <a:r>
              <a:rPr kumimoji="1" lang="ja-JP" altLang="en-US"/>
              <a:t>ドキュメントを書く．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782694A-E85D-0168-D14D-1338EF9AF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D8EDC767-994D-3B9E-71BA-23616A8F9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21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9900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E758C5A-6C21-A7A2-614E-E3CAA71E6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1.</a:t>
            </a:r>
            <a:r>
              <a:rPr kumimoji="1" lang="ja-JP" altLang="en-US"/>
              <a:t>ドキュメントのためのフォルダを用意する．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A8BD9C0-FE66-1732-A802-B72600E22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41341DF-382F-BA27-892C-01167A2D7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22</a:t>
            </a:fld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7A73F44-D342-77A4-7E1F-135DDAD3A9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29000"/>
            <a:ext cx="6096000" cy="342900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1EF6BD59-6E67-CB1A-A5E9-9FB5287AF4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8" y="3428999"/>
            <a:ext cx="6096001" cy="3429001"/>
          </a:xfrm>
          <a:prstGeom prst="rect">
            <a:avLst/>
          </a:prstGeom>
        </p:spPr>
      </p:pic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A1E422E-1615-CA4A-FE26-3A187065DD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31975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</a:pPr>
            <a:r>
              <a:rPr kumimoji="1" lang="ja-JP" altLang="en-US"/>
              <a:t>ここでは、</a:t>
            </a:r>
            <a:r>
              <a:rPr kumimoji="1" lang="en-US" altLang="ja-JP" dirty="0"/>
              <a:t>docs</a:t>
            </a:r>
            <a:r>
              <a:rPr kumimoji="1" lang="ja-JP" altLang="en-US"/>
              <a:t>フォルダ以下</a:t>
            </a:r>
            <a:r>
              <a:rPr lang="ja-JP" altLang="en-US"/>
              <a:t>を</a:t>
            </a:r>
            <a:r>
              <a:rPr kumimoji="1" lang="ja-JP" altLang="en-US"/>
              <a:t>ドキュメントとする。</a:t>
            </a:r>
            <a:endParaRPr kumimoji="1" lang="en-US" altLang="ja-JP" dirty="0"/>
          </a:p>
          <a:p>
            <a:pPr lvl="1">
              <a:lnSpc>
                <a:spcPct val="110000"/>
              </a:lnSpc>
            </a:pPr>
            <a:r>
              <a:rPr kumimoji="1" lang="en-US" altLang="ja-JP" dirty="0"/>
              <a:t>Hugo</a:t>
            </a:r>
            <a:r>
              <a:rPr kumimoji="1" lang="ja-JP" altLang="en-US"/>
              <a:t>のフォルダとして用意する．</a:t>
            </a:r>
          </a:p>
        </p:txBody>
      </p:sp>
    </p:spTree>
    <p:extLst>
      <p:ext uri="{BB962C8B-B14F-4D97-AF65-F5344CB8AC3E}">
        <p14:creationId xmlns:p14="http://schemas.microsoft.com/office/powerpoint/2010/main" val="3428928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6F9009A-3491-E231-DCC4-1DBDCA929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2</a:t>
            </a:r>
            <a:r>
              <a:rPr kumimoji="1" lang="en-US" altLang="ja-JP" dirty="0"/>
              <a:t>. </a:t>
            </a:r>
            <a:r>
              <a:rPr kumimoji="1" lang="ja-JP" altLang="en-US"/>
              <a:t>テーマを決める．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B646B1F-A89D-C1A6-A6D4-E8EF55643F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E13F53F-2561-BC2E-AC2E-39D5EB1E0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23</a:t>
            </a:fld>
            <a:endParaRPr kumimoji="1" lang="ja-JP" altLang="en-US"/>
          </a:p>
        </p:txBody>
      </p:sp>
      <p:pic>
        <p:nvPicPr>
          <p:cNvPr id="13" name="コンテンツ プレースホルダー 9" descr="グラフィカル ユーザー インターフェイス, Web サイト&#10;&#10;自動的に生成された説明">
            <a:extLst>
              <a:ext uri="{FF2B5EF4-FFF2-40B4-BE49-F238E27FC236}">
                <a16:creationId xmlns:a16="http://schemas.microsoft.com/office/drawing/2014/main" id="{A6CF04D4-6C71-BF03-3943-4AAE8113EE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253331"/>
            <a:ext cx="6096000" cy="3427783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7FF840A2-2239-5CAC-C4B8-7415E5395A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429000"/>
            <a:ext cx="6096000" cy="3429000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828E2DFE-1934-7BE4-077C-6D160D5193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998" y="3428999"/>
            <a:ext cx="6096001" cy="3429001"/>
          </a:xfrm>
          <a:prstGeom prst="rect">
            <a:avLst/>
          </a:prstGeom>
        </p:spPr>
      </p:pic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1BF38FF7-0ECA-2BFB-24B8-979C4A16E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9170"/>
            <a:ext cx="5257800" cy="2467187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ja-JP" altLang="en-US"/>
              <a:t>基本的には好きなものに決める．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使われている技術をもとに決めても良い．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en-US" altLang="ja-JP" dirty="0" err="1"/>
              <a:t>TailwindCSS</a:t>
            </a:r>
            <a:r>
              <a:rPr lang="ja-JP" altLang="en-US"/>
              <a:t>など．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en-US" altLang="ja-JP" dirty="0"/>
              <a:t>jQuery</a:t>
            </a:r>
            <a:r>
              <a:rPr lang="ja-JP" altLang="en-US"/>
              <a:t>はいい加減捨てよう．</a:t>
            </a:r>
            <a:endParaRPr lang="en-US" altLang="ja-JP" dirty="0"/>
          </a:p>
          <a:p>
            <a:pPr lvl="2">
              <a:lnSpc>
                <a:spcPct val="120000"/>
              </a:lnSpc>
            </a:pPr>
            <a:r>
              <a:rPr lang="en" altLang="ja-JP" dirty="0">
                <a:hlinkClick r:id="rId6"/>
              </a:rPr>
              <a:t>https://qiita.com/hikaruright/items/e569ad6c050f23f550e0</a:t>
            </a:r>
            <a:endParaRPr lang="en-US" altLang="ja-JP" dirty="0"/>
          </a:p>
          <a:p>
            <a:pPr lvl="2">
              <a:lnSpc>
                <a:spcPct val="120000"/>
              </a:lnSpc>
            </a:pPr>
            <a:r>
              <a:rPr lang="en" altLang="ja-JP" dirty="0">
                <a:hlinkClick r:id="rId7"/>
              </a:rPr>
              <a:t>https://cumak.net/blog/jquery/</a:t>
            </a:r>
            <a:endParaRPr lang="en" altLang="ja-JP" dirty="0"/>
          </a:p>
        </p:txBody>
      </p:sp>
    </p:spTree>
    <p:extLst>
      <p:ext uri="{BB962C8B-B14F-4D97-AF65-F5344CB8AC3E}">
        <p14:creationId xmlns:p14="http://schemas.microsoft.com/office/powerpoint/2010/main" val="3657778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E758C5A-6C21-A7A2-614E-E3CAA71E69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176322" cy="1325563"/>
          </a:xfrm>
        </p:spPr>
        <p:txBody>
          <a:bodyPr/>
          <a:lstStyle/>
          <a:p>
            <a:r>
              <a:rPr kumimoji="1" lang="en-US" altLang="ja-JP" dirty="0"/>
              <a:t>3.</a:t>
            </a:r>
            <a:r>
              <a:rPr kumimoji="1" lang="ja-JP" altLang="en-US"/>
              <a:t>出力先ブランチを用意する．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A8BD9C0-FE66-1732-A802-B72600E22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B132D83-A12F-06D8-A8A4-28A040BC5CE5}"/>
              </a:ext>
            </a:extLst>
          </p:cNvPr>
          <p:cNvSpPr txBox="1"/>
          <p:nvPr/>
        </p:nvSpPr>
        <p:spPr>
          <a:xfrm>
            <a:off x="838200" y="1685084"/>
            <a:ext cx="10030097" cy="22819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kumimoji="1" lang="en-US" altLang="ja-JP" sz="2000" dirty="0">
                <a:latin typeface="Consolas" panose="020B0609020204030204" pitchFamily="49" charset="0"/>
                <a:cs typeface="Consolas" panose="020B0609020204030204" pitchFamily="49" charset="0"/>
              </a:rPr>
              <a:t>git switch --orphan </a:t>
            </a:r>
            <a:r>
              <a:rPr kumimoji="1" lang="en-US" altLang="ja-JP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gh</a:t>
            </a:r>
            <a:r>
              <a:rPr kumimoji="1" lang="en-US" altLang="ja-JP" sz="2000" dirty="0">
                <a:latin typeface="Consolas" panose="020B0609020204030204" pitchFamily="49" charset="0"/>
                <a:cs typeface="Consolas" panose="020B0609020204030204" pitchFamily="49" charset="0"/>
              </a:rPr>
              <a:t>-pages # </a:t>
            </a:r>
            <a:r>
              <a:rPr kumimoji="1" lang="ja-JP" altLang="en-US" sz="2000">
                <a:latin typeface="Consolas" panose="020B0609020204030204" pitchFamily="49" charset="0"/>
                <a:cs typeface="Consolas" panose="020B0609020204030204" pitchFamily="49" charset="0"/>
              </a:rPr>
              <a:t>何もない</a:t>
            </a:r>
            <a:r>
              <a:rPr kumimoji="1" lang="en-US" altLang="ja-JP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gh</a:t>
            </a:r>
            <a:r>
              <a:rPr kumimoji="1" lang="en-US" altLang="ja-JP" sz="2000" dirty="0">
                <a:latin typeface="Consolas" panose="020B0609020204030204" pitchFamily="49" charset="0"/>
                <a:cs typeface="Consolas" panose="020B0609020204030204" pitchFamily="49" charset="0"/>
              </a:rPr>
              <a:t>-pages</a:t>
            </a:r>
            <a:r>
              <a:rPr kumimoji="1" lang="ja-JP" altLang="en-US" sz="2000">
                <a:latin typeface="Consolas" panose="020B0609020204030204" pitchFamily="49" charset="0"/>
                <a:cs typeface="Consolas" panose="020B0609020204030204" pitchFamily="49" charset="0"/>
              </a:rPr>
              <a:t>ブランチを作成する．</a:t>
            </a:r>
            <a:endParaRPr kumimoji="1" lang="en-US" altLang="ja-JP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kumimoji="1" lang="en-US" altLang="ja-JP" sz="2000" dirty="0">
                <a:latin typeface="Consolas" panose="020B0609020204030204" pitchFamily="49" charset="0"/>
                <a:cs typeface="Consolas" panose="020B0609020204030204" pitchFamily="49" charset="0"/>
              </a:rPr>
              <a:t>touch </a:t>
            </a:r>
            <a:r>
              <a:rPr kumimoji="1" lang="en-US" altLang="ja-JP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index.html</a:t>
            </a:r>
            <a:r>
              <a:rPr kumimoji="1" lang="en-US" altLang="ja-JP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 # </a:t>
            </a:r>
            <a:r>
              <a:rPr kumimoji="1" lang="ja-JP" altLang="en-US" sz="2000">
                <a:latin typeface="Consolas" panose="020B0609020204030204" pitchFamily="49" charset="0"/>
                <a:cs typeface="Consolas" panose="020B0609020204030204" pitchFamily="49" charset="0"/>
              </a:rPr>
              <a:t>空の</a:t>
            </a:r>
            <a:r>
              <a:rPr kumimoji="1" lang="en-US" altLang="ja-JP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index.html</a:t>
            </a:r>
            <a:r>
              <a:rPr kumimoji="1" lang="ja-JP" altLang="en-US" sz="2000">
                <a:latin typeface="Consolas" panose="020B0609020204030204" pitchFamily="49" charset="0"/>
                <a:cs typeface="Consolas" panose="020B0609020204030204" pitchFamily="49" charset="0"/>
              </a:rPr>
              <a:t>を作成する．</a:t>
            </a:r>
            <a:endParaRPr kumimoji="1" lang="en-US" altLang="ja-JP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kumimoji="1" lang="en-US" altLang="ja-JP" sz="2000" dirty="0">
                <a:latin typeface="Consolas" panose="020B0609020204030204" pitchFamily="49" charset="0"/>
                <a:cs typeface="Consolas" panose="020B0609020204030204" pitchFamily="49" charset="0"/>
              </a:rPr>
              <a:t>git add </a:t>
            </a:r>
            <a:r>
              <a:rPr kumimoji="1" lang="en-US" altLang="ja-JP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index.html</a:t>
            </a:r>
            <a:r>
              <a:rPr kumimoji="1" lang="en-US" altLang="ja-JP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# </a:t>
            </a:r>
            <a:r>
              <a:rPr kumimoji="1" lang="en-US" altLang="ja-JP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index</a:t>
            </a:r>
            <a:r>
              <a:rPr lang="en-US" altLang="ja-JP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.html</a:t>
            </a:r>
            <a:r>
              <a:rPr lang="ja-JP" altLang="en-US" sz="2000">
                <a:latin typeface="Consolas" panose="020B0609020204030204" pitchFamily="49" charset="0"/>
                <a:cs typeface="Consolas" panose="020B0609020204030204" pitchFamily="49" charset="0"/>
              </a:rPr>
              <a:t>をコミットする．</a:t>
            </a:r>
            <a:endParaRPr kumimoji="1" lang="en-US" altLang="ja-JP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altLang="ja-JP" sz="2000" dirty="0">
                <a:latin typeface="Consolas" panose="020B0609020204030204" pitchFamily="49" charset="0"/>
                <a:cs typeface="Consolas" panose="020B0609020204030204" pitchFamily="49" charset="0"/>
              </a:rPr>
              <a:t>git commit -m "initial revision for </a:t>
            </a:r>
            <a:r>
              <a:rPr lang="en-US" altLang="ja-JP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gh</a:t>
            </a:r>
            <a:r>
              <a:rPr lang="en-US" altLang="ja-JP" sz="2000" dirty="0">
                <a:latin typeface="Consolas" panose="020B0609020204030204" pitchFamily="49" charset="0"/>
                <a:cs typeface="Consolas" panose="020B0609020204030204" pitchFamily="49" charset="0"/>
              </a:rPr>
              <a:t>-pages"</a:t>
            </a: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kumimoji="1" lang="en-US" altLang="ja-JP" sz="2000" dirty="0">
                <a:latin typeface="Consolas" panose="020B0609020204030204" pitchFamily="49" charset="0"/>
                <a:cs typeface="Consolas" panose="020B0609020204030204" pitchFamily="49" charset="0"/>
              </a:rPr>
              <a:t>git </a:t>
            </a:r>
            <a:r>
              <a:rPr kumimoji="1" lang="en-US" altLang="ja-JP" sz="2000">
                <a:latin typeface="Consolas" panose="020B0609020204030204" pitchFamily="49" charset="0"/>
                <a:cs typeface="Consolas" panose="020B0609020204030204" pitchFamily="49" charset="0"/>
              </a:rPr>
              <a:t>switch main              </a:t>
            </a:r>
            <a:r>
              <a:rPr kumimoji="1" lang="en-US" altLang="ja-JP" sz="2000" dirty="0">
                <a:latin typeface="Consolas" panose="020B0609020204030204" pitchFamily="49" charset="0"/>
                <a:cs typeface="Consolas" panose="020B0609020204030204" pitchFamily="49" charset="0"/>
              </a:rPr>
              <a:t># </a:t>
            </a:r>
            <a:r>
              <a:rPr kumimoji="1" lang="ja-JP" altLang="en-US" sz="2000">
                <a:latin typeface="Consolas" panose="020B0609020204030204" pitchFamily="49" charset="0"/>
                <a:cs typeface="Consolas" panose="020B0609020204030204" pitchFamily="49" charset="0"/>
              </a:rPr>
              <a:t>元のブランチに戻る．</a:t>
            </a:r>
            <a:endParaRPr kumimoji="1" lang="en-US" altLang="ja-JP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altLang="ja-JP" sz="2000" dirty="0">
                <a:latin typeface="Consolas" panose="020B0609020204030204" pitchFamily="49" charset="0"/>
                <a:cs typeface="Consolas" panose="020B0609020204030204" pitchFamily="49" charset="0"/>
              </a:rPr>
              <a:t>git </a:t>
            </a:r>
            <a:r>
              <a:rPr lang="en-US" altLang="ja-JP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worktree</a:t>
            </a:r>
            <a:r>
              <a:rPr lang="en-US" altLang="ja-JP" sz="2000" dirty="0">
                <a:latin typeface="Consolas" panose="020B0609020204030204" pitchFamily="49" charset="0"/>
                <a:cs typeface="Consolas" panose="020B0609020204030204" pitchFamily="49" charset="0"/>
              </a:rPr>
              <a:t> add docs/public </a:t>
            </a:r>
            <a:r>
              <a:rPr lang="en-US" altLang="ja-JP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gh</a:t>
            </a:r>
            <a:r>
              <a:rPr lang="en-US" altLang="ja-JP" sz="2000" dirty="0">
                <a:latin typeface="Consolas" panose="020B0609020204030204" pitchFamily="49" charset="0"/>
                <a:cs typeface="Consolas" panose="020B0609020204030204" pitchFamily="49" charset="0"/>
              </a:rPr>
              <a:t>-pages</a:t>
            </a:r>
            <a:endParaRPr kumimoji="1" lang="ja-JP" altLang="en-US" sz="20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4ECBBF5D-71F0-0FED-701A-EDADDD3A1C09}"/>
              </a:ext>
            </a:extLst>
          </p:cNvPr>
          <p:cNvGrpSpPr/>
          <p:nvPr/>
        </p:nvGrpSpPr>
        <p:grpSpPr>
          <a:xfrm>
            <a:off x="1099457" y="3935350"/>
            <a:ext cx="4478383" cy="1237566"/>
            <a:chOff x="1099457" y="3935350"/>
            <a:chExt cx="4478383" cy="1237566"/>
          </a:xfrm>
        </p:grpSpPr>
        <p:sp>
          <p:nvSpPr>
            <p:cNvPr id="13" name="三角形 12">
              <a:extLst>
                <a:ext uri="{FF2B5EF4-FFF2-40B4-BE49-F238E27FC236}">
                  <a16:creationId xmlns:a16="http://schemas.microsoft.com/office/drawing/2014/main" id="{48EE9424-72E0-5D59-1CA2-F969E6EC7820}"/>
                </a:ext>
              </a:extLst>
            </p:cNvPr>
            <p:cNvSpPr/>
            <p:nvPr/>
          </p:nvSpPr>
          <p:spPr>
            <a:xfrm>
              <a:off x="2808296" y="3935350"/>
              <a:ext cx="1060704" cy="914400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B9BDF70E-BA06-9021-5015-32A2F2746686}"/>
                </a:ext>
              </a:extLst>
            </p:cNvPr>
            <p:cNvSpPr/>
            <p:nvPr/>
          </p:nvSpPr>
          <p:spPr>
            <a:xfrm>
              <a:off x="1099457" y="4258516"/>
              <a:ext cx="4478383" cy="91440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8F2AAC4F-8BFC-E7A2-6B34-0BB3B405367B}"/>
                </a:ext>
              </a:extLst>
            </p:cNvPr>
            <p:cNvSpPr txBox="1"/>
            <p:nvPr/>
          </p:nvSpPr>
          <p:spPr>
            <a:xfrm>
              <a:off x="1161669" y="4392550"/>
              <a:ext cx="435395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latin typeface="Consolas" panose="020B0609020204030204" pitchFamily="49" charset="0"/>
                  <a:cs typeface="Consolas" panose="020B0609020204030204" pitchFamily="49" charset="0"/>
                </a:rPr>
                <a:t>docs/public </a:t>
              </a:r>
              <a:r>
                <a:rPr kumimoji="1" lang="ja-JP" altLang="en-US"/>
                <a:t>ディレクトリを</a:t>
              </a:r>
              <a:r>
                <a:rPr lang="en-US" altLang="ja-JP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gh</a:t>
              </a:r>
              <a:r>
                <a:rPr lang="en-US" altLang="ja-JP" dirty="0">
                  <a:latin typeface="Consolas" panose="020B0609020204030204" pitchFamily="49" charset="0"/>
                  <a:cs typeface="Consolas" panose="020B0609020204030204" pitchFamily="49" charset="0"/>
                </a:rPr>
                <a:t>-pages</a:t>
              </a:r>
              <a:r>
                <a:rPr lang="ja-JP" altLang="en-US"/>
                <a:t>ブランチとして扱うようにする．</a:t>
              </a:r>
              <a:endParaRPr kumimoji="1" lang="ja-JP" altLang="en-US"/>
            </a:p>
          </p:txBody>
        </p:sp>
      </p:grp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E134D30-48D6-0C25-6E9E-867B72E51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24</a:t>
            </a:fld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115151F3-8CDD-9FAC-5958-C9DBABEE80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8" y="3428999"/>
            <a:ext cx="6096001" cy="342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5368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C5AADA4-6B73-7748-19E5-44BDB9F62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4. </a:t>
            </a:r>
            <a:r>
              <a:rPr kumimoji="1" lang="ja-JP" altLang="en-US"/>
              <a:t>テーマの設定を行う．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FBAF4A6-3670-3029-EA60-A80AAAD82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9ED84E6-C0D6-2740-1B19-2DB710AFD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25</a:t>
            </a:fld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5610F33D-6419-FDE3-DD78-D7EE27539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8" y="3428999"/>
            <a:ext cx="6096001" cy="3429001"/>
          </a:xfrm>
          <a:prstGeom prst="rect">
            <a:avLst/>
          </a:prstGeom>
        </p:spPr>
      </p:pic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657EB5B-3D63-4A92-81F2-FF2DD9DCB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186305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20000"/>
              </a:lnSpc>
            </a:pP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docs/config</a:t>
            </a:r>
            <a:r>
              <a:rPr kumimoji="1" lang="ja-JP" altLang="en-US"/>
              <a:t>以下の設定ファイルを適切に設定する．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基本的にはテーマのドキュメントを確認しつつ設定する．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13238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C5AADA4-6B73-7748-19E5-44BDB9F62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5</a:t>
            </a:r>
            <a:r>
              <a:rPr kumimoji="1" lang="en-US" altLang="ja-JP" dirty="0"/>
              <a:t>. </a:t>
            </a:r>
            <a:r>
              <a:rPr lang="ja-JP" altLang="en-US"/>
              <a:t>ドキュメントを書く</a:t>
            </a:r>
            <a:endParaRPr kumimoji="1" lang="ja-JP" alt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FBAF4A6-3670-3029-EA60-A80AAAD82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9ED84E6-C0D6-2740-1B19-2DB710AFD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26</a:t>
            </a:fld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657EB5B-3D63-4A92-81F2-FF2DD9DCB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75666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content</a:t>
            </a:r>
            <a:r>
              <a:rPr kumimoji="1" lang="en-US" altLang="ja-JP" dirty="0"/>
              <a:t> </a:t>
            </a:r>
            <a:r>
              <a:rPr kumimoji="1" lang="ja-JP" altLang="en-US"/>
              <a:t>以下に</a:t>
            </a:r>
            <a:r>
              <a:rPr kumimoji="1"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README.md</a:t>
            </a:r>
            <a:r>
              <a:rPr lang="ja-JP" altLang="en-US"/>
              <a:t>を元に</a:t>
            </a:r>
            <a:r>
              <a:rPr kumimoji="1" lang="ja-JP" altLang="en-US"/>
              <a:t>書く．</a:t>
            </a:r>
            <a:endParaRPr kumimoji="1" lang="en-US" altLang="ja-JP" dirty="0"/>
          </a:p>
          <a:p>
            <a:pPr lvl="1">
              <a:lnSpc>
                <a:spcPct val="110000"/>
              </a:lnSpc>
            </a:pPr>
            <a:r>
              <a:rPr kumimoji="1" lang="ja-JP" altLang="en-US"/>
              <a:t>より平易に一般的に書く．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EF787A68-1645-4A08-527E-3A5C59897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429000"/>
            <a:ext cx="60960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32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83F2D-9EC7-AAA4-916F-D8B108347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62DF32-ED01-EAAD-037C-6EFA13B65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講義スケジュール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57EFCF6-B548-6460-FF01-1D45622FE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2026-06-12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B2BE71D-DE8B-4B22-0247-E4041A532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27</a:t>
            </a:fld>
            <a:endParaRPr kumimoji="1" lang="ja-JP" altLang="en-US"/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98F7DAAB-1C11-D77A-0B19-C3343D7A2487}"/>
              </a:ext>
            </a:extLst>
          </p:cNvPr>
          <p:cNvGrpSpPr/>
          <p:nvPr/>
        </p:nvGrpSpPr>
        <p:grpSpPr>
          <a:xfrm>
            <a:off x="838200" y="1342345"/>
            <a:ext cx="4680000" cy="720000"/>
            <a:chOff x="838200" y="1690688"/>
            <a:chExt cx="4680000" cy="720000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5A934CCB-C4FD-AB81-A889-39A1D5B9BA8C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2EDEA52D-86B0-538B-E2FC-BD8862C2E526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2026-04-10 (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Fri</a:t>
              </a:r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01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7E3D89B4-5EC5-D355-B723-803EF7EFE82A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2161F351-5199-A7AC-CE11-C84D4A971DC2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全体説明</a:t>
              </a:r>
              <a:endParaRPr kumimoji="1" lang="en-US" altLang="ja-JP" sz="1600" dirty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6A5107D3-0FEA-D2D6-5C24-760B449A505D}"/>
              </a:ext>
            </a:extLst>
          </p:cNvPr>
          <p:cNvGrpSpPr/>
          <p:nvPr/>
        </p:nvGrpSpPr>
        <p:grpSpPr>
          <a:xfrm>
            <a:off x="838200" y="5289585"/>
            <a:ext cx="4680000" cy="720000"/>
            <a:chOff x="838200" y="1690688"/>
            <a:chExt cx="4680000" cy="720000"/>
          </a:xfrm>
        </p:grpSpPr>
        <p:sp>
          <p:nvSpPr>
            <p:cNvPr id="33" name="正方形/長方形 32">
              <a:extLst>
                <a:ext uri="{FF2B5EF4-FFF2-40B4-BE49-F238E27FC236}">
                  <a16:creationId xmlns:a16="http://schemas.microsoft.com/office/drawing/2014/main" id="{D10173C9-10A0-5FF7-6254-2CC432AC4D76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34" name="角丸四角形 33">
              <a:extLst>
                <a:ext uri="{FF2B5EF4-FFF2-40B4-BE49-F238E27FC236}">
                  <a16:creationId xmlns:a16="http://schemas.microsoft.com/office/drawing/2014/main" id="{B9AE4B59-4A56-9661-9346-FC7267B6168D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2026-05-22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06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35" name="正方形/長方形 34">
              <a:extLst>
                <a:ext uri="{FF2B5EF4-FFF2-40B4-BE49-F238E27FC236}">
                  <a16:creationId xmlns:a16="http://schemas.microsoft.com/office/drawing/2014/main" id="{AECC3025-C1F1-EFD4-FF9C-0668D71E9F3D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36" name="角丸四角形 35">
              <a:extLst>
                <a:ext uri="{FF2B5EF4-FFF2-40B4-BE49-F238E27FC236}">
                  <a16:creationId xmlns:a16="http://schemas.microsoft.com/office/drawing/2014/main" id="{6B7DC040-B271-150B-6A24-2028C606A0AC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プログラミング（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/3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42" name="グループ化 41">
            <a:extLst>
              <a:ext uri="{FF2B5EF4-FFF2-40B4-BE49-F238E27FC236}">
                <a16:creationId xmlns:a16="http://schemas.microsoft.com/office/drawing/2014/main" id="{06BA45C9-68AA-DA6E-5D2E-5CE36EF669CA}"/>
              </a:ext>
            </a:extLst>
          </p:cNvPr>
          <p:cNvGrpSpPr/>
          <p:nvPr/>
        </p:nvGrpSpPr>
        <p:grpSpPr>
          <a:xfrm>
            <a:off x="6673800" y="1342345"/>
            <a:ext cx="4680000" cy="720000"/>
            <a:chOff x="838200" y="1690688"/>
            <a:chExt cx="4680000" cy="720000"/>
          </a:xfrm>
        </p:grpSpPr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E723EEA1-3E92-AF4E-A92F-F310813EA4CE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44" name="角丸四角形 43">
              <a:extLst>
                <a:ext uri="{FF2B5EF4-FFF2-40B4-BE49-F238E27FC236}">
                  <a16:creationId xmlns:a16="http://schemas.microsoft.com/office/drawing/2014/main" id="{BA9CEB57-23B0-6385-CB04-3177B1B115AD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2026-06-05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08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45" name="正方形/長方形 44">
              <a:extLst>
                <a:ext uri="{FF2B5EF4-FFF2-40B4-BE49-F238E27FC236}">
                  <a16:creationId xmlns:a16="http://schemas.microsoft.com/office/drawing/2014/main" id="{7FF99B14-889A-1011-F8F4-EC1FFE0274F2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46" name="角丸四角形 45">
              <a:extLst>
                <a:ext uri="{FF2B5EF4-FFF2-40B4-BE49-F238E27FC236}">
                  <a16:creationId xmlns:a16="http://schemas.microsoft.com/office/drawing/2014/main" id="{68273DFF-8DC8-5034-AACC-7DDB90A2D69D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自動テスト（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/3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FF37D942-30FB-2C88-1F3E-BFBACE6DA924}"/>
              </a:ext>
            </a:extLst>
          </p:cNvPr>
          <p:cNvGrpSpPr/>
          <p:nvPr/>
        </p:nvGrpSpPr>
        <p:grpSpPr>
          <a:xfrm>
            <a:off x="6673800" y="6079032"/>
            <a:ext cx="4680000" cy="720000"/>
            <a:chOff x="838200" y="1690688"/>
            <a:chExt cx="4680000" cy="720000"/>
          </a:xfrm>
        </p:grpSpPr>
        <p:sp>
          <p:nvSpPr>
            <p:cNvPr id="88" name="正方形/長方形 87">
              <a:extLst>
                <a:ext uri="{FF2B5EF4-FFF2-40B4-BE49-F238E27FC236}">
                  <a16:creationId xmlns:a16="http://schemas.microsoft.com/office/drawing/2014/main" id="{6CFF1DF8-69CF-5768-5921-EB74B83C800A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9" name="角丸四角形 88">
              <a:extLst>
                <a:ext uri="{FF2B5EF4-FFF2-40B4-BE49-F238E27FC236}">
                  <a16:creationId xmlns:a16="http://schemas.microsoft.com/office/drawing/2014/main" id="{AB2A8C62-3C9D-B0F3-5E0A-4F830D7B704F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2026-07-17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14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90" name="正方形/長方形 89">
              <a:extLst>
                <a:ext uri="{FF2B5EF4-FFF2-40B4-BE49-F238E27FC236}">
                  <a16:creationId xmlns:a16="http://schemas.microsoft.com/office/drawing/2014/main" id="{4899495C-2906-5558-6601-76BB83FF6C80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91" name="角丸四角形 90">
              <a:extLst>
                <a:ext uri="{FF2B5EF4-FFF2-40B4-BE49-F238E27FC236}">
                  <a16:creationId xmlns:a16="http://schemas.microsoft.com/office/drawing/2014/main" id="{AB53A582-0408-FC05-72F8-1BC0647F77D5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成果物</a:t>
              </a:r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の発表会</a:t>
              </a:r>
              <a:endParaRPr kumimoji="1" lang="ja-JP" altLang="en-US" sz="160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74B6B5D9-5B28-92C2-6932-DAEBC7EBBC08}"/>
              </a:ext>
            </a:extLst>
          </p:cNvPr>
          <p:cNvGrpSpPr/>
          <p:nvPr/>
        </p:nvGrpSpPr>
        <p:grpSpPr>
          <a:xfrm>
            <a:off x="838200" y="2131793"/>
            <a:ext cx="4680000" cy="720000"/>
            <a:chOff x="838200" y="1690688"/>
            <a:chExt cx="4680000" cy="720000"/>
          </a:xfrm>
        </p:grpSpPr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A87DBB9C-1292-22B0-CBE7-3C2C506B711B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A2028652-ED87-3DC4-39F9-E63C2E0BF8BF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2026-04-17 (Fru)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02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84AB6C02-47C6-C0D8-C854-EFDAEDFDE982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C7FFDCFA-5228-2C25-23DA-3FD5130570EA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Usage/README</a:t>
              </a:r>
              <a:endParaRPr kumimoji="1" lang="ja-JP" altLang="en-US" sz="160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02D497E1-3F52-F24A-162F-2DB2D881BC95}"/>
              </a:ext>
            </a:extLst>
          </p:cNvPr>
          <p:cNvGrpSpPr/>
          <p:nvPr/>
        </p:nvGrpSpPr>
        <p:grpSpPr>
          <a:xfrm>
            <a:off x="838200" y="2921241"/>
            <a:ext cx="4680000" cy="720000"/>
            <a:chOff x="838200" y="1690688"/>
            <a:chExt cx="4680000" cy="720000"/>
          </a:xfrm>
        </p:grpSpPr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597CDF0D-1A23-EDAA-024C-B924CAF07EAB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FC039023-8CF4-7353-1D0A-0E704CF082AD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2026-04-24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03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4B1BD11D-C849-A1FD-5B93-D024923D4AE9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21" name="角丸四角形 20">
              <a:extLst>
                <a:ext uri="{FF2B5EF4-FFF2-40B4-BE49-F238E27FC236}">
                  <a16:creationId xmlns:a16="http://schemas.microsoft.com/office/drawing/2014/main" id="{41F820FD-9911-B1CF-45FE-9B73A28C8E20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CI/CD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（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1/2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EB964AD0-EE49-039A-298B-BC40BF1C3762}"/>
              </a:ext>
            </a:extLst>
          </p:cNvPr>
          <p:cNvGrpSpPr/>
          <p:nvPr/>
        </p:nvGrpSpPr>
        <p:grpSpPr>
          <a:xfrm>
            <a:off x="838200" y="3710689"/>
            <a:ext cx="4680000" cy="720000"/>
            <a:chOff x="838200" y="1690688"/>
            <a:chExt cx="4680000" cy="720000"/>
          </a:xfrm>
        </p:grpSpPr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0978D76B-C677-AABA-B2F9-3A3DF0F4D7AE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24" name="角丸四角形 23">
              <a:extLst>
                <a:ext uri="{FF2B5EF4-FFF2-40B4-BE49-F238E27FC236}">
                  <a16:creationId xmlns:a16="http://schemas.microsoft.com/office/drawing/2014/main" id="{BDA4636E-EB4D-007B-70EF-29F37B2C74A2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2026-05-01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04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40204FF3-3B17-5E31-D137-95FD18CF0DE0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26" name="角丸四角形 25">
              <a:extLst>
                <a:ext uri="{FF2B5EF4-FFF2-40B4-BE49-F238E27FC236}">
                  <a16:creationId xmlns:a16="http://schemas.microsoft.com/office/drawing/2014/main" id="{F1F40D0B-468A-D2E2-0768-65B8ABACFC8B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CI/CD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/2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A85C5743-75C7-1BFD-2D9B-FA4ACA5CD3A4}"/>
              </a:ext>
            </a:extLst>
          </p:cNvPr>
          <p:cNvGrpSpPr/>
          <p:nvPr/>
        </p:nvGrpSpPr>
        <p:grpSpPr>
          <a:xfrm>
            <a:off x="838200" y="4500137"/>
            <a:ext cx="4680000" cy="720000"/>
            <a:chOff x="838200" y="1690688"/>
            <a:chExt cx="4680000" cy="720000"/>
          </a:xfrm>
        </p:grpSpPr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18C3186E-A538-937B-8550-F2FD90FC8A34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29" name="角丸四角形 28">
              <a:extLst>
                <a:ext uri="{FF2B5EF4-FFF2-40B4-BE49-F238E27FC236}">
                  <a16:creationId xmlns:a16="http://schemas.microsoft.com/office/drawing/2014/main" id="{19361D24-07DA-EBA7-CF0D-2A119454B165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2026-05-15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05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8DB04672-EC83-F47C-C267-F34A40837A3E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31" name="角丸四角形 30">
              <a:extLst>
                <a:ext uri="{FF2B5EF4-FFF2-40B4-BE49-F238E27FC236}">
                  <a16:creationId xmlns:a16="http://schemas.microsoft.com/office/drawing/2014/main" id="{6D412A2E-B04C-34CD-C4DA-DA140FB55A5B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プログラミング（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1/3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37" name="グループ化 36">
            <a:extLst>
              <a:ext uri="{FF2B5EF4-FFF2-40B4-BE49-F238E27FC236}">
                <a16:creationId xmlns:a16="http://schemas.microsoft.com/office/drawing/2014/main" id="{FFF3D64E-E565-7A71-E121-CAA7EA31696F}"/>
              </a:ext>
            </a:extLst>
          </p:cNvPr>
          <p:cNvGrpSpPr/>
          <p:nvPr/>
        </p:nvGrpSpPr>
        <p:grpSpPr>
          <a:xfrm>
            <a:off x="838200" y="6079032"/>
            <a:ext cx="4680000" cy="720000"/>
            <a:chOff x="838200" y="1690688"/>
            <a:chExt cx="4680000" cy="720000"/>
          </a:xfrm>
        </p:grpSpPr>
        <p:sp>
          <p:nvSpPr>
            <p:cNvPr id="38" name="正方形/長方形 37">
              <a:extLst>
                <a:ext uri="{FF2B5EF4-FFF2-40B4-BE49-F238E27FC236}">
                  <a16:creationId xmlns:a16="http://schemas.microsoft.com/office/drawing/2014/main" id="{A52552EA-FDE9-1532-2DA9-A6A69AEFFE0F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39" name="角丸四角形 38">
              <a:extLst>
                <a:ext uri="{FF2B5EF4-FFF2-40B4-BE49-F238E27FC236}">
                  <a16:creationId xmlns:a16="http://schemas.microsoft.com/office/drawing/2014/main" id="{C0547561-7FDD-8F1D-D98D-62EC74E0F112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2026-05-29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07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55B2F28D-9C8B-3631-9470-75FEED6294CB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41" name="角丸四角形 40">
              <a:extLst>
                <a:ext uri="{FF2B5EF4-FFF2-40B4-BE49-F238E27FC236}">
                  <a16:creationId xmlns:a16="http://schemas.microsoft.com/office/drawing/2014/main" id="{60FFC8B6-EB57-3D9B-AACD-AC47A8E24ADF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プログラミング（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3/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3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  <a:endParaRPr kumimoji="1" lang="en-US" altLang="ja-JP" sz="1600" dirty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自動テスト（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1/3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77" name="グループ化 76">
            <a:extLst>
              <a:ext uri="{FF2B5EF4-FFF2-40B4-BE49-F238E27FC236}">
                <a16:creationId xmlns:a16="http://schemas.microsoft.com/office/drawing/2014/main" id="{3616966E-8D12-539B-F509-1D1C5F2670A5}"/>
              </a:ext>
            </a:extLst>
          </p:cNvPr>
          <p:cNvGrpSpPr/>
          <p:nvPr/>
        </p:nvGrpSpPr>
        <p:grpSpPr>
          <a:xfrm>
            <a:off x="6673800" y="4500137"/>
            <a:ext cx="4680000" cy="720000"/>
            <a:chOff x="838200" y="1690688"/>
            <a:chExt cx="4680000" cy="720000"/>
          </a:xfrm>
        </p:grpSpPr>
        <p:sp>
          <p:nvSpPr>
            <p:cNvPr id="78" name="正方形/長方形 77">
              <a:extLst>
                <a:ext uri="{FF2B5EF4-FFF2-40B4-BE49-F238E27FC236}">
                  <a16:creationId xmlns:a16="http://schemas.microsoft.com/office/drawing/2014/main" id="{2D40E0B1-177D-2F41-E419-3CAB42295540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9" name="角丸四角形 78">
              <a:extLst>
                <a:ext uri="{FF2B5EF4-FFF2-40B4-BE49-F238E27FC236}">
                  <a16:creationId xmlns:a16="http://schemas.microsoft.com/office/drawing/2014/main" id="{B57FD160-A512-773F-4232-32F675E53897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2026-07-03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12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3A5809EF-6005-86B2-F1F7-C843F7D74609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1" name="角丸四角形 80">
              <a:extLst>
                <a:ext uri="{FF2B5EF4-FFF2-40B4-BE49-F238E27FC236}">
                  <a16:creationId xmlns:a16="http://schemas.microsoft.com/office/drawing/2014/main" id="{5D63E947-E5C0-98D5-ADED-32B7E544E0F2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400" strike="sngStrike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Docker</a:t>
              </a:r>
              <a:r>
                <a:rPr kumimoji="1" lang="ja-JP" altLang="en-US" sz="1400" strike="sngStrike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（</a:t>
              </a:r>
              <a:r>
                <a:rPr kumimoji="1" lang="en-US" altLang="ja-JP" sz="1400" strike="sngStrike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1/1</a:t>
              </a:r>
              <a:r>
                <a:rPr kumimoji="1" lang="ja-JP" altLang="en-US" sz="1400" strike="sngStrike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  <a:endParaRPr kumimoji="1" lang="en-US" altLang="ja-JP" sz="1400" strike="sngStrike" dirty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  <a:p>
              <a:r>
                <a:rPr lang="ja-JP" altLang="en-US" sz="14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補完（</a:t>
              </a:r>
              <a:r>
                <a:rPr lang="en-US" altLang="ja-JP" sz="14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1/1</a:t>
              </a:r>
              <a:r>
                <a:rPr lang="ja-JP" altLang="en-US" sz="14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  <a:endParaRPr lang="en-US" altLang="ja-JP" sz="1400" dirty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  <a:p>
              <a:r>
                <a:rPr lang="en-US" altLang="ja-JP" sz="14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Homebrew</a:t>
              </a:r>
              <a:r>
                <a:rPr lang="ja-JP" altLang="en-US" sz="14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（</a:t>
              </a:r>
              <a:r>
                <a:rPr lang="en-US" altLang="ja-JP" sz="14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1/1</a:t>
              </a:r>
              <a:r>
                <a:rPr lang="ja-JP" altLang="en-US" sz="14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82" name="グループ化 81">
            <a:extLst>
              <a:ext uri="{FF2B5EF4-FFF2-40B4-BE49-F238E27FC236}">
                <a16:creationId xmlns:a16="http://schemas.microsoft.com/office/drawing/2014/main" id="{E10B19ED-251C-1BA2-1E99-506F864357BA}"/>
              </a:ext>
            </a:extLst>
          </p:cNvPr>
          <p:cNvGrpSpPr/>
          <p:nvPr/>
        </p:nvGrpSpPr>
        <p:grpSpPr>
          <a:xfrm>
            <a:off x="6673800" y="5289585"/>
            <a:ext cx="4680000" cy="720000"/>
            <a:chOff x="838200" y="1690688"/>
            <a:chExt cx="4680000" cy="720000"/>
          </a:xfrm>
        </p:grpSpPr>
        <p:sp>
          <p:nvSpPr>
            <p:cNvPr id="83" name="正方形/長方形 82">
              <a:extLst>
                <a:ext uri="{FF2B5EF4-FFF2-40B4-BE49-F238E27FC236}">
                  <a16:creationId xmlns:a16="http://schemas.microsoft.com/office/drawing/2014/main" id="{13AB1A7D-5E46-F3C4-0E73-E1A6323F5E36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4" name="角丸四角形 83">
              <a:extLst>
                <a:ext uri="{FF2B5EF4-FFF2-40B4-BE49-F238E27FC236}">
                  <a16:creationId xmlns:a16="http://schemas.microsoft.com/office/drawing/2014/main" id="{6EE807C3-ECE8-972C-D672-A24FCB4635C0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2026-07-10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13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5" name="正方形/長方形 84">
              <a:extLst>
                <a:ext uri="{FF2B5EF4-FFF2-40B4-BE49-F238E27FC236}">
                  <a16:creationId xmlns:a16="http://schemas.microsoft.com/office/drawing/2014/main" id="{2385214B-5E8C-01D0-2581-73C2E85FA926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6" name="角丸四角形 85">
              <a:extLst>
                <a:ext uri="{FF2B5EF4-FFF2-40B4-BE49-F238E27FC236}">
                  <a16:creationId xmlns:a16="http://schemas.microsoft.com/office/drawing/2014/main" id="{3F63C276-92FD-C55C-D76D-B428200203C1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予備日</a:t>
              </a:r>
              <a:endParaRPr kumimoji="1" lang="ja-JP" altLang="en-US" sz="160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grpSp>
        <p:nvGrpSpPr>
          <p:cNvPr id="67" name="グループ化 66">
            <a:extLst>
              <a:ext uri="{FF2B5EF4-FFF2-40B4-BE49-F238E27FC236}">
                <a16:creationId xmlns:a16="http://schemas.microsoft.com/office/drawing/2014/main" id="{23F0E1D2-0FC6-61C8-3079-7BC12F9B54CF}"/>
              </a:ext>
            </a:extLst>
          </p:cNvPr>
          <p:cNvGrpSpPr/>
          <p:nvPr/>
        </p:nvGrpSpPr>
        <p:grpSpPr>
          <a:xfrm>
            <a:off x="6673800" y="2921241"/>
            <a:ext cx="4680000" cy="720000"/>
            <a:chOff x="838200" y="1690688"/>
            <a:chExt cx="4680000" cy="720000"/>
          </a:xfrm>
        </p:grpSpPr>
        <p:sp>
          <p:nvSpPr>
            <p:cNvPr id="68" name="正方形/長方形 67">
              <a:extLst>
                <a:ext uri="{FF2B5EF4-FFF2-40B4-BE49-F238E27FC236}">
                  <a16:creationId xmlns:a16="http://schemas.microsoft.com/office/drawing/2014/main" id="{38212CD8-F2B5-E6E5-472E-30540C4BB085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69" name="角丸四角形 68">
              <a:extLst>
                <a:ext uri="{FF2B5EF4-FFF2-40B4-BE49-F238E27FC236}">
                  <a16:creationId xmlns:a16="http://schemas.microsoft.com/office/drawing/2014/main" id="{3149CD1E-3B06-017B-3185-8D86BFCFAF3F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2026-06-19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10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0" name="正方形/長方形 69">
              <a:extLst>
                <a:ext uri="{FF2B5EF4-FFF2-40B4-BE49-F238E27FC236}">
                  <a16:creationId xmlns:a16="http://schemas.microsoft.com/office/drawing/2014/main" id="{2E82047E-CB5B-11DA-7510-402ABF9572B9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1" name="角丸四角形 70">
              <a:extLst>
                <a:ext uri="{FF2B5EF4-FFF2-40B4-BE49-F238E27FC236}">
                  <a16:creationId xmlns:a16="http://schemas.microsoft.com/office/drawing/2014/main" id="{D26253C2-AE8C-0499-2B00-8B3768B4162A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ja-JP" altLang="en-US" sz="1600" strike="sngStrike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ドキュメント（</a:t>
              </a:r>
              <a:r>
                <a:rPr lang="en-US" altLang="ja-JP" sz="1600" strike="sngStrike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1/2</a:t>
              </a:r>
              <a:r>
                <a:rPr lang="ja-JP" altLang="en-US" sz="1600" strike="sngStrike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ドキュメント（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/2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62" name="グループ化 61">
            <a:extLst>
              <a:ext uri="{FF2B5EF4-FFF2-40B4-BE49-F238E27FC236}">
                <a16:creationId xmlns:a16="http://schemas.microsoft.com/office/drawing/2014/main" id="{E0B23A69-3D0A-30DE-D63A-CFB9F422BBD6}"/>
              </a:ext>
            </a:extLst>
          </p:cNvPr>
          <p:cNvGrpSpPr/>
          <p:nvPr/>
        </p:nvGrpSpPr>
        <p:grpSpPr>
          <a:xfrm>
            <a:off x="6673800" y="2131793"/>
            <a:ext cx="4680000" cy="720000"/>
            <a:chOff x="838200" y="1690688"/>
            <a:chExt cx="4680000" cy="720000"/>
          </a:xfrm>
        </p:grpSpPr>
        <p:sp>
          <p:nvSpPr>
            <p:cNvPr id="63" name="正方形/長方形 62">
              <a:extLst>
                <a:ext uri="{FF2B5EF4-FFF2-40B4-BE49-F238E27FC236}">
                  <a16:creationId xmlns:a16="http://schemas.microsoft.com/office/drawing/2014/main" id="{2AB6D48D-57CE-9B33-EC74-9593FB8234B6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64" name="角丸四角形 63">
              <a:extLst>
                <a:ext uri="{FF2B5EF4-FFF2-40B4-BE49-F238E27FC236}">
                  <a16:creationId xmlns:a16="http://schemas.microsoft.com/office/drawing/2014/main" id="{FA426E4F-2AF5-F1E0-51E9-7BE7B03CF06F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2026-06-12 (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Fri</a:t>
              </a:r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09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65" name="正方形/長方形 64">
              <a:extLst>
                <a:ext uri="{FF2B5EF4-FFF2-40B4-BE49-F238E27FC236}">
                  <a16:creationId xmlns:a16="http://schemas.microsoft.com/office/drawing/2014/main" id="{8FAD5CBD-77EA-7BA5-BE48-AB384AC12D68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66" name="角丸四角形 65">
              <a:extLst>
                <a:ext uri="{FF2B5EF4-FFF2-40B4-BE49-F238E27FC236}">
                  <a16:creationId xmlns:a16="http://schemas.microsoft.com/office/drawing/2014/main" id="{2AD3DBD6-3FCC-C09A-A55F-ECD9B71DED81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 strike="sngStrike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自動テスト（</a:t>
              </a:r>
              <a:r>
                <a:rPr kumimoji="1" lang="en-US" altLang="ja-JP" sz="1600" strike="sngStrike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3/3</a:t>
              </a:r>
              <a:r>
                <a:rPr kumimoji="1" lang="ja-JP" altLang="en-US" sz="1600" strike="sngStrike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  <a:endParaRPr kumimoji="1" lang="en-US" altLang="ja-JP" sz="1600" strike="sngStrike" dirty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  <a:p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ドキュメント（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1/2</a:t>
              </a:r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  <a:endParaRPr kumimoji="1" lang="ja-JP" altLang="en-US" sz="160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A8C48FE-5BC3-19F6-C3A4-109394D6D1F4}"/>
              </a:ext>
            </a:extLst>
          </p:cNvPr>
          <p:cNvSpPr/>
          <p:nvPr/>
        </p:nvSpPr>
        <p:spPr>
          <a:xfrm>
            <a:off x="707282" y="1300479"/>
            <a:ext cx="10777435" cy="5557521"/>
          </a:xfrm>
          <a:prstGeom prst="rect">
            <a:avLst/>
          </a:prstGeom>
          <a:solidFill>
            <a:srgbClr val="FFFFFF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72" name="グループ化 71">
            <a:extLst>
              <a:ext uri="{FF2B5EF4-FFF2-40B4-BE49-F238E27FC236}">
                <a16:creationId xmlns:a16="http://schemas.microsoft.com/office/drawing/2014/main" id="{C32A51A3-AE96-5B7A-7467-E4A2135CEC3E}"/>
              </a:ext>
            </a:extLst>
          </p:cNvPr>
          <p:cNvGrpSpPr/>
          <p:nvPr/>
        </p:nvGrpSpPr>
        <p:grpSpPr>
          <a:xfrm>
            <a:off x="6673800" y="3710689"/>
            <a:ext cx="4680000" cy="720000"/>
            <a:chOff x="838200" y="1690688"/>
            <a:chExt cx="4680000" cy="720000"/>
          </a:xfrm>
        </p:grpSpPr>
        <p:sp>
          <p:nvSpPr>
            <p:cNvPr id="73" name="正方形/長方形 72">
              <a:extLst>
                <a:ext uri="{FF2B5EF4-FFF2-40B4-BE49-F238E27FC236}">
                  <a16:creationId xmlns:a16="http://schemas.microsoft.com/office/drawing/2014/main" id="{462FBDF8-6842-66AA-ED02-A976619EAAFF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4" name="角丸四角形 73">
              <a:extLst>
                <a:ext uri="{FF2B5EF4-FFF2-40B4-BE49-F238E27FC236}">
                  <a16:creationId xmlns:a16="http://schemas.microsoft.com/office/drawing/2014/main" id="{CCEA1C9F-94BA-4D46-AB52-1317364CBCF0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2026-06-26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11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5" name="正方形/長方形 74">
              <a:extLst>
                <a:ext uri="{FF2B5EF4-FFF2-40B4-BE49-F238E27FC236}">
                  <a16:creationId xmlns:a16="http://schemas.microsoft.com/office/drawing/2014/main" id="{2392CD05-FD5D-C26E-ACDC-8760179B53C1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6" name="角丸四角形 75">
              <a:extLst>
                <a:ext uri="{FF2B5EF4-FFF2-40B4-BE49-F238E27FC236}">
                  <a16:creationId xmlns:a16="http://schemas.microsoft.com/office/drawing/2014/main" id="{050D9C10-83DA-A39D-1712-C7514F9E8784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 strike="sngStrike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ドキュメント（</a:t>
              </a:r>
              <a:r>
                <a:rPr lang="en-US" altLang="ja-JP" sz="1600" strike="sngStrike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</a:t>
              </a:r>
              <a:r>
                <a:rPr kumimoji="1" lang="en-US" altLang="ja-JP" sz="1600" strike="sngStrike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/2</a:t>
              </a:r>
              <a:r>
                <a:rPr kumimoji="1" lang="ja-JP" altLang="en-US" sz="1600" strike="sngStrike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  <a:endParaRPr kumimoji="1" lang="en-US" altLang="ja-JP" sz="1600" strike="sngStrike" dirty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  <a:p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Docker</a:t>
              </a:r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1/1</a:t>
              </a:r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25027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" id="{9B92DAC1-B206-6E4D-9DDA-F3C380F9C271}" vid="{0ECE7065-281A-B545-8D42-4EC5E612C963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23564</TotalTime>
  <Words>2476</Words>
  <Application>Microsoft Macintosh PowerPoint</Application>
  <PresentationFormat>ワイド画面</PresentationFormat>
  <Paragraphs>399</Paragraphs>
  <Slides>27</Slides>
  <Notes>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27</vt:i4>
      </vt:variant>
    </vt:vector>
  </HeadingPairs>
  <TitlesOfParts>
    <vt:vector size="33" baseType="lpstr">
      <vt:lpstr>Meiryo</vt:lpstr>
      <vt:lpstr>游ゴシック</vt:lpstr>
      <vt:lpstr>Arial</vt:lpstr>
      <vt:lpstr>Consolas</vt:lpstr>
      <vt:lpstr>Times New Roman</vt:lpstr>
      <vt:lpstr>Office テーマ</vt:lpstr>
      <vt:lpstr>エンピリカル ソフトウェア工学 第9回 ドキュメント (1/2)</vt:lpstr>
      <vt:lpstr>講義スケジュール</vt:lpstr>
      <vt:lpstr>講義スケジュール</vt:lpstr>
      <vt:lpstr>Webサイト</vt:lpstr>
      <vt:lpstr>半永久的に残るWebサイト</vt:lpstr>
      <vt:lpstr>半永久的に残しておくために</vt:lpstr>
      <vt:lpstr>Webサイトの公開場所候補</vt:lpstr>
      <vt:lpstr>GitHub Pages</vt:lpstr>
      <vt:lpstr>Webデザインのトレンド</vt:lpstr>
      <vt:lpstr>ドキュメントサイトの構築</vt:lpstr>
      <vt:lpstr>SSR v.s. SSG</vt:lpstr>
      <vt:lpstr>SSG</vt:lpstr>
      <vt:lpstr>関連ページ</vt:lpstr>
      <vt:lpstr>AIに書いてもらうのも良い</vt:lpstr>
      <vt:lpstr>ドキュメントへの掲載内容</vt:lpstr>
      <vt:lpstr>Hugo 初期化</vt:lpstr>
      <vt:lpstr>Hugo ディレクトリの内容</vt:lpstr>
      <vt:lpstr>Hugo テーマの適用方法</vt:lpstr>
      <vt:lpstr>出力先はどうする？</vt:lpstr>
      <vt:lpstr>なぜ？ 玉田の私見</vt:lpstr>
      <vt:lpstr>HugoでWebサイト構築 具体的な手順</vt:lpstr>
      <vt:lpstr>1.ドキュメントのためのフォルダを用意する．</vt:lpstr>
      <vt:lpstr>2. テーマを決める．</vt:lpstr>
      <vt:lpstr>3.出力先ブランチを用意する．</vt:lpstr>
      <vt:lpstr>4. テーマの設定を行う．</vt:lpstr>
      <vt:lpstr>5. ドキュメントを書く</vt:lpstr>
      <vt:lpstr>講義スケジュール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TAMADA HARUAKI</dc:creator>
  <cp:lastModifiedBy>TAMADA HARUAKI</cp:lastModifiedBy>
  <cp:revision>678</cp:revision>
  <dcterms:created xsi:type="dcterms:W3CDTF">2022-04-24T10:54:34Z</dcterms:created>
  <dcterms:modified xsi:type="dcterms:W3CDTF">2026-06-09T04:20:06Z</dcterms:modified>
</cp:coreProperties>
</file>