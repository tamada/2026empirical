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543" r:id="rId3"/>
    <p:sldId id="366" r:id="rId4"/>
    <p:sldId id="368" r:id="rId5"/>
    <p:sldId id="369" r:id="rId6"/>
    <p:sldId id="370" r:id="rId7"/>
    <p:sldId id="545" r:id="rId8"/>
    <p:sldId id="546" r:id="rId9"/>
    <p:sldId id="372" r:id="rId10"/>
    <p:sldId id="547" r:id="rId11"/>
    <p:sldId id="374" r:id="rId12"/>
    <p:sldId id="375" r:id="rId13"/>
    <p:sldId id="389" r:id="rId14"/>
    <p:sldId id="376" r:id="rId15"/>
    <p:sldId id="378" r:id="rId16"/>
    <p:sldId id="380" r:id="rId17"/>
    <p:sldId id="381" r:id="rId18"/>
    <p:sldId id="386" r:id="rId19"/>
    <p:sldId id="548" r:id="rId20"/>
    <p:sldId id="284" r:id="rId21"/>
    <p:sldId id="285" r:id="rId22"/>
    <p:sldId id="384" r:id="rId23"/>
    <p:sldId id="549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28C27"/>
    <a:srgbClr val="000000"/>
    <a:srgbClr val="C5E0B4"/>
    <a:srgbClr val="7D98B3"/>
    <a:srgbClr val="8699BF"/>
    <a:srgbClr val="9DBF86"/>
    <a:srgbClr val="A786BF"/>
    <a:srgbClr val="FFB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1233"/>
  </p:normalViewPr>
  <p:slideViewPr>
    <p:cSldViewPr snapToGrid="0" snapToObjects="1">
      <p:cViewPr varScale="1">
        <p:scale>
          <a:sx n="96" d="100"/>
          <a:sy n="96" d="100"/>
        </p:scale>
        <p:origin x="1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E0D3F-88AC-AC4C-A850-A113E8478B35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EFE4-0067-BE4A-AB74-27D08C169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03FE-3D04-2660-E2D3-0177F4F7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4271AA-BA4A-8375-62ED-948D378D0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A5F140-5792-BDFB-04E7-ECD42C22C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C15930-96FF-677A-2C2D-7F3E19898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2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COMP_REPLY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573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E636-7403-9D23-DEDB-321782A2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EA53B-9505-D5AC-14A8-5B9946C26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C77ACFE-0052-95E1-B73A-B63DEE5FF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COMP_REPLY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870DA2-94F2-0D5F-7111-1FB9AF044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71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3C37-1514-EDD0-3AE0-67322F98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CB4B8D-3B9C-D104-D32B-58E64EDA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12D723-6670-FA7D-65F6-223FC71FF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0CD2F7-EA7B-F303-4E21-798C2FC6F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517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790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83EE-EE9A-61C0-757C-783D9782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4E4E0F-4268-83EF-92F9-098D6B9F5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ADAF10-1057-D520-D5ED-257F08AEB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B5925C-080A-EB99-0F99-456CD9472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728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563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F892A-4D6A-428C-F137-D1AB8A1D5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9D5519-618C-AA4D-A0C0-A4E007FBE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48A823F-3BD1-99FF-C501-385E7A2CB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BD9A2F-3C70-BB0A-BD9D-2E786C6A0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0701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AE3F1-6860-34FB-F2AC-E3181A6A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CD0B15-C8B7-00F7-DBE9-D3AD533D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C3DEB-6E35-D2D0-EABA-F8A19BBD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35D15-762E-39B0-0A6F-14EFF50B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DFDF9-92D5-0273-6AA5-EE561AF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3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965E4-8E20-9D46-6D12-F877A919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3E8D2-3A17-78BF-F4C2-CDF62AC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D23703-4802-F8D8-D9BF-C6ABE5C8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C5D23-A2A0-1968-4ACC-1B1357A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2682BA-033D-1B7D-4861-DDD343E9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9F4E9-7F37-2DF8-78B9-30C3125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BF7F8-9D3C-A422-471A-C8A1E82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20F65-AA40-72A0-770D-E19A2FA9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81911-2B29-A9AD-E565-FF8CD62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1582B-A53B-0238-DBDB-FB5DBF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232BC-8A6A-9D3A-A1D9-3080F812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2D8DC-6AD4-FA7E-3F14-DB7C79ACD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DE28B2-EF25-CC14-3531-75FEF0B6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3A7B7E-A26D-8BA6-BB1E-8237CE6F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7E107-84C7-8B82-2567-9E3F901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7C7FA1-4591-F30A-BC2B-286C70E6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5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54A32-DEA7-69BE-B62E-A6224383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EF868-DDA1-C4EB-6743-489DC5F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39B8F-A2A1-CF4F-742C-F6839C57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13E432-90C9-F616-1A3C-AE747080A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AA48B9-2830-0B1B-940E-B2239ADE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B4728E-F8C1-F17A-C937-B880D97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3C6BA5-320F-AD96-EF9C-4688CD1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1151E6-2A46-0BFB-C19C-182A2D4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FCE36-69F6-8D82-66E2-2BE7E56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3D72AD-5495-9467-9401-F6186DDB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62EC51-A3D5-EC3F-7813-ADEA4FC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A073C-2BE4-2466-8413-FEE9DE4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3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254B13-A92B-C641-0C83-88C8E8C0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961BE-BDDF-24BF-A624-7B4A792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2A63C-7150-3E3B-E0A7-4FAFA23A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CBFD-B9B9-C88D-4AF2-DA5E9D1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645C-911D-D877-789A-4ABCA160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35085C-0945-616B-1D39-35150C87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E25B3-F458-1F25-BA2A-10D3E7E2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9217E-3F73-CCE8-77EF-A52308AC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0295A2-6412-27A3-80DB-4DC7AF9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9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A11E3-5007-3320-F7E6-691E113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AA4DA3-E363-0E1A-C5EE-67CFA080E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13344-E496-4753-C58C-D01D8C7B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6EEBB-B395-8892-612D-06BBEE16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73243-636B-AD34-97B8-096CAB4B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AB26F-070D-AA48-1A17-487ABD43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74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9E654-7E7E-36B3-ADB0-3093EC9F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095-4BA5-2299-C02F-2E56585C2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B78716-480A-7430-C0FA-4F0DC016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2CF7-BBCD-5D04-D7AD-CBC09AA5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D3898-C8CD-BE96-524B-6C3F9211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886E9-6CAD-71F6-5345-FA1396703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359E1-F40F-3D47-6DF2-882BD86E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8D548-5283-77D1-F67F-6EC5C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D1D05-E6FD-9267-0EA3-57EE28C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3F417-24E0-EE42-C260-DDADA43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1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F236BC-AAF6-B861-739B-86FA3431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FC96-8BC7-5FBA-D355-BCF93438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1E11-9D31-C316-E911-911DC842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altLang="ja-JP"/>
              <a:t>2026-07-10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2398-2A83-C162-F251-7C27A4C8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060AB-9F59-AB6D-F6F6-574D92AC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0B8845E4-5C92-A046-BB66-E5D9CC995B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9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mazon.co.jp/dp/477413864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tyaru.hatenablog.com/entry/2023/01/09/00000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tyaru.hatenablog.com/entry/2023/01/09/00000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784E-BEC4-EB82-3848-F83C8301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ja-JP" altLang="en-US"/>
              <a:t>エンピリカル</a:t>
            </a:r>
            <a:br>
              <a:rPr lang="en-US" altLang="ja-JP" dirty="0"/>
            </a:br>
            <a:r>
              <a:rPr lang="ja-JP" altLang="en-US"/>
              <a:t>ソフトウェア工学</a:t>
            </a:r>
            <a:br>
              <a:rPr lang="en-US" altLang="ja-JP" dirty="0"/>
            </a:br>
            <a:r>
              <a:rPr lang="ja-JP" altLang="en-US" sz="4800"/>
              <a:t>第</a:t>
            </a:r>
            <a:r>
              <a:rPr lang="en-US" altLang="ja-JP" sz="4800" dirty="0"/>
              <a:t>14</a:t>
            </a:r>
            <a:r>
              <a:rPr lang="ja-JP" altLang="en-US" sz="4800"/>
              <a:t>回</a:t>
            </a:r>
            <a:r>
              <a:rPr lang="en-US" altLang="ja-JP" sz="4800" dirty="0"/>
              <a:t> </a:t>
            </a:r>
            <a:r>
              <a:rPr lang="ja-JP" altLang="en-US" sz="4800"/>
              <a:t>補完</a:t>
            </a:r>
            <a:r>
              <a:rPr lang="en-US" altLang="ja-JP" sz="4800" dirty="0"/>
              <a:t>/Homebrew</a:t>
            </a:r>
            <a:endParaRPr kumimoji="1" lang="ja-JP" altLang="en-US" sz="480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687755-EB78-813E-2AE5-266F2715E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2026-07-10</a:t>
            </a:r>
          </a:p>
          <a:p>
            <a:r>
              <a:rPr lang="ja-JP" altLang="en-US"/>
              <a:t>玉田</a:t>
            </a:r>
            <a:r>
              <a:rPr lang="en-US" altLang="ja-JP" dirty="0"/>
              <a:t> </a:t>
            </a:r>
            <a:r>
              <a:rPr lang="ja-JP" altLang="en-US"/>
              <a:t>春昭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A0BDC-22A6-7CC7-0358-1C2E0915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D24184-6358-A3E9-85F2-F35BC4F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0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1183-6512-0658-DC7D-F8E4A793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51D8F-FDF9-382E-7936-64DC19F9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59F76-C9FE-E21A-CF33-A028C268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190477-ABC1-A732-486F-13A636F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42A339A-46C2-3EC3-01AD-55697C9B38A0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09D41AD-E3E8-669D-BC06-DD15F69A7B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F520076-C3F6-E6CE-210A-0D98F1B4FFC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77194F2-AE43-8638-D2AA-EA64890ACCF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02CA2F63-F1DC-D507-E4BD-F8404588EE8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ADA5E8F-EA1C-A9F1-171C-C4147D5111EF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D1158B1-7C9D-FF28-EB60-E432232421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05E11F0E-665A-1CCE-201D-B7ACABDA333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781C07F9-0E22-E229-16EE-1CCCC0BCBEB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DD198E45-A400-1BBF-89BE-F6EDE6E571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D2B1A6D-1148-C863-5481-34CB4BB19023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3955E4B-AAA9-ADF3-8EE0-6276796531E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311E5817-72E5-6A99-90D3-BA4E54C180D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C624E98C-2448-E467-ABEF-2BD16D99E32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B4D19F41-ACB8-0456-C664-A44C844AFF3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01153808-5448-59E9-2529-11A7C522D29F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6BB426D7-690D-6B2A-46E9-6B37DB9AEF0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835DFD1-002E-5377-CA57-78957DF011D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C66AC1F3-F8ED-DD5A-8B5C-CD5A2286D6C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3BF222F9-09A8-72CE-449B-EB1BF1CAAD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918CDC8-892E-EAEB-77B9-05C902C2B959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7508CD17-1CC5-FED3-2BD2-99379E48D74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A73541E5-F13B-38E1-4202-6FE847E6ECC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EAE641A-DEE4-AFDD-A4C4-9706D595396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AEA4FB4-67E3-8D51-018D-60DE20487AD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D5EF1609-65E4-B8E1-4F6B-3B7615127A9A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D8EA1489-5979-6521-A328-A60F1CCC5AC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495BC841-2AFB-8CAF-1C61-2F10768F618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867454CA-7A0C-4890-069B-DD1A6628B95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0A4FBD7-CBFB-150F-D541-E303F666A73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CB9498AE-3F20-F11E-3F63-799D23E0B5CE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04EB4FF7-E963-053F-AF5A-2348C728C2E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6CC565EF-6E65-5E44-6D71-9B41DB0CFCA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823BFF7-D473-CD9C-E3F8-9D749FD8553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1C50EFE-0288-9881-2176-38F44844EE4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D81BE804-E16B-87D7-504E-67AB8B62C97A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B60994E-5176-C20D-8651-CE224A51F50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8D2FB71C-B113-1D61-5842-4F626BFE3A4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5EA67EA-3CED-9AB3-9598-6081C148C86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445C71F6-28F0-7498-2B63-EB47F71C6AD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B5FB344-382A-1A2A-B1F6-EF0C09E8EF94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D24976C-9EE6-979A-EFB4-14E4F2A6264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FAF6134F-9BA9-AD22-EDEA-17F08C78C21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FE1D876-6096-1371-7C1E-DBEC35FCEB4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96FAAE3A-8F25-A7C2-72CC-6A9E4743A86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9D8C4C7-4421-16F2-D935-91A6476A130D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150746-669C-2E95-CE3D-CB8B337F7B3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92BEF3FC-EC0C-60CE-5FC0-4D153E07291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29E2A65-8350-6BC5-FA09-5C2FF480D78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FD409111-474C-9CCC-2522-3C3F1DA513B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CCC46EF-A9E8-557D-F0F2-CC3F8197BA35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DE9BF90-249D-526A-39EA-E19A2B0C6CB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D3EFFB42-D554-43A7-11D9-39C5AD4BA47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C53E9F6-4BAF-1884-4C1D-EF496B8CFF4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41F08E94-A580-E68C-A3C9-A3CB990036D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5A44585-9B19-2EFA-3154-8C14BBFDE22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4B23564-1458-946C-945B-DA77FB32F05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9BFA32EC-4154-A944-E1BD-F8EDF6FB604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B40C7EA-A9F0-F1FE-BFA4-890F0CE79EB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C3204CE9-635B-B6A4-F4F5-59AA3FA471B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CAD5903-56CC-C164-4686-71AC1F98563D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5CBD32D-49F4-679F-0765-0B7BB13B845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7ECBBF9C-A3A7-9541-CC9D-E06CD00F15F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7E5A798-EC59-B471-6D50-8F3528F187A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535908C0-42E8-7BC7-028D-AD00E63F5F7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8AB438-07B4-287E-EBB5-3CA610848DBC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0AD65692-51D4-88BA-F7E8-1E4A78C40961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01B3E597-394B-D74D-9078-D4469506816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A215599A-28ED-DB07-B5FA-3DD206391BA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C97D0E3A-93D3-67E6-EFEB-4DFF19BEC83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5A296795-372C-7CCB-58B9-A86CC0A67B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676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CC8A5-F1A0-7A87-A29E-2793B6A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本日の内容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2AACA5-9564-F720-D2B2-6B483FC6D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ja-JP" altLang="en-US"/>
              <a:t>補完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en-US" altLang="ja-JP" dirty="0"/>
              <a:t>Homebrew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847827-2D3D-0762-F2E0-812D21E9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5C61E-FF7C-BCD3-46A2-82E649E9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FDF9D7-DC9F-4D3C-A9E9-AA671B622FC0}"/>
              </a:ext>
            </a:extLst>
          </p:cNvPr>
          <p:cNvSpPr/>
          <p:nvPr/>
        </p:nvSpPr>
        <p:spPr>
          <a:xfrm>
            <a:off x="838200" y="2493818"/>
            <a:ext cx="8485909" cy="1610303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2" descr="upload.wikimedia.org/wikipedia/commons/thumb/9/95/...">
            <a:extLst>
              <a:ext uri="{FF2B5EF4-FFF2-40B4-BE49-F238E27FC236}">
                <a16:creationId xmlns:a16="http://schemas.microsoft.com/office/drawing/2014/main" id="{6A3890C4-1BF3-2AFE-0FE7-4A59F3A13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2349000"/>
            <a:ext cx="714194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980713C-48FA-92F4-4C67-84858053C007}"/>
              </a:ext>
            </a:extLst>
          </p:cNvPr>
          <p:cNvSpPr/>
          <p:nvPr/>
        </p:nvSpPr>
        <p:spPr>
          <a:xfrm>
            <a:off x="4367646" y="1673879"/>
            <a:ext cx="1188028" cy="17551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06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094CD9-097E-E007-53EE-3ADCAE1B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補完（</a:t>
            </a:r>
            <a:r>
              <a:rPr kumimoji="1" lang="en-US" altLang="ja-JP" dirty="0"/>
              <a:t>completion</a:t>
            </a:r>
            <a:r>
              <a:rPr kumimoji="1" lang="ja-JP" altLang="en-US"/>
              <a:t>）とは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0AAE95-F9D1-CE37-7D55-98693D05D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ターミナルでユーザの代わりに入力</a:t>
            </a:r>
            <a:r>
              <a:rPr lang="ja-JP" altLang="en-US"/>
              <a:t>する</a:t>
            </a:r>
            <a:r>
              <a:rPr kumimoji="1" lang="ja-JP" altLang="en-US"/>
              <a:t>シェルの機能．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候補が一つであれば代替入力，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候補が複数であれば一覧表示してくれる．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コマンド，引数，オプションなど様々なものを補完してくれる．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ja-JP" altLang="en-US"/>
              <a:t>コマンドの入力の色々な場面で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ja-JP" altLang="en-US"/>
              <a:t>を入力してみよう．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0F8210-B7C7-24E9-F274-FB4A005D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71D7DC-C53F-6DE5-6C82-85892A07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906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FAD445-4249-2DDA-82DF-0F4EE301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どうやって補完している？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9D24E1-7578-094E-01B7-FAC756D0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complete</a:t>
            </a:r>
            <a:r>
              <a:rPr kumimoji="1" lang="ja-JP" altLang="en-US"/>
              <a:t>コマンドに補完を行うシェル関数を渡すことで実現している．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右図の最下段で登録している．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規定の場所に置き</a:t>
            </a:r>
            <a:r>
              <a:rPr kumimoji="1" lang="en-US" altLang="ja-JP" dirty="0"/>
              <a:t> Shell</a:t>
            </a:r>
            <a:br>
              <a:rPr kumimoji="1" lang="en-US" altLang="ja-JP" dirty="0"/>
            </a:br>
            <a:r>
              <a:rPr kumimoji="1" lang="ja-JP" altLang="en-US"/>
              <a:t>起動時に読み込ませる．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$HOMEBREW_HOME/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b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bash_completion.d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kumimoji="1" lang="ja-JP" altLang="en-US"/>
              <a:t>が入力されると適切な</a:t>
            </a:r>
            <a:br>
              <a:rPr kumimoji="1" lang="en-US" altLang="ja-JP" dirty="0"/>
            </a:br>
            <a:r>
              <a:rPr kumimoji="1" lang="ja-JP" altLang="en-US"/>
              <a:t>関数が呼び出され，補完</a:t>
            </a:r>
            <a:r>
              <a:rPr lang="ja-JP" altLang="en-US"/>
              <a:t>が</a:t>
            </a:r>
            <a:br>
              <a:rPr lang="en-US" altLang="ja-JP" dirty="0"/>
            </a:br>
            <a:r>
              <a:rPr lang="ja-JP" altLang="en-US"/>
              <a:t>実行</a:t>
            </a:r>
            <a:r>
              <a:rPr kumimoji="1" lang="ja-JP" altLang="en-US"/>
              <a:t>される．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FC20C7-1E9D-A3B0-C858-AB200E05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EED5BF1-6916-9EE2-2E6A-5A98B71A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D8D067-FBF4-8AEC-2069-7948575B4AD2}"/>
              </a:ext>
            </a:extLst>
          </p:cNvPr>
          <p:cNvSpPr txBox="1"/>
          <p:nvPr/>
        </p:nvSpPr>
        <p:spPr>
          <a:xfrm>
            <a:off x="6196333" y="3226237"/>
            <a:ext cx="5995667" cy="3631763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altLang="ja-JP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__sibling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local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opts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cmds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cur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COMP_WORDS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[COMP_CWORD]}"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COMP_WORDS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[COMP_CWORD-1]}"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opts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case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"${</a:t>
            </a:r>
            <a:r>
              <a:rPr lang="en" altLang="ja-JP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--type | -t)</a:t>
            </a: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-W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"next previous random"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return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;;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esac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opts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-a -p -P -h -V -t --absolute --progress --parent --help --version --type"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[[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=~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^</a:t>
            </a:r>
            <a:r>
              <a:rPr lang="en" altLang="ja-JP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\-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]]; </a:t>
            </a:r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-W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opts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"${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compopt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-o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filenames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COMPREPLY</a:t>
            </a:r>
            <a:r>
              <a:rPr lang="en" altLang="ja-JP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" altLang="ja-JP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-d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" altLang="ja-JP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$cur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ja-JP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fi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ja-JP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complete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-F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__sibling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-o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bashdefault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-o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</a:t>
            </a:r>
            <a:r>
              <a:rPr lang="en" altLang="ja-JP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sibling</a:t>
            </a:r>
            <a:endParaRPr lang="en" altLang="ja-JP" sz="1000" b="0" dirty="0">
              <a:solidFill>
                <a:srgbClr val="CCCCC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98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44702-84AD-4DA1-5EF6-A7CDD851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/>
              <a:t>Bash</a:t>
            </a:r>
            <a:r>
              <a:rPr kumimoji="1" lang="ja-JP" altLang="en-US" sz="3600"/>
              <a:t>の場合</a:t>
            </a:r>
            <a:br>
              <a:rPr kumimoji="1" lang="en-US" altLang="ja-JP" sz="3600" dirty="0"/>
            </a:br>
            <a:r>
              <a:rPr kumimoji="1" lang="ja-JP" altLang="en-US"/>
              <a:t>シェル関数の中身</a:t>
            </a:r>
            <a:endParaRPr kumimoji="1"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4DEFF1-674A-5EA9-123C-F5EAF6CF2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COMPREPLY</a:t>
            </a:r>
            <a:r>
              <a:rPr kumimoji="1" lang="ja-JP" altLang="en-US"/>
              <a:t>変数（配列）の値が補完内容となる．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次の２つの内容から，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COMPREPLY</a:t>
            </a:r>
            <a:r>
              <a:rPr lang="ja-JP" altLang="en-US"/>
              <a:t>の内容を決める．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現在のカーソル位置にある文字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COMP_WORDS[COMP_CWORD]</a:t>
            </a:r>
          </a:p>
          <a:p>
            <a:pPr lvl="1">
              <a:lnSpc>
                <a:spcPct val="110000"/>
              </a:lnSpc>
            </a:pPr>
            <a:r>
              <a:rPr lang="ja-JP" altLang="en-US"/>
              <a:t>前の位置の文字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COMP_WORDS[COMP_CWORD]</a:t>
            </a:r>
          </a:p>
          <a:p>
            <a:pPr>
              <a:lnSpc>
                <a:spcPct val="11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compgen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コマンドが補完候補の一覧出力をサポートしてくれる．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81ABE6-8B10-5C84-6E31-EF5E369B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E3E621-9E3E-F002-FACE-C1A8BAFA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78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AF60-BF3F-6195-8269-3F836528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B21E8C-5C5E-56D7-9FCD-AB4B1A75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dirty="0" err="1"/>
              <a:t>Z</a:t>
            </a:r>
            <a:r>
              <a:rPr kumimoji="1" lang="en-US" altLang="ja-JP" sz="3600" dirty="0" err="1"/>
              <a:t>sh</a:t>
            </a:r>
            <a:r>
              <a:rPr kumimoji="1" lang="ja-JP" altLang="en-US" sz="3600"/>
              <a:t>の場合</a:t>
            </a:r>
            <a:br>
              <a:rPr kumimoji="1" lang="en-US" altLang="ja-JP" sz="3600" dirty="0"/>
            </a:br>
            <a:r>
              <a:rPr kumimoji="1" lang="ja-JP" altLang="en-US"/>
              <a:t>シェル関数の中身</a:t>
            </a:r>
            <a:endParaRPr kumimoji="1"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BFD366-54A9-E131-17CC-55D244A0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右の本に詳しい。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シェルごとに補完関数の書き方が違う。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fish,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, elvish, ash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などシェルはいくつもある。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バージョンごとに機能も書き方もちょっとずつ違う。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D53DC6-3B2F-49C0-193A-B2333E73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ED3894-3D2C-E495-74E8-9DD3AD21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B4D2FC3-259E-8C8F-674E-C775BD9BF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0"/>
            <a:ext cx="2222500" cy="3175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C04164-135B-01FA-5EF2-70B682479FF4}"/>
              </a:ext>
            </a:extLst>
          </p:cNvPr>
          <p:cNvSpPr txBox="1"/>
          <p:nvPr/>
        </p:nvSpPr>
        <p:spPr>
          <a:xfrm>
            <a:off x="3048000" y="63563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https://www.amazon.co.jp/dp/4774138649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90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4C396F-1D0D-E29C-7275-258DA291D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920C2-9C25-60A2-9911-048F749B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補完関数を作成する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864B7C-69BC-F07C-D53D-C7151977C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4709" cy="424266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さぁ，シェルスクリプトを頑張って書こう．</a:t>
            </a:r>
            <a:br>
              <a:rPr kumimoji="1" lang="en-US" altLang="ja-JP" dirty="0"/>
            </a:b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CLI</a:t>
            </a:r>
            <a:r>
              <a:rPr lang="ja-JP" altLang="en-US"/>
              <a:t>オプション解析ライブラリに任せよう．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Rust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でのオプション解析のデファクトスタンダードである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clap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は</a:t>
            </a:r>
            <a:r>
              <a:rPr lang="ja-JP" altLang="en-US"/>
              <a:t>補完関数を生成できる。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自作に興味があれば</a:t>
            </a:r>
            <a:r>
              <a:rPr lang="ja-JP" altLang="en-US"/>
              <a:t>以下を参考に．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hlinkClick r:id="rId2"/>
              </a:rPr>
              <a:t>https://ytyaru.hatenablog.com/entry/2023/01/09/000000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DCD68-AE2F-9E2F-4FB7-BEE4091D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5122FE-ACFD-D9AC-F1BA-7C4F4C4B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75F68DE-8C2E-C2A3-F030-85A2447C5D57}"/>
              </a:ext>
            </a:extLst>
          </p:cNvPr>
          <p:cNvSpPr/>
          <p:nvPr/>
        </p:nvSpPr>
        <p:spPr>
          <a:xfrm>
            <a:off x="838200" y="2651919"/>
            <a:ext cx="10750826" cy="3251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91570-BCAD-E0E1-81E3-3464C1D8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補完関数を作成する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C3B9CD-B40D-637A-4581-902F904B3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4709" cy="424266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さぁ，シェルスクリプトを頑張って書こう．</a:t>
            </a:r>
            <a:br>
              <a:rPr kumimoji="1" lang="en-US" altLang="ja-JP" dirty="0"/>
            </a:b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CLI</a:t>
            </a:r>
            <a:r>
              <a:rPr lang="ja-JP" altLang="en-US"/>
              <a:t>オプション解析ライブラリに任せよう．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Rust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でのオプション解析のデファクトスタンダードである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clap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は</a:t>
            </a:r>
            <a:r>
              <a:rPr lang="ja-JP" altLang="en-US"/>
              <a:t>補完関数を生成できる。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自作に興味があれば</a:t>
            </a:r>
            <a:r>
              <a:rPr lang="ja-JP" altLang="en-US"/>
              <a:t>以下を参考に．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hlinkClick r:id="rId2"/>
              </a:rPr>
              <a:t>https://ytyaru.hatenablog.com/entry/2023/01/09/000000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4F5037-35DD-69BD-6FEE-9BA3D3D6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113545-9243-AE48-69C4-557B4B6E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58BF47-7DEC-15FC-37A1-660F75C9E5F6}"/>
              </a:ext>
            </a:extLst>
          </p:cNvPr>
          <p:cNvSpPr txBox="1"/>
          <p:nvPr/>
        </p:nvSpPr>
        <p:spPr>
          <a:xfrm>
            <a:off x="1039090" y="2289451"/>
            <a:ext cx="4314787" cy="64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3100">
                <a:latin typeface="Meiryo" panose="020B0604030504040204" pitchFamily="34" charset="-128"/>
                <a:ea typeface="Meiryo" panose="020B0604030504040204" pitchFamily="34" charset="-128"/>
              </a:rPr>
              <a:t>・・・</a:t>
            </a:r>
            <a:r>
              <a:rPr kumimoji="1" lang="ja-JP" altLang="en-US" sz="3100">
                <a:latin typeface="Meiryo" panose="020B0604030504040204" pitchFamily="34" charset="-128"/>
                <a:ea typeface="Meiryo" panose="020B0604030504040204" pitchFamily="34" charset="-128"/>
              </a:rPr>
              <a:t>にはならない．</a:t>
            </a:r>
            <a:endParaRPr kumimoji="1" lang="en-US" altLang="ja-JP" sz="3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83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8265D-DCCE-0087-D644-8E26C369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445D94-F629-DFE6-1811-8FE3B2725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1752C5-B375-95A8-737B-E36BBD32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B9E9840-882E-637F-F722-18317140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9076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CC8A5-F1A0-7A87-A29E-2793B6A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本日の内容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2AACA5-9564-F720-D2B2-6B483FC6D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ja-JP" altLang="en-US"/>
              <a:t>補完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en-US" altLang="ja-JP" dirty="0"/>
              <a:t>Homebrew</a:t>
            </a:r>
          </a:p>
          <a:p>
            <a:pPr>
              <a:lnSpc>
                <a:spcPct val="100000"/>
              </a:lnSpc>
            </a:pPr>
            <a:endParaRPr lang="en-US" altLang="ja-JP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847827-2D3D-0762-F2E0-812D21E9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5C61E-FF7C-BCD3-46A2-82E649E9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1026" name="Picture 2" descr="upload.wikimedia.org/wikipedia/commons/thumb/9/95/...">
            <a:extLst>
              <a:ext uri="{FF2B5EF4-FFF2-40B4-BE49-F238E27FC236}">
                <a16:creationId xmlns:a16="http://schemas.microsoft.com/office/drawing/2014/main" id="{0335B247-AE90-D21E-6A1E-A085458C2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2349000"/>
            <a:ext cx="714194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E1C5E67-AE0D-90D8-E555-549A43EBBEA6}"/>
              </a:ext>
            </a:extLst>
          </p:cNvPr>
          <p:cNvSpPr/>
          <p:nvPr/>
        </p:nvSpPr>
        <p:spPr>
          <a:xfrm>
            <a:off x="838199" y="1825625"/>
            <a:ext cx="2874819" cy="806739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50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4D317A-02CE-2AAC-EA50-51E02870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Homebrew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9FDF0-757A-C39C-C965-2A4D3ACCC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en-US" altLang="ja-JP" dirty="0"/>
              <a:t>macOS</a:t>
            </a:r>
            <a:r>
              <a:rPr kumimoji="1" lang="ja-JP" altLang="en-US"/>
              <a:t>用のパッケージマネージャ</a:t>
            </a:r>
            <a:r>
              <a:rPr lang="ja-JP" altLang="en-US"/>
              <a:t>．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種々の</a:t>
            </a:r>
            <a:r>
              <a:rPr lang="ja-JP" altLang="en-US"/>
              <a:t>ツールを簡単にインストールできる．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このツールでインストールしたツールのバージョンアップも一括でできる．</a:t>
            </a:r>
            <a:endParaRPr kumimoji="1" lang="en-US" altLang="ja-JP" dirty="0"/>
          </a:p>
          <a:p>
            <a:pPr>
              <a:lnSpc>
                <a:spcPct val="110000"/>
              </a:lnSpc>
            </a:pPr>
            <a:r>
              <a:rPr kumimoji="1" lang="ja-JP" altLang="en-US"/>
              <a:t>個人ツールも</a:t>
            </a:r>
            <a:r>
              <a:rPr kumimoji="1" lang="en-US" altLang="ja-JP" dirty="0"/>
              <a:t>Homebrew</a:t>
            </a:r>
            <a:r>
              <a:rPr kumimoji="1" lang="ja-JP" altLang="en-US"/>
              <a:t>で管理できる．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個人のリポジトリで提供できる．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もちろん，公式リポジトリからの提供もできる．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A5A150-C787-10D1-7C5F-C51211E2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BA34D0-6A6A-D02F-EBB8-A1A3C9B1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79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48846-5589-96BC-1F9E-5EE165BB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6CDB783F-FE37-2146-186C-6873EA4F8506}"/>
              </a:ext>
            </a:extLst>
          </p:cNvPr>
          <p:cNvSpPr/>
          <p:nvPr/>
        </p:nvSpPr>
        <p:spPr>
          <a:xfrm>
            <a:off x="7199297" y="5023479"/>
            <a:ext cx="4781493" cy="1709152"/>
          </a:xfrm>
          <a:prstGeom prst="roundRect">
            <a:avLst>
              <a:gd name="adj" fmla="val 10053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910A08C-1953-F29A-44E7-6241251BD340}"/>
              </a:ext>
            </a:extLst>
          </p:cNvPr>
          <p:cNvSpPr/>
          <p:nvPr/>
        </p:nvSpPr>
        <p:spPr>
          <a:xfrm>
            <a:off x="6709714" y="5122311"/>
            <a:ext cx="1080000" cy="1671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A787B951-FFF3-CEC4-DEB9-350BE4AADDEC}"/>
              </a:ext>
            </a:extLst>
          </p:cNvPr>
          <p:cNvSpPr/>
          <p:nvPr/>
        </p:nvSpPr>
        <p:spPr>
          <a:xfrm>
            <a:off x="9013033" y="381505"/>
            <a:ext cx="2967758" cy="2791185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A6FE6F2-26DC-C325-C587-C02918CBA142}"/>
              </a:ext>
            </a:extLst>
          </p:cNvPr>
          <p:cNvSpPr/>
          <p:nvPr/>
        </p:nvSpPr>
        <p:spPr>
          <a:xfrm>
            <a:off x="8638633" y="1825625"/>
            <a:ext cx="1080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CF9B571-94FC-EBDD-8894-3417CCCF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Homebrew</a:t>
            </a:r>
            <a:r>
              <a:rPr kumimoji="1" lang="ja-JP" altLang="en-US"/>
              <a:t>の用語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82662A-0FCB-089F-F0A2-5379A0D2A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0126" cy="4796849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>
                <a:cs typeface="Consolas" panose="020B0609020204030204" pitchFamily="49" charset="0"/>
              </a:rPr>
              <a:t>Tap</a:t>
            </a:r>
            <a:r>
              <a:rPr lang="ja-JP" altLang="en-US">
                <a:cs typeface="Consolas" panose="020B0609020204030204" pitchFamily="49" charset="0"/>
              </a:rPr>
              <a:t>を作成する．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cs typeface="Consolas" panose="020B0609020204030204" pitchFamily="49" charset="0"/>
              </a:rPr>
              <a:t>GitHub</a:t>
            </a:r>
            <a:r>
              <a:rPr lang="ja-JP" altLang="en-US">
                <a:cs typeface="Consolas" panose="020B0609020204030204" pitchFamily="49" charset="0"/>
              </a:rPr>
              <a:t>などで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ja-JP" altLang="en-US">
                <a:cs typeface="Consolas" panose="020B0609020204030204" pitchFamily="49" charset="0"/>
              </a:rPr>
              <a:t>リポジトリを作成する．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ja-JP" altLang="en-US">
                <a:cs typeface="Consolas" panose="020B0609020204030204" pitchFamily="49" charset="0"/>
              </a:rPr>
              <a:t>リポジトリを</a:t>
            </a:r>
            <a:r>
              <a:rPr lang="en-US" altLang="ja-JP" dirty="0">
                <a:cs typeface="Consolas" panose="020B0609020204030204" pitchFamily="49" charset="0"/>
              </a:rPr>
              <a:t>Tap</a:t>
            </a:r>
            <a:r>
              <a:rPr lang="ja-JP" altLang="en-US">
                <a:cs typeface="Consolas" panose="020B0609020204030204" pitchFamily="49" charset="0"/>
              </a:rPr>
              <a:t>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tap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</a:p>
          <a:p>
            <a:pPr>
              <a:lnSpc>
                <a:spcPct val="120000"/>
              </a:lnSpc>
            </a:pPr>
            <a:r>
              <a:rPr lang="en-US" altLang="ja-JP" dirty="0">
                <a:cs typeface="Consolas" panose="020B0609020204030204" pitchFamily="49" charset="0"/>
              </a:rPr>
              <a:t>Formula</a:t>
            </a:r>
            <a:r>
              <a:rPr lang="ja-JP" altLang="en-US">
                <a:cs typeface="Consolas" panose="020B0609020204030204" pitchFamily="49" charset="0"/>
              </a:rPr>
              <a:t>を作成する．</a:t>
            </a:r>
            <a:endParaRPr lang="en-US" altLang="ja-JP" dirty="0"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create --tap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/tap &lt;URL&gt;</a:t>
            </a: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/opt/homebrew/Library/Taps/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/Formula/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に作成される．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もしくは，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/Formula/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を作成する．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具体的なレシピは後述する．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BF945E-C1E5-C2D3-0ECF-686A776A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88C7B6-709E-3A0D-4E54-41EC5A7D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2722622E-5CFA-B5D2-894E-5EB9686B2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714" y="5127689"/>
            <a:ext cx="1080000" cy="10800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B0073C42-2C29-C0CB-26B9-CFAE97C55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3799" y="5126941"/>
            <a:ext cx="1080000" cy="108000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5F1E3409-8F79-508D-2BC9-E8E3829AE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638958" y="1825625"/>
            <a:ext cx="1080000" cy="1080000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6EDED90D-F728-EB3B-F974-0C5E13A0E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4092" y="3461294"/>
            <a:ext cx="1080000" cy="1080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1ACC30A-5CA9-5595-B578-DAE4BCA13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385" y="47273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tbucket Logo PNG Vector (SVG) Free Download">
            <a:extLst>
              <a:ext uri="{FF2B5EF4-FFF2-40B4-BE49-F238E27FC236}">
                <a16:creationId xmlns:a16="http://schemas.microsoft.com/office/drawing/2014/main" id="{92C421FD-8172-A31D-0C79-AC75C7CD7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433" y="500079"/>
            <a:ext cx="540000" cy="48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56DFB3-C7D9-0EBD-74EB-929EC3BF5952}"/>
              </a:ext>
            </a:extLst>
          </p:cNvPr>
          <p:cNvSpPr txBox="1"/>
          <p:nvPr/>
        </p:nvSpPr>
        <p:spPr>
          <a:xfrm>
            <a:off x="7530312" y="1825625"/>
            <a:ext cx="11079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Tap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蛇口）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8FF50EE-F629-1354-362C-7ADBC1005FC9}"/>
              </a:ext>
            </a:extLst>
          </p:cNvPr>
          <p:cNvSpPr txBox="1"/>
          <p:nvPr/>
        </p:nvSpPr>
        <p:spPr>
          <a:xfrm>
            <a:off x="10423767" y="3461294"/>
            <a:ext cx="14067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Formula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レシピ）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1BAA09C-73C2-4B32-A57A-77EAA149316E}"/>
              </a:ext>
            </a:extLst>
          </p:cNvPr>
          <p:cNvSpPr txBox="1"/>
          <p:nvPr/>
        </p:nvSpPr>
        <p:spPr>
          <a:xfrm>
            <a:off x="8993474" y="5126941"/>
            <a:ext cx="22621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Keg</a:t>
            </a: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（インストール先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（熟成用樽）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057F4107-35AE-B579-F862-5525C672726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30"/>
          <a:stretch/>
        </p:blipFill>
        <p:spPr>
          <a:xfrm>
            <a:off x="8299200" y="3461294"/>
            <a:ext cx="539673" cy="108000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D6F04DE-CD1F-4A48-CCBF-A264F0F3B49A}"/>
              </a:ext>
            </a:extLst>
          </p:cNvPr>
          <p:cNvSpPr txBox="1"/>
          <p:nvPr/>
        </p:nvSpPr>
        <p:spPr>
          <a:xfrm>
            <a:off x="5712846" y="3463325"/>
            <a:ext cx="24929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Bottle</a:t>
            </a:r>
          </a:p>
          <a:p>
            <a:pPr algn="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（ビルド済バイナリ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</p:txBody>
      </p:sp>
      <p:sp>
        <p:nvSpPr>
          <p:cNvPr id="22" name="右矢印 21">
            <a:extLst>
              <a:ext uri="{FF2B5EF4-FFF2-40B4-BE49-F238E27FC236}">
                <a16:creationId xmlns:a16="http://schemas.microsoft.com/office/drawing/2014/main" id="{67C1B632-D163-4CA3-9463-5184E79FF114}"/>
              </a:ext>
            </a:extLst>
          </p:cNvPr>
          <p:cNvSpPr/>
          <p:nvPr/>
        </p:nvSpPr>
        <p:spPr>
          <a:xfrm rot="2700000">
            <a:off x="935152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044AA077-9065-C410-9955-2C954B4F88D2}"/>
              </a:ext>
            </a:extLst>
          </p:cNvPr>
          <p:cNvSpPr/>
          <p:nvPr/>
        </p:nvSpPr>
        <p:spPr>
          <a:xfrm rot="18900000" flipH="1">
            <a:off x="855891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3C8C5F0D-426B-9A80-0879-C2DA166353D4}"/>
              </a:ext>
            </a:extLst>
          </p:cNvPr>
          <p:cNvSpPr/>
          <p:nvPr/>
        </p:nvSpPr>
        <p:spPr>
          <a:xfrm rot="18900000" flipH="1">
            <a:off x="935863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右矢印 24">
            <a:extLst>
              <a:ext uri="{FF2B5EF4-FFF2-40B4-BE49-F238E27FC236}">
                <a16:creationId xmlns:a16="http://schemas.microsoft.com/office/drawing/2014/main" id="{629095F1-C54C-20BE-9578-B497579E92F1}"/>
              </a:ext>
            </a:extLst>
          </p:cNvPr>
          <p:cNvSpPr/>
          <p:nvPr/>
        </p:nvSpPr>
        <p:spPr>
          <a:xfrm rot="2700000">
            <a:off x="856602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58E027F-D5B4-F6FE-6F23-2340006D2EE3}"/>
              </a:ext>
            </a:extLst>
          </p:cNvPr>
          <p:cNvSpPr txBox="1"/>
          <p:nvPr/>
        </p:nvSpPr>
        <p:spPr>
          <a:xfrm>
            <a:off x="6580300" y="6176963"/>
            <a:ext cx="1338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Cellar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（貯蔵庫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026" name="Picture 2" descr="MAC OS logo - Free computer icons">
            <a:extLst>
              <a:ext uri="{FF2B5EF4-FFF2-40B4-BE49-F238E27FC236}">
                <a16:creationId xmlns:a16="http://schemas.microsoft.com/office/drawing/2014/main" id="{BE326440-CE57-B5F6-DB58-2CFFBD869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218" y="513459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70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4" grpId="0" animBg="1"/>
      <p:bldP spid="16" grpId="0"/>
      <p:bldP spid="17" grpId="0"/>
      <p:bldP spid="18" grpId="0"/>
      <p:bldP spid="21" grpId="0"/>
      <p:bldP spid="22" grpId="0" animBg="1"/>
      <p:bldP spid="23" grpId="0" animBg="1"/>
      <p:bldP spid="24" grpId="0" animBg="1"/>
      <p:bldP spid="25" grpId="0" animBg="1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7377BA9B-BC61-EBB8-4FA2-79E7453BD8BE}"/>
              </a:ext>
            </a:extLst>
          </p:cNvPr>
          <p:cNvSpPr/>
          <p:nvPr/>
        </p:nvSpPr>
        <p:spPr>
          <a:xfrm>
            <a:off x="7199297" y="5023479"/>
            <a:ext cx="4781493" cy="1709152"/>
          </a:xfrm>
          <a:prstGeom prst="roundRect">
            <a:avLst>
              <a:gd name="adj" fmla="val 10053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4772BF6-2BC2-ADCA-A583-CDBD6F9B49CB}"/>
              </a:ext>
            </a:extLst>
          </p:cNvPr>
          <p:cNvSpPr/>
          <p:nvPr/>
        </p:nvSpPr>
        <p:spPr>
          <a:xfrm>
            <a:off x="6709714" y="5122311"/>
            <a:ext cx="1080000" cy="1671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02E0977B-A2A5-4178-5A2F-1A0372F36038}"/>
              </a:ext>
            </a:extLst>
          </p:cNvPr>
          <p:cNvSpPr/>
          <p:nvPr/>
        </p:nvSpPr>
        <p:spPr>
          <a:xfrm>
            <a:off x="9013033" y="381505"/>
            <a:ext cx="2967758" cy="2791185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57B97B-A26B-EA36-95BA-D38A4E683539}"/>
              </a:ext>
            </a:extLst>
          </p:cNvPr>
          <p:cNvSpPr/>
          <p:nvPr/>
        </p:nvSpPr>
        <p:spPr>
          <a:xfrm>
            <a:off x="8638633" y="1825625"/>
            <a:ext cx="1080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55473C5-9FDE-5314-D180-459A9E25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個人の</a:t>
            </a:r>
            <a:r>
              <a:rPr lang="en-US" altLang="ja-JP" dirty="0"/>
              <a:t>Homebrew</a:t>
            </a:r>
            <a:br>
              <a:rPr lang="en-US" altLang="ja-JP" dirty="0"/>
            </a:br>
            <a:r>
              <a:rPr lang="ja-JP" altLang="en-US"/>
              <a:t>リポジトリ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284CA6-3A97-94D2-C758-78614C485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0126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Tap</a:t>
            </a:r>
            <a:r>
              <a:rPr lang="ja-JP" altLang="en-US"/>
              <a:t>を登録する．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tap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/tap</a:t>
            </a:r>
          </a:p>
          <a:p>
            <a:pPr>
              <a:lnSpc>
                <a:spcPct val="120000"/>
              </a:lnSpc>
            </a:pPr>
            <a:r>
              <a:rPr kumimoji="1" lang="en-US" altLang="ja-JP" dirty="0"/>
              <a:t>Tap</a:t>
            </a:r>
            <a:r>
              <a:rPr kumimoji="1" lang="ja-JP" altLang="en-US"/>
              <a:t>から</a:t>
            </a:r>
            <a:r>
              <a:rPr lang="ja-JP" altLang="en-US"/>
              <a:t>インストールする．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install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/tap/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Cellar</a:t>
            </a:r>
            <a:r>
              <a:rPr kumimoji="1" lang="ja-JP" altLang="en-US"/>
              <a:t>の中の</a:t>
            </a:r>
            <a:r>
              <a:rPr kumimoji="1" lang="en-US" altLang="ja-JP" dirty="0"/>
              <a:t>Keg</a:t>
            </a:r>
            <a:r>
              <a:rPr kumimoji="1" lang="ja-JP" altLang="en-US"/>
              <a:t>に保存される．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/opt/homebrew/Cellar</a:t>
            </a:r>
          </a:p>
          <a:p>
            <a:pPr lvl="2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/opt/homebrew/Cellar/</a:t>
            </a:r>
            <a:b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/0.1.0/</a:t>
            </a:r>
          </a:p>
          <a:p>
            <a:pPr>
              <a:lnSpc>
                <a:spcPct val="120000"/>
              </a:lnSpc>
            </a:pP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37AEE4-282E-C74D-C10E-3A6AFBDC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C90E65-A4CC-5599-F0BC-1FC3F970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8CD16B53-1BFD-9EBD-20CC-ACE0DD832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714" y="5127689"/>
            <a:ext cx="1080000" cy="10800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DE20D787-5B8A-6F94-5511-790250CA9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3799" y="5126941"/>
            <a:ext cx="1080000" cy="1080000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E088C705-6A41-2EB9-B367-F0C4A0F3C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638958" y="1825625"/>
            <a:ext cx="1080000" cy="1080000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6265E43A-E653-746D-FC3C-F9E6D7B9E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4092" y="3461294"/>
            <a:ext cx="1080000" cy="1080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22E254A-FBC4-B653-9445-E3237FA35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385" y="47273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tbucket Logo PNG Vector (SVG) Free Download">
            <a:extLst>
              <a:ext uri="{FF2B5EF4-FFF2-40B4-BE49-F238E27FC236}">
                <a16:creationId xmlns:a16="http://schemas.microsoft.com/office/drawing/2014/main" id="{DAD058F9-9151-6FE6-60C2-156C11A02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433" y="500079"/>
            <a:ext cx="540000" cy="48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1BC1833-AB1D-F60C-4EDF-697E4290A2E4}"/>
              </a:ext>
            </a:extLst>
          </p:cNvPr>
          <p:cNvSpPr txBox="1"/>
          <p:nvPr/>
        </p:nvSpPr>
        <p:spPr>
          <a:xfrm>
            <a:off x="7530312" y="1825625"/>
            <a:ext cx="11079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Tap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蛇口）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4716A44-9F71-BB0D-17C1-B06C8F56E61A}"/>
              </a:ext>
            </a:extLst>
          </p:cNvPr>
          <p:cNvSpPr txBox="1"/>
          <p:nvPr/>
        </p:nvSpPr>
        <p:spPr>
          <a:xfrm>
            <a:off x="10423767" y="3461294"/>
            <a:ext cx="14067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Formula</a:t>
            </a: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レシピ）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8264E55-513F-5D1B-AE53-0802713953D2}"/>
              </a:ext>
            </a:extLst>
          </p:cNvPr>
          <p:cNvSpPr txBox="1"/>
          <p:nvPr/>
        </p:nvSpPr>
        <p:spPr>
          <a:xfrm>
            <a:off x="8993474" y="5126941"/>
            <a:ext cx="22621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Keg</a:t>
            </a: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（インストール先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（熟成用樽）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F3A837AA-0636-5AF5-1F15-9C8D06C95BC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30"/>
          <a:stretch/>
        </p:blipFill>
        <p:spPr>
          <a:xfrm>
            <a:off x="8299200" y="3461294"/>
            <a:ext cx="539673" cy="108000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4793467-577A-5F9F-6F66-D09D4D1ED001}"/>
              </a:ext>
            </a:extLst>
          </p:cNvPr>
          <p:cNvSpPr txBox="1"/>
          <p:nvPr/>
        </p:nvSpPr>
        <p:spPr>
          <a:xfrm>
            <a:off x="5712846" y="3463325"/>
            <a:ext cx="24929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Bottle</a:t>
            </a:r>
          </a:p>
          <a:p>
            <a:pPr algn="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（ビルド済バイナリ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</p:txBody>
      </p:sp>
      <p:sp>
        <p:nvSpPr>
          <p:cNvPr id="22" name="右矢印 21">
            <a:extLst>
              <a:ext uri="{FF2B5EF4-FFF2-40B4-BE49-F238E27FC236}">
                <a16:creationId xmlns:a16="http://schemas.microsoft.com/office/drawing/2014/main" id="{9A2C448B-CE43-711F-1498-1E941515C1B9}"/>
              </a:ext>
            </a:extLst>
          </p:cNvPr>
          <p:cNvSpPr/>
          <p:nvPr/>
        </p:nvSpPr>
        <p:spPr>
          <a:xfrm rot="2700000">
            <a:off x="935152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5DCAB9A4-64D6-B2EA-6C82-08BD9735EAF7}"/>
              </a:ext>
            </a:extLst>
          </p:cNvPr>
          <p:cNvSpPr/>
          <p:nvPr/>
        </p:nvSpPr>
        <p:spPr>
          <a:xfrm rot="18900000" flipH="1">
            <a:off x="8558915" y="3003460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68F6C1A2-3EAF-0A47-E2FB-29C0C39ADDEE}"/>
              </a:ext>
            </a:extLst>
          </p:cNvPr>
          <p:cNvSpPr/>
          <p:nvPr/>
        </p:nvSpPr>
        <p:spPr>
          <a:xfrm rot="18900000" flipH="1">
            <a:off x="935863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右矢印 24">
            <a:extLst>
              <a:ext uri="{FF2B5EF4-FFF2-40B4-BE49-F238E27FC236}">
                <a16:creationId xmlns:a16="http://schemas.microsoft.com/office/drawing/2014/main" id="{BE3704E3-CDF0-28D5-07DA-72C23AE75112}"/>
              </a:ext>
            </a:extLst>
          </p:cNvPr>
          <p:cNvSpPr/>
          <p:nvPr/>
        </p:nvSpPr>
        <p:spPr>
          <a:xfrm rot="2700000">
            <a:off x="8566023" y="4639128"/>
            <a:ext cx="360000" cy="3600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EF3B92A-4140-5B96-180A-63A9D11D99D6}"/>
              </a:ext>
            </a:extLst>
          </p:cNvPr>
          <p:cNvSpPr txBox="1"/>
          <p:nvPr/>
        </p:nvSpPr>
        <p:spPr>
          <a:xfrm>
            <a:off x="6580300" y="6176963"/>
            <a:ext cx="1338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Cellar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（貯蔵庫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026" name="Picture 2" descr="MAC OS logo - Free computer icons">
            <a:extLst>
              <a:ext uri="{FF2B5EF4-FFF2-40B4-BE49-F238E27FC236}">
                <a16:creationId xmlns:a16="http://schemas.microsoft.com/office/drawing/2014/main" id="{75207839-AB0D-11B3-48A2-82DDBC80C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218" y="513459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343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74A46D-FE86-3745-3539-F89A230B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Formula</a:t>
            </a:r>
            <a:r>
              <a:rPr kumimoji="1" lang="ja-JP" altLang="en-US"/>
              <a:t>の例</a:t>
            </a:r>
            <a:br>
              <a:rPr kumimoji="1" lang="en-US" altLang="ja-JP" dirty="0"/>
            </a:b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/homebrew-tap/blob/main/Formula/</a:t>
            </a:r>
            <a:r>
              <a:rPr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endParaRPr kumimoji="1" lang="ja-JP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C3B27B-ED63-E77A-0956-3A7A5464C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重要なのは，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ja-JP" altLang="en-US"/>
              <a:t>，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</a:t>
            </a:r>
            <a:r>
              <a:rPr kumimoji="1" lang="ja-JP" altLang="en-US"/>
              <a:t>，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kumimoji="1" lang="ja-JP" altLang="en-US"/>
              <a:t>関数．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</a:t>
            </a:r>
            <a:r>
              <a:rPr kumimoji="1" lang="ja-JP" altLang="en-US"/>
              <a:t>は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ja-JP" altLang="en-US"/>
              <a:t>で得られたバイナリの</a:t>
            </a:r>
            <a:r>
              <a:rPr kumimoji="1" lang="en-US" altLang="ja-JP" dirty="0"/>
              <a:t>SHA256</a:t>
            </a:r>
            <a:r>
              <a:rPr kumimoji="1" lang="ja-JP" altLang="en-US"/>
              <a:t>ハッシュ値．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sha256sum &lt;file&gt;</a:t>
            </a:r>
          </a:p>
          <a:p>
            <a:pPr>
              <a:lnSpc>
                <a:spcPct val="120000"/>
              </a:lnSpc>
            </a:pPr>
            <a:r>
              <a:rPr lang="ja-JP" altLang="en-US"/>
              <a:t>その他は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info</a:t>
            </a:r>
            <a:r>
              <a:rPr lang="ja-JP" altLang="en-US"/>
              <a:t>で表示するための情報．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F6F8B5-4959-FB9C-85B0-1AD168AE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D50285-4A90-F302-8CDB-57F65263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943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CBBD63-F6A8-79E1-0902-C7362326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Formula</a:t>
            </a:r>
            <a:r>
              <a:rPr kumimoji="1" lang="ja-JP" altLang="en-US"/>
              <a:t>の</a:t>
            </a:r>
            <a:r>
              <a:rPr lang="ja-JP" altLang="en-US"/>
              <a:t>公開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49C97-5F8D-0CAB-4DDF-69042E75B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homebrew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/Formula/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.rb</a:t>
            </a:r>
            <a:r>
              <a:rPr lang="ja-JP" altLang="en-US"/>
              <a:t>が完成すれば</a:t>
            </a:r>
            <a:r>
              <a:rPr lang="en-US" altLang="ja-JP" dirty="0"/>
              <a:t>commit, push</a:t>
            </a:r>
            <a:r>
              <a:rPr lang="ja-JP" altLang="en-US"/>
              <a:t>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Push</a:t>
            </a:r>
            <a:r>
              <a:rPr kumimoji="1" lang="ja-JP" altLang="en-US"/>
              <a:t>できれば公開が完了する。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公開できればインストールできることを確認しよう。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tap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b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install </a:t>
            </a:r>
            <a:r>
              <a:rPr kumimoji="1"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endParaRPr kumimoji="1" lang="en-US" altLang="ja-JP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20000"/>
              </a:lnSpc>
            </a:pPr>
            <a:r>
              <a:rPr lang="en-US" altLang="ja-JP" dirty="0"/>
              <a:t>Tap</a:t>
            </a:r>
            <a:r>
              <a:rPr lang="ja-JP" altLang="en-US"/>
              <a:t>してからインストールする。ツール名のみでインストールできる。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t</a:t>
            </a:r>
            <a:r>
              <a:rPr kumimoji="1" lang="en-US" altLang="ja-JP" dirty="0"/>
              <a:t>ap</a:t>
            </a:r>
            <a:r>
              <a:rPr kumimoji="1" lang="ja-JP" altLang="en-US"/>
              <a:t>の実行は初回のみ。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brew install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tap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endParaRPr lang="en-US" altLang="ja-JP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20000"/>
              </a:lnSpc>
            </a:pPr>
            <a:r>
              <a:rPr lang="ja-JP" altLang="en-US"/>
              <a:t>上記の</a:t>
            </a:r>
            <a:r>
              <a:rPr lang="en-US" altLang="ja-JP" dirty="0"/>
              <a:t>2</a:t>
            </a:r>
            <a:r>
              <a:rPr lang="ja-JP" altLang="en-US"/>
              <a:t>行を一度に実行する。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6D4E53-0B52-D61A-6155-8BEF709D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EB1FD4-D30E-422A-B2B0-16F75BA5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979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086646-2E97-E115-07E4-43383D71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kumimoji="1" lang="ja-JP" altLang="en-US"/>
              <a:t>関数</a:t>
            </a:r>
            <a:r>
              <a:rPr kumimoji="1" lang="en-US" altLang="ja-JP" dirty="0"/>
              <a:t> (Formula)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238EDF-4640-2946-B530-F1E065FC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ja-JP" altLang="en-US"/>
              <a:t>でダウンロードして展開したディレクトリからの相対パスで指定する．</a:t>
            </a:r>
            <a:endParaRPr kumimoji="1" lang="en-US" altLang="ja-JP" dirty="0"/>
          </a:p>
          <a:p>
            <a:pPr>
              <a:lnSpc>
                <a:spcPct val="110000"/>
              </a:lnSpc>
            </a:pPr>
            <a:r>
              <a:rPr lang="ja-JP" altLang="en-US"/>
              <a:t>全て，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$(brew --prefix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toolname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ja-JP" dirty="0"/>
              <a:t> </a:t>
            </a:r>
            <a:r>
              <a:rPr lang="ja-JP" altLang="en-US"/>
              <a:t>以下のディレクトリに置く．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bin.install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prefix.install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bash_completion.install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zsh_completion.install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BF73F0-4A42-1F35-DF4C-A7F4F101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517DD6-05D5-5721-5705-645B138A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117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8CFA1-A2D2-2570-E97E-3BA6BC8C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65125"/>
            <a:ext cx="10183090" cy="1325563"/>
          </a:xfrm>
        </p:spPr>
        <p:txBody>
          <a:bodyPr/>
          <a:lstStyle/>
          <a:p>
            <a:pPr marL="12700"/>
            <a:r>
              <a:rPr kumimoji="1" lang="en-US" altLang="ja-JP" sz="6000" dirty="0"/>
              <a:t>OS</a:t>
            </a:r>
            <a:r>
              <a:rPr kumimoji="1" lang="ja-JP" altLang="en-US" sz="6000"/>
              <a:t>や</a:t>
            </a:r>
            <a:r>
              <a:rPr kumimoji="1" lang="en-US" altLang="ja-JP" sz="6000" dirty="0"/>
              <a:t>CPU</a:t>
            </a:r>
            <a:r>
              <a:rPr kumimoji="1" lang="ja-JP" altLang="en-US" sz="6000"/>
              <a:t>でインストール</a:t>
            </a:r>
            <a:br>
              <a:rPr kumimoji="1" lang="en-US" altLang="ja-JP" sz="6000" dirty="0"/>
            </a:br>
            <a:r>
              <a:rPr kumimoji="1" lang="ja-JP" altLang="en-US" sz="6000"/>
              <a:t>対象を切り替える．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853283-E515-0C3A-BE8A-499ECE50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以下のように，</a:t>
            </a:r>
            <a:r>
              <a:rPr lang="en-US" altLang="ja-JP" dirty="0"/>
              <a:t>OS</a:t>
            </a:r>
            <a:r>
              <a:rPr lang="ja-JP" altLang="en-US"/>
              <a:t>，</a:t>
            </a:r>
            <a:r>
              <a:rPr lang="en-US" altLang="ja-JP" dirty="0"/>
              <a:t>CPU</a:t>
            </a:r>
            <a:r>
              <a:rPr lang="ja-JP" altLang="en-US"/>
              <a:t>で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ja-JP" altLang="en-US"/>
              <a:t>と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sha256</a:t>
            </a:r>
            <a:r>
              <a:rPr lang="ja-JP" altLang="en-US"/>
              <a:t>を切り替える．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81B0CF-C22D-8ACB-F6CB-26B2E094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64640-E14E-953E-F657-E63E8FC8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DF0886FA-DB4C-FC33-EAD4-6C9B596E1855}"/>
              </a:ext>
            </a:extLst>
          </p:cNvPr>
          <p:cNvSpPr>
            <a:spLocks noChangeAspect="1"/>
          </p:cNvSpPr>
          <p:nvPr/>
        </p:nvSpPr>
        <p:spPr>
          <a:xfrm rot="5400000">
            <a:off x="0" y="0"/>
            <a:ext cx="1800000" cy="1800000"/>
          </a:xfrm>
          <a:prstGeom prst="triangle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DFBDC7-F0B6-6C3E-D375-E033453F73F4}"/>
              </a:ext>
            </a:extLst>
          </p:cNvPr>
          <p:cNvSpPr txBox="1"/>
          <p:nvPr/>
        </p:nvSpPr>
        <p:spPr>
          <a:xfrm rot="18900000">
            <a:off x="80196" y="214804"/>
            <a:ext cx="1309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Tips</a:t>
            </a:r>
            <a:endParaRPr kumimoji="1" lang="ja-JP" altLang="en-US" sz="440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F24F7F-300D-9394-1B5A-C44AA313BCF9}"/>
              </a:ext>
            </a:extLst>
          </p:cNvPr>
          <p:cNvSpPr txBox="1"/>
          <p:nvPr/>
        </p:nvSpPr>
        <p:spPr>
          <a:xfrm>
            <a:off x="931719" y="3811012"/>
            <a:ext cx="10328563" cy="304698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.mac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.intel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_darwin_amd64.tar.gz"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"72865931aea7ea1231e8dc100468d54393a4f1c485ab636b9f8a479dc8aa9928"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b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.mac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.arm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dirty="0">
                <a:solidFill>
                  <a:srgbClr val="CE9178"/>
                </a:solidFill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_darwin_arm64.tar.gz"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"af98f0d6699203531139815de9223a71d543d14446b1e60f5b77a005eeca7454"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b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.linux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.intel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_linux_amd64.tar.gz"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"42f0d6e75dc6215f95d4309895a6eea91f93d4400ab9d06497227dbcf186aa6d"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b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.linux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 </a:t>
            </a:r>
            <a:r>
              <a:rPr lang="en" altLang="ja-JP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&amp;&amp;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Hardware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" altLang="ja-JP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.arm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?</a:t>
            </a: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ja-JP" sz="12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tamada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/releases/download/v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ja-JP" sz="12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urleap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#{</a:t>
            </a:r>
            <a:r>
              <a:rPr lang="en" altLang="ja-JP" sz="12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" altLang="ja-JP" sz="1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_linux_arm64.tar.gz"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   sha256 </a:t>
            </a:r>
            <a:r>
              <a:rPr lang="en" altLang="ja-JP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"b35bed4f8570966d9cefeb673b37ccfd3685a3fe922821143243b9b73671a02c"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end</a:t>
            </a:r>
            <a:endParaRPr lang="en" altLang="ja-JP" sz="1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452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BA64-1D3B-3272-5889-DF2C10E0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36541-3937-F5E7-1E06-A8AEE1390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540FB4-34A7-940B-873B-84CA8E1E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1E272A6-FE73-25C9-C9EF-DDD0EE46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19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7A0D89C0-BDA7-3BFE-1E65-64E93808CF8A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D3EDB2D-A2A8-E8E3-86DD-C30A60B4DC17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9C806EB8-83D7-2E97-36F2-6A3BC9C6178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A04508D-1DBF-8892-9945-EAD0347D742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46013FCA-F690-4233-46EB-AA05ECB8D74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EBC6B2A0-31B6-E22A-5025-C9A856841360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19CE2B0-B7D2-021D-0CDE-5359FA32DE6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CC3977BD-7A9C-4C21-D9BF-F65035E151F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803B0BC5-C9F2-5794-8D5F-6F654FF8EFD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93018338-03D5-C719-36B1-D9154D49B99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5A049EA3-12F3-5659-E690-B29BB734BA5C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363F933-FAAD-B6B8-624E-AEC55BB0B29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E05559A2-D87C-D977-129E-6A1AAC7683B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08524508-655C-7ACB-0E8E-344FFC51B7C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EE605811-6FF3-BCEE-9432-A7438BB4201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0B2364E4-D3DB-2552-BDA1-4C5E0A7E4F59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86C270B0-286D-CF44-B38B-D94098C8EFF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24C01FE-0238-E3F5-3523-48FA3C1C352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2F948461-D083-B7BA-1974-2AA1439F848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65CFEE97-B2B0-636A-B3BA-A383594AD47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81576ACA-DA1F-07C3-734E-53D2CB24CBAF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6A2F043F-CB7C-F47F-3762-BDBB75F0935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4EDD66CD-9690-C8E0-CAB4-E2405C70799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A6201E6F-511E-C46D-FD71-4362A91599E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9E03498D-EA6B-9966-209F-5F993BA22DB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A6EC8D1A-D427-80FA-1B8C-189FFF98735C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29F6710A-1037-000B-8ED9-E7FDBD99C1B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BF9CCAF5-CF20-5178-F505-AA7B5BCECC9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7C5195AB-FC23-6ABA-4A83-DC2195235F0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6C1BB45D-369F-00B7-9391-9957D9680E6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2ADA2B3C-711A-3AA5-198C-E9D338544C52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DCE9361C-6999-865F-9750-1D82622D762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92459478-B45F-8607-7E02-2DD7FF134978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BB608B10-663A-A5D2-7C31-5712A022F21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C0DC687-A209-F67C-441A-4E194A6218E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E3986E7-F628-3FE3-3AA4-9725394B3C05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5B6C4F07-9C70-708A-D51E-B9B422ED7A6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67A24953-0919-B1B6-4F11-02B45B58B40B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0886514-70CE-E824-612F-4937CBAE49E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E11AED5D-01F3-C9BF-330C-01E9DB004455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0377F72-042B-0C73-6A08-53FDB6F5A312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A071871-B3CD-F175-D172-0AC1A70077E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6F56D9A8-1CB0-62D5-4D72-296FD97F388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87C7403-69A8-861E-E487-3CF8103DAE0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7B8D257E-0CFD-4C07-2A85-874CBCA59C4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CF67F87-3F64-5345-5B06-58A97821D78C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866E3F75-869F-69E5-7984-207F77B3C9A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979C0227-D9A2-B423-97DC-7E3360F2AD2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8306785C-1226-E4E6-D00F-DD59F457AF9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E1F4FD1C-6995-DB2B-02BB-0F528F5040A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14B7441-0247-9201-D16E-F247F5B2C0F5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FB16F67A-B4BF-6428-6EAD-77C04FC4B13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C2FEEF40-0CDD-04C8-688C-8A885FE8383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12ADE783-A9FA-BFBB-9236-B5FD77C7BC3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78A61A07-729B-007C-3181-52E51C11657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BC030112-2A3A-657D-0572-76C7F42D1457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E2A082FF-B354-8CB8-0A86-3D89E41A426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DBB0D122-EE72-355C-652E-E3E675B4479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EB81AD48-086B-D517-1844-DABD8F319CE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EC7E91A8-A58F-3C26-3BA7-04227826C7D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EE0A7A8D-5193-276C-91EC-CF1B89B92D89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AD11A6CF-63E9-8D54-3E3F-79688B02F1D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C9B636A4-FBFC-5894-DF0E-15719D14AE0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B85C1560-B2C7-3745-7A75-D2DA1EEED74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2CC9EC13-CFD9-2872-8C19-9BA6E1D7210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934D1DA-4C9D-F543-09B4-A7279FE35DC0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7C50DD10-F9C2-AE80-029A-A0A87343DF2D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116130ED-6A86-A87C-0F7A-4E943E8269C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F5682392-FE21-F260-0664-345E5F020F91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546017BD-96FE-020B-8221-4A8D1345B83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8BB961D9-940B-6A2C-2D62-7B2C50BFEA5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72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FEBEB7-4D0B-7AF6-02CB-D2D44C4D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2026-07-17 </a:t>
            </a:r>
            <a:r>
              <a:rPr kumimoji="1" lang="ja-JP" altLang="en-US"/>
              <a:t>発表会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CB55D9-89E6-8243-CC81-B231D797F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ja-JP" dirty="0"/>
              <a:t>10</a:t>
            </a:r>
            <a:r>
              <a:rPr lang="ja-JP" altLang="en-US"/>
              <a:t>分程度</a:t>
            </a:r>
            <a:r>
              <a:rPr lang="en-US" altLang="ja-JP" dirty="0"/>
              <a:t>/</a:t>
            </a:r>
            <a:r>
              <a:rPr lang="ja-JP" altLang="en-US"/>
              <a:t>人で作成したものについてプレゼンしてもらう．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kumimoji="1" lang="ja-JP" altLang="en-US"/>
              <a:t>作成したドキュメント（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README</a:t>
            </a:r>
            <a:r>
              <a:rPr kumimoji="1" lang="ja-JP" altLang="en-US"/>
              <a:t>，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kumimoji="1" lang="ja-JP" altLang="en-US"/>
              <a:t>）やソースコードも発表に利用して良い．</a:t>
            </a:r>
            <a:endParaRPr kumimoji="1"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/>
              <a:t>発表資料は</a:t>
            </a:r>
            <a:r>
              <a:rPr lang="en-US" altLang="ja-JP" dirty="0"/>
              <a:t>Moodle</a:t>
            </a:r>
            <a:r>
              <a:rPr lang="ja-JP" altLang="en-US"/>
              <a:t>に提出する．</a:t>
            </a:r>
            <a:endParaRPr lang="en-US" altLang="ja-JP" dirty="0"/>
          </a:p>
          <a:p>
            <a:pPr lvl="2">
              <a:lnSpc>
                <a:spcPct val="100000"/>
              </a:lnSpc>
            </a:pPr>
            <a:r>
              <a:rPr kumimoji="1" lang="en-US" altLang="ja-JP" dirty="0"/>
              <a:t>2026-07-17 (Fri) </a:t>
            </a:r>
            <a:r>
              <a:rPr lang="en-US" altLang="ja-JP" dirty="0"/>
              <a:t>10</a:t>
            </a:r>
            <a:r>
              <a:rPr kumimoji="1" lang="en-US" altLang="ja-JP" dirty="0"/>
              <a:t>:30</a:t>
            </a:r>
            <a:r>
              <a:rPr kumimoji="1" lang="ja-JP" altLang="en-US"/>
              <a:t>〆切．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236CBF-2A48-58AA-04CE-3154E99A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75BD10-51B4-4BB5-06CF-5D23C903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56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40A56-610E-B806-09D9-1F3B977C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発表資料で書くべきこと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5B3839-418A-0CB1-CB79-91B7CCBC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作成しようとしたソフトウェアの概要．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名前，その由来，</a:t>
            </a:r>
            <a:r>
              <a:rPr kumimoji="1" lang="en-US" altLang="ja-JP" dirty="0"/>
              <a:t>tagline</a:t>
            </a:r>
            <a:r>
              <a:rPr kumimoji="1" lang="ja-JP" altLang="en-US"/>
              <a:t>，リポジトリの</a:t>
            </a:r>
            <a:r>
              <a:rPr kumimoji="1" lang="en-US" altLang="ja-JP" dirty="0"/>
              <a:t>URL</a:t>
            </a:r>
            <a:r>
              <a:rPr kumimoji="1" lang="ja-JP" altLang="en-US"/>
              <a:t>など．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当初の予定の機能．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完成したものの機能との差．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その原因はどこにあるかまで分析できていると良い．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この講義で学んだことの中で特に印象に残ったものとその内容．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ソフトウェア開発の一連の流れに携わってみた感想．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F052CB-A6B5-D2F0-219D-DC2942FE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778296-77FE-005D-95F4-D0B2DAA9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448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D1E6A-D4DC-C79B-974B-B4DB676D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この講義で行ったこと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E26A4172-F59A-FEE5-773D-4CF85C52B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53418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CI/CD</a:t>
            </a:r>
            <a:r>
              <a:rPr kumimoji="1" lang="ja-JP" altLang="en-US"/>
              <a:t>スクリプトを充実させる．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ビルドする．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バージョンを上げる．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プルリクエストを作成する．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リリースを作成する．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ドキュメントを作成する．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配布用ファイルを準備し，アップロードする．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DOI</a:t>
            </a:r>
            <a:r>
              <a:rPr lang="ja-JP" altLang="en-US"/>
              <a:t>を発行する．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endParaRPr kumimoji="1" lang="ja-JP" altLang="en-US"/>
          </a:p>
          <a:p>
            <a:pPr>
              <a:lnSpc>
                <a:spcPct val="120000"/>
              </a:lnSpc>
            </a:pPr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2B1623-B71E-68AC-AA88-9A605144B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618" y="1825625"/>
            <a:ext cx="5062182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実装する．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コマンドラインオプションを解析する．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テストを充実させる．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ドキュメントを書く．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Docker</a:t>
            </a:r>
            <a:r>
              <a:rPr lang="ja-JP" altLang="en-US"/>
              <a:t>イメージを構築する．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補完スクリプトを生成する．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Homebrew</a:t>
            </a:r>
            <a:r>
              <a:rPr lang="ja-JP" altLang="en-US"/>
              <a:t>で配布する．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3D18B-A867-7D3B-A26E-3B46F4A0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2026-07-10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AADD52-16DE-6222-D471-EAD63B58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775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73275-E767-FC17-5B62-C89357F10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7EBEF-B5C2-1277-B5E8-572F1D02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CE68C3-2E19-79C2-EC33-BAE74D87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FD6FEC-AB44-6753-EBB8-B7E9ED05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23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68AE3FE-788F-22C1-7048-089F5101B66C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61FCE04-9D9C-CD0D-B01B-6A94313C3C7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75F79F8F-88A8-3F79-51EB-E310717855C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15BC913-8D54-5CE4-01B2-6ADC34E5089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6DFDEA08-7C57-9DAA-46E3-7F617EFD518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170D01D5-E1AA-80F7-3253-7415AF0D30C4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992780DD-52AB-723E-B8F8-EBDA7B71F72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B85B3B73-8426-62EB-269C-2B436E511BF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704B8C85-7505-2E1A-0735-280ECE4771C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A751BC43-1294-9879-0934-BC538EB6EF5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A0CB729-98E5-1E87-E716-7567537C1C6C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A6A671A0-7804-5891-8592-C57BC84842D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364B535C-42F4-B60C-7D6F-04FCB901A2D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666E0477-97E7-B880-73FE-2ABE8DE8E39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AA2A2458-A6E4-08F1-9351-6FBC0F23DE3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EC8D00FA-2B90-5A6E-E9F1-7535612D46DA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7A68BA3E-7413-B6DE-2F6C-14C5B95526B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57722FBD-B39B-1AB2-47A0-407FAB3742E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CD5BC38B-5D2D-3044-3EE2-A0DE4222459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9B30405E-2B1E-8A3D-B6E7-5FDE6E2E876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707AD4BA-41C1-0E4E-7CEA-C058BB9BBACF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F93AB8BD-7661-53C2-4680-0F9E9FE6F477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CE72644A-7B8B-5FC7-9A7B-E13DC597F0C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2B95F3C3-17DE-9BC3-488B-E286C4334F0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B34E567D-C5A5-1F24-311C-165D32B7BA2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52744595-9B49-051D-ECEB-73C52F7DB0F3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7A2D693A-3137-4C1C-D4A9-51DD0EDF1F0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2541F12E-2CA2-AC0F-C44E-8527C0527A5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FEC36985-E94C-DC3C-4B29-DD58576871A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3A661AEF-91B7-9729-33D5-4C3929973B7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53AC7FDC-458C-40D4-BDFD-2CE79D16AF34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6532FACB-FA93-707A-E6D9-89F85AA5D0D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51940B97-AF47-E85F-70D4-E0C813D6EB9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5E7ADC55-2FC8-80C4-D596-FEAC2C43F03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8CD6CB0-CD2F-ED5C-88A3-7516FFC18EE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E16BB32-6AB8-B957-D9C3-A426B302BB10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97C8AE-CFEB-FA5B-870D-9E33A287759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574852E8-2151-2761-4191-353F6918DCC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7AAEE80-00B0-5820-53F3-C6F5AE919C9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B0B8C57F-2283-DA82-C514-88941AE520C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D029854F-D710-4DD4-A117-39E66E9E99AF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7C4B0DC-705C-34A3-8A2C-E65C4A1DE59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C0B82CAA-E116-A42B-D4A6-E2829E46D31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2BF58E7-74F6-5288-3507-1EE2F1ED7D1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740871B3-0C5B-06F2-A57E-5B2D01454DF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89BC57CC-9796-107A-70D1-B33A568556A4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B16A2B0-F551-16C0-A159-6AE4A54DF5D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674658D7-6B23-53ED-CA1A-72039292890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0AF11F35-C524-8058-F155-77983A6C102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E90E1CE7-4937-9599-8B5B-91E9A3BEE81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053A722-72BA-3960-48A7-251814275E8A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E51DDDC-4DA5-9575-E753-8ECD65D8C50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6B68E45E-99BB-6C07-C2AD-E373AA18861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BA18C48-B972-4759-C161-BC5387CEE79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0414209D-B1E2-8671-441C-8A19026AD8F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A0A290DA-5BA8-9FDF-0A4C-39090D9F60CC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096EA04-CA6C-1778-F012-7476F175E3B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88486527-1233-BE37-76DB-3BF22E4A560B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C58262B8-12A3-DBD9-D566-031A2F9BA4F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A0BB4673-9E36-0D8D-BD8D-9FB09E5D9C2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E87E75A9-37C1-7267-2681-E981AB125DA3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9CE33F77-F370-1E56-668D-B26C1343C31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79B9161F-00BA-6DFA-27C0-1764C91F37C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DD36B05C-93C3-DED7-60A9-B4D48A3AC17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DEFA90ED-A224-6401-C6CA-749EA896EC0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EAF3E57F-7F2C-C152-3F13-59F42CA792D1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A88563E0-1BEE-E50E-9C42-B80530E5881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CFD56F76-C76B-D995-B039-54286C61E31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88707D93-F02F-195C-2EE4-3809C996A6D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2FC827BD-D9B8-8425-404D-3ED105A5DD2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053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B92DAC1-B206-6E4D-9DDA-F3C380F9C271}" vid="{0ECE7065-281A-B545-8D42-4EC5E612C96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28413</TotalTime>
  <Words>1997</Words>
  <Application>Microsoft Macintosh PowerPoint</Application>
  <PresentationFormat>ワイド画面</PresentationFormat>
  <Paragraphs>375</Paragraphs>
  <Slides>23</Slides>
  <Notes>8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9" baseType="lpstr">
      <vt:lpstr>Meiryo</vt:lpstr>
      <vt:lpstr>游ゴシック</vt:lpstr>
      <vt:lpstr>Arial</vt:lpstr>
      <vt:lpstr>Consolas</vt:lpstr>
      <vt:lpstr>Menlo</vt:lpstr>
      <vt:lpstr>Office テーマ</vt:lpstr>
      <vt:lpstr>エンピリカル ソフトウェア工学 第14回 補完/Homebrew</vt:lpstr>
      <vt:lpstr>講義スケジュール</vt:lpstr>
      <vt:lpstr>本日の内容</vt:lpstr>
      <vt:lpstr>補完（completion）とは</vt:lpstr>
      <vt:lpstr>どうやって補完している？</vt:lpstr>
      <vt:lpstr>Bashの場合 シェル関数の中身</vt:lpstr>
      <vt:lpstr>Zshの場合 シェル関数の中身</vt:lpstr>
      <vt:lpstr>補完関数を作成する</vt:lpstr>
      <vt:lpstr>補完関数を作成する</vt:lpstr>
      <vt:lpstr>PowerPoint プレゼンテーション</vt:lpstr>
      <vt:lpstr>本日の内容</vt:lpstr>
      <vt:lpstr>Homebrew</vt:lpstr>
      <vt:lpstr>Homebrewの用語</vt:lpstr>
      <vt:lpstr>個人のHomebrew リポジトリ</vt:lpstr>
      <vt:lpstr>Formulaの例 https://github.com/tamada/homebrew-tap/blob/main/Formula/lis.rb</vt:lpstr>
      <vt:lpstr>Formulaの公開</vt:lpstr>
      <vt:lpstr>install関数 (Formula)</vt:lpstr>
      <vt:lpstr>OSやCPUでインストール 対象を切り替える．</vt:lpstr>
      <vt:lpstr>講義スケジュール</vt:lpstr>
      <vt:lpstr>2026-07-17 発表会</vt:lpstr>
      <vt:lpstr>発表資料で書くべきこと</vt:lpstr>
      <vt:lpstr>この講義で行ったこと</vt:lpstr>
      <vt:lpstr>講義スケジュール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TAMADA HARUAKI</dc:creator>
  <cp:lastModifiedBy>TAMADA HARUAKI</cp:lastModifiedBy>
  <cp:revision>896</cp:revision>
  <dcterms:created xsi:type="dcterms:W3CDTF">2022-04-24T10:54:34Z</dcterms:created>
  <dcterms:modified xsi:type="dcterms:W3CDTF">2026-06-05T04:10:03Z</dcterms:modified>
</cp:coreProperties>
</file>