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514" r:id="rId3"/>
    <p:sldId id="509" r:id="rId4"/>
    <p:sldId id="280" r:id="rId5"/>
    <p:sldId id="257" r:id="rId6"/>
    <p:sldId id="281" r:id="rId7"/>
    <p:sldId id="258" r:id="rId8"/>
    <p:sldId id="288" r:id="rId9"/>
    <p:sldId id="289" r:id="rId10"/>
    <p:sldId id="259" r:id="rId11"/>
    <p:sldId id="287" r:id="rId12"/>
    <p:sldId id="508" r:id="rId13"/>
    <p:sldId id="284" r:id="rId14"/>
    <p:sldId id="285" r:id="rId15"/>
    <p:sldId id="307" r:id="rId16"/>
    <p:sldId id="308" r:id="rId17"/>
    <p:sldId id="490" r:id="rId18"/>
    <p:sldId id="491" r:id="rId19"/>
    <p:sldId id="492" r:id="rId20"/>
    <p:sldId id="493" r:id="rId21"/>
    <p:sldId id="262" r:id="rId22"/>
    <p:sldId id="290" r:id="rId23"/>
    <p:sldId id="513" r:id="rId24"/>
    <p:sldId id="500" r:id="rId25"/>
    <p:sldId id="504" r:id="rId26"/>
    <p:sldId id="506" r:id="rId27"/>
    <p:sldId id="507" r:id="rId28"/>
    <p:sldId id="510" r:id="rId29"/>
    <p:sldId id="498" r:id="rId30"/>
    <p:sldId id="496" r:id="rId31"/>
    <p:sldId id="497" r:id="rId32"/>
    <p:sldId id="274" r:id="rId33"/>
    <p:sldId id="488" r:id="rId34"/>
    <p:sldId id="265" r:id="rId35"/>
    <p:sldId id="275" r:id="rId36"/>
    <p:sldId id="502" r:id="rId37"/>
    <p:sldId id="309" r:id="rId38"/>
    <p:sldId id="512" r:id="rId39"/>
    <p:sldId id="511" r:id="rId40"/>
    <p:sldId id="503" r:id="rId4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67"/>
    <p:restoredTop sz="81164"/>
  </p:normalViewPr>
  <p:slideViewPr>
    <p:cSldViewPr snapToGrid="0" snapToObjects="1">
      <p:cViewPr varScale="1">
        <p:scale>
          <a:sx n="97" d="100"/>
          <a:sy n="97" d="100"/>
        </p:scale>
        <p:origin x="85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E0D3F-88AC-AC4C-A850-A113E8478B35}" type="datetimeFigureOut">
              <a:rPr kumimoji="1" lang="ja-JP" altLang="en-US" smtClean="0"/>
              <a:t>2026/4/11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FEFE4-0067-BE4A-AB74-27D08C169751}" type="slidenum">
              <a:rPr kumimoji="1" lang="ja-JP" altLang="en-US" smtClean="0"/>
              <a:t>‹#›</a:t>
            </a:fld>
            <a:endParaRPr kumimoji="1" lang="ja-JP" altLang="en-US"/>
          </a:p>
        </p:txBody>
      </p:sp>
    </p:spTree>
    <p:extLst>
      <p:ext uri="{BB962C8B-B14F-4D97-AF65-F5344CB8AC3E}">
        <p14:creationId xmlns:p14="http://schemas.microsoft.com/office/powerpoint/2010/main" val="271888849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03FE-3D04-2660-E2D3-0177F4F7231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24271AA-BA4A-8375-62ED-948D378D092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3A5F140-5792-BDFB-04E7-ECD42C22CED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C15930-96FF-677A-2C2D-7F3E1989883E}"/>
              </a:ext>
            </a:extLst>
          </p:cNvPr>
          <p:cNvSpPr>
            <a:spLocks noGrp="1"/>
          </p:cNvSpPr>
          <p:nvPr>
            <p:ph type="sldNum" sz="quarter" idx="5"/>
          </p:nvPr>
        </p:nvSpPr>
        <p:spPr/>
        <p:txBody>
          <a:bodyPr/>
          <a:lstStyle/>
          <a:p>
            <a:fld id="{ED6FEFE4-0067-BE4A-AB74-27D08C169751}" type="slidenum">
              <a:rPr kumimoji="1" lang="ja-JP" altLang="en-US" smtClean="0"/>
              <a:t>2</a:t>
            </a:fld>
            <a:endParaRPr kumimoji="1" lang="ja-JP" altLang="en-US"/>
          </a:p>
        </p:txBody>
      </p:sp>
    </p:spTree>
    <p:extLst>
      <p:ext uri="{BB962C8B-B14F-4D97-AF65-F5344CB8AC3E}">
        <p14:creationId xmlns:p14="http://schemas.microsoft.com/office/powerpoint/2010/main" val="32042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9</a:t>
            </a:fld>
            <a:endParaRPr kumimoji="1" lang="ja-JP" altLang="en-US"/>
          </a:p>
        </p:txBody>
      </p:sp>
    </p:spTree>
    <p:extLst>
      <p:ext uri="{BB962C8B-B14F-4D97-AF65-F5344CB8AC3E}">
        <p14:creationId xmlns:p14="http://schemas.microsoft.com/office/powerpoint/2010/main" val="16051933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4. </a:t>
            </a:r>
            <a:r>
              <a:rPr kumimoji="1" lang="ja-JP" altLang="en-US"/>
              <a:t>コマンドが数分間何も出力しなくてユーザを不安にさせたり，デバッグ情報を大量に出力し，本当に必要な情報を隠したらだめ．</a:t>
            </a:r>
            <a:endParaRPr kumimoji="1" lang="en-US" altLang="ja-JP" dirty="0"/>
          </a:p>
          <a:p>
            <a:r>
              <a:rPr kumimoji="1" lang="en-US" altLang="ja-JP" dirty="0"/>
              <a:t>5. </a:t>
            </a:r>
            <a:r>
              <a:rPr kumimoji="1" lang="ja-JP" altLang="en-US"/>
              <a:t>知らない機能を見つけるのは</a:t>
            </a:r>
            <a:r>
              <a:rPr kumimoji="1" lang="en-US" altLang="ja-JP" dirty="0"/>
              <a:t>GUI</a:t>
            </a:r>
            <a:r>
              <a:rPr kumimoji="1" lang="ja-JP" altLang="en-US"/>
              <a:t>の方が強い．けれど，</a:t>
            </a:r>
            <a:r>
              <a:rPr kumimoji="1" lang="en-US" altLang="ja-JP" dirty="0"/>
              <a:t>CUI</a:t>
            </a:r>
            <a:r>
              <a:rPr kumimoji="1" lang="ja-JP" altLang="en-US"/>
              <a:t>もエラーメッセージやヘルプ，実行例を充実させることで見つけやすくすることもできる．</a:t>
            </a:r>
            <a:endParaRPr kumimoji="1" lang="en-US" altLang="ja-JP" dirty="0"/>
          </a:p>
          <a:p>
            <a:r>
              <a:rPr kumimoji="1" lang="en-US" altLang="ja-JP" dirty="0"/>
              <a:t>6. </a:t>
            </a:r>
            <a:r>
              <a:rPr kumimoji="1" lang="ja-JP" altLang="en-US"/>
              <a:t>標準としての会話．</a:t>
            </a:r>
            <a:r>
              <a:rPr kumimoji="1" lang="en-US" altLang="ja-JP" dirty="0"/>
              <a:t>CLI</a:t>
            </a:r>
            <a:r>
              <a:rPr kumimoji="1" lang="ja-JP" altLang="en-US"/>
              <a:t>では意図せずともユーザは会話している．実行して結果を確認して，再度実行する，というものである．だからユーザフレンドリなメッセージの出力が重要である．</a:t>
            </a:r>
            <a:endParaRPr kumimoji="1" lang="en-US" altLang="ja-JP" dirty="0"/>
          </a:p>
          <a:p>
            <a:r>
              <a:rPr kumimoji="1" lang="en-US" altLang="ja-JP" dirty="0"/>
              <a:t>7. </a:t>
            </a:r>
            <a:r>
              <a:rPr kumimoji="1" lang="ja-JP" altLang="en-US"/>
              <a:t>スタックトレースを見せず，何が原因かを示すエラーメッセージを表示させる．</a:t>
            </a:r>
            <a:endParaRPr kumimoji="1" lang="en-US" altLang="ja-JP" dirty="0"/>
          </a:p>
          <a:p>
            <a:r>
              <a:rPr kumimoji="1" lang="en-US" altLang="ja-JP" dirty="0"/>
              <a:t>8. </a:t>
            </a:r>
            <a:r>
              <a:rPr kumimoji="1" lang="ja-JP" altLang="en-US"/>
              <a:t>共感．ツールはユーザの味方であることをユーザに感じさせる．</a:t>
            </a:r>
            <a:endParaRPr kumimoji="1" lang="en-US" altLang="ja-JP" dirty="0"/>
          </a:p>
          <a:p>
            <a:r>
              <a:rPr kumimoji="1" lang="en-US" altLang="ja-JP" dirty="0"/>
              <a:t>9. </a:t>
            </a:r>
            <a:r>
              <a:rPr kumimoji="1" lang="ja-JP" altLang="en-US"/>
              <a:t>ターミナルにはいろんな矛盾がある．しかし，その矛盾や混沌が新しいものを生み出す原動力となる．</a:t>
            </a:r>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10</a:t>
            </a:fld>
            <a:endParaRPr kumimoji="1" lang="ja-JP" altLang="en-US"/>
          </a:p>
        </p:txBody>
      </p:sp>
    </p:spTree>
    <p:extLst>
      <p:ext uri="{BB962C8B-B14F-4D97-AF65-F5344CB8AC3E}">
        <p14:creationId xmlns:p14="http://schemas.microsoft.com/office/powerpoint/2010/main" val="209914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Chore </a:t>
            </a:r>
            <a:r>
              <a:rPr kumimoji="1" lang="ja-JP" altLang="en-US"/>
              <a:t>雑用．</a:t>
            </a:r>
            <a:endParaRPr kumimoji="1" lang="en-US" altLang="ja-JP" dirty="0"/>
          </a:p>
          <a:p>
            <a:r>
              <a:rPr kumimoji="1" lang="en-US" altLang="ja-JP" dirty="0"/>
              <a:t>Perf </a:t>
            </a:r>
            <a:r>
              <a:rPr kumimoji="1" lang="ja-JP" altLang="en-US"/>
              <a:t>パフォーマンス？</a:t>
            </a:r>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35</a:t>
            </a:fld>
            <a:endParaRPr kumimoji="1" lang="ja-JP" altLang="en-US"/>
          </a:p>
        </p:txBody>
      </p:sp>
    </p:spTree>
    <p:extLst>
      <p:ext uri="{BB962C8B-B14F-4D97-AF65-F5344CB8AC3E}">
        <p14:creationId xmlns:p14="http://schemas.microsoft.com/office/powerpoint/2010/main" val="752817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D6FEFE4-0067-BE4A-AB74-27D08C169751}" type="slidenum">
              <a:rPr kumimoji="1" lang="ja-JP" altLang="en-US" smtClean="0"/>
              <a:t>36</a:t>
            </a:fld>
            <a:endParaRPr kumimoji="1" lang="ja-JP" altLang="en-US"/>
          </a:p>
        </p:txBody>
      </p:sp>
    </p:spTree>
    <p:extLst>
      <p:ext uri="{BB962C8B-B14F-4D97-AF65-F5344CB8AC3E}">
        <p14:creationId xmlns:p14="http://schemas.microsoft.com/office/powerpoint/2010/main" val="2651636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27EB5-DE74-20C5-9C23-3339C2F0B3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C55898-5F4D-601C-D447-4F502C21552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34D950-55B1-9CBD-28C5-0EB30A779DA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92053E9-DE6B-8640-E0B1-CF5263C9E024}"/>
              </a:ext>
            </a:extLst>
          </p:cNvPr>
          <p:cNvSpPr>
            <a:spLocks noGrp="1"/>
          </p:cNvSpPr>
          <p:nvPr>
            <p:ph type="sldNum" sz="quarter" idx="5"/>
          </p:nvPr>
        </p:nvSpPr>
        <p:spPr/>
        <p:txBody>
          <a:bodyPr/>
          <a:lstStyle/>
          <a:p>
            <a:fld id="{ED6FEFE4-0067-BE4A-AB74-27D08C169751}" type="slidenum">
              <a:rPr kumimoji="1" lang="ja-JP" altLang="en-US" smtClean="0"/>
              <a:t>40</a:t>
            </a:fld>
            <a:endParaRPr kumimoji="1" lang="ja-JP" altLang="en-US"/>
          </a:p>
        </p:txBody>
      </p:sp>
    </p:spTree>
    <p:extLst>
      <p:ext uri="{BB962C8B-B14F-4D97-AF65-F5344CB8AC3E}">
        <p14:creationId xmlns:p14="http://schemas.microsoft.com/office/powerpoint/2010/main" val="2028381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BAE3F1-6860-34FB-F2AC-E3181A6AF2DC}"/>
              </a:ext>
            </a:extLst>
          </p:cNvPr>
          <p:cNvSpPr>
            <a:spLocks noGrp="1"/>
          </p:cNvSpPr>
          <p:nvPr>
            <p:ph type="ctrTitle"/>
          </p:nvPr>
        </p:nvSpPr>
        <p:spPr>
          <a:xfrm>
            <a:off x="1524000" y="1122363"/>
            <a:ext cx="9144000" cy="2387600"/>
          </a:xfrm>
        </p:spPr>
        <p:txBody>
          <a:bodyPr anchor="b"/>
          <a:lstStyle>
            <a:lvl1pPr algn="ctr">
              <a:defRPr sz="66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4CD0B15-C8B7-00F7-DBE9-D3AD533D27B2}"/>
              </a:ext>
            </a:extLst>
          </p:cNvPr>
          <p:cNvSpPr>
            <a:spLocks noGrp="1"/>
          </p:cNvSpPr>
          <p:nvPr>
            <p:ph type="subTitle" idx="1"/>
          </p:nvPr>
        </p:nvSpPr>
        <p:spPr>
          <a:xfrm>
            <a:off x="1524000" y="3602038"/>
            <a:ext cx="9144000" cy="1655762"/>
          </a:xfrm>
        </p:spPr>
        <p:txBody>
          <a:bodyPr>
            <a:normAutofit/>
          </a:bodyPr>
          <a:lstStyle>
            <a:lvl1pPr marL="0" indent="0" algn="ctr">
              <a:buNone/>
              <a:defRPr sz="4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4AC3DEB-6E35-D2D0-EABA-F8A19BBDE9F7}"/>
              </a:ext>
            </a:extLst>
          </p:cNvPr>
          <p:cNvSpPr>
            <a:spLocks noGrp="1"/>
          </p:cNvSpPr>
          <p:nvPr>
            <p:ph type="dt" sz="half" idx="10"/>
          </p:nvPr>
        </p:nvSpPr>
        <p:spPr/>
        <p:txBody>
          <a:bodyPr/>
          <a:lstStyle/>
          <a:p>
            <a:r>
              <a:rPr kumimoji="1" lang="en-US" altLang="ja-JP"/>
              <a:t>2026-04-17</a:t>
            </a:r>
            <a:endParaRPr kumimoji="1" lang="ja-JP" altLang="en-US"/>
          </a:p>
        </p:txBody>
      </p:sp>
      <p:sp>
        <p:nvSpPr>
          <p:cNvPr id="5" name="フッター プレースホルダー 4">
            <a:extLst>
              <a:ext uri="{FF2B5EF4-FFF2-40B4-BE49-F238E27FC236}">
                <a16:creationId xmlns:a16="http://schemas.microsoft.com/office/drawing/2014/main" id="{78835D15-762E-39B0-0A6F-14EFF50BDB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65DFDF9-92D5-0273-6AA5-EE561AF63CBA}"/>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96430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8965E4-8E20-9D46-6D12-F877A919CC8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623E8D2-3A17-78BF-F4C2-CDF62ACF419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D23703-4802-F8D8-D9BF-C6ABE5C8AB80}"/>
              </a:ext>
            </a:extLst>
          </p:cNvPr>
          <p:cNvSpPr>
            <a:spLocks noGrp="1"/>
          </p:cNvSpPr>
          <p:nvPr>
            <p:ph type="dt" sz="half" idx="10"/>
          </p:nvPr>
        </p:nvSpPr>
        <p:spPr/>
        <p:txBody>
          <a:bodyPr/>
          <a:lstStyle/>
          <a:p>
            <a:r>
              <a:rPr kumimoji="1" lang="en-US" altLang="ja-JP"/>
              <a:t>2026-04-17</a:t>
            </a:r>
            <a:endParaRPr kumimoji="1" lang="ja-JP" altLang="en-US"/>
          </a:p>
        </p:txBody>
      </p:sp>
      <p:sp>
        <p:nvSpPr>
          <p:cNvPr id="5" name="フッター プレースホルダー 4">
            <a:extLst>
              <a:ext uri="{FF2B5EF4-FFF2-40B4-BE49-F238E27FC236}">
                <a16:creationId xmlns:a16="http://schemas.microsoft.com/office/drawing/2014/main" id="{953C5D23-A2A0-1968-4ACC-1B1357A4472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2682BA-033D-1B7D-4861-DDD343E91047}"/>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240675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29F4E9-7F37-2DF8-78B9-30C3125A551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65BF7F8-9D3C-A422-471A-C8A1E82F8D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5120F65-AA40-72A0-770D-E19A2FA9B323}"/>
              </a:ext>
            </a:extLst>
          </p:cNvPr>
          <p:cNvSpPr>
            <a:spLocks noGrp="1"/>
          </p:cNvSpPr>
          <p:nvPr>
            <p:ph type="dt" sz="half" idx="10"/>
          </p:nvPr>
        </p:nvSpPr>
        <p:spPr/>
        <p:txBody>
          <a:bodyPr/>
          <a:lstStyle/>
          <a:p>
            <a:r>
              <a:rPr kumimoji="1" lang="en-US" altLang="ja-JP"/>
              <a:t>2026-04-17</a:t>
            </a:r>
            <a:endParaRPr kumimoji="1" lang="ja-JP" altLang="en-US"/>
          </a:p>
        </p:txBody>
      </p:sp>
      <p:sp>
        <p:nvSpPr>
          <p:cNvPr id="5" name="フッター プレースホルダー 4">
            <a:extLst>
              <a:ext uri="{FF2B5EF4-FFF2-40B4-BE49-F238E27FC236}">
                <a16:creationId xmlns:a16="http://schemas.microsoft.com/office/drawing/2014/main" id="{86681911-2B29-A9AD-E565-FF8CD624237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3A1582B-A53B-0238-DBDB-FB5DBFD8AF68}"/>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736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4232BC-8A6A-9D3A-A1D9-3080F812AB9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F82D8DC-6AD4-FA7E-3F14-DB7C79ACDAA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DE28B2-EF25-CC14-3531-75FEF0B68A3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B3A7B7E-A26D-8BA6-BB1E-8237CE6F294F}"/>
              </a:ext>
            </a:extLst>
          </p:cNvPr>
          <p:cNvSpPr>
            <a:spLocks noGrp="1"/>
          </p:cNvSpPr>
          <p:nvPr>
            <p:ph type="dt" sz="half" idx="10"/>
          </p:nvPr>
        </p:nvSpPr>
        <p:spPr/>
        <p:txBody>
          <a:bodyPr/>
          <a:lstStyle/>
          <a:p>
            <a:r>
              <a:rPr kumimoji="1" lang="en-US" altLang="ja-JP"/>
              <a:t>2026-04-17</a:t>
            </a:r>
            <a:endParaRPr kumimoji="1" lang="ja-JP" altLang="en-US"/>
          </a:p>
        </p:txBody>
      </p:sp>
      <p:sp>
        <p:nvSpPr>
          <p:cNvPr id="6" name="フッター プレースホルダー 5">
            <a:extLst>
              <a:ext uri="{FF2B5EF4-FFF2-40B4-BE49-F238E27FC236}">
                <a16:creationId xmlns:a16="http://schemas.microsoft.com/office/drawing/2014/main" id="{1CB7E107-84C7-8B82-2567-9E3F9010378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57C7FA1-4591-F30A-BC2B-286C70E637DD}"/>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55956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054A32-DEA7-69BE-B62E-A622438353C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7BEF868-DDA1-C4EB-6743-489DC5FCD7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D539B8F-A2A1-CF4F-742C-F6839C57B8D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513E432-90C9-F616-1A3C-AE747080A9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CAA48B9-2830-0B1B-940E-B2239ADE254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B4728E-F8C1-F17A-C937-B880D97E8094}"/>
              </a:ext>
            </a:extLst>
          </p:cNvPr>
          <p:cNvSpPr>
            <a:spLocks noGrp="1"/>
          </p:cNvSpPr>
          <p:nvPr>
            <p:ph type="dt" sz="half" idx="10"/>
          </p:nvPr>
        </p:nvSpPr>
        <p:spPr/>
        <p:txBody>
          <a:bodyPr/>
          <a:lstStyle/>
          <a:p>
            <a:r>
              <a:rPr kumimoji="1" lang="en-US" altLang="ja-JP"/>
              <a:t>2026-04-17</a:t>
            </a:r>
            <a:endParaRPr kumimoji="1" lang="ja-JP" altLang="en-US"/>
          </a:p>
        </p:txBody>
      </p:sp>
      <p:sp>
        <p:nvSpPr>
          <p:cNvPr id="8" name="フッター プレースホルダー 7">
            <a:extLst>
              <a:ext uri="{FF2B5EF4-FFF2-40B4-BE49-F238E27FC236}">
                <a16:creationId xmlns:a16="http://schemas.microsoft.com/office/drawing/2014/main" id="{3F3C6BA5-320F-AD96-EF9C-4688CD1C2F58}"/>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591151E6-2A46-0BFB-C19C-182A2D46D7B3}"/>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87156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FFCE36-69F6-8D82-66E2-2BE7E5650FA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B3D72AD-5495-9467-9401-F6186DDB3397}"/>
              </a:ext>
            </a:extLst>
          </p:cNvPr>
          <p:cNvSpPr>
            <a:spLocks noGrp="1"/>
          </p:cNvSpPr>
          <p:nvPr>
            <p:ph type="dt" sz="half" idx="10"/>
          </p:nvPr>
        </p:nvSpPr>
        <p:spPr/>
        <p:txBody>
          <a:bodyPr/>
          <a:lstStyle/>
          <a:p>
            <a:r>
              <a:rPr kumimoji="1" lang="en-US" altLang="ja-JP"/>
              <a:t>2026-04-17</a:t>
            </a:r>
            <a:endParaRPr kumimoji="1" lang="ja-JP" altLang="en-US"/>
          </a:p>
        </p:txBody>
      </p:sp>
      <p:sp>
        <p:nvSpPr>
          <p:cNvPr id="4" name="フッター プレースホルダー 3">
            <a:extLst>
              <a:ext uri="{FF2B5EF4-FFF2-40B4-BE49-F238E27FC236}">
                <a16:creationId xmlns:a16="http://schemas.microsoft.com/office/drawing/2014/main" id="{2D62EC51-A3D5-EC3F-7813-ADEA4FCAFC4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3AA073C-2BE4-2466-8413-FEE9DE4DE62E}"/>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4126364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4254B13-A92B-C641-0C83-88C8E8C09F9F}"/>
              </a:ext>
            </a:extLst>
          </p:cNvPr>
          <p:cNvSpPr>
            <a:spLocks noGrp="1"/>
          </p:cNvSpPr>
          <p:nvPr>
            <p:ph type="dt" sz="half" idx="10"/>
          </p:nvPr>
        </p:nvSpPr>
        <p:spPr/>
        <p:txBody>
          <a:bodyPr/>
          <a:lstStyle/>
          <a:p>
            <a:r>
              <a:rPr kumimoji="1" lang="en-US" altLang="ja-JP"/>
              <a:t>2026-04-17</a:t>
            </a:r>
            <a:endParaRPr kumimoji="1" lang="ja-JP" altLang="en-US"/>
          </a:p>
        </p:txBody>
      </p:sp>
      <p:sp>
        <p:nvSpPr>
          <p:cNvPr id="3" name="フッター プレースホルダー 2">
            <a:extLst>
              <a:ext uri="{FF2B5EF4-FFF2-40B4-BE49-F238E27FC236}">
                <a16:creationId xmlns:a16="http://schemas.microsoft.com/office/drawing/2014/main" id="{F0A961BE-BDDF-24BF-A624-7B4A792F880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E82A63C-7150-3E3B-E0A7-4FAFA23A7629}"/>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994179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8DCBFD-B9B9-C88D-4AF2-DA5E9D14612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020645C-911D-D877-789A-4ABCA1607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E035085C-0945-616B-1D39-35150C87E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E25B3-F458-1F25-BA2A-10D3E7E26039}"/>
              </a:ext>
            </a:extLst>
          </p:cNvPr>
          <p:cNvSpPr>
            <a:spLocks noGrp="1"/>
          </p:cNvSpPr>
          <p:nvPr>
            <p:ph type="dt" sz="half" idx="10"/>
          </p:nvPr>
        </p:nvSpPr>
        <p:spPr/>
        <p:txBody>
          <a:bodyPr/>
          <a:lstStyle/>
          <a:p>
            <a:r>
              <a:rPr kumimoji="1" lang="en-US" altLang="ja-JP"/>
              <a:t>2026-04-17</a:t>
            </a:r>
            <a:endParaRPr kumimoji="1" lang="ja-JP" altLang="en-US"/>
          </a:p>
        </p:txBody>
      </p:sp>
      <p:sp>
        <p:nvSpPr>
          <p:cNvPr id="6" name="フッター プレースホルダー 5">
            <a:extLst>
              <a:ext uri="{FF2B5EF4-FFF2-40B4-BE49-F238E27FC236}">
                <a16:creationId xmlns:a16="http://schemas.microsoft.com/office/drawing/2014/main" id="{3209217E-3F73-CCE8-77EF-A52308AC8C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0295A2-6412-27A3-80DB-4DC7AF9FA560}"/>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29795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AA11E3-5007-3320-F7E6-691E1139DC7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13AA4DA3-E363-0E1A-C5EE-67CFA080E1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CD13344-E496-4753-C58C-D01D8C7BC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6EEBB-B395-8892-612D-06BBEE164464}"/>
              </a:ext>
            </a:extLst>
          </p:cNvPr>
          <p:cNvSpPr>
            <a:spLocks noGrp="1"/>
          </p:cNvSpPr>
          <p:nvPr>
            <p:ph type="dt" sz="half" idx="10"/>
          </p:nvPr>
        </p:nvSpPr>
        <p:spPr/>
        <p:txBody>
          <a:bodyPr/>
          <a:lstStyle/>
          <a:p>
            <a:r>
              <a:rPr kumimoji="1" lang="en-US" altLang="ja-JP"/>
              <a:t>2026-04-17</a:t>
            </a:r>
            <a:endParaRPr kumimoji="1" lang="ja-JP" altLang="en-US"/>
          </a:p>
        </p:txBody>
      </p:sp>
      <p:sp>
        <p:nvSpPr>
          <p:cNvPr id="6" name="フッター プレースホルダー 5">
            <a:extLst>
              <a:ext uri="{FF2B5EF4-FFF2-40B4-BE49-F238E27FC236}">
                <a16:creationId xmlns:a16="http://schemas.microsoft.com/office/drawing/2014/main" id="{A1A73243-636B-AD34-97B8-096CAB4BD0E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21AB26F-070D-AA48-1A17-487ABD4308E6}"/>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3520743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99E654-7E7E-36B3-ADB0-3093EC9FFFC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79AB095-4BA5-2299-C02F-2E56585C27D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7B78716-480A-7430-C0FA-4F0DC0168B4A}"/>
              </a:ext>
            </a:extLst>
          </p:cNvPr>
          <p:cNvSpPr>
            <a:spLocks noGrp="1"/>
          </p:cNvSpPr>
          <p:nvPr>
            <p:ph type="dt" sz="half" idx="10"/>
          </p:nvPr>
        </p:nvSpPr>
        <p:spPr/>
        <p:txBody>
          <a:bodyPr/>
          <a:lstStyle/>
          <a:p>
            <a:r>
              <a:rPr kumimoji="1" lang="en-US" altLang="ja-JP"/>
              <a:t>2026-04-17</a:t>
            </a:r>
            <a:endParaRPr kumimoji="1" lang="ja-JP" altLang="en-US"/>
          </a:p>
        </p:txBody>
      </p:sp>
      <p:sp>
        <p:nvSpPr>
          <p:cNvPr id="5" name="フッター プレースホルダー 4">
            <a:extLst>
              <a:ext uri="{FF2B5EF4-FFF2-40B4-BE49-F238E27FC236}">
                <a16:creationId xmlns:a16="http://schemas.microsoft.com/office/drawing/2014/main" id="{76B42CF7-BBCD-5D04-D7AD-CBC09AA585A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D8D3898-C8CD-BE96-524B-6C3F921112E5}"/>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217145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81886E9-6CAD-71F6-5345-FA139670373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672359E1-F40F-3D47-6DF2-882BD86EA9C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18D548-5283-77D1-F67F-6EC5C16A5918}"/>
              </a:ext>
            </a:extLst>
          </p:cNvPr>
          <p:cNvSpPr>
            <a:spLocks noGrp="1"/>
          </p:cNvSpPr>
          <p:nvPr>
            <p:ph type="dt" sz="half" idx="10"/>
          </p:nvPr>
        </p:nvSpPr>
        <p:spPr/>
        <p:txBody>
          <a:bodyPr/>
          <a:lstStyle/>
          <a:p>
            <a:r>
              <a:rPr kumimoji="1" lang="en-US" altLang="ja-JP"/>
              <a:t>2026-04-17</a:t>
            </a:r>
            <a:endParaRPr kumimoji="1" lang="ja-JP" altLang="en-US"/>
          </a:p>
        </p:txBody>
      </p:sp>
      <p:sp>
        <p:nvSpPr>
          <p:cNvPr id="5" name="フッター プレースホルダー 4">
            <a:extLst>
              <a:ext uri="{FF2B5EF4-FFF2-40B4-BE49-F238E27FC236}">
                <a16:creationId xmlns:a16="http://schemas.microsoft.com/office/drawing/2014/main" id="{B8CD1D05-E6FD-9267-0EA3-57EE28C4F9E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833F417-24E0-EE42-C260-DDADA437A1A4}"/>
              </a:ext>
            </a:extLst>
          </p:cNvPr>
          <p:cNvSpPr>
            <a:spLocks noGrp="1"/>
          </p:cNvSpPr>
          <p:nvPr>
            <p:ph type="sldNum" sz="quarter" idx="12"/>
          </p:nvPr>
        </p:nvSpPr>
        <p:spPr/>
        <p:txBody>
          <a:bodyPr/>
          <a:lstStyle/>
          <a:p>
            <a:fld id="{0B8845E4-5C92-A046-BB66-E5D9CC995B08}" type="slidenum">
              <a:rPr kumimoji="1" lang="ja-JP" altLang="en-US" smtClean="0"/>
              <a:t>‹#›</a:t>
            </a:fld>
            <a:endParaRPr kumimoji="1" lang="ja-JP" altLang="en-US"/>
          </a:p>
        </p:txBody>
      </p:sp>
    </p:spTree>
    <p:extLst>
      <p:ext uri="{BB962C8B-B14F-4D97-AF65-F5344CB8AC3E}">
        <p14:creationId xmlns:p14="http://schemas.microsoft.com/office/powerpoint/2010/main" val="285317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2F236BC-AAF6-B861-739B-86FA34313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550FC96-8BC7-5FBA-D355-BCF93438E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dirty="0"/>
              <a:t>2 </a:t>
            </a:r>
            <a:r>
              <a:rPr kumimoji="1" lang="ja-JP" altLang="en-US"/>
              <a:t>レベル</a:t>
            </a:r>
          </a:p>
          <a:p>
            <a:pPr lvl="2"/>
            <a:r>
              <a:rPr kumimoji="1" lang="ja-JP" altLang="en-US"/>
              <a:t>第 </a:t>
            </a:r>
            <a:r>
              <a:rPr kumimoji="1" lang="en-US" altLang="ja-JP" dirty="0"/>
              <a:t>3 </a:t>
            </a:r>
            <a:r>
              <a:rPr kumimoji="1" lang="ja-JP" altLang="en-US"/>
              <a:t>レベル</a:t>
            </a:r>
          </a:p>
          <a:p>
            <a:pPr lvl="3"/>
            <a:r>
              <a:rPr kumimoji="1" lang="ja-JP" altLang="en-US"/>
              <a:t>第 </a:t>
            </a:r>
            <a:r>
              <a:rPr kumimoji="1" lang="en-US" altLang="ja-JP" dirty="0"/>
              <a:t>4 </a:t>
            </a:r>
            <a:r>
              <a:rPr kumimoji="1" lang="ja-JP" altLang="en-US"/>
              <a:t>レベル</a:t>
            </a:r>
          </a:p>
          <a:p>
            <a:pPr lvl="4"/>
            <a:r>
              <a:rPr kumimoji="1" lang="ja-JP" altLang="en-US"/>
              <a:t>第 </a:t>
            </a:r>
            <a:r>
              <a:rPr kumimoji="1" lang="en-US" altLang="ja-JP" dirty="0"/>
              <a:t>5 </a:t>
            </a:r>
            <a:r>
              <a:rPr kumimoji="1" lang="ja-JP" altLang="en-US"/>
              <a:t>レベル</a:t>
            </a:r>
          </a:p>
        </p:txBody>
      </p:sp>
      <p:sp>
        <p:nvSpPr>
          <p:cNvPr id="4" name="日付プレースホルダー 3">
            <a:extLst>
              <a:ext uri="{FF2B5EF4-FFF2-40B4-BE49-F238E27FC236}">
                <a16:creationId xmlns:a16="http://schemas.microsoft.com/office/drawing/2014/main" id="{F6AD1E11-9D31-C316-E911-911DC842E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800">
                <a:solidFill>
                  <a:schemeClr val="tx1">
                    <a:tint val="75000"/>
                  </a:schemeClr>
                </a:solidFill>
                <a:latin typeface="Meiryo" panose="020B0604030504040204" pitchFamily="34" charset="-128"/>
                <a:ea typeface="Meiryo" panose="020B0604030504040204" pitchFamily="34" charset="-128"/>
              </a:defRPr>
            </a:lvl1pPr>
          </a:lstStyle>
          <a:p>
            <a:r>
              <a:rPr lang="en-US" altLang="ja-JP"/>
              <a:t>2026-04-17</a:t>
            </a:r>
            <a:endParaRPr lang="ja-JP" altLang="en-US"/>
          </a:p>
        </p:txBody>
      </p:sp>
      <p:sp>
        <p:nvSpPr>
          <p:cNvPr id="5" name="フッター プレースホルダー 4">
            <a:extLst>
              <a:ext uri="{FF2B5EF4-FFF2-40B4-BE49-F238E27FC236}">
                <a16:creationId xmlns:a16="http://schemas.microsoft.com/office/drawing/2014/main" id="{EB552398-2A83-C162-F251-7C27A4C85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800">
                <a:solidFill>
                  <a:schemeClr val="tx1">
                    <a:tint val="75000"/>
                  </a:schemeClr>
                </a:solidFill>
                <a:latin typeface="Meiryo" panose="020B0604030504040204" pitchFamily="34" charset="-128"/>
                <a:ea typeface="Meiryo" panose="020B0604030504040204" pitchFamily="34"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682060AB-9F59-AB6D-F6F6-574D92AC70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latin typeface="Meiryo" panose="020B0604030504040204" pitchFamily="34" charset="-128"/>
                <a:ea typeface="Meiryo" panose="020B0604030504040204" pitchFamily="34" charset="-128"/>
              </a:defRPr>
            </a:lvl1pPr>
          </a:lstStyle>
          <a:p>
            <a:fld id="{0B8845E4-5C92-A046-BB66-E5D9CC995B08}" type="slidenum">
              <a:rPr lang="ja-JP" altLang="en-US" smtClean="0"/>
              <a:pPr/>
              <a:t>‹#›</a:t>
            </a:fld>
            <a:endParaRPr lang="ja-JP" altLang="en-US"/>
          </a:p>
        </p:txBody>
      </p:sp>
    </p:spTree>
    <p:extLst>
      <p:ext uri="{BB962C8B-B14F-4D97-AF65-F5344CB8AC3E}">
        <p14:creationId xmlns:p14="http://schemas.microsoft.com/office/powerpoint/2010/main" val="395297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kumimoji="1" sz="6600" kern="1200">
          <a:solidFill>
            <a:schemeClr val="tx1"/>
          </a:solidFill>
          <a:latin typeface="Meiryo" panose="020B0604030504040204" pitchFamily="34" charset="-128"/>
          <a:ea typeface="Meiryo" panose="020B0604030504040204"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4400" kern="1200">
          <a:solidFill>
            <a:schemeClr val="tx1"/>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4000" kern="1200">
          <a:solidFill>
            <a:schemeClr val="tx1"/>
          </a:solidFill>
          <a:latin typeface="Meiryo" panose="020B0604030504040204" pitchFamily="34" charset="-128"/>
          <a:ea typeface="Meiryo" panose="020B0604030504040204"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3600" kern="1200">
          <a:solidFill>
            <a:schemeClr val="tx1"/>
          </a:solidFill>
          <a:latin typeface="Meiryo" panose="020B0604030504040204" pitchFamily="34" charset="-128"/>
          <a:ea typeface="Meiryo" panose="020B0604030504040204"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3200" kern="1200">
          <a:solidFill>
            <a:schemeClr val="tx1"/>
          </a:solidFill>
          <a:latin typeface="Meiryo" panose="020B0604030504040204" pitchFamily="34" charset="-128"/>
          <a:ea typeface="Meiryo" panose="020B0604030504040204"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2800" kern="1200">
          <a:solidFill>
            <a:schemeClr val="tx1"/>
          </a:solidFill>
          <a:latin typeface="Meiryo" panose="020B0604030504040204" pitchFamily="34" charset="-128"/>
          <a:ea typeface="Meiryo" panose="020B0604030504040204"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clig.dev/"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hyperlink" Target="https://qiita.com/ko1nksm/items/c55d067b55bbd561df11#&#12460;&#12531;&#12459;&#12540;&#12474;&#12398;-unix-&#21746;&#23398;---9-&#12398;&#25945;&#32681;"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clig.dev/"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zenn.dev/kuto5046/scraps/d7fd52a8cf9668" TargetMode="External"/><Relationship Id="rId2" Type="http://schemas.openxmlformats.org/officeDocument/2006/relationships/hyperlink" Target="https://rust-analyzer.github.io/"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education.github.co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toptal.com/developers/gitignore/" TargetMode="External"/><Relationship Id="rId2" Type="http://schemas.openxmlformats.org/officeDocument/2006/relationships/hyperlink" Target="https://github.com/simonwhitaker/gibo"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sinkuu.github.io/api-guidelines/about.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hyperlink" Target="https://qiita.com/odekekepeanuts/items/8b6542467d2a0066e5af"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minus9d.hatenablog.com/entry/2014/02/11/125222"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emver.org/lang/ja/"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conventionalcommits.org/ja/v1.0.0/"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learn.microsoft.com/ja-jp/training/paths/github-administration-products/" TargetMode="External"/><Relationship Id="rId2" Type="http://schemas.openxmlformats.org/officeDocument/2006/relationships/hyperlink" Target="https://learn.microsoft.com/ja-jp/training/paths/intro-to-vc-git/"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5784E-BEC4-EB82-3848-F83C83012E1D}"/>
              </a:ext>
            </a:extLst>
          </p:cNvPr>
          <p:cNvSpPr>
            <a:spLocks noGrp="1"/>
          </p:cNvSpPr>
          <p:nvPr>
            <p:ph type="ctrTitle"/>
          </p:nvPr>
        </p:nvSpPr>
        <p:spPr>
          <a:xfrm>
            <a:off x="1181100" y="1122363"/>
            <a:ext cx="9829800" cy="2387600"/>
          </a:xfrm>
        </p:spPr>
        <p:txBody>
          <a:bodyPr/>
          <a:lstStyle/>
          <a:p>
            <a:r>
              <a:rPr lang="ja-JP" altLang="en-US"/>
              <a:t>エンピリカル</a:t>
            </a:r>
            <a:br>
              <a:rPr lang="en-US" altLang="ja-JP" dirty="0"/>
            </a:br>
            <a:r>
              <a:rPr lang="ja-JP" altLang="en-US"/>
              <a:t>ソフトウェア工学</a:t>
            </a:r>
            <a:br>
              <a:rPr lang="en-US" altLang="ja-JP" dirty="0"/>
            </a:br>
            <a:r>
              <a:rPr lang="ja-JP" altLang="en-US"/>
              <a:t>第</a:t>
            </a:r>
            <a:r>
              <a:rPr lang="en-US" altLang="ja-JP" dirty="0"/>
              <a:t>02</a:t>
            </a:r>
            <a:r>
              <a:rPr lang="ja-JP" altLang="en-US"/>
              <a:t>回</a:t>
            </a:r>
            <a:r>
              <a:rPr lang="en-US" altLang="ja-JP" dirty="0"/>
              <a:t> Usage/README</a:t>
            </a:r>
            <a:endParaRPr kumimoji="1" lang="ja-JP" altLang="en-US"/>
          </a:p>
        </p:txBody>
      </p:sp>
      <p:sp>
        <p:nvSpPr>
          <p:cNvPr id="3" name="字幕 2">
            <a:extLst>
              <a:ext uri="{FF2B5EF4-FFF2-40B4-BE49-F238E27FC236}">
                <a16:creationId xmlns:a16="http://schemas.microsoft.com/office/drawing/2014/main" id="{EB687755-EB78-813E-2AE5-266F2715E1A9}"/>
              </a:ext>
            </a:extLst>
          </p:cNvPr>
          <p:cNvSpPr>
            <a:spLocks noGrp="1"/>
          </p:cNvSpPr>
          <p:nvPr>
            <p:ph type="subTitle" idx="1"/>
          </p:nvPr>
        </p:nvSpPr>
        <p:spPr/>
        <p:txBody>
          <a:bodyPr/>
          <a:lstStyle/>
          <a:p>
            <a:r>
              <a:rPr kumimoji="1" lang="en-US" altLang="ja-JP" dirty="0"/>
              <a:t>2026-04-17</a:t>
            </a:r>
          </a:p>
          <a:p>
            <a:r>
              <a:rPr lang="ja-JP" altLang="en-US"/>
              <a:t>玉田</a:t>
            </a:r>
            <a:r>
              <a:rPr lang="en-US" altLang="ja-JP" dirty="0"/>
              <a:t> </a:t>
            </a:r>
            <a:r>
              <a:rPr lang="ja-JP" altLang="en-US"/>
              <a:t>春昭</a:t>
            </a:r>
            <a:endParaRPr kumimoji="1" lang="ja-JP" altLang="en-US"/>
          </a:p>
        </p:txBody>
      </p:sp>
      <p:sp>
        <p:nvSpPr>
          <p:cNvPr id="4" name="日付プレースホルダー 3">
            <a:extLst>
              <a:ext uri="{FF2B5EF4-FFF2-40B4-BE49-F238E27FC236}">
                <a16:creationId xmlns:a16="http://schemas.microsoft.com/office/drawing/2014/main" id="{975A0BDC-22A6-7CC7-0358-1C2E091539CC}"/>
              </a:ext>
            </a:extLst>
          </p:cNvPr>
          <p:cNvSpPr>
            <a:spLocks noGrp="1"/>
          </p:cNvSpPr>
          <p:nvPr>
            <p:ph type="dt" sz="half" idx="10"/>
          </p:nvPr>
        </p:nvSpPr>
        <p:spPr/>
        <p:txBody>
          <a:bodyPr/>
          <a:lstStyle/>
          <a:p>
            <a:r>
              <a:rPr kumimoji="1" lang="en-US" altLang="ja-JP" dirty="0"/>
              <a:t>2026-04-17</a:t>
            </a:r>
            <a:endParaRPr kumimoji="1" lang="ja-JP" altLang="en-US"/>
          </a:p>
        </p:txBody>
      </p:sp>
      <p:sp>
        <p:nvSpPr>
          <p:cNvPr id="5" name="スライド番号プレースホルダー 4">
            <a:extLst>
              <a:ext uri="{FF2B5EF4-FFF2-40B4-BE49-F238E27FC236}">
                <a16:creationId xmlns:a16="http://schemas.microsoft.com/office/drawing/2014/main" id="{45D24184-6358-A3E9-85F2-F35BC4F1503D}"/>
              </a:ext>
            </a:extLst>
          </p:cNvPr>
          <p:cNvSpPr>
            <a:spLocks noGrp="1"/>
          </p:cNvSpPr>
          <p:nvPr>
            <p:ph type="sldNum" sz="quarter" idx="12"/>
          </p:nvPr>
        </p:nvSpPr>
        <p:spPr/>
        <p:txBody>
          <a:bodyPr/>
          <a:lstStyle/>
          <a:p>
            <a:fld id="{0B8845E4-5C92-A046-BB66-E5D9CC995B08}" type="slidenum">
              <a:rPr kumimoji="1" lang="ja-JP" altLang="en-US" smtClean="0"/>
              <a:t>1</a:t>
            </a:fld>
            <a:endParaRPr kumimoji="1" lang="ja-JP" altLang="en-US"/>
          </a:p>
        </p:txBody>
      </p:sp>
    </p:spTree>
    <p:extLst>
      <p:ext uri="{BB962C8B-B14F-4D97-AF65-F5344CB8AC3E}">
        <p14:creationId xmlns:p14="http://schemas.microsoft.com/office/powerpoint/2010/main" val="33780426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B1183-6512-0658-DC7D-F8E4A793078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A51D8F-FDF9-382E-7936-64DC19F9468F}"/>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6CB59F76-C9FE-E21A-CF33-A028C2689C2B}"/>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80190477-ABC1-A732-486F-13A636F615D8}"/>
              </a:ext>
            </a:extLst>
          </p:cNvPr>
          <p:cNvSpPr>
            <a:spLocks noGrp="1"/>
          </p:cNvSpPr>
          <p:nvPr>
            <p:ph type="sldNum" sz="quarter" idx="12"/>
          </p:nvPr>
        </p:nvSpPr>
        <p:spPr/>
        <p:txBody>
          <a:bodyPr/>
          <a:lstStyle/>
          <a:p>
            <a:fld id="{0B8845E4-5C92-A046-BB66-E5D9CC995B08}" type="slidenum">
              <a:rPr kumimoji="1" lang="ja-JP" altLang="en-US" smtClean="0"/>
              <a:t>2</a:t>
            </a:fld>
            <a:endParaRPr kumimoji="1" lang="ja-JP" altLang="en-US"/>
          </a:p>
        </p:txBody>
      </p:sp>
      <p:grpSp>
        <p:nvGrpSpPr>
          <p:cNvPr id="11" name="グループ化 10">
            <a:extLst>
              <a:ext uri="{FF2B5EF4-FFF2-40B4-BE49-F238E27FC236}">
                <a16:creationId xmlns:a16="http://schemas.microsoft.com/office/drawing/2014/main" id="{F42A339A-46C2-3EC3-01AD-55697C9B38A0}"/>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309D41AD-E3E8-669D-BC06-DD15F69A7B8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CF520076-C3F6-E6CE-210A-0D98F1B4FFCD}"/>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D77194F2-AE43-8638-D2AA-EA64890ACCF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02CA2F63-F1DC-D507-E4BD-F8404588EE8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17" name="グループ化 16">
            <a:extLst>
              <a:ext uri="{FF2B5EF4-FFF2-40B4-BE49-F238E27FC236}">
                <a16:creationId xmlns:a16="http://schemas.microsoft.com/office/drawing/2014/main" id="{79D8C4C7-4421-16F2-D935-91A6476A130D}"/>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46150746-669C-2E95-CE3D-CB8B337F7B31}"/>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92BEF3FC-EC0C-60CE-5FC0-4D153E07291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029E2A65-8350-6BC5-FA09-5C2FF480D78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FD409111-474C-9CCC-2522-3C3F1DA513B7}"/>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2" name="グループ化 21">
            <a:extLst>
              <a:ext uri="{FF2B5EF4-FFF2-40B4-BE49-F238E27FC236}">
                <a16:creationId xmlns:a16="http://schemas.microsoft.com/office/drawing/2014/main" id="{3CCC46EF-A9E8-557D-F0F2-CC3F8197BA35}"/>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4DE9BF90-249D-526A-39EA-E19A2B0C6CBC}"/>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D3EFFB42-D554-43A7-11D9-39C5AD4BA47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3C53E9F6-4BAF-1884-4C1D-EF496B8CFF4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41F08E94-A580-E68C-A3C9-A3CB990036D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7" name="グループ化 26">
            <a:extLst>
              <a:ext uri="{FF2B5EF4-FFF2-40B4-BE49-F238E27FC236}">
                <a16:creationId xmlns:a16="http://schemas.microsoft.com/office/drawing/2014/main" id="{55A44585-9B19-2EFA-3154-8C14BBFDE224}"/>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E4B23564-1458-946C-945B-DA77FB32F05F}"/>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9BFA32EC-4154-A944-E1BD-F8EDF6FB604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2B40C7EA-A9F0-F1FE-BFA4-890F0CE79EB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C3204CE9-635B-B6A4-F4F5-59AA3FA471B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2ADA5E8F-EA1C-A9F1-171C-C4147D5111EF}"/>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CD1158B1-7C9D-FF28-EB60-E4322324217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05E11F0E-665A-1CCE-201D-B7ACABDA3332}"/>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781C07F9-0E22-E229-16EE-1CCCC0BCBEBA}"/>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DD198E45-A400-1BBF-89BE-F6EDE6E57120}"/>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DCAD5903-56CC-C164-4686-71AC1F98563D}"/>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C5CBD32D-49F4-679F-0765-0B7BB13B845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7ECBBF9C-A3A7-9541-CC9D-E06CD00F15F4}"/>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D7E5A798-EC59-B471-6D50-8F3528F187A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535908C0-42E8-7BC7-028D-AD00E63F5F7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4D2B1A6D-1148-C863-5481-34CB4BB19023}"/>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43955E4B-AAA9-ADF3-8EE0-6276796531E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311E5817-72E5-6A99-90D3-BA4E54C180D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C624E98C-2448-E467-ABEF-2BD16D99E32F}"/>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B4D19F41-ACB8-0456-C664-A44C844AFF34}"/>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01153808-5448-59E9-2529-11A7C522D29F}"/>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6BB426D7-690D-6B2A-46E9-6B37DB9AEF0E}"/>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B835DFD1-002E-5377-CA57-78957DF011D7}"/>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C66AC1F3-F8ED-DD5A-8B5C-CD5A2286D6C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3BF222F9-09A8-72CE-449B-EB1BF1CAAD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9918CDC8-892E-EAEB-77B9-05C902C2B959}"/>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7508CD17-1CC5-FED3-2BD2-99379E48D74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A73541E5-F13B-38E1-4202-6FE847E6ECC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CEAE641A-DEE4-AFDD-A4C4-9706D5953965}"/>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DAEA4FB4-67E3-8D51-018D-60DE20487AD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D5EF1609-65E4-B8E1-4F6B-3B7615127A9A}"/>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D8EA1489-5979-6521-A328-A60F1CCC5AC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495BC841-2AFB-8CAF-1C61-2F10768F6185}"/>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867454CA-7A0C-4890-069B-DD1A6628B95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00A4FBD7-CBFB-150F-D541-E303F666A73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CB9498AE-3F20-F11E-3F63-799D23E0B5CE}"/>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04EB4FF7-E963-053F-AF5A-2348C728C2E5}"/>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6CC565EF-6E65-5E44-6D71-9B41DB0CFCA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2823BFF7-D473-CD9C-E3F8-9D749FD8553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91C50EFE-0288-9881-2176-38F44844EE41}"/>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0AD65692-51D4-88BA-F7E8-1E4A78C40961}"/>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01B3E597-394B-D74D-9078-D4469506816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A215599A-28ED-DB07-B5FA-3DD206391BA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C97D0E3A-93D3-67E6-EFEB-4DFF19BEC83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5A296795-372C-7CCB-58B9-A86CC0A67BBE}"/>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D81BE804-E16B-87D7-504E-67AB8B62C97A}"/>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6B60994E-5176-C20D-8651-CE224A51F50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8D2FB71C-B113-1D61-5842-4F626BFE3A4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C5EA67EA-3CED-9AB3-9598-6081C148C867}"/>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445C71F6-28F0-7498-2B63-EB47F71C6AD6}"/>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sp>
        <p:nvSpPr>
          <p:cNvPr id="3" name="正方形/長方形 2">
            <a:extLst>
              <a:ext uri="{FF2B5EF4-FFF2-40B4-BE49-F238E27FC236}">
                <a16:creationId xmlns:a16="http://schemas.microsoft.com/office/drawing/2014/main" id="{C68AB438-07B4-287E-EBB5-3CA610848DBC}"/>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 name="グループ化 11">
            <a:extLst>
              <a:ext uri="{FF2B5EF4-FFF2-40B4-BE49-F238E27FC236}">
                <a16:creationId xmlns:a16="http://schemas.microsoft.com/office/drawing/2014/main" id="{9B5FB344-382A-1A2A-B1F6-EF0C09E8EF94}"/>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8D24976C-9EE6-979A-EFB4-14E4F2A62643}"/>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FAF6134F-9BA9-AD22-EDEA-17F08C78C21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7FE1D876-6096-1371-7C1E-DBEC35FCEB41}"/>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96FAAE3A-8F25-A7C2-72CC-6A9E4743A86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spTree>
    <p:extLst>
      <p:ext uri="{BB962C8B-B14F-4D97-AF65-F5344CB8AC3E}">
        <p14:creationId xmlns:p14="http://schemas.microsoft.com/office/powerpoint/2010/main" val="11567691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C954-D206-120B-1EDB-5CD2929665A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3B0778-1028-00E7-3B06-43C1D6321186}"/>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100F32B9-80B1-3755-8CE1-80801796FCE5}"/>
              </a:ext>
            </a:extLst>
          </p:cNvPr>
          <p:cNvSpPr>
            <a:spLocks noGrp="1"/>
          </p:cNvSpPr>
          <p:nvPr>
            <p:ph sz="half" idx="1"/>
          </p:nvPr>
        </p:nvSpPr>
        <p:spPr/>
        <p:txBody>
          <a:bodyPr numCol="1">
            <a:normAutofit fontScale="70000" lnSpcReduction="20000"/>
          </a:bodyPr>
          <a:lstStyle/>
          <a:p>
            <a:pPr>
              <a:lnSpc>
                <a:spcPct val="120000"/>
              </a:lnSpc>
            </a:pPr>
            <a:r>
              <a:rPr lang="en-US" altLang="ja-JP" dirty="0"/>
              <a:t>Usage</a:t>
            </a:r>
          </a:p>
          <a:p>
            <a:pPr lvl="1">
              <a:lnSpc>
                <a:spcPct val="120000"/>
              </a:lnSpc>
            </a:pPr>
            <a:r>
              <a:rPr lang="en-US" altLang="ja-JP" dirty="0"/>
              <a:t>UNIX</a:t>
            </a:r>
            <a:r>
              <a:rPr lang="ja-JP" altLang="en-US"/>
              <a:t>の思想</a:t>
            </a:r>
            <a:endParaRPr lang="en-US" altLang="ja-JP" dirty="0"/>
          </a:p>
          <a:p>
            <a:pPr lvl="1">
              <a:lnSpc>
                <a:spcPct val="120000"/>
              </a:lnSpc>
            </a:pPr>
            <a:r>
              <a:rPr lang="en-US" altLang="ja-JP" dirty="0"/>
              <a:t>CLI</a:t>
            </a:r>
            <a:r>
              <a:rPr lang="ja-JP" altLang="en-US"/>
              <a:t>のガイドライン</a:t>
            </a:r>
            <a:endParaRPr lang="en-US" altLang="ja-JP" dirty="0"/>
          </a:p>
          <a:p>
            <a:pPr>
              <a:lnSpc>
                <a:spcPct val="120000"/>
              </a:lnSpc>
            </a:pPr>
            <a:r>
              <a:rPr lang="en-US" altLang="ja-JP" dirty="0"/>
              <a:t>README</a:t>
            </a:r>
          </a:p>
          <a:p>
            <a:pPr lvl="1">
              <a:lnSpc>
                <a:spcPct val="120000"/>
              </a:lnSpc>
            </a:pPr>
            <a:r>
              <a:rPr lang="ja-JP" altLang="en-US"/>
              <a:t>書くべき内容．</a:t>
            </a:r>
            <a:endParaRPr lang="en-US" altLang="ja-JP" dirty="0"/>
          </a:p>
          <a:p>
            <a:pPr lvl="1">
              <a:lnSpc>
                <a:spcPct val="120000"/>
              </a:lnSpc>
            </a:pPr>
            <a:r>
              <a:rPr lang="en-US" altLang="ja-JP" dirty="0"/>
              <a:t>Badge</a:t>
            </a:r>
          </a:p>
          <a:p>
            <a:pPr>
              <a:lnSpc>
                <a:spcPct val="120000"/>
              </a:lnSpc>
            </a:pPr>
            <a:endParaRPr lang="en-US" altLang="ja-JP" dirty="0"/>
          </a:p>
        </p:txBody>
      </p:sp>
      <p:sp>
        <p:nvSpPr>
          <p:cNvPr id="7" name="コンテンツ プレースホルダー 6">
            <a:extLst>
              <a:ext uri="{FF2B5EF4-FFF2-40B4-BE49-F238E27FC236}">
                <a16:creationId xmlns:a16="http://schemas.microsoft.com/office/drawing/2014/main" id="{8B3E26B5-0E4E-F9BF-9E91-2716E4918E6B}"/>
              </a:ext>
            </a:extLst>
          </p:cNvPr>
          <p:cNvSpPr>
            <a:spLocks noGrp="1"/>
          </p:cNvSpPr>
          <p:nvPr>
            <p:ph sz="half" idx="2"/>
          </p:nvPr>
        </p:nvSpPr>
        <p:spPr/>
        <p:txBody>
          <a:bodyPr>
            <a:normAutofit fontScale="70000" lnSpcReduction="20000"/>
          </a:bodyPr>
          <a:lstStyle/>
          <a:p>
            <a:pPr>
              <a:lnSpc>
                <a:spcPct val="120000"/>
              </a:lnSpc>
            </a:pPr>
            <a:r>
              <a:rPr lang="en-US" altLang="ja-JP" dirty="0"/>
              <a:t>Rust</a:t>
            </a:r>
          </a:p>
          <a:p>
            <a:pPr lvl="1">
              <a:lnSpc>
                <a:spcPct val="120000"/>
              </a:lnSpc>
            </a:pPr>
            <a:r>
              <a:rPr lang="ja-JP" altLang="en-US"/>
              <a:t>プロジェクトを初期化する</a:t>
            </a:r>
            <a:endParaRPr lang="en-US" altLang="ja-JP" dirty="0"/>
          </a:p>
          <a:p>
            <a:pPr lvl="1">
              <a:lnSpc>
                <a:spcPct val="120000"/>
              </a:lnSpc>
            </a:pPr>
            <a:r>
              <a:rPr lang="en-US" altLang="ja-JP" dirty="0"/>
              <a:t>Rust</a:t>
            </a:r>
            <a:r>
              <a:rPr lang="ja-JP" altLang="en-US"/>
              <a:t>の基本</a:t>
            </a:r>
            <a:endParaRPr lang="en-US" altLang="ja-JP" dirty="0"/>
          </a:p>
          <a:p>
            <a:pPr>
              <a:lnSpc>
                <a:spcPct val="120000"/>
              </a:lnSpc>
            </a:pPr>
            <a:r>
              <a:rPr lang="ja-JP" altLang="en-US"/>
              <a:t>その他</a:t>
            </a:r>
            <a:endParaRPr lang="en-US" altLang="ja-JP" dirty="0"/>
          </a:p>
          <a:p>
            <a:pPr lvl="1">
              <a:lnSpc>
                <a:spcPct val="120000"/>
              </a:lnSpc>
            </a:pPr>
            <a:r>
              <a:rPr lang="ja-JP" altLang="en-US"/>
              <a:t>テストについて</a:t>
            </a:r>
            <a:endParaRPr lang="en-US" altLang="ja-JP" dirty="0"/>
          </a:p>
          <a:p>
            <a:pPr lvl="1">
              <a:lnSpc>
                <a:spcPct val="120000"/>
              </a:lnSpc>
            </a:pPr>
            <a:r>
              <a:rPr lang="ja-JP" altLang="en-US"/>
              <a:t>バージョン番号</a:t>
            </a:r>
            <a:endParaRPr lang="en-US" altLang="ja-JP" dirty="0"/>
          </a:p>
          <a:p>
            <a:pPr lvl="1">
              <a:lnSpc>
                <a:spcPct val="120000"/>
              </a:lnSpc>
            </a:pPr>
            <a:r>
              <a:rPr lang="ja-JP" altLang="en-US"/>
              <a:t>コミットコメント</a:t>
            </a:r>
            <a:endParaRPr lang="en-US" altLang="ja-JP" dirty="0"/>
          </a:p>
          <a:p>
            <a:pPr lvl="1">
              <a:lnSpc>
                <a:spcPct val="120000"/>
              </a:lnSpc>
            </a:pPr>
            <a:r>
              <a:rPr lang="en-US" altLang="ja-JP" dirty="0"/>
              <a:t>Git/GitHub</a:t>
            </a:r>
            <a:r>
              <a:rPr lang="ja-JP" altLang="en-US"/>
              <a:t>の使い方</a:t>
            </a:r>
            <a:endParaRPr lang="en-US" altLang="ja-JP" dirty="0"/>
          </a:p>
          <a:p>
            <a:pPr>
              <a:lnSpc>
                <a:spcPct val="120000"/>
              </a:lnSpc>
            </a:pPr>
            <a:endParaRPr lang="ja-JP" altLang="en-US"/>
          </a:p>
        </p:txBody>
      </p:sp>
      <p:sp>
        <p:nvSpPr>
          <p:cNvPr id="4" name="日付プレースホルダー 3">
            <a:extLst>
              <a:ext uri="{FF2B5EF4-FFF2-40B4-BE49-F238E27FC236}">
                <a16:creationId xmlns:a16="http://schemas.microsoft.com/office/drawing/2014/main" id="{23397002-C0C9-CB08-F802-B7A31B03395D}"/>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27E5D953-7305-8664-A860-24F51285D1D7}"/>
              </a:ext>
            </a:extLst>
          </p:cNvPr>
          <p:cNvSpPr>
            <a:spLocks noGrp="1"/>
          </p:cNvSpPr>
          <p:nvPr>
            <p:ph type="sldNum" sz="quarter" idx="12"/>
          </p:nvPr>
        </p:nvSpPr>
        <p:spPr/>
        <p:txBody>
          <a:bodyPr/>
          <a:lstStyle/>
          <a:p>
            <a:fld id="{0B8845E4-5C92-A046-BB66-E5D9CC995B08}" type="slidenum">
              <a:rPr kumimoji="1" lang="ja-JP" altLang="en-US" smtClean="0"/>
              <a:t>3</a:t>
            </a:fld>
            <a:endParaRPr kumimoji="1" lang="ja-JP" altLang="en-US"/>
          </a:p>
        </p:txBody>
      </p:sp>
      <p:sp>
        <p:nvSpPr>
          <p:cNvPr id="6" name="正方形/長方形 5">
            <a:extLst>
              <a:ext uri="{FF2B5EF4-FFF2-40B4-BE49-F238E27FC236}">
                <a16:creationId xmlns:a16="http://schemas.microsoft.com/office/drawing/2014/main" id="{2A0D1EB8-E195-F642-5031-1998A4E4D7E0}"/>
              </a:ext>
            </a:extLst>
          </p:cNvPr>
          <p:cNvSpPr/>
          <p:nvPr/>
        </p:nvSpPr>
        <p:spPr>
          <a:xfrm>
            <a:off x="546464" y="3296826"/>
            <a:ext cx="5116285" cy="176550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
        <p:nvSpPr>
          <p:cNvPr id="8" name="正方形/長方形 7">
            <a:extLst>
              <a:ext uri="{FF2B5EF4-FFF2-40B4-BE49-F238E27FC236}">
                <a16:creationId xmlns:a16="http://schemas.microsoft.com/office/drawing/2014/main" id="{51A7F4D9-A52E-23D5-E565-3E7A3111324D}"/>
              </a:ext>
            </a:extLst>
          </p:cNvPr>
          <p:cNvSpPr/>
          <p:nvPr/>
        </p:nvSpPr>
        <p:spPr>
          <a:xfrm>
            <a:off x="5954485" y="1690688"/>
            <a:ext cx="5908766" cy="462942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7620555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7C0D20-DB35-D487-FBF0-87A88DCBBD8C}"/>
              </a:ext>
            </a:extLst>
          </p:cNvPr>
          <p:cNvSpPr>
            <a:spLocks noGrp="1"/>
          </p:cNvSpPr>
          <p:nvPr>
            <p:ph type="title"/>
          </p:nvPr>
        </p:nvSpPr>
        <p:spPr/>
        <p:txBody>
          <a:bodyPr/>
          <a:lstStyle/>
          <a:p>
            <a:r>
              <a:rPr kumimoji="1" lang="en-US" altLang="ja-JP" dirty="0"/>
              <a:t>Usage</a:t>
            </a:r>
            <a:endParaRPr kumimoji="1" lang="ja-JP" altLang="en-US"/>
          </a:p>
        </p:txBody>
      </p:sp>
      <p:sp>
        <p:nvSpPr>
          <p:cNvPr id="3" name="コンテンツ プレースホルダー 2">
            <a:extLst>
              <a:ext uri="{FF2B5EF4-FFF2-40B4-BE49-F238E27FC236}">
                <a16:creationId xmlns:a16="http://schemas.microsoft.com/office/drawing/2014/main" id="{7B6F72BC-CA42-7D54-6FDD-85DE9E360973}"/>
              </a:ext>
            </a:extLst>
          </p:cNvPr>
          <p:cNvSpPr>
            <a:spLocks noGrp="1"/>
          </p:cNvSpPr>
          <p:nvPr>
            <p:ph idx="1"/>
          </p:nvPr>
        </p:nvSpPr>
        <p:spPr/>
        <p:txBody>
          <a:bodyPr/>
          <a:lstStyle/>
          <a:p>
            <a:pPr>
              <a:lnSpc>
                <a:spcPct val="100000"/>
              </a:lnSpc>
            </a:pPr>
            <a:r>
              <a:rPr lang="en-US" altLang="ja-JP" dirty="0"/>
              <a:t>CLI</a:t>
            </a:r>
            <a:r>
              <a:rPr lang="ja-JP" altLang="en-US"/>
              <a:t>で</a:t>
            </a:r>
            <a:r>
              <a:rPr lang="en-US" altLang="ja-JP" dirty="0">
                <a:latin typeface="Consolas" panose="020B0609020204030204" pitchFamily="49" charset="0"/>
                <a:cs typeface="Consolas" panose="020B0609020204030204" pitchFamily="49" charset="0"/>
              </a:rPr>
              <a:t>--help</a:t>
            </a:r>
            <a:r>
              <a:rPr lang="ja-JP" altLang="en-US"/>
              <a:t>オプションを与えると出力される内容．</a:t>
            </a:r>
            <a:endParaRPr lang="en-US" altLang="ja-JP" dirty="0"/>
          </a:p>
          <a:p>
            <a:pPr lvl="1">
              <a:lnSpc>
                <a:spcPct val="100000"/>
              </a:lnSpc>
            </a:pPr>
            <a:r>
              <a:rPr kumimoji="1" lang="ja-JP" altLang="en-US"/>
              <a:t>コマンドの使い方が出力される．</a:t>
            </a:r>
            <a:endParaRPr kumimoji="1" lang="en-US" altLang="ja-JP" dirty="0"/>
          </a:p>
          <a:p>
            <a:pPr>
              <a:lnSpc>
                <a:spcPct val="100000"/>
              </a:lnSpc>
            </a:pPr>
            <a:endParaRPr kumimoji="1" lang="ja-JP" altLang="en-US"/>
          </a:p>
        </p:txBody>
      </p:sp>
      <p:sp>
        <p:nvSpPr>
          <p:cNvPr id="4" name="日付プレースホルダー 3">
            <a:extLst>
              <a:ext uri="{FF2B5EF4-FFF2-40B4-BE49-F238E27FC236}">
                <a16:creationId xmlns:a16="http://schemas.microsoft.com/office/drawing/2014/main" id="{BEDAC146-5C2D-863A-38AA-FC6D71AEBAC3}"/>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0E72905C-669F-644A-5627-2435FAA023F2}"/>
              </a:ext>
            </a:extLst>
          </p:cNvPr>
          <p:cNvSpPr>
            <a:spLocks noGrp="1"/>
          </p:cNvSpPr>
          <p:nvPr>
            <p:ph type="sldNum" sz="quarter" idx="12"/>
          </p:nvPr>
        </p:nvSpPr>
        <p:spPr/>
        <p:txBody>
          <a:bodyPr/>
          <a:lstStyle/>
          <a:p>
            <a:fld id="{0B8845E4-5C92-A046-BB66-E5D9CC995B08}" type="slidenum">
              <a:rPr kumimoji="1" lang="ja-JP" altLang="en-US" smtClean="0"/>
              <a:t>4</a:t>
            </a:fld>
            <a:endParaRPr kumimoji="1" lang="ja-JP" altLang="en-US"/>
          </a:p>
        </p:txBody>
      </p:sp>
    </p:spTree>
    <p:extLst>
      <p:ext uri="{BB962C8B-B14F-4D97-AF65-F5344CB8AC3E}">
        <p14:creationId xmlns:p14="http://schemas.microsoft.com/office/powerpoint/2010/main" val="3743071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7D2EC5-AB1F-3467-9232-68D444160A72}"/>
              </a:ext>
            </a:extLst>
          </p:cNvPr>
          <p:cNvSpPr>
            <a:spLocks noGrp="1"/>
          </p:cNvSpPr>
          <p:nvPr>
            <p:ph type="title"/>
          </p:nvPr>
        </p:nvSpPr>
        <p:spPr>
          <a:xfrm>
            <a:off x="838200" y="365125"/>
            <a:ext cx="7884886" cy="1325563"/>
          </a:xfrm>
        </p:spPr>
        <p:txBody>
          <a:bodyPr/>
          <a:lstStyle/>
          <a:p>
            <a:r>
              <a:rPr kumimoji="1" lang="en-US" altLang="ja-JP" dirty="0"/>
              <a:t>Usage</a:t>
            </a:r>
            <a:endParaRPr kumimoji="1" lang="ja-JP" altLang="en-US"/>
          </a:p>
        </p:txBody>
      </p:sp>
      <p:sp>
        <p:nvSpPr>
          <p:cNvPr id="3" name="コンテンツ プレースホルダー 2">
            <a:extLst>
              <a:ext uri="{FF2B5EF4-FFF2-40B4-BE49-F238E27FC236}">
                <a16:creationId xmlns:a16="http://schemas.microsoft.com/office/drawing/2014/main" id="{22DE1317-7512-6852-D90B-EEC941BAA97E}"/>
              </a:ext>
            </a:extLst>
          </p:cNvPr>
          <p:cNvSpPr>
            <a:spLocks noGrp="1"/>
          </p:cNvSpPr>
          <p:nvPr>
            <p:ph idx="1"/>
          </p:nvPr>
        </p:nvSpPr>
        <p:spPr>
          <a:xfrm>
            <a:off x="838200" y="1825626"/>
            <a:ext cx="5414010" cy="3121228"/>
          </a:xfrm>
        </p:spPr>
        <p:txBody>
          <a:bodyPr>
            <a:normAutofit fontScale="92500" lnSpcReduction="10000"/>
          </a:bodyPr>
          <a:lstStyle/>
          <a:p>
            <a:r>
              <a:rPr lang="ja-JP" altLang="en-US"/>
              <a:t>ヘルプの読み方．</a:t>
            </a:r>
            <a:endParaRPr lang="en-US" altLang="ja-JP" dirty="0"/>
          </a:p>
          <a:p>
            <a:pPr lvl="1"/>
            <a:r>
              <a:rPr kumimoji="1" lang="ja-JP" altLang="en-US"/>
              <a:t>ヘルプに見られる記号の意味．</a:t>
            </a:r>
            <a:endParaRPr kumimoji="1" lang="en-US" altLang="ja-JP" dirty="0"/>
          </a:p>
          <a:p>
            <a:pPr lvl="2"/>
            <a:r>
              <a:rPr lang="en-US" altLang="ja-JP" dirty="0"/>
              <a:t>[FILE]</a:t>
            </a:r>
            <a:r>
              <a:rPr lang="en-US" altLang="ja-JP" dirty="0">
                <a:solidFill>
                  <a:srgbClr val="C00000"/>
                </a:solidFill>
              </a:rPr>
              <a:t>...</a:t>
            </a:r>
          </a:p>
          <a:p>
            <a:pPr lvl="2"/>
            <a:r>
              <a:rPr lang="en-US" altLang="ja-JP" dirty="0">
                <a:solidFill>
                  <a:srgbClr val="C00000"/>
                </a:solidFill>
              </a:rPr>
              <a:t>[</a:t>
            </a:r>
            <a:r>
              <a:rPr lang="en-US" altLang="ja-JP" dirty="0"/>
              <a:t>OPTIONS</a:t>
            </a:r>
            <a:r>
              <a:rPr lang="en-US" altLang="ja-JP" dirty="0">
                <a:solidFill>
                  <a:srgbClr val="C00000"/>
                </a:solidFill>
              </a:rPr>
              <a:t>]</a:t>
            </a:r>
          </a:p>
          <a:p>
            <a:pPr lvl="2"/>
            <a:r>
              <a:rPr kumimoji="1" lang="en-US" altLang="ja-JP" dirty="0">
                <a:solidFill>
                  <a:srgbClr val="C00000"/>
                </a:solidFill>
              </a:rPr>
              <a:t>&lt;</a:t>
            </a:r>
            <a:r>
              <a:rPr kumimoji="1" lang="en-US" altLang="ja-JP" dirty="0"/>
              <a:t>SUBCOMMAND</a:t>
            </a:r>
            <a:r>
              <a:rPr kumimoji="1" lang="en-US" altLang="ja-JP" dirty="0">
                <a:solidFill>
                  <a:srgbClr val="C00000"/>
                </a:solidFill>
              </a:rPr>
              <a:t>&gt;</a:t>
            </a:r>
          </a:p>
          <a:p>
            <a:endParaRPr kumimoji="1" lang="ja-JP" altLang="en-US"/>
          </a:p>
        </p:txBody>
      </p:sp>
      <p:sp>
        <p:nvSpPr>
          <p:cNvPr id="4" name="正方形/長方形 3">
            <a:extLst>
              <a:ext uri="{FF2B5EF4-FFF2-40B4-BE49-F238E27FC236}">
                <a16:creationId xmlns:a16="http://schemas.microsoft.com/office/drawing/2014/main" id="{288A04DA-0153-AF17-632C-F003EAF4F62D}"/>
              </a:ext>
            </a:extLst>
          </p:cNvPr>
          <p:cNvSpPr/>
          <p:nvPr/>
        </p:nvSpPr>
        <p:spPr>
          <a:xfrm>
            <a:off x="6389370" y="1800691"/>
            <a:ext cx="10515600" cy="4401205"/>
          </a:xfrm>
          <a:prstGeom prst="rect">
            <a:avLst/>
          </a:prstGeom>
          <a:solidFill>
            <a:schemeClr val="tx1"/>
          </a:solidFill>
          <a:ln w="38100">
            <a:solidFill>
              <a:schemeClr val="accent6">
                <a:lumMod val="50000"/>
              </a:schemeClr>
            </a:solidFill>
          </a:ln>
        </p:spPr>
        <p:txBody>
          <a:bodyPr wrap="square">
            <a:spAutoFit/>
          </a:bodyPr>
          <a:lstStyle/>
          <a:p>
            <a:r>
              <a:rPr lang="ja-JP" altLang="en-US" sz="1400">
                <a:solidFill>
                  <a:schemeClr val="bg1">
                    <a:lumMod val="95000"/>
                  </a:schemeClr>
                </a:solidFill>
                <a:latin typeface="Consolas" panose="020B0609020204030204" pitchFamily="49" charset="0"/>
                <a:cs typeface="Consolas" panose="020B0609020204030204" pitchFamily="49" charset="0"/>
              </a:rPr>
              <a:t>❯ bat --help</a:t>
            </a:r>
          </a:p>
          <a:p>
            <a:r>
              <a:rPr lang="ja-JP" altLang="en-US" sz="1400">
                <a:solidFill>
                  <a:schemeClr val="bg1">
                    <a:lumMod val="95000"/>
                  </a:schemeClr>
                </a:solidFill>
                <a:latin typeface="Consolas" panose="020B0609020204030204" pitchFamily="49" charset="0"/>
                <a:cs typeface="Consolas" panose="020B0609020204030204" pitchFamily="49" charset="0"/>
              </a:rPr>
              <a:t>bat 0.20.0</a:t>
            </a:r>
          </a:p>
          <a:p>
            <a:r>
              <a:rPr lang="ja-JP" altLang="en-US" sz="1400">
                <a:solidFill>
                  <a:schemeClr val="bg1">
                    <a:lumMod val="95000"/>
                  </a:schemeClr>
                </a:solidFill>
                <a:latin typeface="Consolas" panose="020B0609020204030204" pitchFamily="49" charset="0"/>
                <a:cs typeface="Consolas" panose="020B0609020204030204" pitchFamily="49" charset="0"/>
              </a:rPr>
              <a:t>A cat(1) clone with syntax highlighting and Git integration.</a:t>
            </a:r>
          </a:p>
          <a:p>
            <a:endParaRPr lang="ja-JP" altLang="en-US" sz="1400">
              <a:solidFill>
                <a:schemeClr val="bg1">
                  <a:lumMod val="95000"/>
                </a:schemeClr>
              </a:solidFill>
              <a:latin typeface="Consolas" panose="020B0609020204030204" pitchFamily="49" charset="0"/>
              <a:cs typeface="Consolas" panose="020B0609020204030204" pitchFamily="49" charset="0"/>
            </a:endParaRPr>
          </a:p>
          <a:p>
            <a:r>
              <a:rPr lang="ja-JP" altLang="en-US" sz="1400">
                <a:solidFill>
                  <a:schemeClr val="bg1">
                    <a:lumMod val="95000"/>
                  </a:schemeClr>
                </a:solidFill>
                <a:latin typeface="Consolas" panose="020B0609020204030204" pitchFamily="49" charset="0"/>
                <a:cs typeface="Consolas" panose="020B0609020204030204" pitchFamily="49" charset="0"/>
              </a:rPr>
              <a:t>USAGE:</a:t>
            </a:r>
          </a:p>
          <a:p>
            <a:r>
              <a:rPr lang="ja-JP" altLang="en-US" sz="1400">
                <a:solidFill>
                  <a:schemeClr val="bg1">
                    <a:lumMod val="95000"/>
                  </a:schemeClr>
                </a:solidFill>
                <a:latin typeface="Consolas" panose="020B0609020204030204" pitchFamily="49" charset="0"/>
                <a:cs typeface="Consolas" panose="020B0609020204030204" pitchFamily="49" charset="0"/>
              </a:rPr>
              <a:t>    bat [OPTIONS] [FILE]...</a:t>
            </a:r>
          </a:p>
          <a:p>
            <a:r>
              <a:rPr lang="ja-JP" altLang="en-US" sz="1400">
                <a:solidFill>
                  <a:schemeClr val="bg1">
                    <a:lumMod val="95000"/>
                  </a:schemeClr>
                </a:solidFill>
                <a:latin typeface="Consolas" panose="020B0609020204030204" pitchFamily="49" charset="0"/>
                <a:cs typeface="Consolas" panose="020B0609020204030204" pitchFamily="49" charset="0"/>
              </a:rPr>
              <a:t>    bat &lt;SUBCOMMAND&gt;</a:t>
            </a:r>
          </a:p>
          <a:p>
            <a:endParaRPr lang="ja-JP" altLang="en-US" sz="1400">
              <a:solidFill>
                <a:schemeClr val="bg1">
                  <a:lumMod val="95000"/>
                </a:schemeClr>
              </a:solidFill>
              <a:latin typeface="Consolas" panose="020B0609020204030204" pitchFamily="49" charset="0"/>
              <a:cs typeface="Consolas" panose="020B0609020204030204" pitchFamily="49" charset="0"/>
            </a:endParaRPr>
          </a:p>
          <a:p>
            <a:r>
              <a:rPr lang="ja-JP" altLang="en-US" sz="1400">
                <a:solidFill>
                  <a:schemeClr val="bg1">
                    <a:lumMod val="95000"/>
                  </a:schemeClr>
                </a:solidFill>
                <a:latin typeface="Consolas" panose="020B0609020204030204" pitchFamily="49" charset="0"/>
                <a:cs typeface="Consolas" panose="020B0609020204030204" pitchFamily="49" charset="0"/>
              </a:rPr>
              <a:t>OPTIONS:</a:t>
            </a:r>
          </a:p>
          <a:p>
            <a:r>
              <a:rPr lang="ja-JP" altLang="en-US" sz="1400">
                <a:solidFill>
                  <a:schemeClr val="bg1">
                    <a:lumMod val="95000"/>
                  </a:schemeClr>
                </a:solidFill>
                <a:latin typeface="Consolas" panose="020B0609020204030204" pitchFamily="49" charset="0"/>
                <a:cs typeface="Consolas" panose="020B0609020204030204" pitchFamily="49" charset="0"/>
              </a:rPr>
              <a:t>    -A, --show-all</a:t>
            </a:r>
          </a:p>
          <a:p>
            <a:r>
              <a:rPr lang="ja-JP" altLang="en-US" sz="1400">
                <a:solidFill>
                  <a:schemeClr val="bg1">
                    <a:lumMod val="95000"/>
                  </a:schemeClr>
                </a:solidFill>
                <a:latin typeface="Consolas" panose="020B0609020204030204" pitchFamily="49" charset="0"/>
                <a:cs typeface="Consolas" panose="020B0609020204030204" pitchFamily="49" charset="0"/>
              </a:rPr>
              <a:t>            Show non-printable characters like space, tab or newline. This option can also be used</a:t>
            </a:r>
          </a:p>
          <a:p>
            <a:r>
              <a:rPr lang="ja-JP" altLang="en-US" sz="1400">
                <a:solidFill>
                  <a:schemeClr val="bg1">
                    <a:lumMod val="95000"/>
                  </a:schemeClr>
                </a:solidFill>
                <a:latin typeface="Consolas" panose="020B0609020204030204" pitchFamily="49" charset="0"/>
                <a:cs typeface="Consolas" panose="020B0609020204030204" pitchFamily="49" charset="0"/>
              </a:rPr>
              <a:t>            to print binary files. Use '--tabs' to control the width of the tab-placeholders.</a:t>
            </a:r>
          </a:p>
          <a:p>
            <a:r>
              <a:rPr lang="ja-JP" altLang="en-US" sz="1400">
                <a:solidFill>
                  <a:schemeClr val="bg1">
                    <a:lumMod val="95000"/>
                  </a:schemeClr>
                </a:solidFill>
                <a:latin typeface="Consolas" panose="020B0609020204030204" pitchFamily="49" charset="0"/>
                <a:cs typeface="Consolas" panose="020B0609020204030204" pitchFamily="49" charset="0"/>
              </a:rPr>
              <a:t>    -p, --plain</a:t>
            </a:r>
          </a:p>
          <a:p>
            <a:r>
              <a:rPr lang="ja-JP" altLang="en-US" sz="1400">
                <a:solidFill>
                  <a:schemeClr val="bg1">
                    <a:lumMod val="95000"/>
                  </a:schemeClr>
                </a:solidFill>
                <a:latin typeface="Consolas" panose="020B0609020204030204" pitchFamily="49" charset="0"/>
                <a:cs typeface="Consolas" panose="020B0609020204030204" pitchFamily="49" charset="0"/>
              </a:rPr>
              <a:t>            Only show plain style, no decorations. This is an alias for '--style=plain'. When '-p'</a:t>
            </a:r>
          </a:p>
          <a:p>
            <a:r>
              <a:rPr lang="ja-JP" altLang="en-US" sz="1400">
                <a:solidFill>
                  <a:schemeClr val="bg1">
                    <a:lumMod val="95000"/>
                  </a:schemeClr>
                </a:solidFill>
                <a:latin typeface="Consolas" panose="020B0609020204030204" pitchFamily="49" charset="0"/>
                <a:cs typeface="Consolas" panose="020B0609020204030204" pitchFamily="49" charset="0"/>
              </a:rPr>
              <a:t>            is used twice ('-pp'), it also disables automatic paging (alias for '--style=plain</a:t>
            </a:r>
          </a:p>
          <a:p>
            <a:r>
              <a:rPr lang="ja-JP" altLang="en-US" sz="1400">
                <a:solidFill>
                  <a:schemeClr val="bg1">
                    <a:lumMod val="95000"/>
                  </a:schemeClr>
                </a:solidFill>
                <a:latin typeface="Consolas" panose="020B0609020204030204" pitchFamily="49" charset="0"/>
                <a:cs typeface="Consolas" panose="020B0609020204030204" pitchFamily="49" charset="0"/>
              </a:rPr>
              <a:t>            --pager=never').</a:t>
            </a:r>
          </a:p>
          <a:p>
            <a:r>
              <a:rPr lang="ja-JP" altLang="en-US" sz="1400">
                <a:solidFill>
                  <a:schemeClr val="bg1">
                    <a:lumMod val="95000"/>
                  </a:schemeClr>
                </a:solidFill>
                <a:latin typeface="Consolas" panose="020B0609020204030204" pitchFamily="49" charset="0"/>
                <a:cs typeface="Consolas" panose="020B0609020204030204" pitchFamily="49" charset="0"/>
              </a:rPr>
              <a:t>    -l, --language &lt;language&gt;</a:t>
            </a:r>
          </a:p>
          <a:p>
            <a:r>
              <a:rPr lang="ja-JP" altLang="en-US" sz="1400">
                <a:solidFill>
                  <a:schemeClr val="bg1">
                    <a:lumMod val="95000"/>
                  </a:schemeClr>
                </a:solidFill>
                <a:latin typeface="Consolas" panose="020B0609020204030204" pitchFamily="49" charset="0"/>
                <a:cs typeface="Consolas" panose="020B0609020204030204" pitchFamily="49" charset="0"/>
              </a:rPr>
              <a:t>            Explicitly set the language for syntax highlighting. The language can be specified as a</a:t>
            </a:r>
          </a:p>
          <a:p>
            <a:r>
              <a:rPr lang="ja-JP" altLang="en-US" sz="1400">
                <a:solidFill>
                  <a:schemeClr val="bg1">
                    <a:lumMod val="95000"/>
                  </a:schemeClr>
                </a:solidFill>
                <a:latin typeface="Consolas" panose="020B0609020204030204" pitchFamily="49" charset="0"/>
                <a:cs typeface="Consolas" panose="020B0609020204030204" pitchFamily="49" charset="0"/>
              </a:rPr>
              <a:t>            name (like 'C++' or 'LaTeX') or possible file extension (like 'cpp', 'hpp' or 'md'). Use</a:t>
            </a:r>
          </a:p>
          <a:p>
            <a:r>
              <a:rPr lang="ja-JP" altLang="en-US" sz="1400">
                <a:solidFill>
                  <a:schemeClr val="bg1">
                    <a:lumMod val="95000"/>
                  </a:schemeClr>
                </a:solidFill>
                <a:latin typeface="Consolas" panose="020B0609020204030204" pitchFamily="49" charset="0"/>
                <a:cs typeface="Consolas" panose="020B0609020204030204" pitchFamily="49" charset="0"/>
              </a:rPr>
              <a:t>            '--list-languages' to show all supported language names and file extensions.</a:t>
            </a:r>
          </a:p>
        </p:txBody>
      </p:sp>
      <p:pic>
        <p:nvPicPr>
          <p:cNvPr id="6" name="図 5">
            <a:extLst>
              <a:ext uri="{FF2B5EF4-FFF2-40B4-BE49-F238E27FC236}">
                <a16:creationId xmlns:a16="http://schemas.microsoft.com/office/drawing/2014/main" id="{695C4721-BEC7-992B-66C4-525917B85D7C}"/>
              </a:ext>
            </a:extLst>
          </p:cNvPr>
          <p:cNvPicPr>
            <a:picLocks noChangeAspect="1"/>
          </p:cNvPicPr>
          <p:nvPr/>
        </p:nvPicPr>
        <p:blipFill>
          <a:blip r:embed="rId2"/>
          <a:stretch>
            <a:fillRect/>
          </a:stretch>
        </p:blipFill>
        <p:spPr>
          <a:xfrm>
            <a:off x="1950358" y="4751285"/>
            <a:ext cx="9403442" cy="3121227"/>
          </a:xfrm>
          <a:prstGeom prst="rect">
            <a:avLst/>
          </a:prstGeom>
        </p:spPr>
      </p:pic>
      <p:sp>
        <p:nvSpPr>
          <p:cNvPr id="7" name="日付プレースホルダー 6">
            <a:extLst>
              <a:ext uri="{FF2B5EF4-FFF2-40B4-BE49-F238E27FC236}">
                <a16:creationId xmlns:a16="http://schemas.microsoft.com/office/drawing/2014/main" id="{4D6D7238-749D-66A6-2862-7AED7F6972B3}"/>
              </a:ext>
            </a:extLst>
          </p:cNvPr>
          <p:cNvSpPr>
            <a:spLocks noGrp="1"/>
          </p:cNvSpPr>
          <p:nvPr>
            <p:ph type="dt" sz="half" idx="10"/>
          </p:nvPr>
        </p:nvSpPr>
        <p:spPr/>
        <p:txBody>
          <a:bodyPr/>
          <a:lstStyle/>
          <a:p>
            <a:r>
              <a:rPr kumimoji="1" lang="en-US" altLang="ja-JP"/>
              <a:t>2026-04-17</a:t>
            </a:r>
            <a:endParaRPr kumimoji="1" lang="ja-JP" altLang="en-US"/>
          </a:p>
        </p:txBody>
      </p:sp>
      <p:sp>
        <p:nvSpPr>
          <p:cNvPr id="8" name="スライド番号プレースホルダー 7">
            <a:extLst>
              <a:ext uri="{FF2B5EF4-FFF2-40B4-BE49-F238E27FC236}">
                <a16:creationId xmlns:a16="http://schemas.microsoft.com/office/drawing/2014/main" id="{7D0A61F2-425C-6783-591A-B88F4533A2E8}"/>
              </a:ext>
            </a:extLst>
          </p:cNvPr>
          <p:cNvSpPr>
            <a:spLocks noGrp="1"/>
          </p:cNvSpPr>
          <p:nvPr>
            <p:ph type="sldNum" sz="quarter" idx="12"/>
          </p:nvPr>
        </p:nvSpPr>
        <p:spPr/>
        <p:txBody>
          <a:bodyPr/>
          <a:lstStyle/>
          <a:p>
            <a:fld id="{0B8845E4-5C92-A046-BB66-E5D9CC995B08}" type="slidenum">
              <a:rPr kumimoji="1" lang="ja-JP" altLang="en-US" smtClean="0"/>
              <a:t>5</a:t>
            </a:fld>
            <a:endParaRPr kumimoji="1" lang="ja-JP" altLang="en-US"/>
          </a:p>
        </p:txBody>
      </p:sp>
    </p:spTree>
    <p:extLst>
      <p:ext uri="{BB962C8B-B14F-4D97-AF65-F5344CB8AC3E}">
        <p14:creationId xmlns:p14="http://schemas.microsoft.com/office/powerpoint/2010/main" val="2484738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500"/>
                                        <p:tgtEl>
                                          <p:spTgt spid="3">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dissolve">
                                      <p:cBhvr>
                                        <p:cTn id="13" dur="500"/>
                                        <p:tgtEl>
                                          <p:spTgt spid="3">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dissolv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62E044-3821-4AA4-A7F7-E8B66694AEC6}"/>
              </a:ext>
            </a:extLst>
          </p:cNvPr>
          <p:cNvSpPr>
            <a:spLocks noGrp="1"/>
          </p:cNvSpPr>
          <p:nvPr>
            <p:ph type="title"/>
          </p:nvPr>
        </p:nvSpPr>
        <p:spPr/>
        <p:txBody>
          <a:bodyPr/>
          <a:lstStyle/>
          <a:p>
            <a:r>
              <a:rPr kumimoji="1" lang="ja-JP" altLang="en-US"/>
              <a:t>誰が実行する？</a:t>
            </a:r>
          </a:p>
        </p:txBody>
      </p:sp>
      <p:sp>
        <p:nvSpPr>
          <p:cNvPr id="11" name="コンテンツ プレースホルダー 10">
            <a:extLst>
              <a:ext uri="{FF2B5EF4-FFF2-40B4-BE49-F238E27FC236}">
                <a16:creationId xmlns:a16="http://schemas.microsoft.com/office/drawing/2014/main" id="{C3530853-B435-6EBB-627A-EDB922FBFE04}"/>
              </a:ext>
            </a:extLst>
          </p:cNvPr>
          <p:cNvSpPr>
            <a:spLocks noGrp="1"/>
          </p:cNvSpPr>
          <p:nvPr>
            <p:ph idx="1"/>
          </p:nvPr>
        </p:nvSpPr>
        <p:spPr/>
        <p:txBody>
          <a:bodyPr/>
          <a:lstStyle/>
          <a:p>
            <a:endParaRPr lang="ja-JP" altLang="en-US"/>
          </a:p>
        </p:txBody>
      </p:sp>
      <p:sp>
        <p:nvSpPr>
          <p:cNvPr id="4" name="日付プレースホルダー 3">
            <a:extLst>
              <a:ext uri="{FF2B5EF4-FFF2-40B4-BE49-F238E27FC236}">
                <a16:creationId xmlns:a16="http://schemas.microsoft.com/office/drawing/2014/main" id="{F9A1FCAB-4542-E9CA-5579-A0EDB470EDFF}"/>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4EF86465-ED82-23AF-2FE5-BDCC363CB832}"/>
              </a:ext>
            </a:extLst>
          </p:cNvPr>
          <p:cNvSpPr>
            <a:spLocks noGrp="1"/>
          </p:cNvSpPr>
          <p:nvPr>
            <p:ph type="sldNum" sz="quarter" idx="12"/>
          </p:nvPr>
        </p:nvSpPr>
        <p:spPr/>
        <p:txBody>
          <a:bodyPr/>
          <a:lstStyle/>
          <a:p>
            <a:fld id="{0B8845E4-5C92-A046-BB66-E5D9CC995B08}" type="slidenum">
              <a:rPr kumimoji="1" lang="ja-JP" altLang="en-US" smtClean="0"/>
              <a:t>6</a:t>
            </a:fld>
            <a:endParaRPr kumimoji="1" lang="ja-JP" altLang="en-US"/>
          </a:p>
        </p:txBody>
      </p:sp>
      <p:sp>
        <p:nvSpPr>
          <p:cNvPr id="6" name="角丸四角形 5">
            <a:extLst>
              <a:ext uri="{FF2B5EF4-FFF2-40B4-BE49-F238E27FC236}">
                <a16:creationId xmlns:a16="http://schemas.microsoft.com/office/drawing/2014/main" id="{304D79CB-5647-8937-8F57-EB5263F8A581}"/>
              </a:ext>
            </a:extLst>
          </p:cNvPr>
          <p:cNvSpPr/>
          <p:nvPr/>
        </p:nvSpPr>
        <p:spPr>
          <a:xfrm>
            <a:off x="838200" y="1825625"/>
            <a:ext cx="3411941" cy="532263"/>
          </a:xfrm>
          <a:prstGeom prst="roundRect">
            <a:avLst/>
          </a:prstGeom>
          <a:solidFill>
            <a:schemeClr val="tx1"/>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latin typeface="Consolas" panose="020B0609020204030204" pitchFamily="49" charset="0"/>
                <a:cs typeface="Consolas" panose="020B0609020204030204" pitchFamily="49" charset="0"/>
              </a:rPr>
              <a:t># </a:t>
            </a:r>
            <a:r>
              <a:rPr kumimoji="1" lang="en-US" altLang="ja-JP" dirty="0" err="1">
                <a:latin typeface="Consolas" panose="020B0609020204030204" pitchFamily="49" charset="0"/>
                <a:cs typeface="Consolas" panose="020B0609020204030204" pitchFamily="49" charset="0"/>
              </a:rPr>
              <a:t>somecommand</a:t>
            </a:r>
            <a:endParaRPr kumimoji="1" lang="ja-JP" altLang="en-US">
              <a:latin typeface="Consolas" panose="020B0609020204030204" pitchFamily="49" charset="0"/>
              <a:cs typeface="Consolas" panose="020B0609020204030204" pitchFamily="49" charset="0"/>
            </a:endParaRPr>
          </a:p>
        </p:txBody>
      </p:sp>
      <p:sp>
        <p:nvSpPr>
          <p:cNvPr id="7" name="角丸四角形 6">
            <a:extLst>
              <a:ext uri="{FF2B5EF4-FFF2-40B4-BE49-F238E27FC236}">
                <a16:creationId xmlns:a16="http://schemas.microsoft.com/office/drawing/2014/main" id="{D8185BE8-E4E8-60A0-33ED-CFC1725A2B52}"/>
              </a:ext>
            </a:extLst>
          </p:cNvPr>
          <p:cNvSpPr/>
          <p:nvPr/>
        </p:nvSpPr>
        <p:spPr>
          <a:xfrm>
            <a:off x="6096000" y="1825625"/>
            <a:ext cx="3411941" cy="532263"/>
          </a:xfrm>
          <a:prstGeom prst="roundRect">
            <a:avLst/>
          </a:prstGeom>
          <a:solidFill>
            <a:schemeClr val="tx1"/>
          </a:solid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dirty="0">
                <a:latin typeface="Consolas" panose="020B0609020204030204" pitchFamily="49" charset="0"/>
                <a:cs typeface="Consolas" panose="020B0609020204030204" pitchFamily="49" charset="0"/>
              </a:rPr>
              <a:t>$ </a:t>
            </a:r>
            <a:r>
              <a:rPr kumimoji="1" lang="en-US" altLang="ja-JP" dirty="0" err="1">
                <a:latin typeface="Consolas" panose="020B0609020204030204" pitchFamily="49" charset="0"/>
                <a:cs typeface="Consolas" panose="020B0609020204030204" pitchFamily="49" charset="0"/>
              </a:rPr>
              <a:t>somecommand</a:t>
            </a:r>
            <a:endParaRPr kumimoji="1" lang="ja-JP" altLang="en-US">
              <a:latin typeface="Consolas" panose="020B0609020204030204" pitchFamily="49" charset="0"/>
              <a:cs typeface="Consolas" panose="020B0609020204030204" pitchFamily="49" charset="0"/>
            </a:endParaRPr>
          </a:p>
        </p:txBody>
      </p:sp>
      <p:sp>
        <p:nvSpPr>
          <p:cNvPr id="8" name="テキスト ボックス 7">
            <a:extLst>
              <a:ext uri="{FF2B5EF4-FFF2-40B4-BE49-F238E27FC236}">
                <a16:creationId xmlns:a16="http://schemas.microsoft.com/office/drawing/2014/main" id="{04E88E5F-CEBB-5BAD-2D09-4056EE4EA87D}"/>
              </a:ext>
            </a:extLst>
          </p:cNvPr>
          <p:cNvSpPr txBox="1"/>
          <p:nvPr/>
        </p:nvSpPr>
        <p:spPr>
          <a:xfrm>
            <a:off x="838200" y="2564929"/>
            <a:ext cx="3550972" cy="584775"/>
          </a:xfrm>
          <a:prstGeom prst="rect">
            <a:avLst/>
          </a:prstGeom>
          <a:noFill/>
        </p:spPr>
        <p:txBody>
          <a:bodyPr wrap="none" rtlCol="0">
            <a:spAutoFit/>
          </a:bodyPr>
          <a:lstStyle/>
          <a:p>
            <a:r>
              <a:rPr kumimoji="1" lang="en-US" altLang="ja-JP" sz="3200" dirty="0">
                <a:latin typeface="Consolas" panose="020B0609020204030204" pitchFamily="49" charset="0"/>
                <a:ea typeface="Meiryo" panose="020B0604030504040204" pitchFamily="34" charset="-128"/>
                <a:cs typeface="Consolas" panose="020B0609020204030204" pitchFamily="49" charset="0"/>
              </a:rPr>
              <a:t>root</a:t>
            </a:r>
            <a:r>
              <a:rPr kumimoji="1" lang="ja-JP" altLang="en-US" sz="3200">
                <a:latin typeface="Meiryo" panose="020B0604030504040204" pitchFamily="34" charset="-128"/>
                <a:ea typeface="Meiryo" panose="020B0604030504040204" pitchFamily="34" charset="-128"/>
              </a:rPr>
              <a:t>で実行する．</a:t>
            </a:r>
          </a:p>
        </p:txBody>
      </p:sp>
      <p:sp>
        <p:nvSpPr>
          <p:cNvPr id="9" name="テキスト ボックス 8">
            <a:extLst>
              <a:ext uri="{FF2B5EF4-FFF2-40B4-BE49-F238E27FC236}">
                <a16:creationId xmlns:a16="http://schemas.microsoft.com/office/drawing/2014/main" id="{86063140-9814-D2CE-50EE-17F61E41E7D4}"/>
              </a:ext>
            </a:extLst>
          </p:cNvPr>
          <p:cNvSpPr txBox="1"/>
          <p:nvPr/>
        </p:nvSpPr>
        <p:spPr>
          <a:xfrm>
            <a:off x="6096000" y="2564929"/>
            <a:ext cx="4698722" cy="584775"/>
          </a:xfrm>
          <a:prstGeom prst="rect">
            <a:avLst/>
          </a:prstGeom>
          <a:noFill/>
        </p:spPr>
        <p:txBody>
          <a:bodyPr wrap="none" rtlCol="0">
            <a:spAutoFit/>
          </a:bodyPr>
          <a:lstStyle/>
          <a:p>
            <a:r>
              <a:rPr kumimoji="1" lang="ja-JP" altLang="en-US" sz="3200">
                <a:latin typeface="Meiryo" panose="020B0604030504040204" pitchFamily="34" charset="-128"/>
                <a:ea typeface="Meiryo" panose="020B0604030504040204" pitchFamily="34" charset="-128"/>
              </a:rPr>
              <a:t>一般ユーザで実行する．</a:t>
            </a:r>
          </a:p>
        </p:txBody>
      </p:sp>
      <p:sp>
        <p:nvSpPr>
          <p:cNvPr id="10" name="テキスト ボックス 9">
            <a:extLst>
              <a:ext uri="{FF2B5EF4-FFF2-40B4-BE49-F238E27FC236}">
                <a16:creationId xmlns:a16="http://schemas.microsoft.com/office/drawing/2014/main" id="{742F4D8D-EE32-AD8D-E6DD-7AA95F69A3BB}"/>
              </a:ext>
            </a:extLst>
          </p:cNvPr>
          <p:cNvSpPr txBox="1"/>
          <p:nvPr/>
        </p:nvSpPr>
        <p:spPr>
          <a:xfrm>
            <a:off x="838200" y="3149704"/>
            <a:ext cx="11080277" cy="584775"/>
          </a:xfrm>
          <a:prstGeom prst="rect">
            <a:avLst/>
          </a:prstGeom>
          <a:noFill/>
        </p:spPr>
        <p:txBody>
          <a:bodyPr wrap="none" rtlCol="0">
            <a:spAutoFit/>
          </a:bodyPr>
          <a:lstStyle/>
          <a:p>
            <a:r>
              <a:rPr kumimoji="1" lang="ja-JP" altLang="en-US" sz="3200">
                <a:latin typeface="Consolas" panose="020B0609020204030204" pitchFamily="49" charset="0"/>
                <a:ea typeface="Meiryo" panose="020B0604030504040204" pitchFamily="34" charset="-128"/>
                <a:cs typeface="Consolas" panose="020B0609020204030204" pitchFamily="49" charset="0"/>
              </a:rPr>
              <a:t>ただし，</a:t>
            </a:r>
            <a:r>
              <a:rPr kumimoji="1" lang="en-US" altLang="ja-JP" sz="3200" dirty="0">
                <a:latin typeface="Consolas" panose="020B0609020204030204" pitchFamily="49" charset="0"/>
                <a:ea typeface="Meiryo" panose="020B0604030504040204" pitchFamily="34" charset="-128"/>
                <a:cs typeface="Consolas" panose="020B0609020204030204" pitchFamily="49" charset="0"/>
              </a:rPr>
              <a:t>#</a:t>
            </a:r>
            <a:r>
              <a:rPr kumimoji="1" lang="ja-JP" altLang="en-US" sz="3200">
                <a:latin typeface="Consolas" panose="020B0609020204030204" pitchFamily="49" charset="0"/>
                <a:ea typeface="Meiryo" panose="020B0604030504040204" pitchFamily="34" charset="-128"/>
                <a:cs typeface="Consolas" panose="020B0609020204030204" pitchFamily="49" charset="0"/>
              </a:rPr>
              <a:t>はコメントとしても利用される点に注意が必要．</a:t>
            </a:r>
            <a:endParaRPr kumimoji="1" lang="ja-JP" altLang="en-US" sz="32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978212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dissolv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dissolve">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CC9B75-E5F8-32AE-E5BA-040E92141071}"/>
              </a:ext>
            </a:extLst>
          </p:cNvPr>
          <p:cNvSpPr>
            <a:spLocks noGrp="1"/>
          </p:cNvSpPr>
          <p:nvPr>
            <p:ph type="title"/>
          </p:nvPr>
        </p:nvSpPr>
        <p:spPr/>
        <p:txBody>
          <a:bodyPr/>
          <a:lstStyle/>
          <a:p>
            <a:r>
              <a:rPr lang="en-US" altLang="ja-JP" dirty="0"/>
              <a:t>Usage</a:t>
            </a:r>
            <a:r>
              <a:rPr lang="ja-JP" altLang="en-US"/>
              <a:t>を改良する．</a:t>
            </a:r>
            <a:endParaRPr kumimoji="1" lang="ja-JP" altLang="en-US"/>
          </a:p>
        </p:txBody>
      </p:sp>
      <p:sp>
        <p:nvSpPr>
          <p:cNvPr id="3" name="コンテンツ プレースホルダー 2">
            <a:extLst>
              <a:ext uri="{FF2B5EF4-FFF2-40B4-BE49-F238E27FC236}">
                <a16:creationId xmlns:a16="http://schemas.microsoft.com/office/drawing/2014/main" id="{C590F094-4135-527A-1F27-843BC7A04C2F}"/>
              </a:ext>
            </a:extLst>
          </p:cNvPr>
          <p:cNvSpPr>
            <a:spLocks noGrp="1"/>
          </p:cNvSpPr>
          <p:nvPr>
            <p:ph idx="1"/>
          </p:nvPr>
        </p:nvSpPr>
        <p:spPr>
          <a:xfrm>
            <a:off x="838200" y="1825625"/>
            <a:ext cx="7759633" cy="4351338"/>
          </a:xfrm>
        </p:spPr>
        <p:txBody>
          <a:bodyPr/>
          <a:lstStyle/>
          <a:p>
            <a:pPr>
              <a:lnSpc>
                <a:spcPct val="100000"/>
              </a:lnSpc>
            </a:pPr>
            <a:r>
              <a:rPr kumimoji="1" lang="ja-JP" altLang="en-US"/>
              <a:t>必要なもの</a:t>
            </a:r>
            <a:endParaRPr kumimoji="1" lang="en-US" altLang="ja-JP" dirty="0"/>
          </a:p>
          <a:p>
            <a:pPr lvl="1">
              <a:lnSpc>
                <a:spcPct val="100000"/>
              </a:lnSpc>
            </a:pPr>
            <a:r>
              <a:rPr lang="ja-JP" altLang="en-US"/>
              <a:t>以下の哲学への理解．</a:t>
            </a:r>
            <a:endParaRPr kumimoji="1" lang="en-US" altLang="ja-JP" dirty="0"/>
          </a:p>
          <a:p>
            <a:pPr lvl="2">
              <a:lnSpc>
                <a:spcPct val="100000"/>
              </a:lnSpc>
            </a:pPr>
            <a:r>
              <a:rPr kumimoji="1" lang="en-US" altLang="ja-JP" dirty="0"/>
              <a:t>UNIX</a:t>
            </a:r>
            <a:r>
              <a:rPr kumimoji="1" lang="ja-JP" altLang="en-US"/>
              <a:t>という考え方</a:t>
            </a:r>
            <a:endParaRPr kumimoji="1" lang="en-US" altLang="ja-JP" dirty="0"/>
          </a:p>
          <a:p>
            <a:pPr lvl="2">
              <a:lnSpc>
                <a:spcPct val="100000"/>
              </a:lnSpc>
            </a:pPr>
            <a:r>
              <a:rPr lang="en-US" altLang="ja-JP" dirty="0"/>
              <a:t>Command line interface guideline</a:t>
            </a:r>
          </a:p>
        </p:txBody>
      </p:sp>
      <p:grpSp>
        <p:nvGrpSpPr>
          <p:cNvPr id="7" name="グループ化 6">
            <a:extLst>
              <a:ext uri="{FF2B5EF4-FFF2-40B4-BE49-F238E27FC236}">
                <a16:creationId xmlns:a16="http://schemas.microsoft.com/office/drawing/2014/main" id="{FFDDE7EC-E218-96DA-60C1-035E611247E9}"/>
              </a:ext>
            </a:extLst>
          </p:cNvPr>
          <p:cNvGrpSpPr>
            <a:grpSpLocks noChangeAspect="1"/>
          </p:cNvGrpSpPr>
          <p:nvPr/>
        </p:nvGrpSpPr>
        <p:grpSpPr>
          <a:xfrm>
            <a:off x="8597834" y="3757984"/>
            <a:ext cx="2755966" cy="1894318"/>
            <a:chOff x="7652657" y="1316830"/>
            <a:chExt cx="3701143" cy="2543987"/>
          </a:xfrm>
        </p:grpSpPr>
        <p:pic>
          <p:nvPicPr>
            <p:cNvPr id="5" name="図 4" descr="テキスト&#10;&#10;自動的に生成された説明">
              <a:extLst>
                <a:ext uri="{FF2B5EF4-FFF2-40B4-BE49-F238E27FC236}">
                  <a16:creationId xmlns:a16="http://schemas.microsoft.com/office/drawing/2014/main" id="{1D3B0D6F-2F7E-5F1C-6B3D-34BBF7BA6239}"/>
                </a:ext>
              </a:extLst>
            </p:cNvPr>
            <p:cNvPicPr>
              <a:picLocks noChangeAspect="1"/>
            </p:cNvPicPr>
            <p:nvPr/>
          </p:nvPicPr>
          <p:blipFill>
            <a:blip r:embed="rId2"/>
            <a:stretch>
              <a:fillRect/>
            </a:stretch>
          </p:blipFill>
          <p:spPr>
            <a:xfrm>
              <a:off x="7652657" y="1316830"/>
              <a:ext cx="3701143" cy="2047990"/>
            </a:xfrm>
            <a:prstGeom prst="rect">
              <a:avLst/>
            </a:prstGeom>
          </p:spPr>
        </p:pic>
        <p:sp>
          <p:nvSpPr>
            <p:cNvPr id="6" name="テキスト ボックス 5">
              <a:extLst>
                <a:ext uri="{FF2B5EF4-FFF2-40B4-BE49-F238E27FC236}">
                  <a16:creationId xmlns:a16="http://schemas.microsoft.com/office/drawing/2014/main" id="{08FD7866-F5B9-798D-7CDF-D26C102560A8}"/>
                </a:ext>
              </a:extLst>
            </p:cNvPr>
            <p:cNvSpPr txBox="1"/>
            <p:nvPr/>
          </p:nvSpPr>
          <p:spPr>
            <a:xfrm>
              <a:off x="7933648" y="3364820"/>
              <a:ext cx="3139160" cy="495997"/>
            </a:xfrm>
            <a:prstGeom prst="rect">
              <a:avLst/>
            </a:prstGeom>
            <a:noFill/>
          </p:spPr>
          <p:txBody>
            <a:bodyPr wrap="none" rtlCol="0">
              <a:spAutoFit/>
            </a:bodyPr>
            <a:lstStyle/>
            <a:p>
              <a:pPr algn="ctr"/>
              <a:r>
                <a:rPr lang="en" altLang="ja-JP" dirty="0">
                  <a:latin typeface="Consolas" panose="020B0609020204030204" pitchFamily="49" charset="0"/>
                  <a:cs typeface="Consolas" panose="020B0609020204030204" pitchFamily="49" charset="0"/>
                  <a:hlinkClick r:id="rId3"/>
                </a:rPr>
                <a:t>https://</a:t>
              </a:r>
              <a:r>
                <a:rPr lang="en" altLang="ja-JP" dirty="0" err="1">
                  <a:latin typeface="Consolas" panose="020B0609020204030204" pitchFamily="49" charset="0"/>
                  <a:cs typeface="Consolas" panose="020B0609020204030204" pitchFamily="49" charset="0"/>
                  <a:hlinkClick r:id="rId3"/>
                </a:rPr>
                <a:t>clig.dev</a:t>
              </a:r>
              <a:r>
                <a:rPr lang="en" altLang="ja-JP" dirty="0">
                  <a:latin typeface="Consolas" panose="020B0609020204030204" pitchFamily="49" charset="0"/>
                  <a:cs typeface="Consolas" panose="020B0609020204030204" pitchFamily="49" charset="0"/>
                  <a:hlinkClick r:id="rId3"/>
                </a:rPr>
                <a:t>/</a:t>
              </a:r>
              <a:endParaRPr kumimoji="1" lang="ja-JP" altLang="en-US">
                <a:latin typeface="Consolas" panose="020B0609020204030204" pitchFamily="49" charset="0"/>
                <a:cs typeface="Consolas" panose="020B0609020204030204" pitchFamily="49" charset="0"/>
              </a:endParaRPr>
            </a:p>
          </p:txBody>
        </p:sp>
      </p:grpSp>
      <p:pic>
        <p:nvPicPr>
          <p:cNvPr id="9" name="図 8" descr="テキスト&#10;&#10;自動的に生成された説明">
            <a:extLst>
              <a:ext uri="{FF2B5EF4-FFF2-40B4-BE49-F238E27FC236}">
                <a16:creationId xmlns:a16="http://schemas.microsoft.com/office/drawing/2014/main" id="{2CE86D6D-78D2-0B74-6815-ED08AD654244}"/>
              </a:ext>
            </a:extLst>
          </p:cNvPr>
          <p:cNvPicPr>
            <a:picLocks noChangeAspect="1"/>
          </p:cNvPicPr>
          <p:nvPr/>
        </p:nvPicPr>
        <p:blipFill>
          <a:blip r:embed="rId4"/>
          <a:stretch>
            <a:fillRect/>
          </a:stretch>
        </p:blipFill>
        <p:spPr>
          <a:xfrm>
            <a:off x="9332959" y="1635134"/>
            <a:ext cx="1285714" cy="1800000"/>
          </a:xfrm>
          <a:prstGeom prst="rect">
            <a:avLst/>
          </a:prstGeom>
        </p:spPr>
      </p:pic>
      <p:sp>
        <p:nvSpPr>
          <p:cNvPr id="10" name="日付プレースホルダー 9">
            <a:extLst>
              <a:ext uri="{FF2B5EF4-FFF2-40B4-BE49-F238E27FC236}">
                <a16:creationId xmlns:a16="http://schemas.microsoft.com/office/drawing/2014/main" id="{7931ADDA-2D41-8C50-B39B-BD5ECB456E5A}"/>
              </a:ext>
            </a:extLst>
          </p:cNvPr>
          <p:cNvSpPr>
            <a:spLocks noGrp="1"/>
          </p:cNvSpPr>
          <p:nvPr>
            <p:ph type="dt" sz="half" idx="10"/>
          </p:nvPr>
        </p:nvSpPr>
        <p:spPr/>
        <p:txBody>
          <a:bodyPr/>
          <a:lstStyle/>
          <a:p>
            <a:r>
              <a:rPr kumimoji="1" lang="en-US" altLang="ja-JP"/>
              <a:t>2026-04-17</a:t>
            </a:r>
            <a:endParaRPr kumimoji="1" lang="ja-JP" altLang="en-US"/>
          </a:p>
        </p:txBody>
      </p:sp>
      <p:sp>
        <p:nvSpPr>
          <p:cNvPr id="11" name="スライド番号プレースホルダー 10">
            <a:extLst>
              <a:ext uri="{FF2B5EF4-FFF2-40B4-BE49-F238E27FC236}">
                <a16:creationId xmlns:a16="http://schemas.microsoft.com/office/drawing/2014/main" id="{805C69D9-E586-BFA4-9D25-8C0D33115CB7}"/>
              </a:ext>
            </a:extLst>
          </p:cNvPr>
          <p:cNvSpPr>
            <a:spLocks noGrp="1"/>
          </p:cNvSpPr>
          <p:nvPr>
            <p:ph type="sldNum" sz="quarter" idx="12"/>
          </p:nvPr>
        </p:nvSpPr>
        <p:spPr/>
        <p:txBody>
          <a:bodyPr/>
          <a:lstStyle/>
          <a:p>
            <a:fld id="{0B8845E4-5C92-A046-BB66-E5D9CC995B08}" type="slidenum">
              <a:rPr kumimoji="1" lang="ja-JP" altLang="en-US" smtClean="0"/>
              <a:t>7</a:t>
            </a:fld>
            <a:endParaRPr kumimoji="1" lang="ja-JP" altLang="en-US"/>
          </a:p>
        </p:txBody>
      </p:sp>
    </p:spTree>
    <p:extLst>
      <p:ext uri="{BB962C8B-B14F-4D97-AF65-F5344CB8AC3E}">
        <p14:creationId xmlns:p14="http://schemas.microsoft.com/office/powerpoint/2010/main" val="2830989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138E3D-FF0A-CC00-0C9B-D1AC5E1326AE}"/>
              </a:ext>
            </a:extLst>
          </p:cNvPr>
          <p:cNvSpPr>
            <a:spLocks noGrp="1"/>
          </p:cNvSpPr>
          <p:nvPr>
            <p:ph type="title"/>
          </p:nvPr>
        </p:nvSpPr>
        <p:spPr/>
        <p:txBody>
          <a:bodyPr/>
          <a:lstStyle/>
          <a:p>
            <a:r>
              <a:rPr kumimoji="1" lang="en-US" altLang="ja-JP" dirty="0"/>
              <a:t>UNIX</a:t>
            </a:r>
            <a:r>
              <a:rPr kumimoji="1" lang="ja-JP" altLang="en-US"/>
              <a:t>という考え方</a:t>
            </a:r>
          </a:p>
        </p:txBody>
      </p:sp>
      <p:sp>
        <p:nvSpPr>
          <p:cNvPr id="3" name="コンテンツ プレースホルダー 2">
            <a:extLst>
              <a:ext uri="{FF2B5EF4-FFF2-40B4-BE49-F238E27FC236}">
                <a16:creationId xmlns:a16="http://schemas.microsoft.com/office/drawing/2014/main" id="{1AE53B80-D042-AAED-0945-626A84E58B53}"/>
              </a:ext>
            </a:extLst>
          </p:cNvPr>
          <p:cNvSpPr>
            <a:spLocks noGrp="1"/>
          </p:cNvSpPr>
          <p:nvPr>
            <p:ph idx="1"/>
          </p:nvPr>
        </p:nvSpPr>
        <p:spPr>
          <a:xfrm>
            <a:off x="838200" y="1825624"/>
            <a:ext cx="10515600" cy="4530725"/>
          </a:xfrm>
        </p:spPr>
        <p:txBody>
          <a:bodyPr numCol="2">
            <a:normAutofit fontScale="62500" lnSpcReduction="20000"/>
          </a:bodyPr>
          <a:lstStyle/>
          <a:p>
            <a:pPr marL="742950" indent="-742950">
              <a:lnSpc>
                <a:spcPct val="120000"/>
              </a:lnSpc>
              <a:buFont typeface="+mj-lt"/>
              <a:buAutoNum type="arabicPeriod"/>
            </a:pPr>
            <a:r>
              <a:rPr kumimoji="1" lang="en-US" altLang="ja-JP" dirty="0"/>
              <a:t>Small is Beautiful.</a:t>
            </a:r>
          </a:p>
          <a:p>
            <a:pPr marL="742950" indent="-742950">
              <a:lnSpc>
                <a:spcPct val="120000"/>
              </a:lnSpc>
              <a:buFont typeface="+mj-lt"/>
              <a:buAutoNum type="arabicPeriod"/>
            </a:pPr>
            <a:r>
              <a:rPr lang="ja-JP" altLang="en-US"/>
              <a:t>一つのプログラムには一つのことをうまくやらせる．</a:t>
            </a:r>
            <a:endParaRPr lang="en-US" altLang="ja-JP" dirty="0"/>
          </a:p>
          <a:p>
            <a:pPr marL="742950" indent="-742950">
              <a:lnSpc>
                <a:spcPct val="120000"/>
              </a:lnSpc>
              <a:buFont typeface="+mj-lt"/>
              <a:buAutoNum type="arabicPeriod"/>
            </a:pPr>
            <a:r>
              <a:rPr kumimoji="1" lang="ja-JP" altLang="en-US"/>
              <a:t>できるだけ早く試作する．</a:t>
            </a:r>
            <a:endParaRPr kumimoji="1" lang="en-US" altLang="ja-JP" dirty="0"/>
          </a:p>
          <a:p>
            <a:pPr marL="742950" indent="-742950">
              <a:lnSpc>
                <a:spcPct val="120000"/>
              </a:lnSpc>
              <a:buFont typeface="+mj-lt"/>
              <a:buAutoNum type="arabicPeriod"/>
            </a:pPr>
            <a:r>
              <a:rPr lang="ja-JP" altLang="en-US"/>
              <a:t>効率より移植性．</a:t>
            </a:r>
            <a:endParaRPr lang="en-US" altLang="ja-JP" dirty="0"/>
          </a:p>
          <a:p>
            <a:pPr marL="742950" indent="-742950">
              <a:lnSpc>
                <a:spcPct val="120000"/>
              </a:lnSpc>
              <a:buFont typeface="+mj-lt"/>
              <a:buAutoNum type="arabicPeriod"/>
            </a:pPr>
            <a:r>
              <a:rPr kumimoji="1" lang="ja-JP" altLang="en-US"/>
              <a:t>数値データは</a:t>
            </a:r>
            <a:r>
              <a:rPr kumimoji="1" lang="en-US" altLang="ja-JP" dirty="0"/>
              <a:t>ASCII</a:t>
            </a:r>
            <a:r>
              <a:rPr kumimoji="1" lang="ja-JP" altLang="en-US"/>
              <a:t>フラットファイルに保存する．</a:t>
            </a:r>
            <a:endParaRPr kumimoji="1" lang="en-US" altLang="ja-JP" dirty="0"/>
          </a:p>
          <a:p>
            <a:pPr marL="742950" indent="-742950">
              <a:lnSpc>
                <a:spcPct val="120000"/>
              </a:lnSpc>
              <a:buFont typeface="+mj-lt"/>
              <a:buAutoNum type="arabicPeriod"/>
            </a:pPr>
            <a:r>
              <a:rPr lang="ja-JP" altLang="en-US"/>
              <a:t>ソフトウェアの梃子を有効に利用する．</a:t>
            </a:r>
            <a:endParaRPr lang="en-US" altLang="ja-JP" dirty="0"/>
          </a:p>
          <a:p>
            <a:pPr marL="742950" indent="-742950">
              <a:lnSpc>
                <a:spcPct val="120000"/>
              </a:lnSpc>
              <a:buFont typeface="+mj-lt"/>
              <a:buAutoNum type="arabicPeriod"/>
            </a:pPr>
            <a:r>
              <a:rPr kumimoji="1" lang="ja-JP" altLang="en-US"/>
              <a:t>シェルスクリプトを使うことで梃子の効果と移植性を高める．</a:t>
            </a:r>
            <a:endParaRPr kumimoji="1" lang="en-US" altLang="ja-JP" dirty="0"/>
          </a:p>
          <a:p>
            <a:pPr marL="742950" indent="-742950">
              <a:lnSpc>
                <a:spcPct val="120000"/>
              </a:lnSpc>
              <a:buFont typeface="+mj-lt"/>
              <a:buAutoNum type="arabicPeriod"/>
            </a:pPr>
            <a:r>
              <a:rPr kumimoji="1" lang="ja-JP" altLang="en-US"/>
              <a:t>過度の対話的インターフェースを避ける．</a:t>
            </a:r>
            <a:endParaRPr kumimoji="1" lang="en-US" altLang="ja-JP" dirty="0"/>
          </a:p>
          <a:p>
            <a:pPr marL="742950" indent="-742950">
              <a:lnSpc>
                <a:spcPct val="120000"/>
              </a:lnSpc>
              <a:buFont typeface="+mj-lt"/>
              <a:buAutoNum type="arabicPeriod"/>
            </a:pPr>
            <a:r>
              <a:rPr lang="ja-JP" altLang="en-US"/>
              <a:t>すべてのプログラムをフィルタにする．</a:t>
            </a:r>
            <a:endParaRPr kumimoji="1" lang="ja-JP" altLang="en-US"/>
          </a:p>
        </p:txBody>
      </p:sp>
      <p:sp>
        <p:nvSpPr>
          <p:cNvPr id="5" name="日付プレースホルダー 4">
            <a:extLst>
              <a:ext uri="{FF2B5EF4-FFF2-40B4-BE49-F238E27FC236}">
                <a16:creationId xmlns:a16="http://schemas.microsoft.com/office/drawing/2014/main" id="{6EABA2C5-756C-7B7C-7C61-569A40D13E89}"/>
              </a:ext>
            </a:extLst>
          </p:cNvPr>
          <p:cNvSpPr>
            <a:spLocks noGrp="1"/>
          </p:cNvSpPr>
          <p:nvPr>
            <p:ph type="dt" sz="half" idx="10"/>
          </p:nvPr>
        </p:nvSpPr>
        <p:spPr/>
        <p:txBody>
          <a:bodyPr/>
          <a:lstStyle/>
          <a:p>
            <a:r>
              <a:rPr kumimoji="1" lang="en-US" altLang="ja-JP"/>
              <a:t>2026-04-17</a:t>
            </a:r>
            <a:endParaRPr kumimoji="1" lang="ja-JP" altLang="en-US"/>
          </a:p>
        </p:txBody>
      </p:sp>
      <p:sp>
        <p:nvSpPr>
          <p:cNvPr id="6" name="スライド番号プレースホルダー 5">
            <a:extLst>
              <a:ext uri="{FF2B5EF4-FFF2-40B4-BE49-F238E27FC236}">
                <a16:creationId xmlns:a16="http://schemas.microsoft.com/office/drawing/2014/main" id="{DB5CED0D-F886-24F0-1736-A8FFABD27CCC}"/>
              </a:ext>
            </a:extLst>
          </p:cNvPr>
          <p:cNvSpPr>
            <a:spLocks noGrp="1"/>
          </p:cNvSpPr>
          <p:nvPr>
            <p:ph type="sldNum" sz="quarter" idx="12"/>
          </p:nvPr>
        </p:nvSpPr>
        <p:spPr/>
        <p:txBody>
          <a:bodyPr/>
          <a:lstStyle/>
          <a:p>
            <a:fld id="{0B8845E4-5C92-A046-BB66-E5D9CC995B08}" type="slidenum">
              <a:rPr kumimoji="1" lang="ja-JP" altLang="en-US" smtClean="0"/>
              <a:t>8</a:t>
            </a:fld>
            <a:endParaRPr kumimoji="1" lang="ja-JP" altLang="en-US"/>
          </a:p>
        </p:txBody>
      </p:sp>
      <p:pic>
        <p:nvPicPr>
          <p:cNvPr id="8" name="図 7" descr="テキスト&#10;&#10;自動的に生成された説明">
            <a:extLst>
              <a:ext uri="{FF2B5EF4-FFF2-40B4-BE49-F238E27FC236}">
                <a16:creationId xmlns:a16="http://schemas.microsoft.com/office/drawing/2014/main" id="{BDD5E5D1-C97A-3D56-7A28-EAE7BB795A80}"/>
              </a:ext>
            </a:extLst>
          </p:cNvPr>
          <p:cNvPicPr>
            <a:picLocks noChangeAspect="1"/>
          </p:cNvPicPr>
          <p:nvPr/>
        </p:nvPicPr>
        <p:blipFill>
          <a:blip r:embed="rId2"/>
          <a:stretch>
            <a:fillRect/>
          </a:stretch>
        </p:blipFill>
        <p:spPr>
          <a:xfrm>
            <a:off x="8500546" y="0"/>
            <a:ext cx="1157143" cy="1620000"/>
          </a:xfrm>
          <a:prstGeom prst="rect">
            <a:avLst/>
          </a:prstGeom>
        </p:spPr>
      </p:pic>
    </p:spTree>
    <p:extLst>
      <p:ext uri="{BB962C8B-B14F-4D97-AF65-F5344CB8AC3E}">
        <p14:creationId xmlns:p14="http://schemas.microsoft.com/office/powerpoint/2010/main" val="21005612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138E3D-FF0A-CC00-0C9B-D1AC5E1326AE}"/>
              </a:ext>
            </a:extLst>
          </p:cNvPr>
          <p:cNvSpPr>
            <a:spLocks noGrp="1"/>
          </p:cNvSpPr>
          <p:nvPr>
            <p:ph type="title"/>
          </p:nvPr>
        </p:nvSpPr>
        <p:spPr/>
        <p:txBody>
          <a:bodyPr/>
          <a:lstStyle/>
          <a:p>
            <a:r>
              <a:rPr kumimoji="1" lang="en-US" altLang="ja-JP" dirty="0"/>
              <a:t>UNIX</a:t>
            </a:r>
            <a:r>
              <a:rPr kumimoji="1" lang="ja-JP" altLang="en-US"/>
              <a:t>という考え方</a:t>
            </a:r>
          </a:p>
        </p:txBody>
      </p:sp>
      <p:pic>
        <p:nvPicPr>
          <p:cNvPr id="4" name="図 3" descr="テキスト&#10;&#10;自動的に生成された説明">
            <a:extLst>
              <a:ext uri="{FF2B5EF4-FFF2-40B4-BE49-F238E27FC236}">
                <a16:creationId xmlns:a16="http://schemas.microsoft.com/office/drawing/2014/main" id="{C4B9947E-B05D-90CF-F4E3-612F21DA0DA4}"/>
              </a:ext>
            </a:extLst>
          </p:cNvPr>
          <p:cNvPicPr>
            <a:picLocks noChangeAspect="1"/>
          </p:cNvPicPr>
          <p:nvPr/>
        </p:nvPicPr>
        <p:blipFill>
          <a:blip r:embed="rId3"/>
          <a:stretch>
            <a:fillRect/>
          </a:stretch>
        </p:blipFill>
        <p:spPr>
          <a:xfrm>
            <a:off x="8500546" y="0"/>
            <a:ext cx="1157143" cy="1620000"/>
          </a:xfrm>
          <a:prstGeom prst="rect">
            <a:avLst/>
          </a:prstGeom>
        </p:spPr>
      </p:pic>
      <p:sp>
        <p:nvSpPr>
          <p:cNvPr id="5" name="日付プレースホルダー 4">
            <a:extLst>
              <a:ext uri="{FF2B5EF4-FFF2-40B4-BE49-F238E27FC236}">
                <a16:creationId xmlns:a16="http://schemas.microsoft.com/office/drawing/2014/main" id="{6EABA2C5-756C-7B7C-7C61-569A40D13E89}"/>
              </a:ext>
            </a:extLst>
          </p:cNvPr>
          <p:cNvSpPr>
            <a:spLocks noGrp="1"/>
          </p:cNvSpPr>
          <p:nvPr>
            <p:ph type="dt" sz="half" idx="10"/>
          </p:nvPr>
        </p:nvSpPr>
        <p:spPr/>
        <p:txBody>
          <a:bodyPr/>
          <a:lstStyle/>
          <a:p>
            <a:r>
              <a:rPr kumimoji="1" lang="en-US" altLang="ja-JP"/>
              <a:t>2026-04-17</a:t>
            </a:r>
            <a:endParaRPr kumimoji="1" lang="ja-JP" altLang="en-US"/>
          </a:p>
        </p:txBody>
      </p:sp>
      <p:sp>
        <p:nvSpPr>
          <p:cNvPr id="6" name="スライド番号プレースホルダー 5">
            <a:extLst>
              <a:ext uri="{FF2B5EF4-FFF2-40B4-BE49-F238E27FC236}">
                <a16:creationId xmlns:a16="http://schemas.microsoft.com/office/drawing/2014/main" id="{DB5CED0D-F886-24F0-1736-A8FFABD27CCC}"/>
              </a:ext>
            </a:extLst>
          </p:cNvPr>
          <p:cNvSpPr>
            <a:spLocks noGrp="1"/>
          </p:cNvSpPr>
          <p:nvPr>
            <p:ph type="sldNum" sz="quarter" idx="12"/>
          </p:nvPr>
        </p:nvSpPr>
        <p:spPr/>
        <p:txBody>
          <a:bodyPr/>
          <a:lstStyle/>
          <a:p>
            <a:fld id="{0B8845E4-5C92-A046-BB66-E5D9CC995B08}" type="slidenum">
              <a:rPr kumimoji="1" lang="ja-JP" altLang="en-US" smtClean="0"/>
              <a:t>9</a:t>
            </a:fld>
            <a:endParaRPr kumimoji="1" lang="ja-JP" altLang="en-US"/>
          </a:p>
        </p:txBody>
      </p:sp>
      <p:sp>
        <p:nvSpPr>
          <p:cNvPr id="3" name="コンテンツ プレースホルダー 2">
            <a:extLst>
              <a:ext uri="{FF2B5EF4-FFF2-40B4-BE49-F238E27FC236}">
                <a16:creationId xmlns:a16="http://schemas.microsoft.com/office/drawing/2014/main" id="{1AE53B80-D042-AAED-0945-626A84E58B53}"/>
              </a:ext>
            </a:extLst>
          </p:cNvPr>
          <p:cNvSpPr>
            <a:spLocks noGrp="1"/>
          </p:cNvSpPr>
          <p:nvPr>
            <p:ph idx="1"/>
          </p:nvPr>
        </p:nvSpPr>
        <p:spPr/>
        <p:txBody>
          <a:bodyPr numCol="2">
            <a:normAutofit fontScale="40000" lnSpcReduction="20000"/>
          </a:bodyPr>
          <a:lstStyle/>
          <a:p>
            <a:pPr marL="742950" indent="-742950">
              <a:lnSpc>
                <a:spcPct val="120000"/>
              </a:lnSpc>
              <a:buFont typeface="+mj-lt"/>
              <a:buAutoNum type="arabicPeriod"/>
            </a:pPr>
            <a:r>
              <a:rPr kumimoji="1" lang="en-US" altLang="ja-JP" dirty="0"/>
              <a:t>Simple is best</a:t>
            </a:r>
          </a:p>
          <a:p>
            <a:pPr marL="742950" indent="-742950">
              <a:lnSpc>
                <a:spcPct val="120000"/>
              </a:lnSpc>
              <a:buFont typeface="+mj-lt"/>
              <a:buAutoNum type="arabicPeriod"/>
            </a:pPr>
            <a:r>
              <a:rPr lang="ja-JP" altLang="en-US"/>
              <a:t>一つのプログラムには本当にやるべきことをうまくやらせろ．</a:t>
            </a:r>
            <a:endParaRPr lang="en-US" altLang="ja-JP" dirty="0"/>
          </a:p>
          <a:p>
            <a:pPr marL="742950" indent="-742950">
              <a:lnSpc>
                <a:spcPct val="120000"/>
              </a:lnSpc>
              <a:buFont typeface="+mj-lt"/>
              <a:buAutoNum type="arabicPeriod"/>
            </a:pPr>
            <a:r>
              <a:rPr lang="ja-JP" altLang="en-US"/>
              <a:t>できるだけ素早く何度も試作できる仕組みを作れ．</a:t>
            </a:r>
            <a:endParaRPr lang="en-US" altLang="ja-JP" dirty="0"/>
          </a:p>
          <a:p>
            <a:pPr marL="742950" indent="-742950">
              <a:lnSpc>
                <a:spcPct val="120000"/>
              </a:lnSpc>
              <a:buFont typeface="+mj-lt"/>
              <a:buAutoNum type="arabicPeriod"/>
            </a:pPr>
            <a:r>
              <a:rPr lang="ja-JP" altLang="en-US"/>
              <a:t>要件を満たす品質と高い生産性を両立させよ．</a:t>
            </a:r>
            <a:endParaRPr lang="en-US" altLang="ja-JP" dirty="0"/>
          </a:p>
          <a:p>
            <a:pPr marL="742950" indent="-742950">
              <a:lnSpc>
                <a:spcPct val="120000"/>
              </a:lnSpc>
              <a:buFont typeface="+mj-lt"/>
              <a:buAutoNum type="arabicPeriod"/>
            </a:pPr>
            <a:r>
              <a:rPr lang="ja-JP" altLang="en-US"/>
              <a:t>ファイルには標準的な形式かテキストベースの単純な形式を使用せよ．</a:t>
            </a:r>
            <a:endParaRPr lang="en-US" altLang="ja-JP" dirty="0"/>
          </a:p>
          <a:p>
            <a:pPr marL="742950" indent="-742950">
              <a:lnSpc>
                <a:spcPct val="120000"/>
              </a:lnSpc>
              <a:buFont typeface="+mj-lt"/>
              <a:buAutoNum type="arabicPeriod"/>
            </a:pPr>
            <a:r>
              <a:rPr lang="ja-JP" altLang="en-US"/>
              <a:t>多くのソフトウェアを活用して生産性を高めよ．</a:t>
            </a:r>
            <a:endParaRPr lang="en-US" altLang="ja-JP" dirty="0"/>
          </a:p>
          <a:p>
            <a:pPr marL="742950" indent="-742950">
              <a:lnSpc>
                <a:spcPct val="120000"/>
              </a:lnSpc>
              <a:buFont typeface="+mj-lt"/>
              <a:buAutoNum type="arabicPeriod"/>
            </a:pPr>
            <a:r>
              <a:rPr lang="ja-JP" altLang="en-US"/>
              <a:t>コマンドをシンプルに組み合わせるためにシェルスクリプトを活用せよ．</a:t>
            </a:r>
            <a:endParaRPr lang="en-US" altLang="ja-JP" dirty="0"/>
          </a:p>
          <a:p>
            <a:pPr marL="742950" indent="-742950">
              <a:lnSpc>
                <a:spcPct val="120000"/>
              </a:lnSpc>
              <a:buFont typeface="+mj-lt"/>
              <a:buAutoNum type="arabicPeriod"/>
            </a:pPr>
            <a:r>
              <a:rPr lang="ja-JP" altLang="en-US"/>
              <a:t>自動処理のためにコマンドには非対話的なインターフェースを持たせよ．</a:t>
            </a:r>
            <a:endParaRPr lang="en-US" altLang="ja-JP" dirty="0"/>
          </a:p>
          <a:p>
            <a:pPr marL="742950" indent="-742950">
              <a:lnSpc>
                <a:spcPct val="120000"/>
              </a:lnSpc>
              <a:buFont typeface="+mj-lt"/>
              <a:buAutoNum type="arabicPeriod"/>
            </a:pPr>
            <a:r>
              <a:rPr lang="ja-JP" altLang="en-US"/>
              <a:t>データを処理するプログラムは可能な限りフィルタにせよ．</a:t>
            </a:r>
            <a:endParaRPr lang="en-US" altLang="ja-JP" dirty="0"/>
          </a:p>
          <a:p>
            <a:pPr marL="742950" indent="-742950">
              <a:lnSpc>
                <a:spcPct val="120000"/>
              </a:lnSpc>
              <a:buFont typeface="+mj-lt"/>
              <a:buAutoNum type="arabicPeriod"/>
            </a:pPr>
            <a:endParaRPr lang="en-US" altLang="ja-JP" dirty="0"/>
          </a:p>
          <a:p>
            <a:pPr marL="742950" indent="-742950">
              <a:lnSpc>
                <a:spcPct val="120000"/>
              </a:lnSpc>
              <a:buFont typeface="+mj-lt"/>
              <a:buAutoNum type="arabicPeriod"/>
            </a:pPr>
            <a:endParaRPr lang="en-US" altLang="ja-JP" dirty="0"/>
          </a:p>
          <a:p>
            <a:pPr marL="742950" indent="-742950">
              <a:lnSpc>
                <a:spcPct val="120000"/>
              </a:lnSpc>
              <a:buFont typeface="+mj-lt"/>
              <a:buAutoNum type="arabicPeriod"/>
            </a:pPr>
            <a:endParaRPr lang="en-US" altLang="ja-JP" dirty="0"/>
          </a:p>
          <a:p>
            <a:pPr marL="742950" indent="-742950">
              <a:lnSpc>
                <a:spcPct val="120000"/>
              </a:lnSpc>
              <a:buFont typeface="+mj-lt"/>
              <a:buAutoNum type="arabicPeriod"/>
            </a:pPr>
            <a:endParaRPr lang="en-US" altLang="ja-JP" dirty="0"/>
          </a:p>
          <a:p>
            <a:pPr marL="742950" indent="-742950">
              <a:lnSpc>
                <a:spcPct val="120000"/>
              </a:lnSpc>
              <a:buFont typeface="+mj-lt"/>
              <a:buAutoNum type="arabicPeriod"/>
            </a:pPr>
            <a:r>
              <a:rPr lang="en-US" altLang="ja-JP" dirty="0"/>
              <a:t> </a:t>
            </a:r>
          </a:p>
        </p:txBody>
      </p:sp>
      <p:sp>
        <p:nvSpPr>
          <p:cNvPr id="9" name="テキスト ボックス 8">
            <a:extLst>
              <a:ext uri="{FF2B5EF4-FFF2-40B4-BE49-F238E27FC236}">
                <a16:creationId xmlns:a16="http://schemas.microsoft.com/office/drawing/2014/main" id="{BB3A7ACD-8702-E54B-F074-98B12DCABB01}"/>
              </a:ext>
            </a:extLst>
          </p:cNvPr>
          <p:cNvSpPr txBox="1"/>
          <p:nvPr/>
        </p:nvSpPr>
        <p:spPr>
          <a:xfrm>
            <a:off x="2514600" y="5934670"/>
            <a:ext cx="3581400" cy="923330"/>
          </a:xfrm>
          <a:prstGeom prst="rect">
            <a:avLst/>
          </a:prstGeom>
          <a:noFill/>
        </p:spPr>
        <p:txBody>
          <a:bodyPr wrap="square">
            <a:spAutoFit/>
          </a:bodyPr>
          <a:lstStyle/>
          <a:p>
            <a:r>
              <a:rPr lang="ja-JP" altLang="en-US">
                <a:latin typeface="Meiryo" panose="020B0604030504040204" pitchFamily="34" charset="-128"/>
                <a:ea typeface="Meiryo" panose="020B0604030504040204" pitchFamily="34" charset="-128"/>
                <a:hlinkClick r:id="rId4"/>
              </a:rPr>
              <a:t>シェルスクリプトを学ぶ人のための「新しい</a:t>
            </a:r>
            <a:r>
              <a:rPr lang="en" altLang="ja-JP" dirty="0">
                <a:latin typeface="Meiryo" panose="020B0604030504040204" pitchFamily="34" charset="-128"/>
                <a:ea typeface="Meiryo" panose="020B0604030504040204" pitchFamily="34" charset="-128"/>
                <a:hlinkClick r:id="rId4"/>
              </a:rPr>
              <a:t>UNIX</a:t>
            </a:r>
            <a:r>
              <a:rPr lang="ja-JP" altLang="en-US">
                <a:latin typeface="Meiryo" panose="020B0604030504040204" pitchFamily="34" charset="-128"/>
                <a:ea typeface="Meiryo" panose="020B0604030504040204" pitchFamily="34" charset="-128"/>
                <a:hlinkClick r:id="rId4"/>
              </a:rPr>
              <a:t>哲学」 </a:t>
            </a:r>
            <a:r>
              <a:rPr lang="en-US" altLang="ja-JP" dirty="0">
                <a:latin typeface="Meiryo" panose="020B0604030504040204" pitchFamily="34" charset="-128"/>
                <a:ea typeface="Meiryo" panose="020B0604030504040204" pitchFamily="34" charset="-128"/>
                <a:hlinkClick r:id="rId4"/>
              </a:rPr>
              <a:t>〜 </a:t>
            </a:r>
            <a:r>
              <a:rPr lang="ja-JP" altLang="en-US">
                <a:latin typeface="Meiryo" panose="020B0604030504040204" pitchFamily="34" charset="-128"/>
                <a:ea typeface="Meiryo" panose="020B0604030504040204" pitchFamily="34" charset="-128"/>
                <a:hlinkClick r:id="rId4"/>
              </a:rPr>
              <a:t>ソフトウェアツールという考え方</a:t>
            </a:r>
            <a:endParaRPr lang="ja-JP" altLang="en-US">
              <a:latin typeface="Meiryo" panose="020B0604030504040204" pitchFamily="34" charset="-128"/>
              <a:ea typeface="Meiryo" panose="020B0604030504040204" pitchFamily="34" charset="-128"/>
            </a:endParaRPr>
          </a:p>
        </p:txBody>
      </p:sp>
      <p:pic>
        <p:nvPicPr>
          <p:cNvPr id="7" name="図 6">
            <a:extLst>
              <a:ext uri="{FF2B5EF4-FFF2-40B4-BE49-F238E27FC236}">
                <a16:creationId xmlns:a16="http://schemas.microsoft.com/office/drawing/2014/main" id="{446C95BB-8DD5-0FFC-39D7-61EFEABA4D11}"/>
              </a:ext>
            </a:extLst>
          </p:cNvPr>
          <p:cNvPicPr>
            <a:picLocks noChangeAspect="1"/>
          </p:cNvPicPr>
          <p:nvPr/>
        </p:nvPicPr>
        <p:blipFill>
          <a:blip r:embed="rId5"/>
          <a:stretch>
            <a:fillRect/>
          </a:stretch>
        </p:blipFill>
        <p:spPr>
          <a:xfrm>
            <a:off x="6096000" y="3429000"/>
            <a:ext cx="6096000" cy="3429000"/>
          </a:xfrm>
          <a:prstGeom prst="rect">
            <a:avLst/>
          </a:prstGeom>
        </p:spPr>
      </p:pic>
    </p:spTree>
    <p:extLst>
      <p:ext uri="{BB962C8B-B14F-4D97-AF65-F5344CB8AC3E}">
        <p14:creationId xmlns:p14="http://schemas.microsoft.com/office/powerpoint/2010/main" val="6320267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
                                            <p:txEl>
                                              <p:pRg st="13" end="13"/>
                                            </p:txEl>
                                          </p:spTgt>
                                        </p:tgtEl>
                                        <p:attrNameLst>
                                          <p:attrName>style.visibility</p:attrName>
                                        </p:attrNameLst>
                                      </p:cBhvr>
                                      <p:to>
                                        <p:strVal val="visible"/>
                                      </p:to>
                                    </p:set>
                                    <p:animEffect transition="in" filter="dissolve">
                                      <p:cBhvr>
                                        <p:cTn id="7"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5A65D2-416B-E8EA-9C8A-D1600FE4E43F}"/>
              </a:ext>
            </a:extLst>
          </p:cNvPr>
          <p:cNvSpPr>
            <a:spLocks noGrp="1"/>
          </p:cNvSpPr>
          <p:nvPr>
            <p:ph type="title"/>
          </p:nvPr>
        </p:nvSpPr>
        <p:spPr>
          <a:xfrm>
            <a:off x="838200" y="365125"/>
            <a:ext cx="7759634" cy="1325563"/>
          </a:xfrm>
        </p:spPr>
        <p:txBody>
          <a:bodyPr>
            <a:normAutofit fontScale="90000"/>
          </a:bodyPr>
          <a:lstStyle/>
          <a:p>
            <a:r>
              <a:rPr kumimoji="1" lang="en-US" altLang="ja-JP" dirty="0"/>
              <a:t>Command Line Interface Guidelines</a:t>
            </a:r>
            <a:endParaRPr kumimoji="1" lang="ja-JP" altLang="en-US"/>
          </a:p>
        </p:txBody>
      </p:sp>
      <p:sp>
        <p:nvSpPr>
          <p:cNvPr id="3" name="コンテンツ プレースホルダー 2">
            <a:extLst>
              <a:ext uri="{FF2B5EF4-FFF2-40B4-BE49-F238E27FC236}">
                <a16:creationId xmlns:a16="http://schemas.microsoft.com/office/drawing/2014/main" id="{19B7BA89-6361-2C34-C969-0B9F3D6C07C2}"/>
              </a:ext>
            </a:extLst>
          </p:cNvPr>
          <p:cNvSpPr>
            <a:spLocks noGrp="1"/>
          </p:cNvSpPr>
          <p:nvPr>
            <p:ph idx="1"/>
          </p:nvPr>
        </p:nvSpPr>
        <p:spPr>
          <a:xfrm>
            <a:off x="542472" y="1975065"/>
            <a:ext cx="11107057" cy="4201898"/>
          </a:xfrm>
        </p:spPr>
        <p:txBody>
          <a:bodyPr numCol="2">
            <a:normAutofit fontScale="85000" lnSpcReduction="20000"/>
          </a:bodyPr>
          <a:lstStyle/>
          <a:p>
            <a:pPr marL="742950" indent="-742950">
              <a:lnSpc>
                <a:spcPct val="110000"/>
              </a:lnSpc>
              <a:buFont typeface="+mj-lt"/>
              <a:buAutoNum type="arabicPeriod"/>
            </a:pPr>
            <a:r>
              <a:rPr kumimoji="1" lang="en-US" altLang="ja-JP" dirty="0"/>
              <a:t>Human-first design.</a:t>
            </a:r>
          </a:p>
          <a:p>
            <a:pPr marL="742950" indent="-742950">
              <a:lnSpc>
                <a:spcPct val="110000"/>
              </a:lnSpc>
              <a:buFont typeface="+mj-lt"/>
              <a:buAutoNum type="arabicPeriod"/>
            </a:pPr>
            <a:r>
              <a:rPr lang="en-US" altLang="ja-JP" dirty="0"/>
              <a:t>Simple parts that work together.</a:t>
            </a:r>
          </a:p>
          <a:p>
            <a:pPr marL="742950" indent="-742950">
              <a:lnSpc>
                <a:spcPct val="110000"/>
              </a:lnSpc>
              <a:buFont typeface="+mj-lt"/>
              <a:buAutoNum type="arabicPeriod"/>
            </a:pPr>
            <a:r>
              <a:rPr kumimoji="1" lang="en-US" altLang="ja-JP" dirty="0"/>
              <a:t>Consistency across programs.</a:t>
            </a:r>
          </a:p>
          <a:p>
            <a:pPr marL="742950" indent="-742950">
              <a:lnSpc>
                <a:spcPct val="110000"/>
              </a:lnSpc>
              <a:buFont typeface="+mj-lt"/>
              <a:buAutoNum type="arabicPeriod"/>
            </a:pPr>
            <a:r>
              <a:rPr lang="en-US" altLang="ja-JP" dirty="0"/>
              <a:t>Saying (just) enough.</a:t>
            </a:r>
          </a:p>
          <a:p>
            <a:pPr marL="742950" indent="-742950">
              <a:lnSpc>
                <a:spcPct val="110000"/>
              </a:lnSpc>
              <a:buFont typeface="+mj-lt"/>
              <a:buAutoNum type="arabicPeriod"/>
            </a:pPr>
            <a:r>
              <a:rPr lang="en-US" altLang="ja-JP" dirty="0"/>
              <a:t>Ease of discovery.</a:t>
            </a:r>
          </a:p>
          <a:p>
            <a:pPr marL="742950" indent="-742950">
              <a:lnSpc>
                <a:spcPct val="110000"/>
              </a:lnSpc>
              <a:buFont typeface="+mj-lt"/>
              <a:buAutoNum type="arabicPeriod"/>
            </a:pPr>
            <a:r>
              <a:rPr kumimoji="1" lang="en-US" altLang="ja-JP" dirty="0"/>
              <a:t>Conversion as the norm.</a:t>
            </a:r>
          </a:p>
          <a:p>
            <a:pPr marL="742950" indent="-742950">
              <a:lnSpc>
                <a:spcPct val="110000"/>
              </a:lnSpc>
              <a:buFont typeface="+mj-lt"/>
              <a:buAutoNum type="arabicPeriod"/>
            </a:pPr>
            <a:r>
              <a:rPr kumimoji="1" lang="en-US" altLang="ja-JP" dirty="0"/>
              <a:t>Robustness</a:t>
            </a:r>
            <a:r>
              <a:rPr lang="en-US" altLang="ja-JP" dirty="0"/>
              <a:t>.</a:t>
            </a:r>
          </a:p>
          <a:p>
            <a:pPr marL="742950" indent="-742950">
              <a:lnSpc>
                <a:spcPct val="110000"/>
              </a:lnSpc>
              <a:buFont typeface="+mj-lt"/>
              <a:buAutoNum type="arabicPeriod"/>
            </a:pPr>
            <a:r>
              <a:rPr lang="en-US" altLang="ja-JP" dirty="0"/>
              <a:t>Empathy.</a:t>
            </a:r>
          </a:p>
          <a:p>
            <a:pPr marL="742950" indent="-742950">
              <a:lnSpc>
                <a:spcPct val="110000"/>
              </a:lnSpc>
              <a:buFont typeface="+mj-lt"/>
              <a:buAutoNum type="arabicPeriod"/>
            </a:pPr>
            <a:r>
              <a:rPr kumimoji="1" lang="en-US" altLang="ja-JP" dirty="0"/>
              <a:t>Chaos.</a:t>
            </a:r>
          </a:p>
        </p:txBody>
      </p:sp>
      <p:grpSp>
        <p:nvGrpSpPr>
          <p:cNvPr id="4" name="グループ化 3">
            <a:extLst>
              <a:ext uri="{FF2B5EF4-FFF2-40B4-BE49-F238E27FC236}">
                <a16:creationId xmlns:a16="http://schemas.microsoft.com/office/drawing/2014/main" id="{6C550125-212E-0615-F62E-F4A1EE3709D2}"/>
              </a:ext>
            </a:extLst>
          </p:cNvPr>
          <p:cNvGrpSpPr>
            <a:grpSpLocks noChangeAspect="1"/>
          </p:cNvGrpSpPr>
          <p:nvPr/>
        </p:nvGrpSpPr>
        <p:grpSpPr>
          <a:xfrm>
            <a:off x="8597834" y="80747"/>
            <a:ext cx="2755966" cy="1894318"/>
            <a:chOff x="7652657" y="1316830"/>
            <a:chExt cx="3701143" cy="2543987"/>
          </a:xfrm>
        </p:grpSpPr>
        <p:pic>
          <p:nvPicPr>
            <p:cNvPr id="5" name="図 4" descr="テキスト&#10;&#10;自動的に生成された説明">
              <a:extLst>
                <a:ext uri="{FF2B5EF4-FFF2-40B4-BE49-F238E27FC236}">
                  <a16:creationId xmlns:a16="http://schemas.microsoft.com/office/drawing/2014/main" id="{CB91EA43-FF94-FEDB-2F25-E85732C56790}"/>
                </a:ext>
              </a:extLst>
            </p:cNvPr>
            <p:cNvPicPr>
              <a:picLocks noChangeAspect="1"/>
            </p:cNvPicPr>
            <p:nvPr/>
          </p:nvPicPr>
          <p:blipFill>
            <a:blip r:embed="rId3"/>
            <a:stretch>
              <a:fillRect/>
            </a:stretch>
          </p:blipFill>
          <p:spPr>
            <a:xfrm>
              <a:off x="7652657" y="1316830"/>
              <a:ext cx="3701143" cy="2047990"/>
            </a:xfrm>
            <a:prstGeom prst="rect">
              <a:avLst/>
            </a:prstGeom>
          </p:spPr>
        </p:pic>
        <p:sp>
          <p:nvSpPr>
            <p:cNvPr id="6" name="テキスト ボックス 5">
              <a:extLst>
                <a:ext uri="{FF2B5EF4-FFF2-40B4-BE49-F238E27FC236}">
                  <a16:creationId xmlns:a16="http://schemas.microsoft.com/office/drawing/2014/main" id="{BECFE5F0-B3D9-E01D-B87C-652E0A4243D5}"/>
                </a:ext>
              </a:extLst>
            </p:cNvPr>
            <p:cNvSpPr txBox="1"/>
            <p:nvPr/>
          </p:nvSpPr>
          <p:spPr>
            <a:xfrm>
              <a:off x="7933648" y="3364820"/>
              <a:ext cx="3139160" cy="495997"/>
            </a:xfrm>
            <a:prstGeom prst="rect">
              <a:avLst/>
            </a:prstGeom>
            <a:noFill/>
          </p:spPr>
          <p:txBody>
            <a:bodyPr wrap="none" rtlCol="0">
              <a:spAutoFit/>
            </a:bodyPr>
            <a:lstStyle/>
            <a:p>
              <a:pPr algn="ctr"/>
              <a:r>
                <a:rPr lang="en" altLang="ja-JP" dirty="0">
                  <a:latin typeface="Consolas" panose="020B0609020204030204" pitchFamily="49" charset="0"/>
                  <a:cs typeface="Consolas" panose="020B0609020204030204" pitchFamily="49" charset="0"/>
                  <a:hlinkClick r:id="rId4"/>
                </a:rPr>
                <a:t>https://</a:t>
              </a:r>
              <a:r>
                <a:rPr lang="en" altLang="ja-JP" dirty="0" err="1">
                  <a:latin typeface="Consolas" panose="020B0609020204030204" pitchFamily="49" charset="0"/>
                  <a:cs typeface="Consolas" panose="020B0609020204030204" pitchFamily="49" charset="0"/>
                  <a:hlinkClick r:id="rId4"/>
                </a:rPr>
                <a:t>clig.dev</a:t>
              </a:r>
              <a:r>
                <a:rPr lang="en" altLang="ja-JP" dirty="0">
                  <a:latin typeface="Consolas" panose="020B0609020204030204" pitchFamily="49" charset="0"/>
                  <a:cs typeface="Consolas" panose="020B0609020204030204" pitchFamily="49" charset="0"/>
                  <a:hlinkClick r:id="rId4"/>
                </a:rPr>
                <a:t>/</a:t>
              </a:r>
              <a:endParaRPr kumimoji="1" lang="ja-JP" altLang="en-US">
                <a:latin typeface="Consolas" panose="020B0609020204030204" pitchFamily="49" charset="0"/>
                <a:cs typeface="Consolas" panose="020B0609020204030204" pitchFamily="49" charset="0"/>
              </a:endParaRPr>
            </a:p>
          </p:txBody>
        </p:sp>
      </p:grpSp>
      <p:sp>
        <p:nvSpPr>
          <p:cNvPr id="7" name="日付プレースホルダー 6">
            <a:extLst>
              <a:ext uri="{FF2B5EF4-FFF2-40B4-BE49-F238E27FC236}">
                <a16:creationId xmlns:a16="http://schemas.microsoft.com/office/drawing/2014/main" id="{126364AC-B0ED-6399-A981-66BA1FB6ED49}"/>
              </a:ext>
            </a:extLst>
          </p:cNvPr>
          <p:cNvSpPr>
            <a:spLocks noGrp="1"/>
          </p:cNvSpPr>
          <p:nvPr>
            <p:ph type="dt" sz="half" idx="10"/>
          </p:nvPr>
        </p:nvSpPr>
        <p:spPr/>
        <p:txBody>
          <a:bodyPr/>
          <a:lstStyle/>
          <a:p>
            <a:r>
              <a:rPr kumimoji="1" lang="en-US" altLang="ja-JP"/>
              <a:t>2026-04-17</a:t>
            </a:r>
            <a:endParaRPr kumimoji="1" lang="ja-JP" altLang="en-US"/>
          </a:p>
        </p:txBody>
      </p:sp>
      <p:sp>
        <p:nvSpPr>
          <p:cNvPr id="8" name="スライド番号プレースホルダー 7">
            <a:extLst>
              <a:ext uri="{FF2B5EF4-FFF2-40B4-BE49-F238E27FC236}">
                <a16:creationId xmlns:a16="http://schemas.microsoft.com/office/drawing/2014/main" id="{87D2A525-88AD-BA80-F1C5-EDB7B4C18B54}"/>
              </a:ext>
            </a:extLst>
          </p:cNvPr>
          <p:cNvSpPr>
            <a:spLocks noGrp="1"/>
          </p:cNvSpPr>
          <p:nvPr>
            <p:ph type="sldNum" sz="quarter" idx="12"/>
          </p:nvPr>
        </p:nvSpPr>
        <p:spPr/>
        <p:txBody>
          <a:bodyPr/>
          <a:lstStyle/>
          <a:p>
            <a:fld id="{0B8845E4-5C92-A046-BB66-E5D9CC995B08}" type="slidenum">
              <a:rPr kumimoji="1" lang="ja-JP" altLang="en-US" smtClean="0"/>
              <a:t>10</a:t>
            </a:fld>
            <a:endParaRPr kumimoji="1" lang="ja-JP" altLang="en-US"/>
          </a:p>
        </p:txBody>
      </p:sp>
    </p:spTree>
    <p:extLst>
      <p:ext uri="{BB962C8B-B14F-4D97-AF65-F5344CB8AC3E}">
        <p14:creationId xmlns:p14="http://schemas.microsoft.com/office/powerpoint/2010/main" val="9887233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291168-FA4B-4260-148A-1D308CBFF853}"/>
              </a:ext>
            </a:extLst>
          </p:cNvPr>
          <p:cNvSpPr>
            <a:spLocks noGrp="1"/>
          </p:cNvSpPr>
          <p:nvPr>
            <p:ph type="title"/>
          </p:nvPr>
        </p:nvSpPr>
        <p:spPr/>
        <p:txBody>
          <a:bodyPr/>
          <a:lstStyle/>
          <a:p>
            <a:r>
              <a:rPr kumimoji="1" lang="en-US" altLang="ja-JP" dirty="0"/>
              <a:t>Usage</a:t>
            </a:r>
            <a:r>
              <a:rPr kumimoji="1" lang="ja-JP" altLang="en-US"/>
              <a:t>を考える</a:t>
            </a:r>
          </a:p>
        </p:txBody>
      </p:sp>
      <p:sp>
        <p:nvSpPr>
          <p:cNvPr id="3" name="コンテンツ プレースホルダー 2">
            <a:extLst>
              <a:ext uri="{FF2B5EF4-FFF2-40B4-BE49-F238E27FC236}">
                <a16:creationId xmlns:a16="http://schemas.microsoft.com/office/drawing/2014/main" id="{620EB1C2-380B-9F1E-E949-149C24885673}"/>
              </a:ext>
            </a:extLst>
          </p:cNvPr>
          <p:cNvSpPr>
            <a:spLocks noGrp="1"/>
          </p:cNvSpPr>
          <p:nvPr>
            <p:ph idx="1"/>
          </p:nvPr>
        </p:nvSpPr>
        <p:spPr/>
        <p:txBody>
          <a:bodyPr>
            <a:normAutofit fontScale="70000" lnSpcReduction="20000"/>
          </a:bodyPr>
          <a:lstStyle/>
          <a:p>
            <a:pPr>
              <a:lnSpc>
                <a:spcPct val="120000"/>
              </a:lnSpc>
            </a:pPr>
            <a:r>
              <a:rPr kumimoji="1" lang="ja-JP" altLang="en-US"/>
              <a:t>デフォルト設定（オプションなし）を考える．</a:t>
            </a:r>
            <a:endParaRPr kumimoji="1" lang="en-US" altLang="ja-JP" dirty="0"/>
          </a:p>
          <a:p>
            <a:pPr lvl="1">
              <a:lnSpc>
                <a:spcPct val="120000"/>
              </a:lnSpc>
            </a:pPr>
            <a:r>
              <a:rPr kumimoji="1" lang="ja-JP" altLang="en-US"/>
              <a:t>出力形式は人が読みやすい形式</a:t>
            </a:r>
            <a:r>
              <a:rPr kumimoji="1" lang="en-US" altLang="ja-JP" dirty="0"/>
              <a:t> or </a:t>
            </a:r>
            <a:r>
              <a:rPr kumimoji="1" lang="ja-JP" altLang="en-US"/>
              <a:t>結果をシンプルに見せる．</a:t>
            </a:r>
            <a:endParaRPr kumimoji="1" lang="en-US" altLang="ja-JP" dirty="0"/>
          </a:p>
          <a:p>
            <a:pPr>
              <a:lnSpc>
                <a:spcPct val="120000"/>
              </a:lnSpc>
            </a:pPr>
            <a:r>
              <a:rPr kumimoji="1" lang="ja-JP" altLang="en-US"/>
              <a:t>オプション</a:t>
            </a:r>
            <a:r>
              <a:rPr lang="ja-JP" altLang="en-US"/>
              <a:t>で設定できるもの</a:t>
            </a:r>
            <a:endParaRPr lang="en-US" altLang="ja-JP" dirty="0"/>
          </a:p>
          <a:p>
            <a:pPr lvl="1">
              <a:lnSpc>
                <a:spcPct val="120000"/>
              </a:lnSpc>
              <a:tabLst>
                <a:tab pos="2395538" algn="l"/>
              </a:tabLst>
            </a:pPr>
            <a:r>
              <a:rPr kumimoji="1" lang="ja-JP" altLang="en-US"/>
              <a:t>真偽値</a:t>
            </a:r>
            <a:r>
              <a:rPr lang="en-US" altLang="ja-JP" dirty="0"/>
              <a:t>	</a:t>
            </a:r>
            <a:r>
              <a:rPr lang="en-US" altLang="ja-JP" dirty="0">
                <a:latin typeface="Consolas" panose="020B0609020204030204" pitchFamily="49" charset="0"/>
                <a:cs typeface="Consolas" panose="020B0609020204030204" pitchFamily="49" charset="0"/>
              </a:rPr>
              <a:t>--enable</a:t>
            </a:r>
            <a:r>
              <a:rPr lang="en-US" altLang="ja-JP" dirty="0">
                <a:cs typeface="Consolas" panose="020B0609020204030204" pitchFamily="49" charset="0"/>
              </a:rPr>
              <a:t>,</a:t>
            </a:r>
            <a:r>
              <a:rPr lang="en-US" altLang="ja-JP" dirty="0">
                <a:latin typeface="Consolas" panose="020B0609020204030204" pitchFamily="49" charset="0"/>
                <a:cs typeface="Consolas" panose="020B0609020204030204" pitchFamily="49" charset="0"/>
              </a:rPr>
              <a:t> --verbose</a:t>
            </a:r>
            <a:endParaRPr kumimoji="1" lang="en-US" altLang="ja-JP" dirty="0">
              <a:latin typeface="Consolas" panose="020B0609020204030204" pitchFamily="49" charset="0"/>
              <a:cs typeface="Consolas" panose="020B0609020204030204" pitchFamily="49" charset="0"/>
            </a:endParaRPr>
          </a:p>
          <a:p>
            <a:pPr lvl="1">
              <a:lnSpc>
                <a:spcPct val="120000"/>
              </a:lnSpc>
              <a:tabLst>
                <a:tab pos="2395538" algn="l"/>
              </a:tabLst>
            </a:pPr>
            <a:r>
              <a:rPr lang="ja-JP" altLang="en-US"/>
              <a:t>規定値</a:t>
            </a:r>
            <a:r>
              <a:rPr lang="en-US" altLang="ja-JP" dirty="0"/>
              <a:t>	</a:t>
            </a:r>
            <a:r>
              <a:rPr lang="en-US" altLang="ja-JP" dirty="0">
                <a:latin typeface="Consolas" panose="020B0609020204030204" pitchFamily="49" charset="0"/>
                <a:cs typeface="Consolas" panose="020B0609020204030204" pitchFamily="49" charset="0"/>
              </a:rPr>
              <a:t>--format </a:t>
            </a:r>
            <a:r>
              <a:rPr lang="en-US" altLang="ja-JP" dirty="0" err="1">
                <a:latin typeface="Consolas" panose="020B0609020204030204" pitchFamily="49" charset="0"/>
                <a:cs typeface="Consolas" panose="020B0609020204030204" pitchFamily="49" charset="0"/>
              </a:rPr>
              <a:t>json</a:t>
            </a:r>
            <a:r>
              <a:rPr lang="en-US" altLang="ja-JP" dirty="0">
                <a:latin typeface="Consolas" panose="020B0609020204030204" pitchFamily="49" charset="0"/>
                <a:cs typeface="Consolas" panose="020B0609020204030204" pitchFamily="49" charset="0"/>
              </a:rPr>
              <a:t> </a:t>
            </a:r>
            <a:r>
              <a:rPr lang="ja-JP" altLang="en-US">
                <a:latin typeface="Consolas" panose="020B0609020204030204" pitchFamily="49" charset="0"/>
                <a:cs typeface="Consolas" panose="020B0609020204030204" pitchFamily="49" charset="0"/>
              </a:rPr>
              <a:t>（他に</a:t>
            </a:r>
            <a:r>
              <a:rPr lang="en-US" altLang="ja-JP" dirty="0">
                <a:latin typeface="Consolas" panose="020B0609020204030204" pitchFamily="49" charset="0"/>
                <a:cs typeface="Consolas" panose="020B0609020204030204" pitchFamily="49" charset="0"/>
              </a:rPr>
              <a:t> csv</a:t>
            </a:r>
            <a:r>
              <a:rPr lang="en-US" altLang="ja-JP" dirty="0">
                <a:cs typeface="Consolas" panose="020B0609020204030204" pitchFamily="49" charset="0"/>
              </a:rPr>
              <a:t>, </a:t>
            </a:r>
            <a:r>
              <a:rPr lang="en-US" altLang="ja-JP" dirty="0">
                <a:latin typeface="Consolas" panose="020B0609020204030204" pitchFamily="49" charset="0"/>
                <a:cs typeface="Consolas" panose="020B0609020204030204" pitchFamily="49" charset="0"/>
              </a:rPr>
              <a:t>xml</a:t>
            </a:r>
            <a:r>
              <a:rPr lang="ja-JP" altLang="en-US">
                <a:latin typeface="Consolas" panose="020B0609020204030204" pitchFamily="49" charset="0"/>
                <a:cs typeface="Consolas" panose="020B0609020204030204" pitchFamily="49" charset="0"/>
              </a:rPr>
              <a:t>など）</a:t>
            </a:r>
            <a:endParaRPr lang="en-US" altLang="ja-JP" dirty="0">
              <a:latin typeface="Consolas" panose="020B0609020204030204" pitchFamily="49" charset="0"/>
              <a:cs typeface="Consolas" panose="020B0609020204030204" pitchFamily="49" charset="0"/>
            </a:endParaRPr>
          </a:p>
          <a:p>
            <a:pPr lvl="1">
              <a:lnSpc>
                <a:spcPct val="120000"/>
              </a:lnSpc>
              <a:tabLst>
                <a:tab pos="2395538" algn="l"/>
              </a:tabLst>
            </a:pPr>
            <a:r>
              <a:rPr kumimoji="1" lang="ja-JP" altLang="en-US"/>
              <a:t>数値</a:t>
            </a:r>
            <a:r>
              <a:rPr kumimoji="1" lang="en-US" altLang="ja-JP" dirty="0"/>
              <a:t>	</a:t>
            </a:r>
            <a:r>
              <a:rPr kumimoji="1" lang="en-US" altLang="ja-JP" dirty="0">
                <a:latin typeface="Consolas" panose="020B0609020204030204" pitchFamily="49" charset="0"/>
                <a:cs typeface="Consolas" panose="020B0609020204030204" pitchFamily="49" charset="0"/>
              </a:rPr>
              <a:t>--number 10</a:t>
            </a:r>
          </a:p>
          <a:p>
            <a:pPr lvl="1">
              <a:lnSpc>
                <a:spcPct val="120000"/>
              </a:lnSpc>
              <a:tabLst>
                <a:tab pos="2395538" algn="l"/>
              </a:tabLst>
            </a:pPr>
            <a:r>
              <a:rPr kumimoji="1" lang="ja-JP" altLang="en-US"/>
              <a:t>文字列</a:t>
            </a:r>
            <a:r>
              <a:rPr kumimoji="1" lang="en-US" altLang="ja-JP" dirty="0"/>
              <a:t>	</a:t>
            </a:r>
            <a:r>
              <a:rPr kumimoji="1" lang="en-US" altLang="ja-JP" dirty="0">
                <a:latin typeface="Consolas" panose="020B0609020204030204" pitchFamily="49" charset="0"/>
                <a:cs typeface="Consolas" panose="020B0609020204030204" pitchFamily="49" charset="0"/>
              </a:rPr>
              <a:t>--title "I have a pen"</a:t>
            </a:r>
          </a:p>
        </p:txBody>
      </p:sp>
      <p:sp>
        <p:nvSpPr>
          <p:cNvPr id="4" name="日付プレースホルダー 3">
            <a:extLst>
              <a:ext uri="{FF2B5EF4-FFF2-40B4-BE49-F238E27FC236}">
                <a16:creationId xmlns:a16="http://schemas.microsoft.com/office/drawing/2014/main" id="{FD5D92C3-0B2A-F8C8-45AD-ED9A971E7544}"/>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71565F55-59A6-B815-EE2E-101A72D341C3}"/>
              </a:ext>
            </a:extLst>
          </p:cNvPr>
          <p:cNvSpPr>
            <a:spLocks noGrp="1"/>
          </p:cNvSpPr>
          <p:nvPr>
            <p:ph type="sldNum" sz="quarter" idx="12"/>
          </p:nvPr>
        </p:nvSpPr>
        <p:spPr/>
        <p:txBody>
          <a:bodyPr/>
          <a:lstStyle/>
          <a:p>
            <a:fld id="{0B8845E4-5C92-A046-BB66-E5D9CC995B08}" type="slidenum">
              <a:rPr kumimoji="1" lang="ja-JP" altLang="en-US" smtClean="0"/>
              <a:t>11</a:t>
            </a:fld>
            <a:endParaRPr kumimoji="1" lang="ja-JP" altLang="en-US"/>
          </a:p>
        </p:txBody>
      </p:sp>
    </p:spTree>
    <p:extLst>
      <p:ext uri="{BB962C8B-B14F-4D97-AF65-F5344CB8AC3E}">
        <p14:creationId xmlns:p14="http://schemas.microsoft.com/office/powerpoint/2010/main" val="4561514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3A03-8026-CA79-E383-ADEC25753A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496ACC-74F4-F3C4-F7E9-3D56FA6FA7BA}"/>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CB285A6C-E408-EF27-29D5-DE91A7C9A3E4}"/>
              </a:ext>
            </a:extLst>
          </p:cNvPr>
          <p:cNvSpPr>
            <a:spLocks noGrp="1"/>
          </p:cNvSpPr>
          <p:nvPr>
            <p:ph sz="half" idx="1"/>
          </p:nvPr>
        </p:nvSpPr>
        <p:spPr/>
        <p:txBody>
          <a:bodyPr numCol="1">
            <a:normAutofit fontScale="70000" lnSpcReduction="20000"/>
          </a:bodyPr>
          <a:lstStyle/>
          <a:p>
            <a:pPr>
              <a:lnSpc>
                <a:spcPct val="120000"/>
              </a:lnSpc>
            </a:pPr>
            <a:r>
              <a:rPr lang="en-US" altLang="ja-JP" dirty="0"/>
              <a:t>Usage</a:t>
            </a:r>
          </a:p>
          <a:p>
            <a:pPr lvl="1">
              <a:lnSpc>
                <a:spcPct val="120000"/>
              </a:lnSpc>
            </a:pPr>
            <a:r>
              <a:rPr lang="en-US" altLang="ja-JP" dirty="0"/>
              <a:t>UNIX</a:t>
            </a:r>
            <a:r>
              <a:rPr lang="ja-JP" altLang="en-US"/>
              <a:t>の思想</a:t>
            </a:r>
            <a:endParaRPr lang="en-US" altLang="ja-JP" dirty="0"/>
          </a:p>
          <a:p>
            <a:pPr lvl="1">
              <a:lnSpc>
                <a:spcPct val="120000"/>
              </a:lnSpc>
            </a:pPr>
            <a:r>
              <a:rPr lang="en-US" altLang="ja-JP" dirty="0"/>
              <a:t>CLI</a:t>
            </a:r>
            <a:r>
              <a:rPr lang="ja-JP" altLang="en-US"/>
              <a:t>のガイドライン</a:t>
            </a:r>
            <a:endParaRPr lang="en-US" altLang="ja-JP" dirty="0"/>
          </a:p>
          <a:p>
            <a:pPr>
              <a:lnSpc>
                <a:spcPct val="120000"/>
              </a:lnSpc>
            </a:pPr>
            <a:r>
              <a:rPr lang="en-US" altLang="ja-JP" dirty="0"/>
              <a:t>README</a:t>
            </a:r>
          </a:p>
          <a:p>
            <a:pPr lvl="1">
              <a:lnSpc>
                <a:spcPct val="120000"/>
              </a:lnSpc>
            </a:pPr>
            <a:r>
              <a:rPr lang="ja-JP" altLang="en-US"/>
              <a:t>書くべき内容．</a:t>
            </a:r>
            <a:endParaRPr lang="en-US" altLang="ja-JP" dirty="0"/>
          </a:p>
          <a:p>
            <a:pPr lvl="1">
              <a:lnSpc>
                <a:spcPct val="120000"/>
              </a:lnSpc>
            </a:pPr>
            <a:r>
              <a:rPr lang="en-US" altLang="ja-JP" dirty="0"/>
              <a:t>Badge</a:t>
            </a:r>
          </a:p>
          <a:p>
            <a:pPr>
              <a:lnSpc>
                <a:spcPct val="120000"/>
              </a:lnSpc>
            </a:pPr>
            <a:endParaRPr lang="en-US" altLang="ja-JP" dirty="0"/>
          </a:p>
        </p:txBody>
      </p:sp>
      <p:sp>
        <p:nvSpPr>
          <p:cNvPr id="7" name="コンテンツ プレースホルダー 6">
            <a:extLst>
              <a:ext uri="{FF2B5EF4-FFF2-40B4-BE49-F238E27FC236}">
                <a16:creationId xmlns:a16="http://schemas.microsoft.com/office/drawing/2014/main" id="{C2BDD908-C033-3F06-E089-012E7C267120}"/>
              </a:ext>
            </a:extLst>
          </p:cNvPr>
          <p:cNvSpPr>
            <a:spLocks noGrp="1"/>
          </p:cNvSpPr>
          <p:nvPr>
            <p:ph sz="half" idx="2"/>
          </p:nvPr>
        </p:nvSpPr>
        <p:spPr/>
        <p:txBody>
          <a:bodyPr>
            <a:normAutofit fontScale="70000" lnSpcReduction="20000"/>
          </a:bodyPr>
          <a:lstStyle/>
          <a:p>
            <a:pPr>
              <a:lnSpc>
                <a:spcPct val="120000"/>
              </a:lnSpc>
            </a:pPr>
            <a:r>
              <a:rPr lang="en-US" altLang="ja-JP" dirty="0"/>
              <a:t>Rust</a:t>
            </a:r>
          </a:p>
          <a:p>
            <a:pPr lvl="1">
              <a:lnSpc>
                <a:spcPct val="120000"/>
              </a:lnSpc>
            </a:pPr>
            <a:r>
              <a:rPr lang="ja-JP" altLang="en-US"/>
              <a:t>プロジェクトを初期化する</a:t>
            </a:r>
            <a:endParaRPr lang="en-US" altLang="ja-JP" dirty="0"/>
          </a:p>
          <a:p>
            <a:pPr lvl="1">
              <a:lnSpc>
                <a:spcPct val="120000"/>
              </a:lnSpc>
            </a:pPr>
            <a:r>
              <a:rPr lang="en-US" altLang="ja-JP" dirty="0"/>
              <a:t>Rust</a:t>
            </a:r>
            <a:r>
              <a:rPr lang="ja-JP" altLang="en-US"/>
              <a:t>の基本</a:t>
            </a:r>
            <a:endParaRPr lang="en-US" altLang="ja-JP" dirty="0"/>
          </a:p>
          <a:p>
            <a:pPr>
              <a:lnSpc>
                <a:spcPct val="120000"/>
              </a:lnSpc>
            </a:pPr>
            <a:r>
              <a:rPr lang="ja-JP" altLang="en-US"/>
              <a:t>その他</a:t>
            </a:r>
            <a:endParaRPr lang="en-US" altLang="ja-JP" dirty="0"/>
          </a:p>
          <a:p>
            <a:pPr lvl="1">
              <a:lnSpc>
                <a:spcPct val="120000"/>
              </a:lnSpc>
            </a:pPr>
            <a:r>
              <a:rPr lang="ja-JP" altLang="en-US"/>
              <a:t>テストについて</a:t>
            </a:r>
            <a:endParaRPr lang="en-US" altLang="ja-JP" dirty="0"/>
          </a:p>
          <a:p>
            <a:pPr lvl="1">
              <a:lnSpc>
                <a:spcPct val="120000"/>
              </a:lnSpc>
            </a:pPr>
            <a:r>
              <a:rPr lang="ja-JP" altLang="en-US"/>
              <a:t>バージョン番号</a:t>
            </a:r>
            <a:endParaRPr lang="en-US" altLang="ja-JP" dirty="0"/>
          </a:p>
          <a:p>
            <a:pPr lvl="1">
              <a:lnSpc>
                <a:spcPct val="120000"/>
              </a:lnSpc>
            </a:pPr>
            <a:r>
              <a:rPr lang="ja-JP" altLang="en-US"/>
              <a:t>コミットコメント</a:t>
            </a:r>
            <a:endParaRPr lang="en-US" altLang="ja-JP" dirty="0"/>
          </a:p>
          <a:p>
            <a:pPr lvl="1">
              <a:lnSpc>
                <a:spcPct val="120000"/>
              </a:lnSpc>
            </a:pPr>
            <a:r>
              <a:rPr lang="en-US" altLang="ja-JP" dirty="0"/>
              <a:t>Git/GitHub</a:t>
            </a:r>
            <a:r>
              <a:rPr lang="ja-JP" altLang="en-US"/>
              <a:t>の使い方</a:t>
            </a:r>
            <a:endParaRPr lang="en-US" altLang="ja-JP" dirty="0"/>
          </a:p>
          <a:p>
            <a:pPr>
              <a:lnSpc>
                <a:spcPct val="120000"/>
              </a:lnSpc>
            </a:pPr>
            <a:endParaRPr lang="ja-JP" altLang="en-US"/>
          </a:p>
        </p:txBody>
      </p:sp>
      <p:sp>
        <p:nvSpPr>
          <p:cNvPr id="4" name="日付プレースホルダー 3">
            <a:extLst>
              <a:ext uri="{FF2B5EF4-FFF2-40B4-BE49-F238E27FC236}">
                <a16:creationId xmlns:a16="http://schemas.microsoft.com/office/drawing/2014/main" id="{283CF20E-E27D-1990-3FF6-DF41D41B8D1E}"/>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0FF98D4C-4793-9A31-B90A-45F160781561}"/>
              </a:ext>
            </a:extLst>
          </p:cNvPr>
          <p:cNvSpPr>
            <a:spLocks noGrp="1"/>
          </p:cNvSpPr>
          <p:nvPr>
            <p:ph type="sldNum" sz="quarter" idx="12"/>
          </p:nvPr>
        </p:nvSpPr>
        <p:spPr/>
        <p:txBody>
          <a:bodyPr/>
          <a:lstStyle/>
          <a:p>
            <a:fld id="{0B8845E4-5C92-A046-BB66-E5D9CC995B08}" type="slidenum">
              <a:rPr kumimoji="1" lang="ja-JP" altLang="en-US" smtClean="0"/>
              <a:t>12</a:t>
            </a:fld>
            <a:endParaRPr kumimoji="1" lang="ja-JP" altLang="en-US"/>
          </a:p>
        </p:txBody>
      </p:sp>
      <p:sp>
        <p:nvSpPr>
          <p:cNvPr id="6" name="正方形/長方形 5">
            <a:extLst>
              <a:ext uri="{FF2B5EF4-FFF2-40B4-BE49-F238E27FC236}">
                <a16:creationId xmlns:a16="http://schemas.microsoft.com/office/drawing/2014/main" id="{B35F59D9-F6D5-7001-569E-99DC4E71763F}"/>
              </a:ext>
            </a:extLst>
          </p:cNvPr>
          <p:cNvSpPr/>
          <p:nvPr/>
        </p:nvSpPr>
        <p:spPr>
          <a:xfrm>
            <a:off x="587828" y="1547539"/>
            <a:ext cx="5116285" cy="176550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
        <p:nvSpPr>
          <p:cNvPr id="8" name="正方形/長方形 7">
            <a:extLst>
              <a:ext uri="{FF2B5EF4-FFF2-40B4-BE49-F238E27FC236}">
                <a16:creationId xmlns:a16="http://schemas.microsoft.com/office/drawing/2014/main" id="{15738A41-CC31-1F1C-0162-1F6E8FEEE95A}"/>
              </a:ext>
            </a:extLst>
          </p:cNvPr>
          <p:cNvSpPr/>
          <p:nvPr/>
        </p:nvSpPr>
        <p:spPr>
          <a:xfrm>
            <a:off x="5954485" y="1690688"/>
            <a:ext cx="5908766" cy="4629425"/>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025816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CF736F-F328-23AD-D2AE-6E711FAF399D}"/>
              </a:ext>
            </a:extLst>
          </p:cNvPr>
          <p:cNvSpPr>
            <a:spLocks noGrp="1"/>
          </p:cNvSpPr>
          <p:nvPr>
            <p:ph type="title"/>
          </p:nvPr>
        </p:nvSpPr>
        <p:spPr>
          <a:xfrm>
            <a:off x="838200" y="365125"/>
            <a:ext cx="11353800" cy="1325563"/>
          </a:xfrm>
        </p:spPr>
        <p:txBody>
          <a:bodyPr/>
          <a:lstStyle/>
          <a:p>
            <a:r>
              <a:rPr kumimoji="1" lang="en-US" altLang="ja-JP" dirty="0"/>
              <a:t>README</a:t>
            </a:r>
            <a:r>
              <a:rPr lang="ja-JP" altLang="en-US"/>
              <a:t>の内容の調査結果</a:t>
            </a:r>
            <a:r>
              <a:rPr kumimoji="1" lang="en-US" altLang="ja-JP" baseline="30000" dirty="0"/>
              <a:t>[1]</a:t>
            </a:r>
            <a:endParaRPr kumimoji="1" lang="ja-JP" altLang="en-US" baseline="30000"/>
          </a:p>
        </p:txBody>
      </p:sp>
      <p:sp>
        <p:nvSpPr>
          <p:cNvPr id="3" name="コンテンツ プレースホルダー 2">
            <a:extLst>
              <a:ext uri="{FF2B5EF4-FFF2-40B4-BE49-F238E27FC236}">
                <a16:creationId xmlns:a16="http://schemas.microsoft.com/office/drawing/2014/main" id="{166E2023-9F79-1123-D3A1-B9BF714E75D2}"/>
              </a:ext>
            </a:extLst>
          </p:cNvPr>
          <p:cNvSpPr>
            <a:spLocks noGrp="1"/>
          </p:cNvSpPr>
          <p:nvPr>
            <p:ph idx="1"/>
          </p:nvPr>
        </p:nvSpPr>
        <p:spPr>
          <a:xfrm>
            <a:off x="838200" y="1825625"/>
            <a:ext cx="10515600" cy="2660166"/>
          </a:xfrm>
        </p:spPr>
        <p:txBody>
          <a:bodyPr>
            <a:normAutofit fontScale="62500" lnSpcReduction="20000"/>
          </a:bodyPr>
          <a:lstStyle/>
          <a:p>
            <a:pPr>
              <a:lnSpc>
                <a:spcPct val="120000"/>
              </a:lnSpc>
            </a:pPr>
            <a:r>
              <a:rPr kumimoji="1" lang="en-US" altLang="ja-JP" dirty="0"/>
              <a:t>First Commit</a:t>
            </a:r>
            <a:r>
              <a:rPr kumimoji="1" lang="ja-JP" altLang="en-US"/>
              <a:t>では</a:t>
            </a:r>
            <a:r>
              <a:rPr kumimoji="1" lang="en-US" altLang="ja-JP" b="1" dirty="0"/>
              <a:t>What</a:t>
            </a:r>
            <a:r>
              <a:rPr kumimoji="1" lang="en-US" altLang="ja-JP" dirty="0"/>
              <a:t>, </a:t>
            </a:r>
            <a:r>
              <a:rPr kumimoji="1" lang="en-US" altLang="ja-JP" b="1" dirty="0"/>
              <a:t>How</a:t>
            </a:r>
            <a:r>
              <a:rPr kumimoji="1" lang="ja-JP" altLang="en-US"/>
              <a:t>が書かれている．</a:t>
            </a:r>
            <a:endParaRPr kumimoji="1" lang="en-US" altLang="ja-JP" dirty="0"/>
          </a:p>
          <a:p>
            <a:pPr>
              <a:lnSpc>
                <a:spcPct val="120000"/>
              </a:lnSpc>
            </a:pPr>
            <a:r>
              <a:rPr lang="ja-JP" altLang="en-US"/>
              <a:t>最新版では，</a:t>
            </a:r>
            <a:r>
              <a:rPr lang="en-US" altLang="ja-JP" dirty="0"/>
              <a:t>What, How, References, Who, Contribution</a:t>
            </a:r>
            <a:r>
              <a:rPr lang="ja-JP" altLang="en-US"/>
              <a:t>が書かれているものが多い．</a:t>
            </a:r>
            <a:endParaRPr kumimoji="1" lang="en-US" altLang="ja-JP" dirty="0"/>
          </a:p>
          <a:p>
            <a:pPr>
              <a:lnSpc>
                <a:spcPct val="120000"/>
              </a:lnSpc>
            </a:pPr>
            <a:r>
              <a:rPr kumimoji="1" lang="ja-JP" altLang="en-US"/>
              <a:t>初期から最新までを</a:t>
            </a:r>
            <a:r>
              <a:rPr kumimoji="1" lang="en-US" altLang="ja-JP" dirty="0"/>
              <a:t>4</a:t>
            </a:r>
            <a:r>
              <a:rPr kumimoji="1" lang="ja-JP" altLang="en-US"/>
              <a:t>つの区間に分ける．</a:t>
            </a:r>
            <a:endParaRPr kumimoji="1" lang="en-US" altLang="ja-JP" dirty="0"/>
          </a:p>
          <a:p>
            <a:pPr lvl="1">
              <a:lnSpc>
                <a:spcPct val="120000"/>
              </a:lnSpc>
            </a:pPr>
            <a:r>
              <a:rPr kumimoji="1" lang="ja-JP" altLang="en-US"/>
              <a:t>各区間で何が書かれるか．</a:t>
            </a:r>
            <a:endParaRPr kumimoji="1" lang="en-US" altLang="ja-JP" dirty="0"/>
          </a:p>
          <a:p>
            <a:pPr>
              <a:lnSpc>
                <a:spcPct val="120000"/>
              </a:lnSpc>
            </a:pPr>
            <a:endParaRPr lang="en-US" altLang="ja-JP" dirty="0"/>
          </a:p>
          <a:p>
            <a:pPr>
              <a:lnSpc>
                <a:spcPct val="120000"/>
              </a:lnSpc>
            </a:pPr>
            <a:endParaRPr kumimoji="1" lang="en-US" altLang="ja-JP" dirty="0"/>
          </a:p>
        </p:txBody>
      </p:sp>
      <p:sp>
        <p:nvSpPr>
          <p:cNvPr id="4" name="日付プレースホルダー 3">
            <a:extLst>
              <a:ext uri="{FF2B5EF4-FFF2-40B4-BE49-F238E27FC236}">
                <a16:creationId xmlns:a16="http://schemas.microsoft.com/office/drawing/2014/main" id="{F075D4B6-0F95-8649-B0E6-9CB549DCCEF9}"/>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43C2E484-7390-0D79-105C-F477AEEB3647}"/>
              </a:ext>
            </a:extLst>
          </p:cNvPr>
          <p:cNvSpPr>
            <a:spLocks noGrp="1"/>
          </p:cNvSpPr>
          <p:nvPr>
            <p:ph type="sldNum" sz="quarter" idx="12"/>
          </p:nvPr>
        </p:nvSpPr>
        <p:spPr/>
        <p:txBody>
          <a:bodyPr/>
          <a:lstStyle/>
          <a:p>
            <a:fld id="{0B8845E4-5C92-A046-BB66-E5D9CC995B08}" type="slidenum">
              <a:rPr kumimoji="1" lang="ja-JP" altLang="en-US" smtClean="0"/>
              <a:t>13</a:t>
            </a:fld>
            <a:endParaRPr kumimoji="1" lang="ja-JP" altLang="en-US"/>
          </a:p>
        </p:txBody>
      </p:sp>
      <p:sp>
        <p:nvSpPr>
          <p:cNvPr id="7" name="テキスト ボックス 6">
            <a:extLst>
              <a:ext uri="{FF2B5EF4-FFF2-40B4-BE49-F238E27FC236}">
                <a16:creationId xmlns:a16="http://schemas.microsoft.com/office/drawing/2014/main" id="{61B62C54-C5F7-5F82-B027-6D86D3C9689E}"/>
              </a:ext>
            </a:extLst>
          </p:cNvPr>
          <p:cNvSpPr txBox="1"/>
          <p:nvPr/>
        </p:nvSpPr>
        <p:spPr>
          <a:xfrm>
            <a:off x="838199" y="5715298"/>
            <a:ext cx="10515599" cy="646331"/>
          </a:xfrm>
          <a:prstGeom prst="rect">
            <a:avLst/>
          </a:prstGeom>
          <a:noFill/>
        </p:spPr>
        <p:txBody>
          <a:bodyPr wrap="square">
            <a:spAutoFit/>
          </a:bodyPr>
          <a:lstStyle/>
          <a:p>
            <a:pPr marL="446088" indent="-446088"/>
            <a:r>
              <a:rPr lang="en-US" altLang="ja-JP" dirty="0">
                <a:latin typeface="Meiryo" panose="020B0604030504040204" pitchFamily="34" charset="-128"/>
                <a:ea typeface="Meiryo" panose="020B0604030504040204" pitchFamily="34" charset="-128"/>
              </a:rPr>
              <a:t>[1]	</a:t>
            </a:r>
            <a:r>
              <a:rPr lang="ja-JP" altLang="en-US">
                <a:latin typeface="Meiryo" panose="020B0604030504040204" pitchFamily="34" charset="-128"/>
                <a:ea typeface="Meiryo" panose="020B0604030504040204" pitchFamily="34" charset="-128"/>
              </a:rPr>
              <a:t>亀井 靖高, 清水 一輝, 柏 祐太郎, 佐藤 亮介, 鵜林 尚靖, "README ファイルの進化に関する実証的分析", 情報処理学会論文誌, Vol.62, No.4, pp.1076-–1085, April 2021.</a:t>
            </a:r>
          </a:p>
        </p:txBody>
      </p:sp>
      <p:graphicFrame>
        <p:nvGraphicFramePr>
          <p:cNvPr id="8" name="表 8">
            <a:extLst>
              <a:ext uri="{FF2B5EF4-FFF2-40B4-BE49-F238E27FC236}">
                <a16:creationId xmlns:a16="http://schemas.microsoft.com/office/drawing/2014/main" id="{2A942675-C8DA-D23A-95E6-E295034D59E1}"/>
              </a:ext>
            </a:extLst>
          </p:cNvPr>
          <p:cNvGraphicFramePr>
            <a:graphicFrameLocks noGrp="1"/>
          </p:cNvGraphicFramePr>
          <p:nvPr>
            <p:extLst>
              <p:ext uri="{D42A27DB-BD31-4B8C-83A1-F6EECF244321}">
                <p14:modId xmlns:p14="http://schemas.microsoft.com/office/powerpoint/2010/main" val="2446049359"/>
              </p:ext>
            </p:extLst>
          </p:nvPr>
        </p:nvGraphicFramePr>
        <p:xfrm>
          <a:off x="838200" y="4485791"/>
          <a:ext cx="10515600" cy="1088284"/>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985335566"/>
                    </a:ext>
                  </a:extLst>
                </a:gridCol>
                <a:gridCol w="2628900">
                  <a:extLst>
                    <a:ext uri="{9D8B030D-6E8A-4147-A177-3AD203B41FA5}">
                      <a16:colId xmlns:a16="http://schemas.microsoft.com/office/drawing/2014/main" val="1307884262"/>
                    </a:ext>
                  </a:extLst>
                </a:gridCol>
                <a:gridCol w="2628900">
                  <a:extLst>
                    <a:ext uri="{9D8B030D-6E8A-4147-A177-3AD203B41FA5}">
                      <a16:colId xmlns:a16="http://schemas.microsoft.com/office/drawing/2014/main" val="4008640534"/>
                    </a:ext>
                  </a:extLst>
                </a:gridCol>
                <a:gridCol w="2628900">
                  <a:extLst>
                    <a:ext uri="{9D8B030D-6E8A-4147-A177-3AD203B41FA5}">
                      <a16:colId xmlns:a16="http://schemas.microsoft.com/office/drawing/2014/main" val="1279989892"/>
                    </a:ext>
                  </a:extLst>
                </a:gridCol>
              </a:tblGrid>
              <a:tr h="544142">
                <a:tc>
                  <a:txBody>
                    <a:bodyPr/>
                    <a:lstStyle/>
                    <a:p>
                      <a:pPr algn="ctr"/>
                      <a:r>
                        <a:rPr kumimoji="1" lang="ja-JP" altLang="en-US" sz="2000"/>
                        <a:t>第１区間</a:t>
                      </a:r>
                    </a:p>
                  </a:txBody>
                  <a:tcPr anchor="ctr"/>
                </a:tc>
                <a:tc>
                  <a:txBody>
                    <a:bodyPr/>
                    <a:lstStyle/>
                    <a:p>
                      <a:pPr algn="ctr"/>
                      <a:r>
                        <a:rPr kumimoji="1" lang="ja-JP" altLang="en-US" sz="2000"/>
                        <a:t>第２区間</a:t>
                      </a:r>
                    </a:p>
                  </a:txBody>
                  <a:tcPr anchor="ctr"/>
                </a:tc>
                <a:tc>
                  <a:txBody>
                    <a:bodyPr/>
                    <a:lstStyle/>
                    <a:p>
                      <a:pPr algn="ctr"/>
                      <a:r>
                        <a:rPr kumimoji="1" lang="ja-JP" altLang="en-US" sz="2000"/>
                        <a:t>第３区間</a:t>
                      </a:r>
                    </a:p>
                  </a:txBody>
                  <a:tcPr anchor="ctr"/>
                </a:tc>
                <a:tc>
                  <a:txBody>
                    <a:bodyPr/>
                    <a:lstStyle/>
                    <a:p>
                      <a:pPr algn="ctr"/>
                      <a:r>
                        <a:rPr kumimoji="1" lang="ja-JP" altLang="en-US" sz="2000"/>
                        <a:t>第４区間</a:t>
                      </a:r>
                    </a:p>
                  </a:txBody>
                  <a:tcPr anchor="ctr"/>
                </a:tc>
                <a:extLst>
                  <a:ext uri="{0D108BD9-81ED-4DB2-BD59-A6C34878D82A}">
                    <a16:rowId xmlns:a16="http://schemas.microsoft.com/office/drawing/2014/main" val="4121936907"/>
                  </a:ext>
                </a:extLst>
              </a:tr>
              <a:tr h="544142">
                <a:tc>
                  <a:txBody>
                    <a:bodyPr/>
                    <a:lstStyle/>
                    <a:p>
                      <a:pPr algn="l"/>
                      <a:r>
                        <a:rPr kumimoji="1" lang="en-US" altLang="ja-JP" sz="2000" dirty="0">
                          <a:latin typeface="Meiryo" panose="020B0604030504040204" pitchFamily="34" charset="-128"/>
                          <a:ea typeface="Meiryo" panose="020B0604030504040204" pitchFamily="34" charset="-128"/>
                        </a:rPr>
                        <a:t>Reference</a:t>
                      </a:r>
                    </a:p>
                  </a:txBody>
                  <a:tcPr anchor="ctr"/>
                </a:tc>
                <a:tc>
                  <a:txBody>
                    <a:bodyPr/>
                    <a:lstStyle/>
                    <a:p>
                      <a:pPr algn="l"/>
                      <a:r>
                        <a:rPr kumimoji="1" lang="en-US" altLang="ja-JP" sz="2000" dirty="0">
                          <a:latin typeface="Meiryo" panose="020B0604030504040204" pitchFamily="34" charset="-128"/>
                          <a:ea typeface="Meiryo" panose="020B0604030504040204" pitchFamily="34" charset="-128"/>
                        </a:rPr>
                        <a:t>Why</a:t>
                      </a:r>
                    </a:p>
                  </a:txBody>
                  <a:tcPr anchor="ctr"/>
                </a:tc>
                <a:tc>
                  <a:txBody>
                    <a:bodyPr/>
                    <a:lstStyle/>
                    <a:p>
                      <a:pPr algn="l"/>
                      <a:r>
                        <a:rPr kumimoji="1" lang="en-US" altLang="ja-JP" sz="2000" dirty="0">
                          <a:latin typeface="Meiryo" panose="020B0604030504040204" pitchFamily="34" charset="-128"/>
                          <a:ea typeface="Meiryo" panose="020B0604030504040204" pitchFamily="34" charset="-128"/>
                        </a:rPr>
                        <a:t>Contribution</a:t>
                      </a:r>
                    </a:p>
                  </a:txBody>
                  <a:tcPr anchor="ctr"/>
                </a:tc>
                <a:tc>
                  <a:txBody>
                    <a:bodyPr/>
                    <a:lstStyle/>
                    <a:p>
                      <a:pPr algn="l"/>
                      <a:r>
                        <a:rPr kumimoji="1" lang="en-US" altLang="ja-JP" sz="2000" dirty="0">
                          <a:latin typeface="Meiryo" panose="020B0604030504040204" pitchFamily="34" charset="-128"/>
                          <a:ea typeface="Meiryo" panose="020B0604030504040204" pitchFamily="34" charset="-128"/>
                        </a:rPr>
                        <a:t>When</a:t>
                      </a:r>
                      <a:endParaRPr kumimoji="1" lang="ja-JP" altLang="en-US" sz="2000">
                        <a:latin typeface="Meiryo" panose="020B0604030504040204" pitchFamily="34" charset="-128"/>
                        <a:ea typeface="Meiryo" panose="020B0604030504040204" pitchFamily="34" charset="-128"/>
                      </a:endParaRPr>
                    </a:p>
                  </a:txBody>
                  <a:tcPr anchor="ctr"/>
                </a:tc>
                <a:extLst>
                  <a:ext uri="{0D108BD9-81ED-4DB2-BD59-A6C34878D82A}">
                    <a16:rowId xmlns:a16="http://schemas.microsoft.com/office/drawing/2014/main" val="3370491264"/>
                  </a:ext>
                </a:extLst>
              </a:tr>
            </a:tbl>
          </a:graphicData>
        </a:graphic>
      </p:graphicFrame>
    </p:spTree>
    <p:extLst>
      <p:ext uri="{BB962C8B-B14F-4D97-AF65-F5344CB8AC3E}">
        <p14:creationId xmlns:p14="http://schemas.microsoft.com/office/powerpoint/2010/main" val="23476845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DE2A2-0476-C1BA-B538-5F9343475F22}"/>
              </a:ext>
            </a:extLst>
          </p:cNvPr>
          <p:cNvSpPr>
            <a:spLocks noGrp="1"/>
          </p:cNvSpPr>
          <p:nvPr>
            <p:ph type="title"/>
          </p:nvPr>
        </p:nvSpPr>
        <p:spPr/>
        <p:txBody>
          <a:bodyPr/>
          <a:lstStyle/>
          <a:p>
            <a:r>
              <a:rPr kumimoji="1" lang="en-US" altLang="ja-JP" dirty="0"/>
              <a:t>README</a:t>
            </a:r>
            <a:r>
              <a:rPr kumimoji="1" lang="ja-JP" altLang="en-US"/>
              <a:t>で書くべき内容</a:t>
            </a:r>
          </a:p>
        </p:txBody>
      </p:sp>
      <p:sp>
        <p:nvSpPr>
          <p:cNvPr id="3" name="コンテンツ プレースホルダー 2">
            <a:extLst>
              <a:ext uri="{FF2B5EF4-FFF2-40B4-BE49-F238E27FC236}">
                <a16:creationId xmlns:a16="http://schemas.microsoft.com/office/drawing/2014/main" id="{DF4CDA5F-AF28-CB93-BE03-728500EDC795}"/>
              </a:ext>
            </a:extLst>
          </p:cNvPr>
          <p:cNvSpPr>
            <a:spLocks noGrp="1"/>
          </p:cNvSpPr>
          <p:nvPr>
            <p:ph idx="1"/>
          </p:nvPr>
        </p:nvSpPr>
        <p:spPr/>
        <p:txBody>
          <a:bodyPr>
            <a:normAutofit fontScale="77500" lnSpcReduction="20000"/>
          </a:bodyPr>
          <a:lstStyle/>
          <a:p>
            <a:pPr>
              <a:lnSpc>
                <a:spcPct val="120000"/>
              </a:lnSpc>
            </a:pPr>
            <a:r>
              <a:rPr kumimoji="1" lang="en-US" altLang="ja-JP" dirty="0"/>
              <a:t>Tagline</a:t>
            </a:r>
            <a:r>
              <a:rPr kumimoji="1" lang="ja-JP" altLang="en-US"/>
              <a:t>（</a:t>
            </a:r>
            <a:r>
              <a:rPr kumimoji="1" lang="en-US" altLang="ja-JP" dirty="0"/>
              <a:t>1</a:t>
            </a:r>
            <a:r>
              <a:rPr kumimoji="1" lang="ja-JP" altLang="en-US"/>
              <a:t>行概要）</a:t>
            </a:r>
            <a:endParaRPr kumimoji="1" lang="en-US" altLang="ja-JP" dirty="0"/>
          </a:p>
          <a:p>
            <a:pPr>
              <a:lnSpc>
                <a:spcPct val="120000"/>
              </a:lnSpc>
            </a:pPr>
            <a:r>
              <a:rPr lang="ja-JP" altLang="en-US"/>
              <a:t>概要（</a:t>
            </a:r>
            <a:r>
              <a:rPr lang="en-US" altLang="ja-JP" dirty="0"/>
              <a:t>Overview</a:t>
            </a:r>
            <a:r>
              <a:rPr lang="ja-JP" altLang="en-US"/>
              <a:t>）</a:t>
            </a:r>
            <a:endParaRPr lang="en-US" altLang="ja-JP" dirty="0"/>
          </a:p>
          <a:p>
            <a:pPr>
              <a:lnSpc>
                <a:spcPct val="120000"/>
              </a:lnSpc>
            </a:pPr>
            <a:r>
              <a:rPr kumimoji="1" lang="ja-JP" altLang="en-US"/>
              <a:t>使い方（</a:t>
            </a:r>
            <a:r>
              <a:rPr kumimoji="1" lang="en-US" altLang="ja-JP" dirty="0"/>
              <a:t>Usage</a:t>
            </a:r>
            <a:r>
              <a:rPr kumimoji="1" lang="ja-JP" altLang="en-US"/>
              <a:t>）</a:t>
            </a:r>
            <a:endParaRPr kumimoji="1" lang="en-US" altLang="ja-JP" dirty="0"/>
          </a:p>
          <a:p>
            <a:pPr>
              <a:lnSpc>
                <a:spcPct val="120000"/>
              </a:lnSpc>
            </a:pPr>
            <a:r>
              <a:rPr lang="ja-JP" altLang="en-US"/>
              <a:t>インストール方法（</a:t>
            </a:r>
            <a:r>
              <a:rPr lang="en-US" altLang="ja-JP" dirty="0"/>
              <a:t>Installation</a:t>
            </a:r>
            <a:r>
              <a:rPr lang="ja-JP" altLang="en-US"/>
              <a:t>）</a:t>
            </a:r>
            <a:endParaRPr lang="en-US" altLang="ja-JP" dirty="0"/>
          </a:p>
          <a:p>
            <a:pPr>
              <a:lnSpc>
                <a:spcPct val="120000"/>
              </a:lnSpc>
            </a:pPr>
            <a:r>
              <a:rPr kumimoji="1" lang="ja-JP" altLang="en-US"/>
              <a:t>プロジェクトについて（</a:t>
            </a:r>
            <a:r>
              <a:rPr kumimoji="1" lang="en-US" altLang="ja-JP" dirty="0"/>
              <a:t>About</a:t>
            </a:r>
            <a:r>
              <a:rPr kumimoji="1" lang="ja-JP" altLang="en-US"/>
              <a:t>）</a:t>
            </a:r>
            <a:endParaRPr kumimoji="1" lang="en-US" altLang="ja-JP" dirty="0"/>
          </a:p>
          <a:p>
            <a:pPr lvl="1">
              <a:lnSpc>
                <a:spcPct val="120000"/>
              </a:lnSpc>
            </a:pPr>
            <a:r>
              <a:rPr lang="ja-JP" altLang="en-US"/>
              <a:t>開発者，ライセンス，アイコン，名前の由来，バージョン履歴など</a:t>
            </a:r>
            <a:endParaRPr kumimoji="1" lang="ja-JP" altLang="en-US"/>
          </a:p>
        </p:txBody>
      </p:sp>
      <p:sp>
        <p:nvSpPr>
          <p:cNvPr id="4" name="日付プレースホルダー 3">
            <a:extLst>
              <a:ext uri="{FF2B5EF4-FFF2-40B4-BE49-F238E27FC236}">
                <a16:creationId xmlns:a16="http://schemas.microsoft.com/office/drawing/2014/main" id="{B4C54D04-EBD3-6C15-9935-56584EE27341}"/>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31CFDE99-E2C3-4C8A-FF48-4C0F58344A60}"/>
              </a:ext>
            </a:extLst>
          </p:cNvPr>
          <p:cNvSpPr>
            <a:spLocks noGrp="1"/>
          </p:cNvSpPr>
          <p:nvPr>
            <p:ph type="sldNum" sz="quarter" idx="12"/>
          </p:nvPr>
        </p:nvSpPr>
        <p:spPr/>
        <p:txBody>
          <a:bodyPr/>
          <a:lstStyle/>
          <a:p>
            <a:fld id="{0B8845E4-5C92-A046-BB66-E5D9CC995B08}" type="slidenum">
              <a:rPr kumimoji="1" lang="ja-JP" altLang="en-US" smtClean="0"/>
              <a:t>14</a:t>
            </a:fld>
            <a:endParaRPr kumimoji="1" lang="ja-JP" altLang="en-US"/>
          </a:p>
        </p:txBody>
      </p:sp>
    </p:spTree>
    <p:extLst>
      <p:ext uri="{BB962C8B-B14F-4D97-AF65-F5344CB8AC3E}">
        <p14:creationId xmlns:p14="http://schemas.microsoft.com/office/powerpoint/2010/main" val="1306976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6B84CD-B36C-0960-2879-B33C4D7FC6B1}"/>
              </a:ext>
            </a:extLst>
          </p:cNvPr>
          <p:cNvSpPr>
            <a:spLocks noGrp="1"/>
          </p:cNvSpPr>
          <p:nvPr>
            <p:ph type="title"/>
          </p:nvPr>
        </p:nvSpPr>
        <p:spPr/>
        <p:txBody>
          <a:bodyPr/>
          <a:lstStyle/>
          <a:p>
            <a:r>
              <a:rPr kumimoji="1" lang="en-US" altLang="ja-JP" dirty="0"/>
              <a:t>Badge</a:t>
            </a:r>
            <a:r>
              <a:rPr kumimoji="1" lang="ja-JP" altLang="en-US"/>
              <a:t>とは</a:t>
            </a:r>
          </a:p>
        </p:txBody>
      </p:sp>
      <p:sp>
        <p:nvSpPr>
          <p:cNvPr id="4" name="日付プレースホルダー 3">
            <a:extLst>
              <a:ext uri="{FF2B5EF4-FFF2-40B4-BE49-F238E27FC236}">
                <a16:creationId xmlns:a16="http://schemas.microsoft.com/office/drawing/2014/main" id="{C56038C8-F096-8401-7112-15CC9F381128}"/>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57EF75F9-4AF6-E318-2AC7-BBEA5D343BBC}"/>
              </a:ext>
            </a:extLst>
          </p:cNvPr>
          <p:cNvSpPr>
            <a:spLocks noGrp="1"/>
          </p:cNvSpPr>
          <p:nvPr>
            <p:ph type="sldNum" sz="quarter" idx="12"/>
          </p:nvPr>
        </p:nvSpPr>
        <p:spPr/>
        <p:txBody>
          <a:bodyPr/>
          <a:lstStyle/>
          <a:p>
            <a:fld id="{0B8845E4-5C92-A046-BB66-E5D9CC995B08}" type="slidenum">
              <a:rPr kumimoji="1" lang="ja-JP" altLang="en-US" smtClean="0"/>
              <a:t>15</a:t>
            </a:fld>
            <a:endParaRPr kumimoji="1" lang="ja-JP" altLang="en-US"/>
          </a:p>
        </p:txBody>
      </p:sp>
      <p:pic>
        <p:nvPicPr>
          <p:cNvPr id="7" name="図 6"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73E64823-54F2-40FC-A7CC-2EBD5D17D367}"/>
              </a:ext>
            </a:extLst>
          </p:cNvPr>
          <p:cNvPicPr>
            <a:picLocks noChangeAspect="1"/>
          </p:cNvPicPr>
          <p:nvPr/>
        </p:nvPicPr>
        <p:blipFill>
          <a:blip r:embed="rId2"/>
          <a:stretch>
            <a:fillRect/>
          </a:stretch>
        </p:blipFill>
        <p:spPr>
          <a:xfrm>
            <a:off x="7683910" y="4169165"/>
            <a:ext cx="4508090" cy="2688835"/>
          </a:xfrm>
          <a:prstGeom prst="rect">
            <a:avLst/>
          </a:prstGeom>
        </p:spPr>
      </p:pic>
      <p:sp>
        <p:nvSpPr>
          <p:cNvPr id="3" name="コンテンツ プレースホルダー 2">
            <a:extLst>
              <a:ext uri="{FF2B5EF4-FFF2-40B4-BE49-F238E27FC236}">
                <a16:creationId xmlns:a16="http://schemas.microsoft.com/office/drawing/2014/main" id="{F4DFAB45-00E2-AEB0-EB26-3635D2F87563}"/>
              </a:ext>
            </a:extLst>
          </p:cNvPr>
          <p:cNvSpPr>
            <a:spLocks noGrp="1"/>
          </p:cNvSpPr>
          <p:nvPr>
            <p:ph idx="1"/>
          </p:nvPr>
        </p:nvSpPr>
        <p:spPr/>
        <p:txBody>
          <a:bodyPr>
            <a:normAutofit fontScale="92500" lnSpcReduction="10000"/>
          </a:bodyPr>
          <a:lstStyle/>
          <a:p>
            <a:pPr>
              <a:lnSpc>
                <a:spcPct val="110000"/>
              </a:lnSpc>
            </a:pPr>
            <a:r>
              <a:rPr kumimoji="1" lang="en-US" altLang="ja-JP" dirty="0"/>
              <a:t>README</a:t>
            </a:r>
            <a:r>
              <a:rPr kumimoji="1" lang="ja-JP" altLang="en-US"/>
              <a:t>に様々な情報を一目でわかるように貼られた画像のこと．</a:t>
            </a:r>
            <a:endParaRPr kumimoji="1" lang="en-US" altLang="ja-JP" dirty="0"/>
          </a:p>
          <a:p>
            <a:pPr lvl="1">
              <a:lnSpc>
                <a:spcPct val="110000"/>
              </a:lnSpc>
            </a:pPr>
            <a:r>
              <a:rPr lang="ja-JP" altLang="en-US"/>
              <a:t>ライセンス情報やバージョン情報，テストの成否などがグラフィカルに表示される．</a:t>
            </a:r>
            <a:endParaRPr lang="en-US" altLang="ja-JP" dirty="0"/>
          </a:p>
          <a:p>
            <a:pPr lvl="1">
              <a:lnSpc>
                <a:spcPct val="110000"/>
              </a:lnSpc>
            </a:pPr>
            <a:r>
              <a:rPr kumimoji="1" lang="en-US" altLang="ja-JP" dirty="0" err="1">
                <a:latin typeface="Consolas" panose="020B0609020204030204" pitchFamily="49" charset="0"/>
                <a:cs typeface="Consolas" panose="020B0609020204030204" pitchFamily="49" charset="0"/>
              </a:rPr>
              <a:t>shields.io</a:t>
            </a:r>
            <a:r>
              <a:rPr kumimoji="1" lang="ja-JP" altLang="en-US"/>
              <a:t>というサービス</a:t>
            </a:r>
            <a:br>
              <a:rPr kumimoji="1" lang="en-US" altLang="ja-JP" dirty="0"/>
            </a:br>
            <a:r>
              <a:rPr kumimoji="1" lang="ja-JP" altLang="en-US"/>
              <a:t>を用いて画像を作成すること</a:t>
            </a:r>
            <a:br>
              <a:rPr kumimoji="1" lang="en-US" altLang="ja-JP" dirty="0"/>
            </a:br>
            <a:r>
              <a:rPr kumimoji="1" lang="ja-JP" altLang="en-US"/>
              <a:t>が多い．</a:t>
            </a:r>
          </a:p>
        </p:txBody>
      </p:sp>
    </p:spTree>
    <p:extLst>
      <p:ext uri="{BB962C8B-B14F-4D97-AF65-F5344CB8AC3E}">
        <p14:creationId xmlns:p14="http://schemas.microsoft.com/office/powerpoint/2010/main" val="35520550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3B1C05-66FD-F26F-FDBA-A96A11CAA665}"/>
              </a:ext>
            </a:extLst>
          </p:cNvPr>
          <p:cNvSpPr>
            <a:spLocks noGrp="1"/>
          </p:cNvSpPr>
          <p:nvPr>
            <p:ph type="title"/>
          </p:nvPr>
        </p:nvSpPr>
        <p:spPr/>
        <p:txBody>
          <a:bodyPr/>
          <a:lstStyle/>
          <a:p>
            <a:r>
              <a:rPr kumimoji="1" lang="en-US" altLang="ja-JP" dirty="0"/>
              <a:t>README</a:t>
            </a:r>
            <a:r>
              <a:rPr kumimoji="1" lang="ja-JP" altLang="en-US"/>
              <a:t>に</a:t>
            </a:r>
            <a:r>
              <a:rPr lang="en-US" altLang="ja-JP" dirty="0"/>
              <a:t>Badge</a:t>
            </a:r>
            <a:r>
              <a:rPr lang="ja-JP" altLang="en-US"/>
              <a:t>を貼ろう．</a:t>
            </a:r>
            <a:endParaRPr kumimoji="1" lang="ja-JP" altLang="en-US"/>
          </a:p>
        </p:txBody>
      </p:sp>
      <p:sp>
        <p:nvSpPr>
          <p:cNvPr id="3" name="コンテンツ プレースホルダー 2">
            <a:extLst>
              <a:ext uri="{FF2B5EF4-FFF2-40B4-BE49-F238E27FC236}">
                <a16:creationId xmlns:a16="http://schemas.microsoft.com/office/drawing/2014/main" id="{7E240C1F-3CA1-CA6A-B076-BC2BA981911B}"/>
              </a:ext>
            </a:extLst>
          </p:cNvPr>
          <p:cNvSpPr>
            <a:spLocks noGrp="1"/>
          </p:cNvSpPr>
          <p:nvPr>
            <p:ph idx="1"/>
          </p:nvPr>
        </p:nvSpPr>
        <p:spPr/>
        <p:txBody>
          <a:bodyPr>
            <a:normAutofit/>
          </a:bodyPr>
          <a:lstStyle/>
          <a:p>
            <a:pPr>
              <a:lnSpc>
                <a:spcPct val="120000"/>
              </a:lnSpc>
            </a:pPr>
            <a:r>
              <a:rPr kumimoji="1" lang="ja-JP" altLang="en-US"/>
              <a:t>ライセンス，バージョン情報</a:t>
            </a:r>
            <a:endParaRPr lang="en-US" altLang="ja-JP" dirty="0"/>
          </a:p>
          <a:p>
            <a:pPr>
              <a:lnSpc>
                <a:spcPct val="120000"/>
              </a:lnSpc>
            </a:pPr>
            <a:r>
              <a:rPr kumimoji="1" lang="en-US" altLang="ja-JP" dirty="0"/>
              <a:t>Markdown</a:t>
            </a:r>
            <a:r>
              <a:rPr kumimoji="1" lang="ja-JP" altLang="en-US"/>
              <a:t>では次のように貼れる．</a:t>
            </a:r>
            <a:endParaRPr kumimoji="1" lang="en-US" altLang="ja-JP" dirty="0"/>
          </a:p>
          <a:p>
            <a:pPr lvl="1">
              <a:lnSpc>
                <a:spcPct val="120000"/>
              </a:lnSpc>
            </a:pPr>
            <a:r>
              <a:rPr lang="en-US" altLang="ja-JP" dirty="0"/>
              <a:t>[![</a:t>
            </a:r>
            <a:r>
              <a:rPr lang="ja-JP" altLang="en-US"/>
              <a:t>画像の説明</a:t>
            </a:r>
            <a:r>
              <a:rPr lang="en-US" altLang="ja-JP" dirty="0"/>
              <a:t>](</a:t>
            </a:r>
            <a:r>
              <a:rPr lang="ja-JP" altLang="en-US"/>
              <a:t>画像</a:t>
            </a:r>
            <a:r>
              <a:rPr lang="en-US" altLang="ja-JP" dirty="0"/>
              <a:t>URL)](</a:t>
            </a:r>
            <a:r>
              <a:rPr lang="ja-JP" altLang="en-US"/>
              <a:t>リンク</a:t>
            </a:r>
            <a:r>
              <a:rPr lang="en-US" altLang="ja-JP" dirty="0"/>
              <a:t>URL)</a:t>
            </a:r>
          </a:p>
          <a:p>
            <a:pPr lvl="2">
              <a:lnSpc>
                <a:spcPct val="120000"/>
              </a:lnSpc>
            </a:pPr>
            <a:r>
              <a:rPr kumimoji="1" lang="ja-JP" altLang="en-US"/>
              <a:t>画像を貼る　　</a:t>
            </a:r>
            <a:r>
              <a:rPr kumimoji="1" lang="en-US" altLang="ja-JP" dirty="0">
                <a:latin typeface="Consolas" panose="020B0609020204030204" pitchFamily="49" charset="0"/>
                <a:cs typeface="Consolas" panose="020B0609020204030204" pitchFamily="49" charset="0"/>
              </a:rPr>
              <a:t>![alt](</a:t>
            </a:r>
            <a:r>
              <a:rPr kumimoji="1" lang="en-US" altLang="ja-JP" dirty="0" err="1">
                <a:latin typeface="Consolas" panose="020B0609020204030204" pitchFamily="49" charset="0"/>
                <a:cs typeface="Consolas" panose="020B0609020204030204" pitchFamily="49" charset="0"/>
              </a:rPr>
              <a:t>url</a:t>
            </a:r>
            <a:r>
              <a:rPr kumimoji="1" lang="en-US" altLang="ja-JP" dirty="0">
                <a:latin typeface="Consolas" panose="020B0609020204030204" pitchFamily="49" charset="0"/>
                <a:cs typeface="Consolas" panose="020B0609020204030204" pitchFamily="49" charset="0"/>
              </a:rPr>
              <a:t>)</a:t>
            </a:r>
            <a:endParaRPr kumimoji="1" lang="en-US" altLang="ja-JP" dirty="0"/>
          </a:p>
          <a:p>
            <a:pPr lvl="2">
              <a:lnSpc>
                <a:spcPct val="120000"/>
              </a:lnSpc>
            </a:pPr>
            <a:r>
              <a:rPr lang="ja-JP" altLang="en-US"/>
              <a:t>リンクを貼る　</a:t>
            </a:r>
            <a:r>
              <a:rPr lang="en-US" altLang="ja-JP" dirty="0">
                <a:latin typeface="Consolas" panose="020B0609020204030204" pitchFamily="49" charset="0"/>
                <a:cs typeface="Consolas" panose="020B0609020204030204" pitchFamily="49" charset="0"/>
              </a:rPr>
              <a:t>[</a:t>
            </a:r>
            <a:r>
              <a:rPr lang="ja-JP" altLang="en-US">
                <a:latin typeface="Consolas" panose="020B0609020204030204" pitchFamily="49" charset="0"/>
                <a:cs typeface="Consolas" panose="020B0609020204030204" pitchFamily="49" charset="0"/>
              </a:rPr>
              <a:t>ラベル</a:t>
            </a: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url</a:t>
            </a:r>
            <a:r>
              <a:rPr lang="en-US" altLang="ja-JP" dirty="0">
                <a:latin typeface="Consolas" panose="020B0609020204030204" pitchFamily="49" charset="0"/>
                <a:cs typeface="Consolas" panose="020B0609020204030204" pitchFamily="49" charset="0"/>
              </a:rPr>
              <a:t>)</a:t>
            </a:r>
            <a:endParaRPr kumimoji="1" lang="ja-JP" altLang="en-US"/>
          </a:p>
        </p:txBody>
      </p:sp>
      <p:sp>
        <p:nvSpPr>
          <p:cNvPr id="4" name="日付プレースホルダー 3">
            <a:extLst>
              <a:ext uri="{FF2B5EF4-FFF2-40B4-BE49-F238E27FC236}">
                <a16:creationId xmlns:a16="http://schemas.microsoft.com/office/drawing/2014/main" id="{18095379-7EB3-0248-5511-D9D9EB4A670A}"/>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7F54402C-B4D2-24CD-A3BC-1D6975ADD2FF}"/>
              </a:ext>
            </a:extLst>
          </p:cNvPr>
          <p:cNvSpPr>
            <a:spLocks noGrp="1"/>
          </p:cNvSpPr>
          <p:nvPr>
            <p:ph type="sldNum" sz="quarter" idx="12"/>
          </p:nvPr>
        </p:nvSpPr>
        <p:spPr/>
        <p:txBody>
          <a:bodyPr/>
          <a:lstStyle/>
          <a:p>
            <a:fld id="{0B8845E4-5C92-A046-BB66-E5D9CC995B08}" type="slidenum">
              <a:rPr kumimoji="1" lang="ja-JP" altLang="en-US" smtClean="0"/>
              <a:t>16</a:t>
            </a:fld>
            <a:endParaRPr kumimoji="1" lang="ja-JP" altLang="en-US"/>
          </a:p>
        </p:txBody>
      </p:sp>
    </p:spTree>
    <p:extLst>
      <p:ext uri="{BB962C8B-B14F-4D97-AF65-F5344CB8AC3E}">
        <p14:creationId xmlns:p14="http://schemas.microsoft.com/office/powerpoint/2010/main" val="18589559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118884-9BDC-9BA6-9AA7-87E0EAA2ED25}"/>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F853D72B-F205-34AC-B509-C822E356399D}"/>
              </a:ext>
            </a:extLst>
          </p:cNvPr>
          <p:cNvSpPr>
            <a:spLocks noGrp="1"/>
          </p:cNvSpPr>
          <p:nvPr>
            <p:ph sz="half" idx="1"/>
          </p:nvPr>
        </p:nvSpPr>
        <p:spPr/>
        <p:txBody>
          <a:bodyPr numCol="1">
            <a:normAutofit fontScale="70000" lnSpcReduction="20000"/>
          </a:bodyPr>
          <a:lstStyle/>
          <a:p>
            <a:pPr>
              <a:lnSpc>
                <a:spcPct val="120000"/>
              </a:lnSpc>
            </a:pPr>
            <a:r>
              <a:rPr lang="en-US" altLang="ja-JP" dirty="0"/>
              <a:t>Usage</a:t>
            </a:r>
          </a:p>
          <a:p>
            <a:pPr lvl="1">
              <a:lnSpc>
                <a:spcPct val="120000"/>
              </a:lnSpc>
            </a:pPr>
            <a:r>
              <a:rPr lang="en-US" altLang="ja-JP" dirty="0"/>
              <a:t>UNIX</a:t>
            </a:r>
            <a:r>
              <a:rPr lang="ja-JP" altLang="en-US"/>
              <a:t>の思想</a:t>
            </a:r>
            <a:endParaRPr lang="en-US" altLang="ja-JP" dirty="0"/>
          </a:p>
          <a:p>
            <a:pPr lvl="1">
              <a:lnSpc>
                <a:spcPct val="120000"/>
              </a:lnSpc>
            </a:pPr>
            <a:r>
              <a:rPr lang="en-US" altLang="ja-JP" dirty="0"/>
              <a:t>CLI</a:t>
            </a:r>
            <a:r>
              <a:rPr lang="ja-JP" altLang="en-US"/>
              <a:t>のガイドライン</a:t>
            </a:r>
            <a:endParaRPr lang="en-US" altLang="ja-JP" dirty="0"/>
          </a:p>
          <a:p>
            <a:pPr>
              <a:lnSpc>
                <a:spcPct val="120000"/>
              </a:lnSpc>
            </a:pPr>
            <a:r>
              <a:rPr lang="en-US" altLang="ja-JP" dirty="0"/>
              <a:t>README</a:t>
            </a:r>
          </a:p>
          <a:p>
            <a:pPr lvl="1">
              <a:lnSpc>
                <a:spcPct val="120000"/>
              </a:lnSpc>
            </a:pPr>
            <a:r>
              <a:rPr lang="ja-JP" altLang="en-US"/>
              <a:t>書くべき内容．</a:t>
            </a:r>
            <a:endParaRPr lang="en-US" altLang="ja-JP" dirty="0"/>
          </a:p>
          <a:p>
            <a:pPr lvl="1">
              <a:lnSpc>
                <a:spcPct val="120000"/>
              </a:lnSpc>
            </a:pPr>
            <a:r>
              <a:rPr lang="en-US" altLang="ja-JP" dirty="0"/>
              <a:t>Badge</a:t>
            </a:r>
          </a:p>
          <a:p>
            <a:pPr>
              <a:lnSpc>
                <a:spcPct val="120000"/>
              </a:lnSpc>
            </a:pPr>
            <a:endParaRPr lang="en-US" altLang="ja-JP" dirty="0"/>
          </a:p>
        </p:txBody>
      </p:sp>
      <p:sp>
        <p:nvSpPr>
          <p:cNvPr id="7" name="コンテンツ プレースホルダー 6">
            <a:extLst>
              <a:ext uri="{FF2B5EF4-FFF2-40B4-BE49-F238E27FC236}">
                <a16:creationId xmlns:a16="http://schemas.microsoft.com/office/drawing/2014/main" id="{0A336C81-DD54-DB35-397C-AD04ED1871BB}"/>
              </a:ext>
            </a:extLst>
          </p:cNvPr>
          <p:cNvSpPr>
            <a:spLocks noGrp="1"/>
          </p:cNvSpPr>
          <p:nvPr>
            <p:ph sz="half" idx="2"/>
          </p:nvPr>
        </p:nvSpPr>
        <p:spPr/>
        <p:txBody>
          <a:bodyPr>
            <a:normAutofit fontScale="70000" lnSpcReduction="20000"/>
          </a:bodyPr>
          <a:lstStyle/>
          <a:p>
            <a:pPr>
              <a:lnSpc>
                <a:spcPct val="120000"/>
              </a:lnSpc>
            </a:pPr>
            <a:r>
              <a:rPr lang="en-US" altLang="ja-JP" dirty="0"/>
              <a:t>Rust</a:t>
            </a:r>
          </a:p>
          <a:p>
            <a:pPr lvl="1">
              <a:lnSpc>
                <a:spcPct val="120000"/>
              </a:lnSpc>
            </a:pPr>
            <a:r>
              <a:rPr lang="ja-JP" altLang="en-US"/>
              <a:t>プロジェクトを初期化する</a:t>
            </a:r>
            <a:endParaRPr lang="en-US" altLang="ja-JP" dirty="0"/>
          </a:p>
          <a:p>
            <a:pPr lvl="1">
              <a:lnSpc>
                <a:spcPct val="120000"/>
              </a:lnSpc>
            </a:pPr>
            <a:r>
              <a:rPr lang="en-US" altLang="ja-JP" dirty="0"/>
              <a:t>Rust</a:t>
            </a:r>
            <a:r>
              <a:rPr lang="ja-JP" altLang="en-US"/>
              <a:t>の基本</a:t>
            </a:r>
            <a:endParaRPr lang="en-US" altLang="ja-JP" dirty="0"/>
          </a:p>
          <a:p>
            <a:pPr>
              <a:lnSpc>
                <a:spcPct val="120000"/>
              </a:lnSpc>
            </a:pPr>
            <a:r>
              <a:rPr lang="ja-JP" altLang="en-US"/>
              <a:t>その他</a:t>
            </a:r>
            <a:endParaRPr lang="en-US" altLang="ja-JP" dirty="0"/>
          </a:p>
          <a:p>
            <a:pPr lvl="1">
              <a:lnSpc>
                <a:spcPct val="120000"/>
              </a:lnSpc>
            </a:pPr>
            <a:r>
              <a:rPr lang="ja-JP" altLang="en-US"/>
              <a:t>テストについて</a:t>
            </a:r>
            <a:endParaRPr lang="en-US" altLang="ja-JP" dirty="0"/>
          </a:p>
          <a:p>
            <a:pPr lvl="1">
              <a:lnSpc>
                <a:spcPct val="120000"/>
              </a:lnSpc>
            </a:pPr>
            <a:r>
              <a:rPr lang="ja-JP" altLang="en-US"/>
              <a:t>バージョン番号</a:t>
            </a:r>
            <a:endParaRPr lang="en-US" altLang="ja-JP" dirty="0"/>
          </a:p>
          <a:p>
            <a:pPr lvl="1">
              <a:lnSpc>
                <a:spcPct val="120000"/>
              </a:lnSpc>
            </a:pPr>
            <a:r>
              <a:rPr lang="ja-JP" altLang="en-US"/>
              <a:t>コミットコメント</a:t>
            </a:r>
            <a:endParaRPr lang="en-US" altLang="ja-JP" dirty="0"/>
          </a:p>
          <a:p>
            <a:pPr lvl="1">
              <a:lnSpc>
                <a:spcPct val="120000"/>
              </a:lnSpc>
            </a:pPr>
            <a:r>
              <a:rPr lang="en-US" altLang="ja-JP" dirty="0"/>
              <a:t>Git/GitHub</a:t>
            </a:r>
            <a:r>
              <a:rPr lang="ja-JP" altLang="en-US"/>
              <a:t>の使い方</a:t>
            </a:r>
            <a:endParaRPr lang="en-US" altLang="ja-JP" dirty="0"/>
          </a:p>
          <a:p>
            <a:pPr>
              <a:lnSpc>
                <a:spcPct val="120000"/>
              </a:lnSpc>
            </a:pPr>
            <a:endParaRPr lang="ja-JP" altLang="en-US"/>
          </a:p>
        </p:txBody>
      </p:sp>
      <p:sp>
        <p:nvSpPr>
          <p:cNvPr id="4" name="日付プレースホルダー 3">
            <a:extLst>
              <a:ext uri="{FF2B5EF4-FFF2-40B4-BE49-F238E27FC236}">
                <a16:creationId xmlns:a16="http://schemas.microsoft.com/office/drawing/2014/main" id="{7F511538-3A5E-A693-1682-8F7030DEED7E}"/>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5DEFD98F-A08C-E935-9470-1C821BDBD919}"/>
              </a:ext>
            </a:extLst>
          </p:cNvPr>
          <p:cNvSpPr>
            <a:spLocks noGrp="1"/>
          </p:cNvSpPr>
          <p:nvPr>
            <p:ph type="sldNum" sz="quarter" idx="12"/>
          </p:nvPr>
        </p:nvSpPr>
        <p:spPr/>
        <p:txBody>
          <a:bodyPr/>
          <a:lstStyle/>
          <a:p>
            <a:fld id="{0B8845E4-5C92-A046-BB66-E5D9CC995B08}" type="slidenum">
              <a:rPr kumimoji="1" lang="ja-JP" altLang="en-US" smtClean="0"/>
              <a:t>17</a:t>
            </a:fld>
            <a:endParaRPr kumimoji="1" lang="ja-JP" altLang="en-US"/>
          </a:p>
        </p:txBody>
      </p:sp>
      <p:sp>
        <p:nvSpPr>
          <p:cNvPr id="6" name="正方形/長方形 5">
            <a:extLst>
              <a:ext uri="{FF2B5EF4-FFF2-40B4-BE49-F238E27FC236}">
                <a16:creationId xmlns:a16="http://schemas.microsoft.com/office/drawing/2014/main" id="{6CC31F54-D1E9-AE68-7B4D-29A742637A9B}"/>
              </a:ext>
            </a:extLst>
          </p:cNvPr>
          <p:cNvSpPr/>
          <p:nvPr/>
        </p:nvSpPr>
        <p:spPr>
          <a:xfrm>
            <a:off x="587828" y="1547539"/>
            <a:ext cx="5116285" cy="4012603"/>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
        <p:nvSpPr>
          <p:cNvPr id="8" name="正方形/長方形 7">
            <a:extLst>
              <a:ext uri="{FF2B5EF4-FFF2-40B4-BE49-F238E27FC236}">
                <a16:creationId xmlns:a16="http://schemas.microsoft.com/office/drawing/2014/main" id="{8303B983-F6FE-29CF-ECDC-9176A09856E9}"/>
              </a:ext>
            </a:extLst>
          </p:cNvPr>
          <p:cNvSpPr/>
          <p:nvPr/>
        </p:nvSpPr>
        <p:spPr>
          <a:xfrm>
            <a:off x="5954485" y="3313044"/>
            <a:ext cx="5908766" cy="286392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6216343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ACB81E-8A2A-9042-837F-27E3F980BAD5}"/>
              </a:ext>
            </a:extLst>
          </p:cNvPr>
          <p:cNvSpPr>
            <a:spLocks noGrp="1"/>
          </p:cNvSpPr>
          <p:nvPr>
            <p:ph type="title"/>
          </p:nvPr>
        </p:nvSpPr>
        <p:spPr/>
        <p:txBody>
          <a:bodyPr/>
          <a:lstStyle/>
          <a:p>
            <a:r>
              <a:rPr kumimoji="1" lang="en-US" altLang="ja-JP" dirty="0"/>
              <a:t>Rust</a:t>
            </a:r>
            <a:r>
              <a:rPr kumimoji="1" lang="ja-JP" altLang="en-US"/>
              <a:t>のインストール</a:t>
            </a:r>
          </a:p>
        </p:txBody>
      </p:sp>
      <p:sp>
        <p:nvSpPr>
          <p:cNvPr id="3" name="コンテンツ プレースホルダー 2">
            <a:extLst>
              <a:ext uri="{FF2B5EF4-FFF2-40B4-BE49-F238E27FC236}">
                <a16:creationId xmlns:a16="http://schemas.microsoft.com/office/drawing/2014/main" id="{1ED4C104-6BEE-412E-02C9-03500490BD5C}"/>
              </a:ext>
            </a:extLst>
          </p:cNvPr>
          <p:cNvSpPr>
            <a:spLocks noGrp="1"/>
          </p:cNvSpPr>
          <p:nvPr>
            <p:ph idx="1"/>
          </p:nvPr>
        </p:nvSpPr>
        <p:spPr/>
        <p:txBody>
          <a:bodyPr>
            <a:normAutofit fontScale="92500" lnSpcReduction="20000"/>
          </a:bodyPr>
          <a:lstStyle/>
          <a:p>
            <a:pPr>
              <a:lnSpc>
                <a:spcPct val="110000"/>
              </a:lnSpc>
            </a:pPr>
            <a:r>
              <a:rPr kumimoji="1" lang="ja-JP" altLang="en-US"/>
              <a:t>インストールする．</a:t>
            </a:r>
            <a:endParaRPr kumimoji="1" lang="en-US" altLang="ja-JP" dirty="0"/>
          </a:p>
          <a:p>
            <a:pPr lvl="1">
              <a:lnSpc>
                <a:spcPct val="110000"/>
              </a:lnSpc>
            </a:pPr>
            <a:r>
              <a:rPr lang="en" altLang="ja-JP" dirty="0">
                <a:latin typeface="Consolas" panose="020B0609020204030204" pitchFamily="49" charset="0"/>
                <a:cs typeface="Consolas" panose="020B0609020204030204" pitchFamily="49" charset="0"/>
              </a:rPr>
              <a:t>curl --proto '=</a:t>
            </a:r>
            <a:r>
              <a:rPr lang="en" altLang="ja-JP" dirty="0" err="1">
                <a:latin typeface="Consolas" panose="020B0609020204030204" pitchFamily="49" charset="0"/>
                <a:cs typeface="Consolas" panose="020B0609020204030204" pitchFamily="49" charset="0"/>
              </a:rPr>
              <a:t>https'</a:t>
            </a:r>
            <a:r>
              <a:rPr lang="en" altLang="ja-JP" dirty="0">
                <a:latin typeface="Consolas" panose="020B0609020204030204" pitchFamily="49" charset="0"/>
                <a:cs typeface="Consolas" panose="020B0609020204030204" pitchFamily="49" charset="0"/>
              </a:rPr>
              <a:t> --tlsv1.2 \</a:t>
            </a:r>
            <a:br>
              <a:rPr lang="en" altLang="ja-JP" dirty="0">
                <a:latin typeface="Consolas" panose="020B0609020204030204" pitchFamily="49" charset="0"/>
                <a:cs typeface="Consolas" panose="020B0609020204030204" pitchFamily="49" charset="0"/>
              </a:rPr>
            </a:br>
            <a:r>
              <a:rPr lang="en" altLang="ja-JP" dirty="0">
                <a:latin typeface="Consolas" panose="020B0609020204030204" pitchFamily="49" charset="0"/>
                <a:cs typeface="Consolas" panose="020B0609020204030204" pitchFamily="49" charset="0"/>
              </a:rPr>
              <a:t>-</a:t>
            </a:r>
            <a:r>
              <a:rPr lang="en" altLang="ja-JP" dirty="0" err="1">
                <a:latin typeface="Consolas" panose="020B0609020204030204" pitchFamily="49" charset="0"/>
                <a:cs typeface="Consolas" panose="020B0609020204030204" pitchFamily="49" charset="0"/>
              </a:rPr>
              <a:t>sSf</a:t>
            </a:r>
            <a:r>
              <a:rPr lang="en" altLang="ja-JP" dirty="0">
                <a:latin typeface="Consolas" panose="020B0609020204030204" pitchFamily="49" charset="0"/>
                <a:cs typeface="Consolas" panose="020B0609020204030204" pitchFamily="49" charset="0"/>
              </a:rPr>
              <a:t> https://</a:t>
            </a:r>
            <a:r>
              <a:rPr lang="en" altLang="ja-JP" dirty="0" err="1">
                <a:latin typeface="Consolas" panose="020B0609020204030204" pitchFamily="49" charset="0"/>
                <a:cs typeface="Consolas" panose="020B0609020204030204" pitchFamily="49" charset="0"/>
              </a:rPr>
              <a:t>sh.rustup.rs</a:t>
            </a:r>
            <a:r>
              <a:rPr lang="en" altLang="ja-JP" dirty="0">
                <a:latin typeface="Consolas" panose="020B0609020204030204" pitchFamily="49" charset="0"/>
                <a:cs typeface="Consolas" panose="020B0609020204030204" pitchFamily="49" charset="0"/>
              </a:rPr>
              <a:t> | </a:t>
            </a:r>
            <a:r>
              <a:rPr lang="en" altLang="ja-JP" dirty="0" err="1">
                <a:latin typeface="Consolas" panose="020B0609020204030204" pitchFamily="49" charset="0"/>
                <a:cs typeface="Consolas" panose="020B0609020204030204" pitchFamily="49" charset="0"/>
              </a:rPr>
              <a:t>sh</a:t>
            </a:r>
            <a:endParaRPr kumimoji="1" lang="en" altLang="ja-JP" dirty="0">
              <a:latin typeface="Consolas" panose="020B0609020204030204" pitchFamily="49" charset="0"/>
              <a:cs typeface="Consolas" panose="020B0609020204030204" pitchFamily="49" charset="0"/>
            </a:endParaRPr>
          </a:p>
          <a:p>
            <a:pPr lvl="1">
              <a:lnSpc>
                <a:spcPct val="110000"/>
              </a:lnSpc>
            </a:pPr>
            <a:r>
              <a:rPr lang="ja-JP" altLang="en-US">
                <a:latin typeface="Consolas" panose="020B0609020204030204" pitchFamily="49" charset="0"/>
                <a:cs typeface="Consolas" panose="020B0609020204030204" pitchFamily="49" charset="0"/>
              </a:rPr>
              <a:t>このコマンドで</a:t>
            </a:r>
            <a:r>
              <a:rPr lang="en-US" altLang="ja-JP" dirty="0">
                <a:latin typeface="Consolas" panose="020B0609020204030204" pitchFamily="49" charset="0"/>
                <a:cs typeface="Consolas" panose="020B0609020204030204" pitchFamily="49" charset="0"/>
              </a:rPr>
              <a:t>Rust</a:t>
            </a:r>
            <a:r>
              <a:rPr lang="ja-JP" altLang="en-US">
                <a:latin typeface="Consolas" panose="020B0609020204030204" pitchFamily="49" charset="0"/>
                <a:cs typeface="Consolas" panose="020B0609020204030204" pitchFamily="49" charset="0"/>
              </a:rPr>
              <a:t>関連のツールがインストールされる。</a:t>
            </a:r>
            <a:endParaRPr lang="en-US" altLang="ja-JP" dirty="0">
              <a:latin typeface="Consolas" panose="020B0609020204030204" pitchFamily="49" charset="0"/>
              <a:cs typeface="Consolas" panose="020B0609020204030204" pitchFamily="49" charset="0"/>
            </a:endParaRPr>
          </a:p>
          <a:p>
            <a:pPr>
              <a:lnSpc>
                <a:spcPct val="110000"/>
              </a:lnSpc>
            </a:pPr>
            <a:r>
              <a:rPr kumimoji="1" lang="en-US" altLang="ja-JP" dirty="0" err="1">
                <a:latin typeface="Consolas" panose="020B0609020204030204" pitchFamily="49" charset="0"/>
                <a:cs typeface="Consolas" panose="020B0609020204030204" pitchFamily="49" charset="0"/>
              </a:rPr>
              <a:t>rustup</a:t>
            </a:r>
            <a:r>
              <a:rPr kumimoji="1" lang="en-US" altLang="ja-JP" dirty="0">
                <a:latin typeface="Consolas" panose="020B0609020204030204" pitchFamily="49" charset="0"/>
                <a:cs typeface="Consolas" panose="020B0609020204030204" pitchFamily="49" charset="0"/>
              </a:rPr>
              <a:t> update</a:t>
            </a:r>
          </a:p>
          <a:p>
            <a:pPr lvl="1">
              <a:lnSpc>
                <a:spcPct val="110000"/>
              </a:lnSpc>
            </a:pPr>
            <a:r>
              <a:rPr kumimoji="1" lang="en-US" altLang="ja-JP" dirty="0">
                <a:latin typeface="Consolas" panose="020B0609020204030204" pitchFamily="49" charset="0"/>
                <a:cs typeface="Consolas" panose="020B0609020204030204" pitchFamily="49" charset="0"/>
              </a:rPr>
              <a:t>Rust</a:t>
            </a:r>
            <a:r>
              <a:rPr kumimoji="1" lang="ja-JP" altLang="en-US">
                <a:latin typeface="Consolas" panose="020B0609020204030204" pitchFamily="49" charset="0"/>
                <a:cs typeface="Consolas" panose="020B0609020204030204" pitchFamily="49" charset="0"/>
              </a:rPr>
              <a:t>関連のツールを更新する。</a:t>
            </a:r>
          </a:p>
        </p:txBody>
      </p:sp>
      <p:sp>
        <p:nvSpPr>
          <p:cNvPr id="4" name="日付プレースホルダー 3">
            <a:extLst>
              <a:ext uri="{FF2B5EF4-FFF2-40B4-BE49-F238E27FC236}">
                <a16:creationId xmlns:a16="http://schemas.microsoft.com/office/drawing/2014/main" id="{6EE8DFB1-B737-C663-03A6-8D4F47BA2D68}"/>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8482E6A5-77F9-DA4A-AA67-423C8EF22D21}"/>
              </a:ext>
            </a:extLst>
          </p:cNvPr>
          <p:cNvSpPr>
            <a:spLocks noGrp="1"/>
          </p:cNvSpPr>
          <p:nvPr>
            <p:ph type="sldNum" sz="quarter" idx="12"/>
          </p:nvPr>
        </p:nvSpPr>
        <p:spPr/>
        <p:txBody>
          <a:bodyPr/>
          <a:lstStyle/>
          <a:p>
            <a:fld id="{0B8845E4-5C92-A046-BB66-E5D9CC995B08}" type="slidenum">
              <a:rPr kumimoji="1" lang="ja-JP" altLang="en-US" smtClean="0"/>
              <a:t>18</a:t>
            </a:fld>
            <a:endParaRPr kumimoji="1" lang="ja-JP" altLang="en-US"/>
          </a:p>
        </p:txBody>
      </p:sp>
    </p:spTree>
    <p:extLst>
      <p:ext uri="{BB962C8B-B14F-4D97-AF65-F5344CB8AC3E}">
        <p14:creationId xmlns:p14="http://schemas.microsoft.com/office/powerpoint/2010/main" val="26874398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E5CFD16-FD23-8D4E-BD49-AB3A52F6BCB0}"/>
              </a:ext>
            </a:extLst>
          </p:cNvPr>
          <p:cNvSpPr>
            <a:spLocks noGrp="1"/>
          </p:cNvSpPr>
          <p:nvPr>
            <p:ph type="title"/>
          </p:nvPr>
        </p:nvSpPr>
        <p:spPr/>
        <p:txBody>
          <a:bodyPr/>
          <a:lstStyle/>
          <a:p>
            <a:r>
              <a:rPr kumimoji="1" lang="ja-JP" altLang="en-US"/>
              <a:t>エディタ</a:t>
            </a:r>
            <a:r>
              <a:rPr kumimoji="1" lang="en-US" altLang="ja-JP" dirty="0"/>
              <a:t>/IDE</a:t>
            </a:r>
            <a:endParaRPr kumimoji="1" lang="ja-JP" altLang="en-US"/>
          </a:p>
        </p:txBody>
      </p:sp>
      <p:sp>
        <p:nvSpPr>
          <p:cNvPr id="3" name="コンテンツ プレースホルダー 2">
            <a:extLst>
              <a:ext uri="{FF2B5EF4-FFF2-40B4-BE49-F238E27FC236}">
                <a16:creationId xmlns:a16="http://schemas.microsoft.com/office/drawing/2014/main" id="{2834B549-68F6-3B2A-1480-81A1DDFD1E61}"/>
              </a:ext>
            </a:extLst>
          </p:cNvPr>
          <p:cNvSpPr>
            <a:spLocks noGrp="1"/>
          </p:cNvSpPr>
          <p:nvPr>
            <p:ph idx="1"/>
          </p:nvPr>
        </p:nvSpPr>
        <p:spPr>
          <a:xfrm>
            <a:off x="838200" y="1825625"/>
            <a:ext cx="10929730" cy="4351338"/>
          </a:xfrm>
        </p:spPr>
        <p:txBody>
          <a:bodyPr>
            <a:normAutofit fontScale="77500" lnSpcReduction="20000"/>
          </a:bodyPr>
          <a:lstStyle/>
          <a:p>
            <a:pPr>
              <a:lnSpc>
                <a:spcPct val="120000"/>
              </a:lnSpc>
            </a:pPr>
            <a:r>
              <a:rPr kumimoji="1" lang="en-US" altLang="ja-JP" dirty="0"/>
              <a:t>Visual Studio Code</a:t>
            </a:r>
          </a:p>
          <a:p>
            <a:pPr lvl="1">
              <a:lnSpc>
                <a:spcPct val="120000"/>
              </a:lnSpc>
            </a:pPr>
            <a:r>
              <a:rPr lang="en-US" altLang="ja-JP" dirty="0">
                <a:hlinkClick r:id="rId2"/>
              </a:rPr>
              <a:t>https://rust-analyzer.github.io</a:t>
            </a:r>
            <a:endParaRPr lang="en-US" altLang="ja-JP" dirty="0"/>
          </a:p>
          <a:p>
            <a:pPr lvl="1">
              <a:lnSpc>
                <a:spcPct val="120000"/>
              </a:lnSpc>
            </a:pPr>
            <a:r>
              <a:rPr lang="en-US" altLang="ja-JP" dirty="0">
                <a:hlinkClick r:id="rId3"/>
              </a:rPr>
              <a:t>https://zenn.dev/kuto5046/scraps/d7fd52a8cf9668</a:t>
            </a:r>
            <a:endParaRPr kumimoji="1" lang="en-US" altLang="ja-JP" dirty="0"/>
          </a:p>
          <a:p>
            <a:pPr>
              <a:lnSpc>
                <a:spcPct val="120000"/>
              </a:lnSpc>
            </a:pPr>
            <a:r>
              <a:rPr lang="en-US" altLang="ja-JP" dirty="0"/>
              <a:t>JetBrains </a:t>
            </a:r>
            <a:r>
              <a:rPr lang="en-US" altLang="ja-JP" dirty="0" err="1"/>
              <a:t>RustRover</a:t>
            </a:r>
            <a:endParaRPr lang="en-US" altLang="ja-JP" dirty="0"/>
          </a:p>
          <a:p>
            <a:pPr>
              <a:lnSpc>
                <a:spcPct val="120000"/>
              </a:lnSpc>
            </a:pPr>
            <a:r>
              <a:rPr kumimoji="1" lang="ja-JP" altLang="en-US"/>
              <a:t>基本的に好きなものを使えば良い．</a:t>
            </a:r>
            <a:endParaRPr kumimoji="1" lang="en-US" altLang="ja-JP" dirty="0"/>
          </a:p>
          <a:p>
            <a:pPr lvl="1">
              <a:lnSpc>
                <a:spcPct val="120000"/>
              </a:lnSpc>
            </a:pPr>
            <a:r>
              <a:rPr lang="ja-JP" altLang="en-US"/>
              <a:t>ただし，</a:t>
            </a:r>
            <a:r>
              <a:rPr lang="en-US" altLang="ja-JP" dirty="0"/>
              <a:t>GitHub Copilot</a:t>
            </a:r>
            <a:r>
              <a:rPr lang="ja-JP" altLang="en-US"/>
              <a:t>が使えるエディタが良い．</a:t>
            </a:r>
            <a:endParaRPr lang="en-US" altLang="ja-JP" dirty="0"/>
          </a:p>
          <a:p>
            <a:pPr lvl="1">
              <a:lnSpc>
                <a:spcPct val="120000"/>
              </a:lnSpc>
            </a:pPr>
            <a:r>
              <a:rPr kumimoji="1" lang="ja-JP" altLang="en-US"/>
              <a:t>上記</a:t>
            </a:r>
            <a:r>
              <a:rPr kumimoji="1" lang="en-US" altLang="ja-JP" dirty="0"/>
              <a:t>2</a:t>
            </a:r>
            <a:r>
              <a:rPr kumimoji="1" lang="ja-JP" altLang="en-US"/>
              <a:t>つは利用できる．</a:t>
            </a:r>
            <a:endParaRPr kumimoji="1" lang="en-US" altLang="ja-JP" dirty="0"/>
          </a:p>
        </p:txBody>
      </p:sp>
      <p:sp>
        <p:nvSpPr>
          <p:cNvPr id="4" name="日付プレースホルダー 3">
            <a:extLst>
              <a:ext uri="{FF2B5EF4-FFF2-40B4-BE49-F238E27FC236}">
                <a16:creationId xmlns:a16="http://schemas.microsoft.com/office/drawing/2014/main" id="{97ACAF0F-C510-62D2-9FFB-DB5B89C40865}"/>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CBEDBB63-DC59-3DCC-FE8C-50E60A709BCC}"/>
              </a:ext>
            </a:extLst>
          </p:cNvPr>
          <p:cNvSpPr>
            <a:spLocks noGrp="1"/>
          </p:cNvSpPr>
          <p:nvPr>
            <p:ph type="sldNum" sz="quarter" idx="12"/>
          </p:nvPr>
        </p:nvSpPr>
        <p:spPr/>
        <p:txBody>
          <a:bodyPr/>
          <a:lstStyle/>
          <a:p>
            <a:fld id="{0B8845E4-5C92-A046-BB66-E5D9CC995B08}" type="slidenum">
              <a:rPr kumimoji="1" lang="ja-JP" altLang="en-US" smtClean="0"/>
              <a:t>19</a:t>
            </a:fld>
            <a:endParaRPr kumimoji="1" lang="ja-JP" altLang="en-US"/>
          </a:p>
        </p:txBody>
      </p:sp>
      <p:pic>
        <p:nvPicPr>
          <p:cNvPr id="6" name="図 5">
            <a:extLst>
              <a:ext uri="{FF2B5EF4-FFF2-40B4-BE49-F238E27FC236}">
                <a16:creationId xmlns:a16="http://schemas.microsoft.com/office/drawing/2014/main" id="{A5881121-990F-B8C7-98F1-5B513EC38932}"/>
              </a:ext>
            </a:extLst>
          </p:cNvPr>
          <p:cNvPicPr>
            <a:picLocks noChangeAspect="1"/>
          </p:cNvPicPr>
          <p:nvPr/>
        </p:nvPicPr>
        <p:blipFill>
          <a:blip r:embed="rId4"/>
          <a:stretch>
            <a:fillRect/>
          </a:stretch>
        </p:blipFill>
        <p:spPr>
          <a:xfrm>
            <a:off x="6616413" y="1690688"/>
            <a:ext cx="720000" cy="720000"/>
          </a:xfrm>
          <a:prstGeom prst="rect">
            <a:avLst/>
          </a:prstGeom>
        </p:spPr>
      </p:pic>
      <p:pic>
        <p:nvPicPr>
          <p:cNvPr id="7" name="図 6">
            <a:extLst>
              <a:ext uri="{FF2B5EF4-FFF2-40B4-BE49-F238E27FC236}">
                <a16:creationId xmlns:a16="http://schemas.microsoft.com/office/drawing/2014/main" id="{8B6952F3-9ED9-2AD9-4410-3699B0F8AE7E}"/>
              </a:ext>
            </a:extLst>
          </p:cNvPr>
          <p:cNvPicPr>
            <a:picLocks noChangeAspect="1"/>
          </p:cNvPicPr>
          <p:nvPr/>
        </p:nvPicPr>
        <p:blipFill>
          <a:blip r:embed="rId5"/>
          <a:stretch>
            <a:fillRect/>
          </a:stretch>
        </p:blipFill>
        <p:spPr>
          <a:xfrm>
            <a:off x="6616413" y="3429000"/>
            <a:ext cx="720000" cy="720000"/>
          </a:xfrm>
          <a:prstGeom prst="rect">
            <a:avLst/>
          </a:prstGeom>
        </p:spPr>
      </p:pic>
    </p:spTree>
    <p:extLst>
      <p:ext uri="{BB962C8B-B14F-4D97-AF65-F5344CB8AC3E}">
        <p14:creationId xmlns:p14="http://schemas.microsoft.com/office/powerpoint/2010/main" val="10830631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E8791E-BE1A-CF0E-8C01-9D7BD85ACA53}"/>
              </a:ext>
            </a:extLst>
          </p:cNvPr>
          <p:cNvSpPr>
            <a:spLocks noGrp="1"/>
          </p:cNvSpPr>
          <p:nvPr>
            <p:ph type="title"/>
          </p:nvPr>
        </p:nvSpPr>
        <p:spPr/>
        <p:txBody>
          <a:bodyPr/>
          <a:lstStyle/>
          <a:p>
            <a:r>
              <a:rPr kumimoji="1" lang="en-US" altLang="ja-JP" dirty="0"/>
              <a:t>GitHub Copilot</a:t>
            </a:r>
            <a:endParaRPr kumimoji="1" lang="ja-JP" altLang="en-US"/>
          </a:p>
        </p:txBody>
      </p:sp>
      <p:sp>
        <p:nvSpPr>
          <p:cNvPr id="3" name="コンテンツ プレースホルダー 2">
            <a:extLst>
              <a:ext uri="{FF2B5EF4-FFF2-40B4-BE49-F238E27FC236}">
                <a16:creationId xmlns:a16="http://schemas.microsoft.com/office/drawing/2014/main" id="{B61CBE6E-FF5B-5061-7A71-1717162A9FD2}"/>
              </a:ext>
            </a:extLst>
          </p:cNvPr>
          <p:cNvSpPr>
            <a:spLocks noGrp="1"/>
          </p:cNvSpPr>
          <p:nvPr>
            <p:ph idx="1"/>
          </p:nvPr>
        </p:nvSpPr>
        <p:spPr>
          <a:xfrm>
            <a:off x="838200" y="1825625"/>
            <a:ext cx="10827774" cy="4351338"/>
          </a:xfrm>
        </p:spPr>
        <p:txBody>
          <a:bodyPr>
            <a:normAutofit fontScale="92500"/>
          </a:bodyPr>
          <a:lstStyle/>
          <a:p>
            <a:pPr>
              <a:lnSpc>
                <a:spcPct val="110000"/>
              </a:lnSpc>
            </a:pPr>
            <a:r>
              <a:rPr kumimoji="1" lang="ja-JP" altLang="en-US"/>
              <a:t>オートコンプリートを</a:t>
            </a:r>
            <a:r>
              <a:rPr kumimoji="1" lang="en-US" altLang="ja-JP" dirty="0"/>
              <a:t>AI</a:t>
            </a:r>
            <a:r>
              <a:rPr kumimoji="1" lang="ja-JP" altLang="en-US"/>
              <a:t>が担当する．</a:t>
            </a:r>
            <a:endParaRPr kumimoji="1" lang="en-US" altLang="ja-JP" dirty="0"/>
          </a:p>
          <a:p>
            <a:pPr lvl="1">
              <a:lnSpc>
                <a:spcPct val="110000"/>
              </a:lnSpc>
            </a:pPr>
            <a:r>
              <a:rPr kumimoji="1" lang="ja-JP" altLang="en-US"/>
              <a:t>関数名を入力するだけで中身を補完してくれる．</a:t>
            </a:r>
            <a:endParaRPr kumimoji="1" lang="en-US" altLang="ja-JP" dirty="0"/>
          </a:p>
          <a:p>
            <a:pPr lvl="1">
              <a:lnSpc>
                <a:spcPct val="110000"/>
              </a:lnSpc>
            </a:pPr>
            <a:r>
              <a:rPr lang="ja-JP" altLang="en-US"/>
              <a:t>利用するには，</a:t>
            </a:r>
            <a:r>
              <a:rPr lang="en-US" altLang="ja-JP" dirty="0"/>
              <a:t>GitHub Pro</a:t>
            </a:r>
            <a:r>
              <a:rPr lang="ja-JP" altLang="en-US"/>
              <a:t>が必要となる．</a:t>
            </a:r>
            <a:endParaRPr lang="en-US" altLang="ja-JP" dirty="0"/>
          </a:p>
          <a:p>
            <a:pPr lvl="2">
              <a:lnSpc>
                <a:spcPct val="110000"/>
              </a:lnSpc>
            </a:pPr>
            <a:r>
              <a:rPr lang="en-US" altLang="ja-JP" dirty="0"/>
              <a:t>GitHub Education</a:t>
            </a:r>
            <a:r>
              <a:rPr lang="ja-JP" altLang="en-US"/>
              <a:t>に登録すると無料で利用できる．</a:t>
            </a:r>
            <a:endParaRPr lang="en-US" altLang="ja-JP" dirty="0"/>
          </a:p>
          <a:p>
            <a:pPr lvl="2">
              <a:lnSpc>
                <a:spcPct val="110000"/>
              </a:lnSpc>
            </a:pPr>
            <a:r>
              <a:rPr kumimoji="1" lang="en" altLang="ja-JP" dirty="0">
                <a:latin typeface="Consolas" panose="020B0609020204030204" pitchFamily="49" charset="0"/>
                <a:cs typeface="Consolas" panose="020B0609020204030204" pitchFamily="49" charset="0"/>
                <a:hlinkClick r:id="rId2"/>
              </a:rPr>
              <a:t>https://education.github.com</a:t>
            </a:r>
            <a:endParaRPr lang="en-US" altLang="ja-JP" dirty="0">
              <a:latin typeface="Consolas" panose="020B0609020204030204" pitchFamily="49" charset="0"/>
              <a:cs typeface="Consolas" panose="020B0609020204030204" pitchFamily="49" charset="0"/>
            </a:endParaRPr>
          </a:p>
          <a:p>
            <a:pPr lvl="3">
              <a:lnSpc>
                <a:spcPct val="110000"/>
              </a:lnSpc>
            </a:pPr>
            <a:r>
              <a:rPr kumimoji="1" lang="ja-JP" altLang="en-US"/>
              <a:t>大学のメールアドレスがあれば登録できる．</a:t>
            </a:r>
            <a:endParaRPr kumimoji="1" lang="en-US" altLang="ja-JP" dirty="0"/>
          </a:p>
        </p:txBody>
      </p:sp>
      <p:sp>
        <p:nvSpPr>
          <p:cNvPr id="4" name="日付プレースホルダー 3">
            <a:extLst>
              <a:ext uri="{FF2B5EF4-FFF2-40B4-BE49-F238E27FC236}">
                <a16:creationId xmlns:a16="http://schemas.microsoft.com/office/drawing/2014/main" id="{BB71CE53-9B98-9415-FAFD-4154E0B8ED1D}"/>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71A26DBE-51EF-E775-A862-46BCBFE6C391}"/>
              </a:ext>
            </a:extLst>
          </p:cNvPr>
          <p:cNvSpPr>
            <a:spLocks noGrp="1"/>
          </p:cNvSpPr>
          <p:nvPr>
            <p:ph type="sldNum" sz="quarter" idx="12"/>
          </p:nvPr>
        </p:nvSpPr>
        <p:spPr/>
        <p:txBody>
          <a:bodyPr/>
          <a:lstStyle/>
          <a:p>
            <a:fld id="{0B8845E4-5C92-A046-BB66-E5D9CC995B08}" type="slidenum">
              <a:rPr kumimoji="1" lang="ja-JP" altLang="en-US" smtClean="0"/>
              <a:t>20</a:t>
            </a:fld>
            <a:endParaRPr kumimoji="1" lang="ja-JP" altLang="en-US"/>
          </a:p>
        </p:txBody>
      </p:sp>
      <p:pic>
        <p:nvPicPr>
          <p:cNvPr id="1026" name="Picture 2" descr="GitHub Copilot にいいコードを書いてもらう方法 - GMOインターネットグループ グループ研究開発本部">
            <a:extLst>
              <a:ext uri="{FF2B5EF4-FFF2-40B4-BE49-F238E27FC236}">
                <a16:creationId xmlns:a16="http://schemas.microsoft.com/office/drawing/2014/main" id="{02C4705C-EF98-9A0B-01CC-22A8BA8CB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0168" y="0"/>
            <a:ext cx="4581832" cy="1517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2112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6B07E9-FB15-843B-6CDA-B1DFB28CF8A1}"/>
              </a:ext>
            </a:extLst>
          </p:cNvPr>
          <p:cNvSpPr>
            <a:spLocks noGrp="1"/>
          </p:cNvSpPr>
          <p:nvPr>
            <p:ph type="title"/>
          </p:nvPr>
        </p:nvSpPr>
        <p:spPr/>
        <p:txBody>
          <a:bodyPr/>
          <a:lstStyle/>
          <a:p>
            <a:r>
              <a:rPr kumimoji="1" lang="ja-JP" altLang="en-US"/>
              <a:t>プロジェクト</a:t>
            </a:r>
            <a:r>
              <a:rPr lang="ja-JP" altLang="en-US"/>
              <a:t>を初期化する</a:t>
            </a:r>
            <a:endParaRPr kumimoji="1" lang="ja-JP" altLang="en-US"/>
          </a:p>
        </p:txBody>
      </p:sp>
      <p:sp>
        <p:nvSpPr>
          <p:cNvPr id="3" name="コンテンツ プレースホルダー 2">
            <a:extLst>
              <a:ext uri="{FF2B5EF4-FFF2-40B4-BE49-F238E27FC236}">
                <a16:creationId xmlns:a16="http://schemas.microsoft.com/office/drawing/2014/main" id="{09195E5B-02FC-6528-B694-5066A4DCB93B}"/>
              </a:ext>
            </a:extLst>
          </p:cNvPr>
          <p:cNvSpPr>
            <a:spLocks noGrp="1"/>
          </p:cNvSpPr>
          <p:nvPr>
            <p:ph idx="1"/>
          </p:nvPr>
        </p:nvSpPr>
        <p:spPr/>
        <p:txBody>
          <a:bodyPr>
            <a:normAutofit fontScale="70000" lnSpcReduction="20000"/>
          </a:bodyPr>
          <a:lstStyle/>
          <a:p>
            <a:pPr>
              <a:lnSpc>
                <a:spcPct val="120000"/>
              </a:lnSpc>
            </a:pPr>
            <a:r>
              <a:rPr kumimoji="1" lang="ja-JP" altLang="en-US"/>
              <a:t>以下のコマンドでプロジェクトディレクトリを作成する</a:t>
            </a:r>
            <a:r>
              <a:rPr lang="ja-JP" altLang="en-US"/>
              <a:t>。</a:t>
            </a:r>
            <a:endParaRPr lang="en-US" altLang="ja-JP" dirty="0"/>
          </a:p>
          <a:p>
            <a:pPr lvl="1">
              <a:lnSpc>
                <a:spcPct val="120000"/>
              </a:lnSpc>
            </a:pPr>
            <a:r>
              <a:rPr lang="en-US" altLang="ja-JP" b="1" dirty="0">
                <a:latin typeface="Consolas" panose="020B0609020204030204" pitchFamily="49" charset="0"/>
                <a:cs typeface="Consolas" panose="020B0609020204030204" pitchFamily="49" charset="0"/>
              </a:rPr>
              <a:t>cargo new </a:t>
            </a:r>
            <a:r>
              <a:rPr lang="en-US" altLang="ja-JP" b="1" i="1" dirty="0">
                <a:latin typeface="Consolas" panose="020B0609020204030204" pitchFamily="49" charset="0"/>
                <a:cs typeface="Consolas" panose="020B0609020204030204" pitchFamily="49" charset="0"/>
              </a:rPr>
              <a:t>REPO_NAME</a:t>
            </a:r>
            <a:r>
              <a:rPr lang="ja-JP" altLang="en-US" i="1">
                <a:latin typeface="Consolas" panose="020B0609020204030204" pitchFamily="49" charset="0"/>
                <a:cs typeface="Consolas" panose="020B0609020204030204" pitchFamily="49" charset="0"/>
              </a:rPr>
              <a:t>　</a:t>
            </a:r>
            <a:r>
              <a:rPr lang="en-US" altLang="ja-JP" i="1" dirty="0">
                <a:latin typeface="Consolas" panose="020B0609020204030204" pitchFamily="49" charset="0"/>
                <a:cs typeface="Consolas" panose="020B0609020204030204" pitchFamily="49" charset="0"/>
              </a:rPr>
              <a:t>REPO_NAME</a:t>
            </a:r>
            <a:r>
              <a:rPr lang="ja-JP" altLang="en-US" i="1">
                <a:latin typeface="Consolas" panose="020B0609020204030204" pitchFamily="49" charset="0"/>
                <a:cs typeface="Consolas" panose="020B0609020204030204" pitchFamily="49" charset="0"/>
              </a:rPr>
              <a:t>に作成する。</a:t>
            </a:r>
            <a:endParaRPr lang="en-US" altLang="ja-JP" i="1" dirty="0">
              <a:latin typeface="Consolas" panose="020B0609020204030204" pitchFamily="49" charset="0"/>
              <a:cs typeface="Consolas" panose="020B0609020204030204" pitchFamily="49" charset="0"/>
            </a:endParaRPr>
          </a:p>
          <a:p>
            <a:pPr lvl="1">
              <a:lnSpc>
                <a:spcPct val="120000"/>
              </a:lnSpc>
            </a:pPr>
            <a:r>
              <a:rPr kumimoji="1" lang="en-US" altLang="ja-JP" b="1" dirty="0">
                <a:latin typeface="Consolas" panose="020B0609020204030204" pitchFamily="49" charset="0"/>
                <a:cs typeface="Consolas" panose="020B0609020204030204" pitchFamily="49" charset="0"/>
              </a:rPr>
              <a:t>cargo </a:t>
            </a:r>
            <a:r>
              <a:rPr kumimoji="1" lang="en-US" altLang="ja-JP" b="1" dirty="0" err="1">
                <a:latin typeface="Consolas" panose="020B0609020204030204" pitchFamily="49" charset="0"/>
                <a:cs typeface="Consolas" panose="020B0609020204030204" pitchFamily="49" charset="0"/>
              </a:rPr>
              <a:t>init</a:t>
            </a:r>
            <a:r>
              <a:rPr kumimoji="1" lang="ja-JP" altLang="en-US">
                <a:latin typeface="Consolas" panose="020B0609020204030204" pitchFamily="49" charset="0"/>
                <a:cs typeface="Consolas" panose="020B0609020204030204" pitchFamily="49" charset="0"/>
              </a:rPr>
              <a:t>　　　　　　現在のディレクトリで初期化する。</a:t>
            </a:r>
            <a:endParaRPr kumimoji="1" lang="en-US" altLang="ja-JP" dirty="0">
              <a:latin typeface="Consolas" panose="020B0609020204030204" pitchFamily="49" charset="0"/>
              <a:cs typeface="Consolas" panose="020B0609020204030204" pitchFamily="49" charset="0"/>
            </a:endParaRPr>
          </a:p>
          <a:p>
            <a:pPr>
              <a:lnSpc>
                <a:spcPct val="120000"/>
              </a:lnSpc>
            </a:pPr>
            <a:r>
              <a:rPr lang="ja-JP" altLang="en-US">
                <a:latin typeface="Consolas" panose="020B0609020204030204" pitchFamily="49" charset="0"/>
                <a:cs typeface="Consolas" panose="020B0609020204030204" pitchFamily="49" charset="0"/>
              </a:rPr>
              <a:t>以下のファイルが作成される．</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err="1">
                <a:latin typeface="Consolas" panose="020B0609020204030204" pitchFamily="49" charset="0"/>
                <a:cs typeface="Consolas" panose="020B0609020204030204" pitchFamily="49" charset="0"/>
              </a:rPr>
              <a:t>Cargo.toml</a:t>
            </a:r>
            <a:r>
              <a:rPr lang="ja-JP" altLang="en-US">
                <a:latin typeface="Consolas" panose="020B0609020204030204" pitchFamily="49" charset="0"/>
                <a:cs typeface="Consolas" panose="020B0609020204030204" pitchFamily="49" charset="0"/>
              </a:rPr>
              <a:t>　プロジェクトの設定ファイル。</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err="1">
                <a:latin typeface="Consolas" panose="020B0609020204030204" pitchFamily="49" charset="0"/>
                <a:cs typeface="Consolas" panose="020B0609020204030204" pitchFamily="49" charset="0"/>
              </a:rPr>
              <a:t>Cargo.lock</a:t>
            </a:r>
            <a:r>
              <a:rPr lang="ja-JP" altLang="en-US">
                <a:latin typeface="Consolas" panose="020B0609020204030204" pitchFamily="49" charset="0"/>
                <a:cs typeface="Consolas" panose="020B0609020204030204" pitchFamily="49" charset="0"/>
              </a:rPr>
              <a:t>　コンパイルすることで自動的に作成される。</a:t>
            </a:r>
            <a:endParaRPr lang="en-US" altLang="ja-JP" dirty="0">
              <a:latin typeface="Consolas" panose="020B0609020204030204" pitchFamily="49" charset="0"/>
              <a:cs typeface="Consolas" panose="020B0609020204030204" pitchFamily="49" charset="0"/>
            </a:endParaRPr>
          </a:p>
          <a:p>
            <a:pPr lvl="2">
              <a:lnSpc>
                <a:spcPct val="120000"/>
              </a:lnSpc>
            </a:pPr>
            <a:r>
              <a:rPr lang="ja-JP" altLang="en-US">
                <a:latin typeface="Consolas" panose="020B0609020204030204" pitchFamily="49" charset="0"/>
                <a:cs typeface="Consolas" panose="020B0609020204030204" pitchFamily="49" charset="0"/>
              </a:rPr>
              <a:t>依存ライブラリのバージョンを固定する。</a:t>
            </a:r>
            <a:endParaRPr lang="en-US" altLang="ja-JP" dirty="0">
              <a:latin typeface="Consolas" panose="020B0609020204030204" pitchFamily="49" charset="0"/>
              <a:cs typeface="Consolas" panose="020B0609020204030204" pitchFamily="49" charset="0"/>
            </a:endParaRPr>
          </a:p>
          <a:p>
            <a:pPr lvl="1">
              <a:lnSpc>
                <a:spcPct val="120000"/>
              </a:lnSpc>
            </a:pPr>
            <a:r>
              <a:rPr lang="en-US" altLang="ja-JP" dirty="0" err="1">
                <a:latin typeface="Consolas" panose="020B0609020204030204" pitchFamily="49" charset="0"/>
                <a:cs typeface="Consolas" panose="020B0609020204030204" pitchFamily="49" charset="0"/>
              </a:rPr>
              <a:t>src</a:t>
            </a:r>
            <a:r>
              <a:rPr lang="ja-JP" altLang="en-US">
                <a:latin typeface="Consolas" panose="020B0609020204030204" pitchFamily="49" charset="0"/>
                <a:cs typeface="Consolas" panose="020B0609020204030204" pitchFamily="49" charset="0"/>
              </a:rPr>
              <a:t> ソースファイルを置くディレクトリ。</a:t>
            </a:r>
            <a:endParaRPr lang="en-US" altLang="ja-JP" dirty="0">
              <a:latin typeface="Consolas" panose="020B0609020204030204" pitchFamily="49" charset="0"/>
              <a:cs typeface="Consolas" panose="020B0609020204030204" pitchFamily="49" charset="0"/>
            </a:endParaRPr>
          </a:p>
          <a:p>
            <a:pPr lvl="1">
              <a:lnSpc>
                <a:spcPct val="120000"/>
              </a:lnSpc>
            </a:pPr>
            <a:endParaRPr kumimoji="1" lang="ja-JP" altLang="en-US">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83144185-A7A3-A6EA-B3F5-2D9E8EE009A7}"/>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CDC18B8E-7372-B2BC-F68E-E9F8AB8F893A}"/>
              </a:ext>
            </a:extLst>
          </p:cNvPr>
          <p:cNvSpPr>
            <a:spLocks noGrp="1"/>
          </p:cNvSpPr>
          <p:nvPr>
            <p:ph type="sldNum" sz="quarter" idx="12"/>
          </p:nvPr>
        </p:nvSpPr>
        <p:spPr/>
        <p:txBody>
          <a:bodyPr/>
          <a:lstStyle/>
          <a:p>
            <a:fld id="{0B8845E4-5C92-A046-BB66-E5D9CC995B08}" type="slidenum">
              <a:rPr kumimoji="1" lang="ja-JP" altLang="en-US" smtClean="0"/>
              <a:t>21</a:t>
            </a:fld>
            <a:endParaRPr kumimoji="1" lang="ja-JP" altLang="en-US"/>
          </a:p>
        </p:txBody>
      </p:sp>
    </p:spTree>
    <p:extLst>
      <p:ext uri="{BB962C8B-B14F-4D97-AF65-F5344CB8AC3E}">
        <p14:creationId xmlns:p14="http://schemas.microsoft.com/office/powerpoint/2010/main" val="1850087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4378ED-6630-631A-BAEC-E3CF573AD7DD}"/>
              </a:ext>
            </a:extLst>
          </p:cNvPr>
          <p:cNvSpPr>
            <a:spLocks noGrp="1"/>
          </p:cNvSpPr>
          <p:nvPr>
            <p:ph type="title"/>
          </p:nvPr>
        </p:nvSpPr>
        <p:spPr>
          <a:xfrm>
            <a:off x="838200" y="365125"/>
            <a:ext cx="11165114" cy="1325563"/>
          </a:xfrm>
        </p:spPr>
        <p:txBody>
          <a:bodyPr/>
          <a:lstStyle/>
          <a:p>
            <a:r>
              <a:rPr lang="en-US" altLang="ja-JP" sz="2800" dirty="0"/>
              <a:t>Rust</a:t>
            </a:r>
            <a:r>
              <a:rPr kumimoji="1" lang="ja-JP" altLang="en-US" sz="2800"/>
              <a:t>プロジェクト</a:t>
            </a:r>
            <a:br>
              <a:rPr kumimoji="1" lang="en-US" altLang="ja-JP" sz="6000" dirty="0"/>
            </a:br>
            <a:r>
              <a:rPr kumimoji="1" lang="ja-JP" altLang="en-US" sz="6000"/>
              <a:t>ディレクトリ構成スタンダード</a:t>
            </a:r>
          </a:p>
        </p:txBody>
      </p:sp>
      <p:sp>
        <p:nvSpPr>
          <p:cNvPr id="3" name="コンテンツ プレースホルダー 2">
            <a:extLst>
              <a:ext uri="{FF2B5EF4-FFF2-40B4-BE49-F238E27FC236}">
                <a16:creationId xmlns:a16="http://schemas.microsoft.com/office/drawing/2014/main" id="{65E97CCF-EAD1-B34C-C6C2-0B2A27B5C81F}"/>
              </a:ext>
            </a:extLst>
          </p:cNvPr>
          <p:cNvSpPr>
            <a:spLocks noGrp="1"/>
          </p:cNvSpPr>
          <p:nvPr>
            <p:ph idx="1"/>
          </p:nvPr>
        </p:nvSpPr>
        <p:spPr/>
        <p:txBody>
          <a:bodyPr>
            <a:normAutofit fontScale="62500" lnSpcReduction="20000"/>
          </a:bodyPr>
          <a:lstStyle/>
          <a:p>
            <a:pPr>
              <a:lnSpc>
                <a:spcPct val="120000"/>
              </a:lnSpc>
            </a:pPr>
            <a:r>
              <a:rPr kumimoji="1" lang="ja-JP" altLang="en-US"/>
              <a:t>フォルダとパッケージは対応している．</a:t>
            </a:r>
            <a:endParaRPr kumimoji="1" lang="en-US" altLang="ja-JP" dirty="0"/>
          </a:p>
          <a:p>
            <a:pPr>
              <a:lnSpc>
                <a:spcPct val="120000"/>
              </a:lnSpc>
              <a:tabLst>
                <a:tab pos="2741613" algn="l"/>
              </a:tabLst>
            </a:pPr>
            <a:r>
              <a:rPr lang="ja-JP" altLang="en-US"/>
              <a:t>プロジェクトフォルダ（</a:t>
            </a:r>
            <a:r>
              <a:rPr lang="en-US" altLang="ja-JP" i="1" dirty="0">
                <a:latin typeface="Times New Roman" panose="02020603050405020304" pitchFamily="18" charset="0"/>
                <a:cs typeface="Times New Roman" panose="02020603050405020304" pitchFamily="18" charset="0"/>
              </a:rPr>
              <a:t>project</a:t>
            </a:r>
            <a:r>
              <a:rPr lang="ja-JP" altLang="en-US"/>
              <a:t>パッケージ）</a:t>
            </a:r>
            <a:endParaRPr lang="en-US" altLang="ja-JP" dirty="0"/>
          </a:p>
          <a:p>
            <a:pPr lvl="1">
              <a:lnSpc>
                <a:spcPct val="120000"/>
              </a:lnSpc>
              <a:tabLst>
                <a:tab pos="2741613" algn="l"/>
              </a:tabLst>
            </a:pPr>
            <a:r>
              <a:rPr lang="en-US" altLang="ja-JP" dirty="0" err="1">
                <a:latin typeface="Consolas" panose="020B0609020204030204" pitchFamily="49" charset="0"/>
                <a:cs typeface="Consolas" panose="020B0609020204030204" pitchFamily="49" charset="0"/>
              </a:rPr>
              <a:t>README.md</a:t>
            </a:r>
            <a:r>
              <a:rPr lang="en-US" altLang="ja-JP" dirty="0">
                <a:cs typeface="Consolas" panose="020B0609020204030204" pitchFamily="49" charset="0"/>
              </a:rPr>
              <a:t>, </a:t>
            </a:r>
            <a:r>
              <a:rPr lang="en-US" altLang="ja-JP" dirty="0">
                <a:latin typeface="Consolas" panose="020B0609020204030204" pitchFamily="49" charset="0"/>
                <a:cs typeface="Consolas" panose="020B0609020204030204" pitchFamily="49" charset="0"/>
              </a:rPr>
              <a:t>LICENSE</a:t>
            </a:r>
            <a:r>
              <a:rPr lang="en-US" altLang="ja-JP" dirty="0">
                <a:cs typeface="Consolas" panose="020B0609020204030204" pitchFamily="49" charset="0"/>
              </a:rPr>
              <a:t>, </a:t>
            </a:r>
            <a:r>
              <a:rPr lang="en-US" altLang="ja-JP" dirty="0" err="1">
                <a:latin typeface="Consolas" panose="020B0609020204030204" pitchFamily="49" charset="0"/>
                <a:cs typeface="Consolas" panose="020B0609020204030204" pitchFamily="49" charset="0"/>
              </a:rPr>
              <a:t>Cargo.toml</a:t>
            </a:r>
            <a:r>
              <a:rPr lang="en-US" altLang="ja-JP" dirty="0">
                <a:cs typeface="Consolas" panose="020B0609020204030204" pitchFamily="49" charset="0"/>
              </a:rPr>
              <a:t>, </a:t>
            </a:r>
            <a:r>
              <a:rPr lang="en-US" altLang="ja-JP" dirty="0" err="1">
                <a:latin typeface="Consolas" panose="020B0609020204030204" pitchFamily="49" charset="0"/>
                <a:cs typeface="Consolas" panose="020B0609020204030204" pitchFamily="49" charset="0"/>
              </a:rPr>
              <a:t>Cargo.lock</a:t>
            </a:r>
            <a:endParaRPr lang="en-US" altLang="ja-JP" dirty="0">
              <a:latin typeface="Consolas" panose="020B0609020204030204" pitchFamily="49" charset="0"/>
              <a:cs typeface="Consolas" panose="020B0609020204030204" pitchFamily="49" charset="0"/>
            </a:endParaRPr>
          </a:p>
          <a:p>
            <a:pPr lvl="1">
              <a:lnSpc>
                <a:spcPct val="120000"/>
              </a:lnSpc>
              <a:tabLst>
                <a:tab pos="2741613" algn="l"/>
              </a:tabLst>
            </a:pPr>
            <a:r>
              <a:rPr lang="en-US" altLang="ja-JP" dirty="0" err="1">
                <a:latin typeface="Consolas" panose="020B0609020204030204" pitchFamily="49" charset="0"/>
                <a:cs typeface="Consolas" panose="020B0609020204030204" pitchFamily="49" charset="0"/>
              </a:rPr>
              <a:t>src</a:t>
            </a:r>
            <a:r>
              <a:rPr lang="ja-JP" altLang="en-US"/>
              <a:t>　　　　　ソースファイルを置くディレクトリ。</a:t>
            </a:r>
            <a:endParaRPr lang="en-US" altLang="ja-JP" dirty="0"/>
          </a:p>
          <a:p>
            <a:pPr lvl="2">
              <a:lnSpc>
                <a:spcPct val="120000"/>
              </a:lnSpc>
              <a:tabLst>
                <a:tab pos="2741613" algn="l"/>
              </a:tabLst>
            </a:pPr>
            <a:r>
              <a:rPr lang="ja-JP" altLang="en-US"/>
              <a:t>必ず</a:t>
            </a:r>
            <a:r>
              <a:rPr lang="en-US" altLang="ja-JP" dirty="0" err="1">
                <a:latin typeface="Consolas" panose="020B0609020204030204" pitchFamily="49" charset="0"/>
                <a:cs typeface="Consolas" panose="020B0609020204030204" pitchFamily="49" charset="0"/>
              </a:rPr>
              <a:t>lib.rs</a:t>
            </a:r>
            <a:r>
              <a:rPr lang="ja-JP" altLang="en-US"/>
              <a:t>もしくは</a:t>
            </a:r>
            <a:r>
              <a:rPr lang="en-US" altLang="ja-JP" dirty="0" err="1">
                <a:latin typeface="Consolas" panose="020B0609020204030204" pitchFamily="49" charset="0"/>
                <a:cs typeface="Consolas" panose="020B0609020204030204" pitchFamily="49" charset="0"/>
              </a:rPr>
              <a:t>main.rs</a:t>
            </a:r>
            <a:r>
              <a:rPr lang="ja-JP" altLang="en-US"/>
              <a:t>を含む必要がある。</a:t>
            </a:r>
            <a:endParaRPr lang="en-US" altLang="ja-JP" dirty="0"/>
          </a:p>
          <a:p>
            <a:pPr lvl="1">
              <a:lnSpc>
                <a:spcPct val="120000"/>
              </a:lnSpc>
              <a:tabLst>
                <a:tab pos="2741613" algn="l"/>
              </a:tabLst>
            </a:pPr>
            <a:r>
              <a:rPr lang="en-US" altLang="ja-JP" dirty="0" err="1">
                <a:latin typeface="Consolas" panose="020B0609020204030204" pitchFamily="49" charset="0"/>
                <a:cs typeface="Consolas" panose="020B0609020204030204" pitchFamily="49" charset="0"/>
              </a:rPr>
              <a:t>testdata</a:t>
            </a:r>
            <a:r>
              <a:rPr lang="ja-JP" altLang="en-US">
                <a:latin typeface="Consolas" panose="020B0609020204030204" pitchFamily="49" charset="0"/>
                <a:cs typeface="Consolas" panose="020B0609020204030204" pitchFamily="49" charset="0"/>
              </a:rPr>
              <a:t>　</a:t>
            </a:r>
            <a:r>
              <a:rPr lang="ja-JP" altLang="en-US"/>
              <a:t>　テスト用のファイルなどを置くディレクトリ。</a:t>
            </a:r>
            <a:endParaRPr lang="en-US" altLang="ja-JP" dirty="0"/>
          </a:p>
          <a:p>
            <a:pPr lvl="1">
              <a:lnSpc>
                <a:spcPct val="120000"/>
              </a:lnSpc>
              <a:tabLst>
                <a:tab pos="2741613" algn="l"/>
              </a:tabLst>
            </a:pP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gitignore</a:t>
            </a:r>
            <a:r>
              <a:rPr lang="ja-JP" altLang="en-US"/>
              <a:t>　バージョン管理で無視するファイルを指定する。</a:t>
            </a:r>
            <a:endParaRPr lang="en-US" altLang="ja-JP" dirty="0"/>
          </a:p>
          <a:p>
            <a:pPr lvl="1">
              <a:lnSpc>
                <a:spcPct val="120000"/>
              </a:lnSpc>
              <a:tabLst>
                <a:tab pos="2741613" algn="l"/>
              </a:tabLst>
            </a:pPr>
            <a:r>
              <a:rPr lang="en-US" altLang="ja-JP" dirty="0">
                <a:latin typeface="Consolas" panose="020B0609020204030204" pitchFamily="49" charset="0"/>
                <a:cs typeface="Consolas" panose="020B0609020204030204" pitchFamily="49" charset="0"/>
              </a:rPr>
              <a:t>examples</a:t>
            </a:r>
            <a:r>
              <a:rPr lang="ja-JP" altLang="en-US"/>
              <a:t>　　プログラム例を置くためのディレクトリ。</a:t>
            </a:r>
            <a:endParaRPr lang="en-US" altLang="ja-JP" dirty="0"/>
          </a:p>
          <a:p>
            <a:pPr lvl="1">
              <a:lnSpc>
                <a:spcPct val="120000"/>
              </a:lnSpc>
              <a:tabLst>
                <a:tab pos="2741613" algn="l"/>
              </a:tabLst>
            </a:pPr>
            <a:r>
              <a:rPr lang="en-US" altLang="ja-JP" dirty="0">
                <a:latin typeface="Consolas" panose="020B0609020204030204" pitchFamily="49" charset="0"/>
                <a:cs typeface="Consolas" panose="020B0609020204030204" pitchFamily="49" charset="0"/>
              </a:rPr>
              <a:t>target</a:t>
            </a:r>
            <a:r>
              <a:rPr lang="ja-JP" altLang="en-US"/>
              <a:t>　　　コンパイル結果などが置かれるディレクトリ。</a:t>
            </a:r>
            <a:endParaRPr lang="en-US" altLang="ja-JP" dirty="0"/>
          </a:p>
          <a:p>
            <a:pPr lvl="1">
              <a:lnSpc>
                <a:spcPct val="120000"/>
              </a:lnSpc>
              <a:tabLst>
                <a:tab pos="2741613" algn="l"/>
              </a:tabLst>
            </a:pPr>
            <a:endParaRPr lang="en-US" altLang="ja-JP" dirty="0"/>
          </a:p>
          <a:p>
            <a:pPr lvl="1">
              <a:lnSpc>
                <a:spcPct val="120000"/>
              </a:lnSpc>
              <a:tabLst>
                <a:tab pos="2741613" algn="l"/>
              </a:tabLst>
            </a:pPr>
            <a:endParaRPr lang="en-US" altLang="ja-JP" dirty="0"/>
          </a:p>
        </p:txBody>
      </p:sp>
      <p:sp>
        <p:nvSpPr>
          <p:cNvPr id="4" name="日付プレースホルダー 3">
            <a:extLst>
              <a:ext uri="{FF2B5EF4-FFF2-40B4-BE49-F238E27FC236}">
                <a16:creationId xmlns:a16="http://schemas.microsoft.com/office/drawing/2014/main" id="{5A99620E-908B-FA6B-32D5-745553302873}"/>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91D32388-B0C7-01A8-6A93-A93A0C2D52E4}"/>
              </a:ext>
            </a:extLst>
          </p:cNvPr>
          <p:cNvSpPr>
            <a:spLocks noGrp="1"/>
          </p:cNvSpPr>
          <p:nvPr>
            <p:ph type="sldNum" sz="quarter" idx="12"/>
          </p:nvPr>
        </p:nvSpPr>
        <p:spPr/>
        <p:txBody>
          <a:bodyPr/>
          <a:lstStyle/>
          <a:p>
            <a:fld id="{0B8845E4-5C92-A046-BB66-E5D9CC995B08}" type="slidenum">
              <a:rPr kumimoji="1" lang="ja-JP" altLang="en-US" smtClean="0"/>
              <a:t>22</a:t>
            </a:fld>
            <a:endParaRPr kumimoji="1" lang="ja-JP" altLang="en-US"/>
          </a:p>
        </p:txBody>
      </p:sp>
    </p:spTree>
    <p:extLst>
      <p:ext uri="{BB962C8B-B14F-4D97-AF65-F5344CB8AC3E}">
        <p14:creationId xmlns:p14="http://schemas.microsoft.com/office/powerpoint/2010/main" val="1007644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324AFE-5154-B78F-EBAF-60E5F320BA6C}"/>
              </a:ext>
            </a:extLst>
          </p:cNvPr>
          <p:cNvSpPr>
            <a:spLocks noGrp="1"/>
          </p:cNvSpPr>
          <p:nvPr>
            <p:ph type="title"/>
          </p:nvPr>
        </p:nvSpPr>
        <p:spPr/>
        <p:txBody>
          <a:bodyPr/>
          <a:lstStyle/>
          <a:p>
            <a:r>
              <a:rPr kumimoji="1" lang="en-US" altLang="ja-JP" dirty="0">
                <a:latin typeface="Consolas" panose="020B0609020204030204" pitchFamily="49" charset="0"/>
                <a:cs typeface="Consolas" panose="020B0609020204030204" pitchFamily="49" charset="0"/>
              </a:rPr>
              <a:t>.</a:t>
            </a:r>
            <a:r>
              <a:rPr kumimoji="1" lang="en-US" altLang="ja-JP" dirty="0" err="1">
                <a:latin typeface="Consolas" panose="020B0609020204030204" pitchFamily="49" charset="0"/>
                <a:cs typeface="Consolas" panose="020B0609020204030204" pitchFamily="49" charset="0"/>
              </a:rPr>
              <a:t>gitignore</a:t>
            </a:r>
            <a:endParaRPr kumimoji="1" lang="ja-JP" altLang="en-US">
              <a:latin typeface="Consolas" panose="020B0609020204030204" pitchFamily="49" charset="0"/>
              <a:cs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A237DD27-7B1A-A02C-B3E3-BA551087CF5D}"/>
              </a:ext>
            </a:extLst>
          </p:cNvPr>
          <p:cNvSpPr>
            <a:spLocks noGrp="1"/>
          </p:cNvSpPr>
          <p:nvPr>
            <p:ph idx="1"/>
          </p:nvPr>
        </p:nvSpPr>
        <p:spPr/>
        <p:txBody>
          <a:bodyPr>
            <a:normAutofit fontScale="92500"/>
          </a:bodyPr>
          <a:lstStyle/>
          <a:p>
            <a:r>
              <a:rPr lang="en-US" altLang="ja-JP" dirty="0"/>
              <a:t>git</a:t>
            </a:r>
            <a:r>
              <a:rPr lang="ja-JP" altLang="en-US"/>
              <a:t>で無視するファイルを指定する。</a:t>
            </a:r>
            <a:endParaRPr lang="en-US" altLang="ja-JP" dirty="0"/>
          </a:p>
          <a:p>
            <a:r>
              <a:rPr kumimoji="1" lang="ja-JP" altLang="en-US"/>
              <a:t>自分で内容を書くものではない。</a:t>
            </a:r>
            <a:endParaRPr kumimoji="1" lang="en-US" altLang="ja-JP" dirty="0"/>
          </a:p>
          <a:p>
            <a:pPr lvl="1"/>
            <a:r>
              <a:rPr lang="en-US" altLang="ja-JP" dirty="0" err="1">
                <a:latin typeface="Consolas" panose="020B0609020204030204" pitchFamily="49" charset="0"/>
                <a:cs typeface="Consolas" panose="020B0609020204030204" pitchFamily="49" charset="0"/>
              </a:rPr>
              <a:t>gibo</a:t>
            </a:r>
            <a:r>
              <a:rPr lang="ja-JP" altLang="en-US"/>
              <a:t>や</a:t>
            </a:r>
            <a:r>
              <a:rPr lang="en-US" altLang="ja-JP" dirty="0" err="1">
                <a:latin typeface="Consolas" panose="020B0609020204030204" pitchFamily="49" charset="0"/>
                <a:cs typeface="Consolas" panose="020B0609020204030204" pitchFamily="49" charset="0"/>
              </a:rPr>
              <a:t>gitignore.io</a:t>
            </a:r>
            <a:r>
              <a:rPr lang="ja-JP" altLang="en-US"/>
              <a:t>を使って、内容を書く。</a:t>
            </a:r>
            <a:endParaRPr lang="en-US" altLang="ja-JP" dirty="0"/>
          </a:p>
          <a:p>
            <a:pPr lvl="2"/>
            <a:r>
              <a:rPr lang="en-US" altLang="ja-JP" sz="3000" dirty="0">
                <a:latin typeface="Consolas" panose="020B0609020204030204" pitchFamily="49" charset="0"/>
                <a:cs typeface="Consolas" panose="020B0609020204030204" pitchFamily="49" charset="0"/>
                <a:hlinkClick r:id="rId2"/>
              </a:rPr>
              <a:t>https://github.com/simonwhitaker/gibo</a:t>
            </a:r>
            <a:endParaRPr lang="en-US" altLang="ja-JP" sz="3000" dirty="0">
              <a:latin typeface="Consolas" panose="020B0609020204030204" pitchFamily="49" charset="0"/>
              <a:cs typeface="Consolas" panose="020B0609020204030204" pitchFamily="49" charset="0"/>
            </a:endParaRPr>
          </a:p>
          <a:p>
            <a:pPr lvl="2"/>
            <a:r>
              <a:rPr lang="en" altLang="ja-JP" sz="3000" dirty="0">
                <a:latin typeface="Consolas" panose="020B0609020204030204" pitchFamily="49" charset="0"/>
                <a:cs typeface="Consolas" panose="020B0609020204030204" pitchFamily="49" charset="0"/>
                <a:hlinkClick r:id="rId3"/>
              </a:rPr>
              <a:t>https://www.toptal.com/developers/gitignore/</a:t>
            </a:r>
            <a:endParaRPr lang="en" altLang="ja-JP" sz="3000" dirty="0">
              <a:latin typeface="Consolas" panose="020B0609020204030204" pitchFamily="49" charset="0"/>
              <a:cs typeface="Consolas" panose="020B0609020204030204" pitchFamily="49" charset="0"/>
            </a:endParaRPr>
          </a:p>
          <a:p>
            <a:r>
              <a:rPr kumimoji="1" lang="ja-JP" altLang="en-US"/>
              <a:t>自動生成されるファイルは</a:t>
            </a:r>
            <a:r>
              <a:rPr kumimoji="1" lang="en-US" altLang="ja-JP" dirty="0">
                <a:latin typeface="Consolas" panose="020B0609020204030204" pitchFamily="49" charset="0"/>
                <a:cs typeface="Consolas" panose="020B0609020204030204" pitchFamily="49" charset="0"/>
              </a:rPr>
              <a:t>.</a:t>
            </a:r>
            <a:r>
              <a:rPr kumimoji="1" lang="en-US" altLang="ja-JP" dirty="0" err="1">
                <a:latin typeface="Consolas" panose="020B0609020204030204" pitchFamily="49" charset="0"/>
                <a:cs typeface="Consolas" panose="020B0609020204030204" pitchFamily="49" charset="0"/>
              </a:rPr>
              <a:t>gitignore</a:t>
            </a:r>
            <a:r>
              <a:rPr kumimoji="1" lang="ja-JP" altLang="en-US"/>
              <a:t>に追加しておく。</a:t>
            </a:r>
          </a:p>
        </p:txBody>
      </p:sp>
      <p:sp>
        <p:nvSpPr>
          <p:cNvPr id="4" name="日付プレースホルダー 3">
            <a:extLst>
              <a:ext uri="{FF2B5EF4-FFF2-40B4-BE49-F238E27FC236}">
                <a16:creationId xmlns:a16="http://schemas.microsoft.com/office/drawing/2014/main" id="{F688C805-7E01-CACB-05A1-D34AC0EB0F64}"/>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9DC64C52-39E6-0E18-CE7A-6926E0753843}"/>
              </a:ext>
            </a:extLst>
          </p:cNvPr>
          <p:cNvSpPr>
            <a:spLocks noGrp="1"/>
          </p:cNvSpPr>
          <p:nvPr>
            <p:ph type="sldNum" sz="quarter" idx="12"/>
          </p:nvPr>
        </p:nvSpPr>
        <p:spPr/>
        <p:txBody>
          <a:bodyPr/>
          <a:lstStyle/>
          <a:p>
            <a:fld id="{0B8845E4-5C92-A046-BB66-E5D9CC995B08}" type="slidenum">
              <a:rPr kumimoji="1" lang="ja-JP" altLang="en-US" smtClean="0"/>
              <a:t>23</a:t>
            </a:fld>
            <a:endParaRPr kumimoji="1" lang="ja-JP" altLang="en-US"/>
          </a:p>
        </p:txBody>
      </p:sp>
    </p:spTree>
    <p:extLst>
      <p:ext uri="{BB962C8B-B14F-4D97-AF65-F5344CB8AC3E}">
        <p14:creationId xmlns:p14="http://schemas.microsoft.com/office/powerpoint/2010/main" val="12384798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4841D5-6145-A993-C257-C384C29D7842}"/>
              </a:ext>
            </a:extLst>
          </p:cNvPr>
          <p:cNvSpPr>
            <a:spLocks noGrp="1"/>
          </p:cNvSpPr>
          <p:nvPr>
            <p:ph type="title"/>
          </p:nvPr>
        </p:nvSpPr>
        <p:spPr/>
        <p:txBody>
          <a:bodyPr/>
          <a:lstStyle/>
          <a:p>
            <a:r>
              <a:rPr lang="en-US" altLang="ja-JP" sz="2800" dirty="0"/>
              <a:t>Rust</a:t>
            </a:r>
            <a:r>
              <a:rPr kumimoji="1" lang="ja-JP" altLang="en-US" sz="2800"/>
              <a:t>言語</a:t>
            </a:r>
            <a:br>
              <a:rPr kumimoji="1" lang="en-US" altLang="ja-JP" sz="2800" dirty="0"/>
            </a:br>
            <a:r>
              <a:rPr kumimoji="1" lang="en-US" altLang="ja-JP" dirty="0"/>
              <a:t>Rust API</a:t>
            </a:r>
            <a:r>
              <a:rPr kumimoji="1" lang="ja-JP" altLang="en-US"/>
              <a:t>ガイドライン</a:t>
            </a:r>
            <a:r>
              <a:rPr kumimoji="1" lang="en-US" altLang="ja-JP" dirty="0"/>
              <a:t>[1]</a:t>
            </a:r>
            <a:endParaRPr kumimoji="1" lang="ja-JP" altLang="en-US" baseline="30000"/>
          </a:p>
        </p:txBody>
      </p:sp>
      <p:sp>
        <p:nvSpPr>
          <p:cNvPr id="3" name="コンテンツ プレースホルダー 2">
            <a:extLst>
              <a:ext uri="{FF2B5EF4-FFF2-40B4-BE49-F238E27FC236}">
                <a16:creationId xmlns:a16="http://schemas.microsoft.com/office/drawing/2014/main" id="{872CE203-362A-643F-ECCA-FFDFD7D4FD50}"/>
              </a:ext>
            </a:extLst>
          </p:cNvPr>
          <p:cNvSpPr>
            <a:spLocks noGrp="1"/>
          </p:cNvSpPr>
          <p:nvPr>
            <p:ph idx="1"/>
          </p:nvPr>
        </p:nvSpPr>
        <p:spPr>
          <a:xfrm>
            <a:off x="838200" y="1825625"/>
            <a:ext cx="10515600" cy="4222948"/>
          </a:xfrm>
        </p:spPr>
        <p:txBody>
          <a:bodyPr numCol="1">
            <a:normAutofit/>
          </a:bodyPr>
          <a:lstStyle/>
          <a:p>
            <a:pPr>
              <a:lnSpc>
                <a:spcPct val="120000"/>
              </a:lnSpc>
            </a:pPr>
            <a:r>
              <a:rPr kumimoji="1" lang="ja-JP" altLang="en-US"/>
              <a:t>型は</a:t>
            </a:r>
            <a:r>
              <a:rPr kumimoji="1" lang="en-US" altLang="ja-JP" dirty="0">
                <a:latin typeface="Consolas" panose="020B0609020204030204" pitchFamily="49" charset="0"/>
                <a:cs typeface="Consolas" panose="020B0609020204030204" pitchFamily="49" charset="0"/>
              </a:rPr>
              <a:t>CamelCase</a:t>
            </a:r>
            <a:r>
              <a:rPr lang="ja-JP" altLang="en-US"/>
              <a:t>、</a:t>
            </a:r>
            <a:endParaRPr lang="en-US" altLang="ja-JP" dirty="0"/>
          </a:p>
          <a:p>
            <a:pPr>
              <a:lnSpc>
                <a:spcPct val="120000"/>
              </a:lnSpc>
            </a:pPr>
            <a:r>
              <a:rPr kumimoji="1" lang="ja-JP" altLang="en-US"/>
              <a:t>変数、関数、メソッドは</a:t>
            </a:r>
            <a:r>
              <a:rPr kumimoji="1" lang="en-US" altLang="ja-JP" dirty="0" err="1">
                <a:latin typeface="Consolas" panose="020B0609020204030204" pitchFamily="49" charset="0"/>
                <a:cs typeface="Consolas" panose="020B0609020204030204" pitchFamily="49" charset="0"/>
              </a:rPr>
              <a:t>snake_case</a:t>
            </a:r>
            <a:r>
              <a:rPr kumimoji="1" lang="ja-JP" altLang="en-US"/>
              <a:t>。</a:t>
            </a:r>
            <a:endParaRPr kumimoji="1" lang="en-US" altLang="ja-JP" dirty="0"/>
          </a:p>
          <a:p>
            <a:pPr>
              <a:lnSpc>
                <a:spcPct val="120000"/>
              </a:lnSpc>
            </a:pPr>
            <a:r>
              <a:rPr kumimoji="1" lang="ja-JP" altLang="en-US"/>
              <a:t>別のファイルは別のモジュールとして扱われる。</a:t>
            </a:r>
            <a:endParaRPr kumimoji="1" lang="en-US" altLang="ja-JP" dirty="0"/>
          </a:p>
        </p:txBody>
      </p:sp>
      <p:sp>
        <p:nvSpPr>
          <p:cNvPr id="4" name="日付プレースホルダー 3">
            <a:extLst>
              <a:ext uri="{FF2B5EF4-FFF2-40B4-BE49-F238E27FC236}">
                <a16:creationId xmlns:a16="http://schemas.microsoft.com/office/drawing/2014/main" id="{2745687F-A868-010C-6C49-38B50485A230}"/>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56CB29F8-51E4-00BB-D808-86C1327EE5C3}"/>
              </a:ext>
            </a:extLst>
          </p:cNvPr>
          <p:cNvSpPr>
            <a:spLocks noGrp="1"/>
          </p:cNvSpPr>
          <p:nvPr>
            <p:ph type="sldNum" sz="quarter" idx="12"/>
          </p:nvPr>
        </p:nvSpPr>
        <p:spPr/>
        <p:txBody>
          <a:bodyPr/>
          <a:lstStyle/>
          <a:p>
            <a:fld id="{0B8845E4-5C92-A046-BB66-E5D9CC995B08}" type="slidenum">
              <a:rPr kumimoji="1" lang="ja-JP" altLang="en-US" smtClean="0"/>
              <a:t>24</a:t>
            </a:fld>
            <a:endParaRPr kumimoji="1" lang="ja-JP" altLang="en-US"/>
          </a:p>
        </p:txBody>
      </p:sp>
      <p:sp>
        <p:nvSpPr>
          <p:cNvPr id="6" name="テキスト ボックス 5">
            <a:extLst>
              <a:ext uri="{FF2B5EF4-FFF2-40B4-BE49-F238E27FC236}">
                <a16:creationId xmlns:a16="http://schemas.microsoft.com/office/drawing/2014/main" id="{A4BCFAF6-2499-B68A-A387-10B9B5447682}"/>
              </a:ext>
            </a:extLst>
          </p:cNvPr>
          <p:cNvSpPr txBox="1"/>
          <p:nvPr/>
        </p:nvSpPr>
        <p:spPr>
          <a:xfrm>
            <a:off x="1184238" y="6048573"/>
            <a:ext cx="8748805" cy="307777"/>
          </a:xfrm>
          <a:prstGeom prst="rect">
            <a:avLst/>
          </a:prstGeom>
          <a:noFill/>
        </p:spPr>
        <p:txBody>
          <a:bodyPr wrap="none" rtlCol="0">
            <a:spAutoFit/>
          </a:bodyPr>
          <a:lstStyle/>
          <a:p>
            <a:r>
              <a:rPr kumimoji="1" lang="en-US" altLang="ja-JP" sz="1400" dirty="0">
                <a:latin typeface="Meiryo" panose="020B0604030504040204" pitchFamily="34" charset="-128"/>
                <a:ea typeface="Meiryo" panose="020B0604030504040204" pitchFamily="34" charset="-128"/>
              </a:rPr>
              <a:t>[1] Rust API</a:t>
            </a:r>
            <a:r>
              <a:rPr kumimoji="1" lang="ja-JP" altLang="en-US" sz="1400">
                <a:latin typeface="Meiryo" panose="020B0604030504040204" pitchFamily="34" charset="-128"/>
                <a:ea typeface="Meiryo" panose="020B0604030504040204" pitchFamily="34" charset="-128"/>
              </a:rPr>
              <a:t>ガイドライン非公式日本語版、</a:t>
            </a:r>
            <a:r>
              <a:rPr lang="en" altLang="ja-JP" sz="1400" dirty="0">
                <a:latin typeface="Consolas" panose="020B0609020204030204" pitchFamily="49" charset="0"/>
                <a:cs typeface="Consolas" panose="020B0609020204030204" pitchFamily="49" charset="0"/>
                <a:hlinkClick r:id="rId2"/>
              </a:rPr>
              <a:t>https://sinkuu.github.io/api-guidelines/about.html</a:t>
            </a:r>
            <a:endParaRPr lang="en" altLang="ja-JP"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347104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E849033-8B9A-EC71-B7D5-999BFF457CEB}"/>
              </a:ext>
            </a:extLst>
          </p:cNvPr>
          <p:cNvSpPr>
            <a:spLocks noGrp="1"/>
          </p:cNvSpPr>
          <p:nvPr>
            <p:ph type="title"/>
          </p:nvPr>
        </p:nvSpPr>
        <p:spPr/>
        <p:txBody>
          <a:bodyPr/>
          <a:lstStyle/>
          <a:p>
            <a:r>
              <a:rPr kumimoji="1" lang="en-US" altLang="ja-JP" dirty="0"/>
              <a:t>Rust</a:t>
            </a:r>
            <a:r>
              <a:rPr kumimoji="1" lang="ja-JP" altLang="en-US"/>
              <a:t>の基本</a:t>
            </a:r>
          </a:p>
        </p:txBody>
      </p:sp>
      <p:sp>
        <p:nvSpPr>
          <p:cNvPr id="3" name="コンテンツ プレースホルダー 2">
            <a:extLst>
              <a:ext uri="{FF2B5EF4-FFF2-40B4-BE49-F238E27FC236}">
                <a16:creationId xmlns:a16="http://schemas.microsoft.com/office/drawing/2014/main" id="{E2D965F8-40DD-3ECE-9F7D-A68AD88B4E2E}"/>
              </a:ext>
            </a:extLst>
          </p:cNvPr>
          <p:cNvSpPr>
            <a:spLocks noGrp="1"/>
          </p:cNvSpPr>
          <p:nvPr>
            <p:ph idx="1"/>
          </p:nvPr>
        </p:nvSpPr>
        <p:spPr>
          <a:xfrm>
            <a:off x="838200" y="1825625"/>
            <a:ext cx="10916478" cy="2494584"/>
          </a:xfrm>
        </p:spPr>
        <p:txBody>
          <a:bodyPr numCol="2">
            <a:normAutofit fontScale="55000" lnSpcReduction="20000"/>
          </a:bodyPr>
          <a:lstStyle/>
          <a:p>
            <a:pPr>
              <a:lnSpc>
                <a:spcPct val="120000"/>
              </a:lnSpc>
            </a:pPr>
            <a:r>
              <a:rPr lang="ja-JP" altLang="en-US"/>
              <a:t>値にアクセスできるのは基本的に一つの変数からのみ。</a:t>
            </a:r>
            <a:endParaRPr lang="en-US" altLang="ja-JP" dirty="0"/>
          </a:p>
          <a:p>
            <a:pPr lvl="1">
              <a:lnSpc>
                <a:spcPct val="120000"/>
              </a:lnSpc>
            </a:pPr>
            <a:r>
              <a:rPr kumimoji="1" lang="ja-JP" altLang="en-US"/>
              <a:t>他言語における代入は、</a:t>
            </a:r>
            <a:r>
              <a:rPr kumimoji="1" lang="en-US" altLang="ja-JP" dirty="0"/>
              <a:t>Rust</a:t>
            </a:r>
            <a:r>
              <a:rPr kumimoji="1" lang="ja-JP" altLang="en-US"/>
              <a:t>ではムーブ。</a:t>
            </a:r>
            <a:endParaRPr kumimoji="1" lang="en-US" altLang="ja-JP" dirty="0"/>
          </a:p>
          <a:p>
            <a:pPr>
              <a:lnSpc>
                <a:spcPct val="120000"/>
              </a:lnSpc>
            </a:pPr>
            <a:r>
              <a:rPr kumimoji="1" lang="ja-JP" altLang="en-US"/>
              <a:t>変数は基本的にイミュータブル（変更できない）。</a:t>
            </a:r>
            <a:endParaRPr kumimoji="1" lang="en-US" altLang="ja-JP" dirty="0"/>
          </a:p>
          <a:p>
            <a:pPr lvl="1">
              <a:lnSpc>
                <a:spcPct val="120000"/>
              </a:lnSpc>
            </a:pPr>
            <a:r>
              <a:rPr kumimoji="1" lang="ja-JP" altLang="en-US"/>
              <a:t>変更が必要であれば、</a:t>
            </a:r>
            <a:r>
              <a:rPr kumimoji="1" lang="en-US" altLang="ja-JP" dirty="0">
                <a:latin typeface="Consolas" panose="020B0609020204030204" pitchFamily="49" charset="0"/>
                <a:cs typeface="Consolas" panose="020B0609020204030204" pitchFamily="49" charset="0"/>
              </a:rPr>
              <a:t>mut</a:t>
            </a:r>
            <a:r>
              <a:rPr kumimoji="1" lang="ja-JP" altLang="en-US"/>
              <a:t>キーワードを付ける。</a:t>
            </a:r>
            <a:endParaRPr kumimoji="1" lang="en-US" altLang="ja-JP" dirty="0"/>
          </a:p>
          <a:p>
            <a:pPr>
              <a:lnSpc>
                <a:spcPct val="120000"/>
              </a:lnSpc>
            </a:pPr>
            <a:r>
              <a:rPr lang="ja-JP" altLang="en-US"/>
              <a:t>値の参照のみであれば、借用（</a:t>
            </a:r>
            <a:r>
              <a:rPr lang="en-US" altLang="ja-JP" dirty="0"/>
              <a:t>borrow</a:t>
            </a:r>
            <a:r>
              <a:rPr lang="ja-JP" altLang="en-US"/>
              <a:t>）する。</a:t>
            </a:r>
            <a:endParaRPr lang="en-US" altLang="ja-JP" dirty="0"/>
          </a:p>
          <a:p>
            <a:pPr lvl="1">
              <a:lnSpc>
                <a:spcPct val="120000"/>
              </a:lnSpc>
            </a:pPr>
            <a:r>
              <a:rPr lang="ja-JP" altLang="en-US"/>
              <a:t>ポインタを使って、値を参照する。</a:t>
            </a:r>
            <a:endParaRPr lang="en-US" altLang="ja-JP" dirty="0"/>
          </a:p>
        </p:txBody>
      </p:sp>
      <p:sp>
        <p:nvSpPr>
          <p:cNvPr id="4" name="日付プレースホルダー 3">
            <a:extLst>
              <a:ext uri="{FF2B5EF4-FFF2-40B4-BE49-F238E27FC236}">
                <a16:creationId xmlns:a16="http://schemas.microsoft.com/office/drawing/2014/main" id="{C1D19CA1-8575-B38E-4A83-DB354C26D87B}"/>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EADD8020-0E3A-FD2A-91D7-FBBDFECE7ED8}"/>
              </a:ext>
            </a:extLst>
          </p:cNvPr>
          <p:cNvSpPr>
            <a:spLocks noGrp="1"/>
          </p:cNvSpPr>
          <p:nvPr>
            <p:ph type="sldNum" sz="quarter" idx="12"/>
          </p:nvPr>
        </p:nvSpPr>
        <p:spPr/>
        <p:txBody>
          <a:bodyPr/>
          <a:lstStyle/>
          <a:p>
            <a:fld id="{0B8845E4-5C92-A046-BB66-E5D9CC995B08}" type="slidenum">
              <a:rPr kumimoji="1" lang="ja-JP" altLang="en-US" smtClean="0"/>
              <a:t>25</a:t>
            </a:fld>
            <a:endParaRPr kumimoji="1" lang="ja-JP" altLang="en-US"/>
          </a:p>
        </p:txBody>
      </p:sp>
      <p:sp>
        <p:nvSpPr>
          <p:cNvPr id="6" name="テキスト ボックス 5">
            <a:extLst>
              <a:ext uri="{FF2B5EF4-FFF2-40B4-BE49-F238E27FC236}">
                <a16:creationId xmlns:a16="http://schemas.microsoft.com/office/drawing/2014/main" id="{D0173A5A-04EF-9A96-2666-1E2DB78BC451}"/>
              </a:ext>
            </a:extLst>
          </p:cNvPr>
          <p:cNvSpPr txBox="1"/>
          <p:nvPr/>
        </p:nvSpPr>
        <p:spPr>
          <a:xfrm>
            <a:off x="838200" y="4209303"/>
            <a:ext cx="9605515" cy="2031325"/>
          </a:xfrm>
          <a:prstGeom prst="rect">
            <a:avLst/>
          </a:prstGeom>
          <a:noFill/>
          <a:ln w="12700">
            <a:solidFill>
              <a:schemeClr val="tx1"/>
            </a:solidFill>
          </a:ln>
        </p:spPr>
        <p:txBody>
          <a:bodyPr wrap="non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let</a:t>
            </a:r>
            <a:r>
              <a:rPr kumimoji="1" lang="en-US" altLang="ja-JP" dirty="0">
                <a:latin typeface="Consolas" panose="020B0609020204030204" pitchFamily="49" charset="0"/>
                <a:cs typeface="Consolas" panose="020B0609020204030204" pitchFamily="49" charset="0"/>
              </a:rPr>
              <a:t> x = </a:t>
            </a:r>
            <a:r>
              <a:rPr lang="en-US" altLang="ja-JP" dirty="0">
                <a:solidFill>
                  <a:srgbClr val="C00000"/>
                </a:solidFill>
                <a:latin typeface="Consolas" panose="020B0609020204030204" pitchFamily="49" charset="0"/>
                <a:cs typeface="Consolas" panose="020B0609020204030204" pitchFamily="49" charset="0"/>
              </a:rPr>
              <a:t>"</a:t>
            </a:r>
            <a:r>
              <a:rPr kumimoji="1" lang="en-US" altLang="ja-JP" dirty="0">
                <a:solidFill>
                  <a:srgbClr val="C00000"/>
                </a:solidFill>
                <a:latin typeface="Consolas" panose="020B0609020204030204" pitchFamily="49" charset="0"/>
                <a:cs typeface="Consolas" panose="020B0609020204030204" pitchFamily="49" charset="0"/>
              </a:rPr>
              <a:t>Hello World"</a:t>
            </a:r>
            <a:r>
              <a:rPr kumimoji="1" lang="en-US" altLang="ja-JP" dirty="0">
                <a:latin typeface="Consolas" panose="020B0609020204030204" pitchFamily="49" charset="0"/>
                <a:cs typeface="Consolas" panose="020B0609020204030204" pitchFamily="49" charset="0"/>
              </a:rPr>
              <a:t>;</a:t>
            </a:r>
            <a:r>
              <a:rPr kumimoji="1" lang="en-US" altLang="ja-JP" dirty="0">
                <a:solidFill>
                  <a:schemeClr val="bg1">
                    <a:lumMod val="50000"/>
                  </a:schemeClr>
                </a:solidFill>
                <a:latin typeface="Consolas" panose="020B0609020204030204" pitchFamily="49" charset="0"/>
                <a:cs typeface="Consolas" panose="020B0609020204030204" pitchFamily="49" charset="0"/>
              </a:rPr>
              <a:t> // x</a:t>
            </a:r>
            <a:r>
              <a:rPr kumimoji="1" lang="ja-JP" altLang="en-US">
                <a:solidFill>
                  <a:schemeClr val="bg1">
                    <a:lumMod val="50000"/>
                  </a:schemeClr>
                </a:solidFill>
                <a:latin typeface="Consolas" panose="020B0609020204030204" pitchFamily="49" charset="0"/>
                <a:cs typeface="Consolas" panose="020B0609020204030204" pitchFamily="49" charset="0"/>
              </a:rPr>
              <a:t>が文字列の所有権を持つ。</a:t>
            </a:r>
            <a:endParaRPr kumimoji="1"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latin typeface="Consolas" panose="020B0609020204030204" pitchFamily="49" charset="0"/>
                <a:cs typeface="Consolas" panose="020B0609020204030204" pitchFamily="49" charset="0"/>
              </a:rPr>
              <a:t>print!(</a:t>
            </a:r>
            <a:r>
              <a:rPr lang="en-US" altLang="ja-JP" dirty="0">
                <a:solidFill>
                  <a:srgbClr val="C00000"/>
                </a:solidFill>
                <a:latin typeface="Consolas" panose="020B0609020204030204" pitchFamily="49" charset="0"/>
                <a:cs typeface="Consolas" panose="020B0609020204030204" pitchFamily="49" charset="0"/>
              </a:rPr>
              <a:t>"{}"</a:t>
            </a:r>
            <a:r>
              <a:rPr lang="en-US" altLang="ja-JP" dirty="0">
                <a:latin typeface="Consolas" panose="020B0609020204030204" pitchFamily="49" charset="0"/>
                <a:cs typeface="Consolas" panose="020B0609020204030204" pitchFamily="49" charset="0"/>
              </a:rPr>
              <a:t>, x);    </a:t>
            </a:r>
          </a:p>
          <a:p>
            <a:r>
              <a:rPr lang="en-US" altLang="ja-JP" dirty="0">
                <a:solidFill>
                  <a:schemeClr val="bg1">
                    <a:lumMod val="50000"/>
                  </a:schemeClr>
                </a:solidFill>
                <a:latin typeface="Consolas" panose="020B0609020204030204" pitchFamily="49" charset="0"/>
                <a:cs typeface="Consolas" panose="020B0609020204030204" pitchFamily="49" charset="0"/>
              </a:rPr>
              <a:t>// x = "I have a pen"; // </a:t>
            </a:r>
            <a:r>
              <a:rPr lang="ja-JP" altLang="en-US">
                <a:solidFill>
                  <a:schemeClr val="bg1">
                    <a:lumMod val="50000"/>
                  </a:schemeClr>
                </a:solidFill>
                <a:latin typeface="Consolas" panose="020B0609020204030204" pitchFamily="49" charset="0"/>
                <a:cs typeface="Consolas" panose="020B0609020204030204" pitchFamily="49" charset="0"/>
              </a:rPr>
              <a:t>イミュータブルであるため、再代入不可。</a:t>
            </a:r>
            <a:endParaRPr kumimoji="1"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solidFill>
                  <a:srgbClr val="0000FF"/>
                </a:solidFill>
                <a:latin typeface="Consolas" panose="020B0609020204030204" pitchFamily="49" charset="0"/>
                <a:cs typeface="Consolas" panose="020B0609020204030204" pitchFamily="49" charset="0"/>
              </a:rPr>
              <a:t>let mut</a:t>
            </a:r>
            <a:r>
              <a:rPr lang="en-US" altLang="ja-JP" dirty="0">
                <a:latin typeface="Consolas" panose="020B0609020204030204" pitchFamily="49" charset="0"/>
                <a:cs typeface="Consolas" panose="020B0609020204030204" pitchFamily="49" charset="0"/>
              </a:rPr>
              <a:t> y = x;         </a:t>
            </a:r>
            <a:r>
              <a:rPr lang="en-US" altLang="ja-JP" dirty="0">
                <a:solidFill>
                  <a:schemeClr val="bg1">
                    <a:lumMod val="50000"/>
                  </a:schemeClr>
                </a:solidFill>
                <a:latin typeface="Consolas" panose="020B0609020204030204" pitchFamily="49" charset="0"/>
                <a:cs typeface="Consolas" panose="020B0609020204030204" pitchFamily="49" charset="0"/>
              </a:rPr>
              <a:t>// x</a:t>
            </a:r>
            <a:r>
              <a:rPr lang="ja-JP" altLang="en-US">
                <a:solidFill>
                  <a:schemeClr val="bg1">
                    <a:lumMod val="50000"/>
                  </a:schemeClr>
                </a:solidFill>
                <a:latin typeface="Consolas" panose="020B0609020204030204" pitchFamily="49" charset="0"/>
                <a:cs typeface="Consolas" panose="020B0609020204030204" pitchFamily="49" charset="0"/>
              </a:rPr>
              <a:t>が持つ所有権を</a:t>
            </a:r>
            <a:r>
              <a:rPr lang="en-US" altLang="ja-JP" dirty="0">
                <a:solidFill>
                  <a:schemeClr val="bg1">
                    <a:lumMod val="50000"/>
                  </a:schemeClr>
                </a:solidFill>
                <a:latin typeface="Consolas" panose="020B0609020204030204" pitchFamily="49" charset="0"/>
                <a:cs typeface="Consolas" panose="020B0609020204030204" pitchFamily="49" charset="0"/>
              </a:rPr>
              <a:t>y</a:t>
            </a:r>
            <a:r>
              <a:rPr lang="ja-JP" altLang="en-US">
                <a:solidFill>
                  <a:schemeClr val="bg1">
                    <a:lumMod val="50000"/>
                  </a:schemeClr>
                </a:solidFill>
                <a:latin typeface="Consolas" panose="020B0609020204030204" pitchFamily="49" charset="0"/>
                <a:cs typeface="Consolas" panose="020B0609020204030204" pitchFamily="49" charset="0"/>
              </a:rPr>
              <a:t>にムーブする。</a:t>
            </a:r>
            <a:endParaRPr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solidFill>
                  <a:schemeClr val="bg1">
                    <a:lumMod val="50000"/>
                  </a:schemeClr>
                </a:solidFill>
                <a:latin typeface="Consolas" panose="020B0609020204030204" pitchFamily="49" charset="0"/>
                <a:cs typeface="Consolas" panose="020B0609020204030204" pitchFamily="49" charset="0"/>
              </a:rPr>
              <a:t>// print!("{}", x);    // x</a:t>
            </a:r>
            <a:r>
              <a:rPr lang="ja-JP" altLang="en-US">
                <a:solidFill>
                  <a:schemeClr val="bg1">
                    <a:lumMod val="50000"/>
                  </a:schemeClr>
                </a:solidFill>
                <a:latin typeface="Consolas" panose="020B0609020204030204" pitchFamily="49" charset="0"/>
                <a:cs typeface="Consolas" panose="020B0609020204030204" pitchFamily="49" charset="0"/>
              </a:rPr>
              <a:t>はもう所有権を持たないため、コンパイルエラーになる。</a:t>
            </a:r>
            <a:endParaRPr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latin typeface="Consolas" panose="020B0609020204030204" pitchFamily="49" charset="0"/>
                <a:cs typeface="Consolas" panose="020B0609020204030204" pitchFamily="49" charset="0"/>
              </a:rPr>
              <a:t>y = </a:t>
            </a:r>
            <a:r>
              <a:rPr lang="en-US" altLang="ja-JP" dirty="0">
                <a:solidFill>
                  <a:srgbClr val="C00000"/>
                </a:solidFill>
                <a:latin typeface="Consolas" panose="020B0609020204030204" pitchFamily="49" charset="0"/>
                <a:cs typeface="Consolas" panose="020B0609020204030204" pitchFamily="49" charset="0"/>
              </a:rPr>
              <a:t>"I have a pen!"</a:t>
            </a:r>
            <a:r>
              <a:rPr lang="en-US" altLang="ja-JP" dirty="0">
                <a:latin typeface="Consolas" panose="020B0609020204030204" pitchFamily="49" charset="0"/>
                <a:cs typeface="Consolas" panose="020B0609020204030204" pitchFamily="49" charset="0"/>
              </a:rPr>
              <a:t>;   </a:t>
            </a:r>
            <a:r>
              <a:rPr lang="en-US" altLang="ja-JP" dirty="0">
                <a:solidFill>
                  <a:schemeClr val="bg1">
                    <a:lumMod val="50000"/>
                  </a:schemeClr>
                </a:solidFill>
                <a:latin typeface="Consolas" panose="020B0609020204030204" pitchFamily="49" charset="0"/>
                <a:cs typeface="Consolas" panose="020B0609020204030204" pitchFamily="49" charset="0"/>
              </a:rPr>
              <a:t>// y</a:t>
            </a:r>
            <a:r>
              <a:rPr lang="ja-JP" altLang="en-US">
                <a:solidFill>
                  <a:schemeClr val="bg1">
                    <a:lumMod val="50000"/>
                  </a:schemeClr>
                </a:solidFill>
                <a:latin typeface="Consolas" panose="020B0609020204030204" pitchFamily="49" charset="0"/>
                <a:cs typeface="Consolas" panose="020B0609020204030204" pitchFamily="49" charset="0"/>
              </a:rPr>
              <a:t>はミュータブルであるため、再代入できる。</a:t>
            </a:r>
            <a:endParaRPr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latin typeface="Consolas" panose="020B0609020204030204" pitchFamily="49" charset="0"/>
                <a:cs typeface="Consolas" panose="020B0609020204030204" pitchFamily="49" charset="0"/>
              </a:rPr>
              <a:t>print!(</a:t>
            </a:r>
            <a:r>
              <a:rPr lang="en-US" altLang="ja-JP" dirty="0">
                <a:solidFill>
                  <a:srgbClr val="C00000"/>
                </a:solidFill>
                <a:latin typeface="Consolas" panose="020B0609020204030204" pitchFamily="49" charset="0"/>
                <a:cs typeface="Consolas" panose="020B0609020204030204" pitchFamily="49" charset="0"/>
              </a:rPr>
              <a:t>"{}"</a:t>
            </a:r>
            <a:r>
              <a:rPr lang="en-US" altLang="ja-JP" dirty="0">
                <a:latin typeface="Consolas" panose="020B0609020204030204" pitchFamily="49" charset="0"/>
                <a:cs typeface="Consolas" panose="020B0609020204030204" pitchFamily="49" charset="0"/>
              </a:rPr>
              <a:t>, y);</a:t>
            </a:r>
          </a:p>
        </p:txBody>
      </p:sp>
    </p:spTree>
    <p:extLst>
      <p:ext uri="{BB962C8B-B14F-4D97-AF65-F5344CB8AC3E}">
        <p14:creationId xmlns:p14="http://schemas.microsoft.com/office/powerpoint/2010/main" val="448534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9A8766-1894-B031-8EFB-DC25057FC417}"/>
              </a:ext>
            </a:extLst>
          </p:cNvPr>
          <p:cNvSpPr>
            <a:spLocks noGrp="1"/>
          </p:cNvSpPr>
          <p:nvPr>
            <p:ph type="title"/>
          </p:nvPr>
        </p:nvSpPr>
        <p:spPr/>
        <p:txBody>
          <a:bodyPr/>
          <a:lstStyle/>
          <a:p>
            <a:r>
              <a:rPr kumimoji="1" lang="en-US" altLang="ja-JP" dirty="0"/>
              <a:t>Rust</a:t>
            </a:r>
            <a:r>
              <a:rPr kumimoji="1" lang="ja-JP" altLang="en-US"/>
              <a:t>の基本</a:t>
            </a:r>
          </a:p>
        </p:txBody>
      </p:sp>
      <p:sp>
        <p:nvSpPr>
          <p:cNvPr id="3" name="コンテンツ プレースホルダー 2">
            <a:extLst>
              <a:ext uri="{FF2B5EF4-FFF2-40B4-BE49-F238E27FC236}">
                <a16:creationId xmlns:a16="http://schemas.microsoft.com/office/drawing/2014/main" id="{B6AF2F65-DC9F-3AA3-6FB3-F0E0F44B4023}"/>
              </a:ext>
            </a:extLst>
          </p:cNvPr>
          <p:cNvSpPr>
            <a:spLocks noGrp="1"/>
          </p:cNvSpPr>
          <p:nvPr>
            <p:ph idx="1"/>
          </p:nvPr>
        </p:nvSpPr>
        <p:spPr/>
        <p:txBody>
          <a:bodyPr>
            <a:normAutofit/>
          </a:bodyPr>
          <a:lstStyle/>
          <a:p>
            <a:r>
              <a:rPr lang="ja-JP" altLang="en-US"/>
              <a:t>条件分岐も繰り返しも式である。</a:t>
            </a:r>
            <a:endParaRPr lang="en-US" altLang="ja-JP" dirty="0"/>
          </a:p>
          <a:p>
            <a:pPr lvl="1"/>
            <a:r>
              <a:rPr lang="ja-JP" altLang="en-US"/>
              <a:t>値を返す。</a:t>
            </a:r>
            <a:endParaRPr lang="en-US" altLang="ja-JP" dirty="0"/>
          </a:p>
          <a:p>
            <a:pPr lvl="1"/>
            <a:endParaRPr lang="en-US" altLang="ja-JP" dirty="0"/>
          </a:p>
          <a:p>
            <a:pPr lvl="3"/>
            <a:endParaRPr lang="en-US" altLang="ja-JP" dirty="0"/>
          </a:p>
          <a:p>
            <a:pPr lvl="2"/>
            <a:endParaRPr lang="en-US" altLang="ja-JP" dirty="0"/>
          </a:p>
          <a:p>
            <a:r>
              <a:rPr lang="ja-JP" altLang="en-US"/>
              <a:t>返り値にはセミコロンをつけない。</a:t>
            </a:r>
            <a:endParaRPr lang="en-US" altLang="ja-JP" dirty="0"/>
          </a:p>
          <a:p>
            <a:pPr lvl="1"/>
            <a:r>
              <a:rPr lang="ja-JP" altLang="en-US"/>
              <a:t>文ではなく、式として扱う。</a:t>
            </a:r>
            <a:endParaRPr lang="en-US" altLang="ja-JP" dirty="0"/>
          </a:p>
          <a:p>
            <a:endParaRPr kumimoji="1" lang="ja-JP" altLang="en-US"/>
          </a:p>
        </p:txBody>
      </p:sp>
      <p:sp>
        <p:nvSpPr>
          <p:cNvPr id="4" name="日付プレースホルダー 3">
            <a:extLst>
              <a:ext uri="{FF2B5EF4-FFF2-40B4-BE49-F238E27FC236}">
                <a16:creationId xmlns:a16="http://schemas.microsoft.com/office/drawing/2014/main" id="{48666BE7-9AB1-2B0E-4833-4323C6F7F4B5}"/>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8F2CA3EB-2951-3AA4-2B37-45FFE522FDA1}"/>
              </a:ext>
            </a:extLst>
          </p:cNvPr>
          <p:cNvSpPr>
            <a:spLocks noGrp="1"/>
          </p:cNvSpPr>
          <p:nvPr>
            <p:ph type="sldNum" sz="quarter" idx="12"/>
          </p:nvPr>
        </p:nvSpPr>
        <p:spPr/>
        <p:txBody>
          <a:bodyPr/>
          <a:lstStyle/>
          <a:p>
            <a:fld id="{0B8845E4-5C92-A046-BB66-E5D9CC995B08}" type="slidenum">
              <a:rPr kumimoji="1" lang="ja-JP" altLang="en-US" smtClean="0"/>
              <a:t>26</a:t>
            </a:fld>
            <a:endParaRPr kumimoji="1" lang="ja-JP" altLang="en-US"/>
          </a:p>
        </p:txBody>
      </p:sp>
      <p:sp>
        <p:nvSpPr>
          <p:cNvPr id="6" name="テキスト ボックス 5">
            <a:extLst>
              <a:ext uri="{FF2B5EF4-FFF2-40B4-BE49-F238E27FC236}">
                <a16:creationId xmlns:a16="http://schemas.microsoft.com/office/drawing/2014/main" id="{3E25D932-2EA5-9784-45B2-461E4303CB53}"/>
              </a:ext>
            </a:extLst>
          </p:cNvPr>
          <p:cNvSpPr txBox="1"/>
          <p:nvPr/>
        </p:nvSpPr>
        <p:spPr>
          <a:xfrm>
            <a:off x="838200" y="3010842"/>
            <a:ext cx="2970685" cy="1477328"/>
          </a:xfrm>
          <a:prstGeom prst="rect">
            <a:avLst/>
          </a:prstGeom>
          <a:noFill/>
          <a:ln w="12700">
            <a:solidFill>
              <a:schemeClr val="tx1"/>
            </a:solidFill>
          </a:ln>
        </p:spPr>
        <p:txBody>
          <a:bodyPr wrap="non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let</a:t>
            </a:r>
            <a:r>
              <a:rPr kumimoji="1" lang="en-US" altLang="ja-JP" dirty="0">
                <a:latin typeface="Consolas" panose="020B0609020204030204" pitchFamily="49" charset="0"/>
                <a:cs typeface="Consolas" panose="020B0609020204030204" pitchFamily="49" charset="0"/>
              </a:rPr>
              <a:t> x = </a:t>
            </a:r>
            <a:r>
              <a:rPr kumimoji="1" lang="en-US" altLang="ja-JP" dirty="0">
                <a:solidFill>
                  <a:srgbClr val="0000FF"/>
                </a:solidFill>
                <a:latin typeface="Consolas" panose="020B0609020204030204" pitchFamily="49" charset="0"/>
                <a:cs typeface="Consolas" panose="020B0609020204030204" pitchFamily="49" charset="0"/>
              </a:rPr>
              <a:t>if</a:t>
            </a:r>
            <a:r>
              <a:rPr kumimoji="1" lang="en-US" altLang="ja-JP" dirty="0">
                <a:latin typeface="Consolas" panose="020B0609020204030204" pitchFamily="49" charset="0"/>
                <a:cs typeface="Consolas" panose="020B0609020204030204" pitchFamily="49" charset="0"/>
              </a:rPr>
              <a:t> value &gt; 5 {</a:t>
            </a:r>
          </a:p>
          <a:p>
            <a:r>
              <a:rPr lang="en-US" altLang="ja-JP" dirty="0">
                <a:latin typeface="Consolas" panose="020B0609020204030204" pitchFamily="49" charset="0"/>
                <a:cs typeface="Consolas" panose="020B0609020204030204" pitchFamily="49" charset="0"/>
              </a:rPr>
              <a:t>    </a:t>
            </a:r>
            <a:r>
              <a:rPr lang="en-US" altLang="ja-JP" dirty="0">
                <a:solidFill>
                  <a:srgbClr val="C00000"/>
                </a:solidFill>
                <a:latin typeface="Consolas" panose="020B0609020204030204" pitchFamily="49" charset="0"/>
                <a:cs typeface="Consolas" panose="020B0609020204030204" pitchFamily="49" charset="0"/>
              </a:rPr>
              <a:t>"exceed 5"</a:t>
            </a:r>
          </a:p>
          <a:p>
            <a:r>
              <a:rPr kumimoji="1" lang="en-US" altLang="ja-JP" dirty="0">
                <a:latin typeface="Consolas" panose="020B0609020204030204" pitchFamily="49" charset="0"/>
                <a:cs typeface="Consolas" panose="020B0609020204030204" pitchFamily="49" charset="0"/>
              </a:rPr>
              <a:t>} </a:t>
            </a:r>
            <a:r>
              <a:rPr kumimoji="1" lang="en-US" altLang="ja-JP" dirty="0">
                <a:solidFill>
                  <a:srgbClr val="0000FF"/>
                </a:solidFill>
                <a:latin typeface="Consolas" panose="020B0609020204030204" pitchFamily="49" charset="0"/>
                <a:cs typeface="Consolas" panose="020B0609020204030204" pitchFamily="49" charset="0"/>
              </a:rPr>
              <a:t>else</a:t>
            </a:r>
            <a:r>
              <a:rPr kumimoji="1" lang="en-US" altLang="ja-JP" dirty="0">
                <a:latin typeface="Consolas" panose="020B0609020204030204" pitchFamily="49" charset="0"/>
                <a:cs typeface="Consolas" panose="020B0609020204030204" pitchFamily="49" charset="0"/>
              </a:rPr>
              <a:t> {</a:t>
            </a:r>
          </a:p>
          <a:p>
            <a:r>
              <a:rPr lang="en-US" altLang="ja-JP" dirty="0">
                <a:latin typeface="Consolas" panose="020B0609020204030204" pitchFamily="49" charset="0"/>
                <a:cs typeface="Consolas" panose="020B0609020204030204" pitchFamily="49" charset="0"/>
              </a:rPr>
              <a:t>    </a:t>
            </a:r>
            <a:r>
              <a:rPr lang="en-US" altLang="ja-JP" dirty="0">
                <a:solidFill>
                  <a:srgbClr val="C00000"/>
                </a:solidFill>
                <a:latin typeface="Consolas" panose="020B0609020204030204" pitchFamily="49" charset="0"/>
                <a:cs typeface="Consolas" panose="020B0609020204030204" pitchFamily="49" charset="0"/>
              </a:rPr>
              <a:t>"under 5"</a:t>
            </a:r>
          </a:p>
          <a:p>
            <a:r>
              <a:rPr kumimoji="1"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
        <p:nvSpPr>
          <p:cNvPr id="7" name="テキスト ボックス 6">
            <a:extLst>
              <a:ext uri="{FF2B5EF4-FFF2-40B4-BE49-F238E27FC236}">
                <a16:creationId xmlns:a16="http://schemas.microsoft.com/office/drawing/2014/main" id="{8DE09921-3420-6784-527E-44CF16BA7EC5}"/>
              </a:ext>
            </a:extLst>
          </p:cNvPr>
          <p:cNvSpPr txBox="1"/>
          <p:nvPr/>
        </p:nvSpPr>
        <p:spPr>
          <a:xfrm>
            <a:off x="4863932" y="3010842"/>
            <a:ext cx="2844048" cy="1754326"/>
          </a:xfrm>
          <a:prstGeom prst="rect">
            <a:avLst/>
          </a:prstGeom>
          <a:noFill/>
          <a:ln w="12700">
            <a:solidFill>
              <a:schemeClr val="tx1"/>
            </a:solidFill>
          </a:ln>
        </p:spPr>
        <p:txBody>
          <a:bodyPr wrap="non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let</a:t>
            </a:r>
            <a:r>
              <a:rPr kumimoji="1" lang="en-US" altLang="ja-JP" dirty="0">
                <a:latin typeface="Consolas" panose="020B0609020204030204" pitchFamily="49" charset="0"/>
                <a:cs typeface="Consolas" panose="020B0609020204030204" pitchFamily="49" charset="0"/>
              </a:rPr>
              <a:t> x = </a:t>
            </a:r>
            <a:r>
              <a:rPr kumimoji="1" lang="en-US" altLang="ja-JP" dirty="0">
                <a:solidFill>
                  <a:srgbClr val="0000FF"/>
                </a:solidFill>
                <a:latin typeface="Consolas" panose="020B0609020204030204" pitchFamily="49" charset="0"/>
                <a:cs typeface="Consolas" panose="020B0609020204030204" pitchFamily="49" charset="0"/>
              </a:rPr>
              <a:t>match</a:t>
            </a:r>
            <a:r>
              <a:rPr kumimoji="1" lang="en-US" altLang="ja-JP" dirty="0">
                <a:latin typeface="Consolas" panose="020B0609020204030204" pitchFamily="49" charset="0"/>
                <a:cs typeface="Consolas" panose="020B0609020204030204" pitchFamily="49" charset="0"/>
              </a:rPr>
              <a:t> value {</a:t>
            </a:r>
          </a:p>
          <a:p>
            <a:r>
              <a:rPr lang="en-US" altLang="ja-JP" dirty="0">
                <a:latin typeface="Consolas" panose="020B0609020204030204" pitchFamily="49" charset="0"/>
                <a:cs typeface="Consolas" panose="020B0609020204030204" pitchFamily="49" charset="0"/>
              </a:rPr>
              <a:t>  1 =&gt; "one",</a:t>
            </a:r>
          </a:p>
          <a:p>
            <a:r>
              <a:rPr lang="en-US" altLang="ja-JP" dirty="0">
                <a:latin typeface="Consolas" panose="020B0609020204030204" pitchFamily="49" charset="0"/>
                <a:cs typeface="Consolas" panose="020B0609020204030204" pitchFamily="49" charset="0"/>
              </a:rPr>
              <a:t>  2 =&gt; "two",</a:t>
            </a:r>
          </a:p>
          <a:p>
            <a:r>
              <a:rPr kumimoji="1" lang="en-US" altLang="ja-JP" dirty="0">
                <a:latin typeface="Consolas" panose="020B0609020204030204" pitchFamily="49" charset="0"/>
                <a:cs typeface="Consolas" panose="020B0609020204030204" pitchFamily="49" charset="0"/>
              </a:rPr>
              <a:t>  3 =&gt; "three",</a:t>
            </a:r>
          </a:p>
          <a:p>
            <a:r>
              <a:rPr lang="en-US" altLang="ja-JP" dirty="0">
                <a:latin typeface="Consolas" panose="020B0609020204030204" pitchFamily="49" charset="0"/>
                <a:cs typeface="Consolas" panose="020B0609020204030204" pitchFamily="49" charset="0"/>
              </a:rPr>
              <a:t>  </a:t>
            </a:r>
            <a:r>
              <a:rPr lang="en-US" altLang="ja-JP" dirty="0">
                <a:solidFill>
                  <a:srgbClr val="7030A0"/>
                </a:solidFill>
                <a:latin typeface="Consolas" panose="020B0609020204030204" pitchFamily="49" charset="0"/>
                <a:cs typeface="Consolas" panose="020B0609020204030204" pitchFamily="49" charset="0"/>
              </a:rPr>
              <a:t>_</a:t>
            </a:r>
            <a:r>
              <a:rPr lang="en-US" altLang="ja-JP" dirty="0">
                <a:latin typeface="Consolas" panose="020B0609020204030204" pitchFamily="49" charset="0"/>
                <a:cs typeface="Consolas" panose="020B0609020204030204" pitchFamily="49" charset="0"/>
              </a:rPr>
              <a:t> =&gt; "other",</a:t>
            </a:r>
            <a:endParaRPr kumimoji="1" lang="en-US" altLang="ja-JP" dirty="0">
              <a:latin typeface="Consolas" panose="020B0609020204030204" pitchFamily="49" charset="0"/>
              <a:cs typeface="Consolas" panose="020B0609020204030204" pitchFamily="49" charset="0"/>
            </a:endParaRPr>
          </a:p>
          <a:p>
            <a:r>
              <a:rPr kumimoji="1"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
        <p:nvSpPr>
          <p:cNvPr id="8" name="テキスト ボックス 7">
            <a:extLst>
              <a:ext uri="{FF2B5EF4-FFF2-40B4-BE49-F238E27FC236}">
                <a16:creationId xmlns:a16="http://schemas.microsoft.com/office/drawing/2014/main" id="{B6E1A2C2-E739-A666-EAFB-6404926705A1}"/>
              </a:ext>
            </a:extLst>
          </p:cNvPr>
          <p:cNvSpPr txBox="1"/>
          <p:nvPr/>
        </p:nvSpPr>
        <p:spPr>
          <a:xfrm>
            <a:off x="8763026" y="3010842"/>
            <a:ext cx="2590774" cy="923330"/>
          </a:xfrm>
          <a:prstGeom prst="rect">
            <a:avLst/>
          </a:prstGeom>
          <a:noFill/>
          <a:ln w="12700">
            <a:solidFill>
              <a:schemeClr val="tx1"/>
            </a:solidFill>
          </a:ln>
        </p:spPr>
        <p:txBody>
          <a:bodyPr wrap="non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for</a:t>
            </a:r>
            <a:r>
              <a:rPr kumimoji="1" lang="en-US" altLang="ja-JP" dirty="0">
                <a:latin typeface="Consolas" panose="020B0609020204030204" pitchFamily="49" charset="0"/>
                <a:cs typeface="Consolas" panose="020B0609020204030204" pitchFamily="49" charset="0"/>
              </a:rPr>
              <a:t> </a:t>
            </a:r>
            <a:r>
              <a:rPr kumimoji="1" lang="en-US" altLang="ja-JP" dirty="0" err="1">
                <a:latin typeface="Consolas" panose="020B0609020204030204" pitchFamily="49" charset="0"/>
                <a:cs typeface="Consolas" panose="020B0609020204030204" pitchFamily="49" charset="0"/>
              </a:rPr>
              <a:t>i</a:t>
            </a:r>
            <a:r>
              <a:rPr kumimoji="1" lang="en-US" altLang="ja-JP" dirty="0">
                <a:latin typeface="Consolas" panose="020B0609020204030204" pitchFamily="49" charset="0"/>
                <a:cs typeface="Consolas" panose="020B0609020204030204" pitchFamily="49" charset="0"/>
              </a:rPr>
              <a:t> </a:t>
            </a:r>
            <a:r>
              <a:rPr kumimoji="1" lang="en-US" altLang="ja-JP" dirty="0">
                <a:solidFill>
                  <a:srgbClr val="0000FF"/>
                </a:solidFill>
                <a:latin typeface="Consolas" panose="020B0609020204030204" pitchFamily="49" charset="0"/>
                <a:cs typeface="Consolas" panose="020B0609020204030204" pitchFamily="49" charset="0"/>
              </a:rPr>
              <a:t>in</a:t>
            </a:r>
            <a:r>
              <a:rPr kumimoji="1" lang="en-US" altLang="ja-JP" dirty="0">
                <a:latin typeface="Consolas" panose="020B0609020204030204" pitchFamily="49" charset="0"/>
                <a:cs typeface="Consolas" panose="020B0609020204030204" pitchFamily="49" charset="0"/>
              </a:rPr>
              <a:t> items {</a:t>
            </a:r>
          </a:p>
          <a:p>
            <a:r>
              <a:rPr lang="en-US" altLang="ja-JP" dirty="0">
                <a:solidFill>
                  <a:schemeClr val="bg1">
                    <a:lumMod val="50000"/>
                  </a:schemeClr>
                </a:solidFill>
                <a:latin typeface="Consolas" panose="020B0609020204030204" pitchFamily="49" charset="0"/>
                <a:cs typeface="Consolas" panose="020B0609020204030204" pitchFamily="49" charset="0"/>
              </a:rPr>
              <a:t>  // some operation</a:t>
            </a:r>
            <a:endParaRPr kumimoji="1"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075449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165771-6CC3-76A2-A8BD-6061EB2CDC5D}"/>
              </a:ext>
            </a:extLst>
          </p:cNvPr>
          <p:cNvSpPr>
            <a:spLocks noGrp="1"/>
          </p:cNvSpPr>
          <p:nvPr>
            <p:ph type="title"/>
          </p:nvPr>
        </p:nvSpPr>
        <p:spPr/>
        <p:txBody>
          <a:bodyPr/>
          <a:lstStyle/>
          <a:p>
            <a:r>
              <a:rPr kumimoji="1" lang="en-US" altLang="ja-JP" dirty="0">
                <a:latin typeface="Consolas" panose="020B0609020204030204" pitchFamily="49" charset="0"/>
                <a:cs typeface="Consolas" panose="020B0609020204030204" pitchFamily="49" charset="0"/>
              </a:rPr>
              <a:t>Result&lt;T, E&gt;</a:t>
            </a:r>
            <a:r>
              <a:rPr kumimoji="1" lang="ja-JP" altLang="en-US"/>
              <a:t>と</a:t>
            </a:r>
            <a:r>
              <a:rPr kumimoji="1" lang="en-US" altLang="ja-JP" sz="6000" dirty="0">
                <a:latin typeface="Consolas" panose="020B0609020204030204" pitchFamily="49" charset="0"/>
                <a:cs typeface="Consolas" panose="020B0609020204030204" pitchFamily="49" charset="0"/>
              </a:rPr>
              <a:t>Option&lt;T&gt;</a:t>
            </a:r>
            <a:endParaRPr kumimoji="1" lang="ja-JP" altLang="en-US" sz="6000">
              <a:latin typeface="Consolas" panose="020B0609020204030204" pitchFamily="49" charset="0"/>
              <a:cs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48CA88BE-B490-AADB-E22F-EC3A987BC30C}"/>
              </a:ext>
            </a:extLst>
          </p:cNvPr>
          <p:cNvSpPr>
            <a:spLocks noGrp="1"/>
          </p:cNvSpPr>
          <p:nvPr>
            <p:ph idx="1"/>
          </p:nvPr>
        </p:nvSpPr>
        <p:spPr>
          <a:xfrm>
            <a:off x="838200" y="1825625"/>
            <a:ext cx="5536096" cy="4351338"/>
          </a:xfrm>
        </p:spPr>
        <p:txBody>
          <a:bodyPr>
            <a:normAutofit fontScale="55000" lnSpcReduction="20000"/>
          </a:bodyPr>
          <a:lstStyle/>
          <a:p>
            <a:pPr>
              <a:lnSpc>
                <a:spcPct val="120000"/>
              </a:lnSpc>
            </a:pPr>
            <a:r>
              <a:rPr kumimoji="1" lang="en-US" altLang="ja-JP" dirty="0">
                <a:solidFill>
                  <a:srgbClr val="7030A0"/>
                </a:solidFill>
                <a:latin typeface="Consolas" panose="020B0609020204030204" pitchFamily="49" charset="0"/>
                <a:cs typeface="Consolas" panose="020B0609020204030204" pitchFamily="49" charset="0"/>
              </a:rPr>
              <a:t>Result</a:t>
            </a:r>
            <a:r>
              <a:rPr kumimoji="1" lang="ja-JP" altLang="en-US"/>
              <a:t>は二者択一の値を扱う。</a:t>
            </a:r>
            <a:endParaRPr kumimoji="1" lang="en-US" altLang="ja-JP" dirty="0"/>
          </a:p>
          <a:p>
            <a:pPr lvl="1">
              <a:lnSpc>
                <a:spcPct val="120000"/>
              </a:lnSpc>
            </a:pPr>
            <a:r>
              <a:rPr lang="ja-JP" altLang="en-US"/>
              <a:t>処理において、エラーの可能性があるなら、</a:t>
            </a:r>
            <a:r>
              <a:rPr lang="en-US" altLang="ja-JP" dirty="0">
                <a:solidFill>
                  <a:srgbClr val="7030A0"/>
                </a:solidFill>
                <a:latin typeface="Consolas" panose="020B0609020204030204" pitchFamily="49" charset="0"/>
                <a:cs typeface="Consolas" panose="020B0609020204030204" pitchFamily="49" charset="0"/>
              </a:rPr>
              <a:t>Result</a:t>
            </a:r>
            <a:r>
              <a:rPr lang="ja-JP" altLang="en-US"/>
              <a:t>を使う。</a:t>
            </a:r>
            <a:endParaRPr lang="en-US" altLang="ja-JP" dirty="0"/>
          </a:p>
          <a:p>
            <a:pPr lvl="1">
              <a:lnSpc>
                <a:spcPct val="120000"/>
              </a:lnSpc>
            </a:pPr>
            <a:r>
              <a:rPr kumimoji="1" lang="en-US" altLang="ja-JP" dirty="0">
                <a:solidFill>
                  <a:srgbClr val="7030A0"/>
                </a:solidFill>
                <a:latin typeface="Consolas" panose="020B0609020204030204" pitchFamily="49" charset="0"/>
                <a:cs typeface="Consolas" panose="020B0609020204030204" pitchFamily="49" charset="0"/>
              </a:rPr>
              <a:t>Ok</a:t>
            </a:r>
            <a:r>
              <a:rPr kumimoji="1" lang="en-US" altLang="ja-JP" dirty="0"/>
              <a:t>, </a:t>
            </a:r>
            <a:r>
              <a:rPr kumimoji="1" lang="en-US" altLang="ja-JP" dirty="0">
                <a:solidFill>
                  <a:srgbClr val="7030A0"/>
                </a:solidFill>
                <a:latin typeface="Consolas" panose="020B0609020204030204" pitchFamily="49" charset="0"/>
                <a:cs typeface="Consolas" panose="020B0609020204030204" pitchFamily="49" charset="0"/>
              </a:rPr>
              <a:t>Err</a:t>
            </a:r>
            <a:r>
              <a:rPr kumimoji="1" lang="ja-JP" altLang="en-US"/>
              <a:t>を</a:t>
            </a:r>
            <a:r>
              <a:rPr kumimoji="1" lang="en-US" altLang="ja-JP" dirty="0">
                <a:solidFill>
                  <a:srgbClr val="0000FF"/>
                </a:solidFill>
                <a:latin typeface="Consolas" panose="020B0609020204030204" pitchFamily="49" charset="0"/>
                <a:cs typeface="Consolas" panose="020B0609020204030204" pitchFamily="49" charset="0"/>
              </a:rPr>
              <a:t>match</a:t>
            </a:r>
            <a:r>
              <a:rPr kumimoji="1" lang="ja-JP" altLang="en-US"/>
              <a:t>で分ける。</a:t>
            </a:r>
          </a:p>
          <a:p>
            <a:pPr>
              <a:lnSpc>
                <a:spcPct val="120000"/>
              </a:lnSpc>
            </a:pPr>
            <a:r>
              <a:rPr lang="en-US" altLang="ja-JP" dirty="0">
                <a:solidFill>
                  <a:srgbClr val="7030A0"/>
                </a:solidFill>
                <a:latin typeface="Consolas" panose="020B0609020204030204" pitchFamily="49" charset="0"/>
                <a:cs typeface="Consolas" panose="020B0609020204030204" pitchFamily="49" charset="0"/>
              </a:rPr>
              <a:t>Option</a:t>
            </a:r>
            <a:r>
              <a:rPr lang="ja-JP" altLang="en-US"/>
              <a:t>は値が存在する</a:t>
            </a:r>
            <a:r>
              <a:rPr lang="en-US" altLang="ja-JP" dirty="0"/>
              <a:t>/</a:t>
            </a:r>
            <a:r>
              <a:rPr lang="ja-JP" altLang="en-US"/>
              <a:t>しないを扱う。</a:t>
            </a:r>
            <a:endParaRPr lang="en-US" altLang="ja-JP" dirty="0"/>
          </a:p>
          <a:p>
            <a:pPr lvl="1">
              <a:lnSpc>
                <a:spcPct val="120000"/>
              </a:lnSpc>
            </a:pPr>
            <a:r>
              <a:rPr kumimoji="1" lang="ja-JP" altLang="en-US"/>
              <a:t>値が存在しないかもしれない場合、</a:t>
            </a:r>
            <a:r>
              <a:rPr kumimoji="1" lang="en-US" altLang="ja-JP" dirty="0">
                <a:solidFill>
                  <a:srgbClr val="7030A0"/>
                </a:solidFill>
                <a:latin typeface="Consolas" panose="020B0609020204030204" pitchFamily="49" charset="0"/>
                <a:cs typeface="Consolas" panose="020B0609020204030204" pitchFamily="49" charset="0"/>
              </a:rPr>
              <a:t>Option</a:t>
            </a:r>
            <a:r>
              <a:rPr lang="ja-JP" altLang="en-US"/>
              <a:t>とする。</a:t>
            </a:r>
            <a:endParaRPr lang="en-US" altLang="ja-JP" dirty="0"/>
          </a:p>
          <a:p>
            <a:pPr lvl="1">
              <a:lnSpc>
                <a:spcPct val="120000"/>
              </a:lnSpc>
            </a:pPr>
            <a:r>
              <a:rPr lang="en-US" altLang="ja-JP" dirty="0">
                <a:solidFill>
                  <a:srgbClr val="0000FF"/>
                </a:solidFill>
                <a:latin typeface="Consolas" panose="020B0609020204030204" pitchFamily="49" charset="0"/>
                <a:cs typeface="Consolas" panose="020B0609020204030204" pitchFamily="49" charset="0"/>
              </a:rPr>
              <a:t>match</a:t>
            </a:r>
            <a:r>
              <a:rPr lang="ja-JP" altLang="en-US"/>
              <a:t>で、</a:t>
            </a:r>
            <a:r>
              <a:rPr lang="en-US" altLang="ja-JP" dirty="0">
                <a:solidFill>
                  <a:srgbClr val="7030A0"/>
                </a:solidFill>
                <a:latin typeface="Consolas" panose="020B0609020204030204" pitchFamily="49" charset="0"/>
                <a:cs typeface="Consolas" panose="020B0609020204030204" pitchFamily="49" charset="0"/>
              </a:rPr>
              <a:t>Some</a:t>
            </a:r>
            <a:r>
              <a:rPr lang="ja-JP" altLang="en-US"/>
              <a:t>、</a:t>
            </a:r>
            <a:r>
              <a:rPr lang="en-US" altLang="ja-JP" dirty="0">
                <a:solidFill>
                  <a:srgbClr val="7030A0"/>
                </a:solidFill>
                <a:latin typeface="Consolas" panose="020B0609020204030204" pitchFamily="49" charset="0"/>
                <a:cs typeface="Consolas" panose="020B0609020204030204" pitchFamily="49" charset="0"/>
              </a:rPr>
              <a:t>None</a:t>
            </a:r>
            <a:r>
              <a:rPr lang="ja-JP" altLang="en-US"/>
              <a:t>を分ける、</a:t>
            </a:r>
            <a:r>
              <a:rPr lang="en-US" altLang="ja-JP" dirty="0">
                <a:solidFill>
                  <a:srgbClr val="0000FF"/>
                </a:solidFill>
                <a:latin typeface="Consolas" panose="020B0609020204030204" pitchFamily="49" charset="0"/>
                <a:cs typeface="Consolas" panose="020B0609020204030204" pitchFamily="49" charset="0"/>
              </a:rPr>
              <a:t>if</a:t>
            </a:r>
            <a:r>
              <a:rPr lang="ja-JP" altLang="en-US"/>
              <a:t>で</a:t>
            </a:r>
            <a:r>
              <a:rPr lang="en-US" altLang="ja-JP" dirty="0">
                <a:solidFill>
                  <a:srgbClr val="7030A0"/>
                </a:solidFill>
                <a:latin typeface="Consolas" panose="020B0609020204030204" pitchFamily="49" charset="0"/>
                <a:cs typeface="Consolas" panose="020B0609020204030204" pitchFamily="49" charset="0"/>
              </a:rPr>
              <a:t>Some</a:t>
            </a:r>
            <a:r>
              <a:rPr lang="ja-JP" altLang="en-US"/>
              <a:t>の場合の値を受け取る。</a:t>
            </a:r>
            <a:endParaRPr lang="en-US" altLang="ja-JP" dirty="0"/>
          </a:p>
        </p:txBody>
      </p:sp>
      <p:sp>
        <p:nvSpPr>
          <p:cNvPr id="4" name="日付プレースホルダー 3">
            <a:extLst>
              <a:ext uri="{FF2B5EF4-FFF2-40B4-BE49-F238E27FC236}">
                <a16:creationId xmlns:a16="http://schemas.microsoft.com/office/drawing/2014/main" id="{D985087C-7420-0707-A52B-F7C75B1A07F8}"/>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98ED1D4C-54FB-85A3-D58E-D663C65E31E6}"/>
              </a:ext>
            </a:extLst>
          </p:cNvPr>
          <p:cNvSpPr>
            <a:spLocks noGrp="1"/>
          </p:cNvSpPr>
          <p:nvPr>
            <p:ph type="sldNum" sz="quarter" idx="12"/>
          </p:nvPr>
        </p:nvSpPr>
        <p:spPr/>
        <p:txBody>
          <a:bodyPr/>
          <a:lstStyle/>
          <a:p>
            <a:fld id="{0B8845E4-5C92-A046-BB66-E5D9CC995B08}" type="slidenum">
              <a:rPr kumimoji="1" lang="ja-JP" altLang="en-US" smtClean="0"/>
              <a:t>27</a:t>
            </a:fld>
            <a:endParaRPr kumimoji="1" lang="ja-JP" altLang="en-US"/>
          </a:p>
        </p:txBody>
      </p:sp>
      <p:sp>
        <p:nvSpPr>
          <p:cNvPr id="6" name="テキスト ボックス 5">
            <a:extLst>
              <a:ext uri="{FF2B5EF4-FFF2-40B4-BE49-F238E27FC236}">
                <a16:creationId xmlns:a16="http://schemas.microsoft.com/office/drawing/2014/main" id="{F91E701C-ABF8-A5D1-F09B-BC6148ECD7B8}"/>
              </a:ext>
            </a:extLst>
          </p:cNvPr>
          <p:cNvSpPr txBox="1"/>
          <p:nvPr/>
        </p:nvSpPr>
        <p:spPr>
          <a:xfrm>
            <a:off x="6705601" y="1825625"/>
            <a:ext cx="4363694" cy="2308324"/>
          </a:xfrm>
          <a:prstGeom prst="rect">
            <a:avLst/>
          </a:prstGeom>
          <a:noFill/>
          <a:ln w="12700">
            <a:solidFill>
              <a:schemeClr val="tx1"/>
            </a:solidFill>
          </a:ln>
        </p:spPr>
        <p:txBody>
          <a:bodyPr wrap="squar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match</a:t>
            </a:r>
            <a:r>
              <a:rPr kumimoji="1" lang="en-US" altLang="ja-JP" dirty="0">
                <a:latin typeface="Consolas" panose="020B0609020204030204" pitchFamily="49" charset="0"/>
                <a:cs typeface="Consolas" panose="020B0609020204030204" pitchFamily="49" charset="0"/>
              </a:rPr>
              <a:t> </a:t>
            </a:r>
            <a:r>
              <a:rPr kumimoji="1" lang="en-US" altLang="ja-JP" dirty="0" err="1">
                <a:latin typeface="Consolas" panose="020B0609020204030204" pitchFamily="49" charset="0"/>
                <a:cs typeface="Consolas" panose="020B0609020204030204" pitchFamily="49" charset="0"/>
              </a:rPr>
              <a:t>some_func</a:t>
            </a:r>
            <a:r>
              <a:rPr kumimoji="1" lang="en-US" altLang="ja-JP" dirty="0">
                <a:latin typeface="Consolas" panose="020B0609020204030204" pitchFamily="49" charset="0"/>
                <a:cs typeface="Consolas" panose="020B0609020204030204" pitchFamily="49" charset="0"/>
              </a:rPr>
              <a:t>(value) {</a:t>
            </a:r>
          </a:p>
          <a:p>
            <a:r>
              <a:rPr lang="en-US" altLang="ja-JP" dirty="0">
                <a:latin typeface="Consolas" panose="020B0609020204030204" pitchFamily="49" charset="0"/>
                <a:cs typeface="Consolas" panose="020B0609020204030204" pitchFamily="49" charset="0"/>
              </a:rPr>
              <a:t>  </a:t>
            </a:r>
            <a:r>
              <a:rPr lang="en-US" altLang="ja-JP" dirty="0">
                <a:solidFill>
                  <a:srgbClr val="7030A0"/>
                </a:solidFill>
                <a:latin typeface="Consolas" panose="020B0609020204030204" pitchFamily="49" charset="0"/>
                <a:cs typeface="Consolas" panose="020B0609020204030204" pitchFamily="49" charset="0"/>
              </a:rPr>
              <a:t>Ok</a:t>
            </a:r>
            <a:r>
              <a:rPr lang="en-US" altLang="ja-JP" dirty="0">
                <a:latin typeface="Consolas" panose="020B0609020204030204" pitchFamily="49" charset="0"/>
                <a:cs typeface="Consolas" panose="020B0609020204030204" pitchFamily="49" charset="0"/>
              </a:rPr>
              <a:t>(inner) =&gt; {</a:t>
            </a:r>
          </a:p>
          <a:p>
            <a:r>
              <a:rPr lang="en-US" altLang="ja-JP" dirty="0">
                <a:latin typeface="Consolas" panose="020B0609020204030204" pitchFamily="49" charset="0"/>
                <a:cs typeface="Consolas" panose="020B0609020204030204" pitchFamily="49" charset="0"/>
              </a:rPr>
              <a:t>    </a:t>
            </a:r>
            <a:r>
              <a:rPr lang="en-US" altLang="ja-JP" dirty="0">
                <a:solidFill>
                  <a:schemeClr val="bg1">
                    <a:lumMod val="50000"/>
                  </a:schemeClr>
                </a:solidFill>
                <a:latin typeface="Consolas" panose="020B0609020204030204" pitchFamily="49" charset="0"/>
                <a:cs typeface="Consolas" panose="020B0609020204030204" pitchFamily="49" charset="0"/>
              </a:rPr>
              <a:t>// some process.</a:t>
            </a:r>
          </a:p>
          <a:p>
            <a:r>
              <a:rPr lang="en-US" altLang="ja-JP" dirty="0">
                <a:latin typeface="Consolas" panose="020B0609020204030204" pitchFamily="49" charset="0"/>
                <a:cs typeface="Consolas" panose="020B0609020204030204" pitchFamily="49" charset="0"/>
              </a:rPr>
              <a:t>  },</a:t>
            </a:r>
          </a:p>
          <a:p>
            <a:r>
              <a:rPr kumimoji="1" lang="en-US" altLang="ja-JP" dirty="0">
                <a:latin typeface="Consolas" panose="020B0609020204030204" pitchFamily="49" charset="0"/>
                <a:cs typeface="Consolas" panose="020B0609020204030204" pitchFamily="49" charset="0"/>
              </a:rPr>
              <a:t>  </a:t>
            </a:r>
            <a:r>
              <a:rPr kumimoji="1" lang="en-US" altLang="ja-JP" dirty="0">
                <a:solidFill>
                  <a:srgbClr val="7030A0"/>
                </a:solidFill>
                <a:latin typeface="Consolas" panose="020B0609020204030204" pitchFamily="49" charset="0"/>
                <a:cs typeface="Consolas" panose="020B0609020204030204" pitchFamily="49" charset="0"/>
              </a:rPr>
              <a:t>Err</a:t>
            </a:r>
            <a:r>
              <a:rPr kumimoji="1" lang="en-US" altLang="ja-JP" dirty="0">
                <a:latin typeface="Consolas" panose="020B0609020204030204" pitchFamily="49" charset="0"/>
                <a:cs typeface="Consolas" panose="020B0609020204030204" pitchFamily="49" charset="0"/>
              </a:rPr>
              <a:t>(e) =&gt; { </a:t>
            </a:r>
          </a:p>
          <a:p>
            <a:r>
              <a:rPr lang="en-US" altLang="ja-JP" dirty="0">
                <a:latin typeface="Consolas" panose="020B0609020204030204" pitchFamily="49" charset="0"/>
                <a:cs typeface="Consolas" panose="020B0609020204030204" pitchFamily="49" charset="0"/>
              </a:rPr>
              <a:t>    </a:t>
            </a:r>
            <a:r>
              <a:rPr lang="en-US" altLang="ja-JP" dirty="0">
                <a:solidFill>
                  <a:schemeClr val="bg1">
                    <a:lumMod val="50000"/>
                  </a:schemeClr>
                </a:solidFill>
                <a:latin typeface="Consolas" panose="020B0609020204030204" pitchFamily="49" charset="0"/>
                <a:cs typeface="Consolas" panose="020B0609020204030204" pitchFamily="49" charset="0"/>
              </a:rPr>
              <a:t>// some error handling.</a:t>
            </a:r>
          </a:p>
          <a:p>
            <a:r>
              <a:rPr kumimoji="1" lang="en-US" altLang="ja-JP" dirty="0">
                <a:latin typeface="Consolas" panose="020B0609020204030204" pitchFamily="49" charset="0"/>
                <a:cs typeface="Consolas" panose="020B0609020204030204" pitchFamily="49" charset="0"/>
              </a:rPr>
              <a:t>  },</a:t>
            </a:r>
          </a:p>
          <a:p>
            <a:r>
              <a:rPr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
        <p:nvSpPr>
          <p:cNvPr id="7" name="テキスト ボックス 6">
            <a:extLst>
              <a:ext uri="{FF2B5EF4-FFF2-40B4-BE49-F238E27FC236}">
                <a16:creationId xmlns:a16="http://schemas.microsoft.com/office/drawing/2014/main" id="{A8047897-04C9-D5AE-64FE-22563B66B0EA}"/>
              </a:ext>
            </a:extLst>
          </p:cNvPr>
          <p:cNvSpPr txBox="1"/>
          <p:nvPr/>
        </p:nvSpPr>
        <p:spPr>
          <a:xfrm>
            <a:off x="6705601" y="4268886"/>
            <a:ext cx="4363695" cy="1477328"/>
          </a:xfrm>
          <a:prstGeom prst="rect">
            <a:avLst/>
          </a:prstGeom>
          <a:noFill/>
          <a:ln w="12700">
            <a:solidFill>
              <a:schemeClr val="tx1"/>
            </a:solidFill>
          </a:ln>
        </p:spPr>
        <p:txBody>
          <a:bodyPr wrap="none" rtlCol="0">
            <a:spAutoFit/>
          </a:bodyPr>
          <a:lstStyle/>
          <a:p>
            <a:r>
              <a:rPr kumimoji="1" lang="en-US" altLang="ja-JP" dirty="0">
                <a:solidFill>
                  <a:srgbClr val="0000FF"/>
                </a:solidFill>
                <a:latin typeface="Consolas" panose="020B0609020204030204" pitchFamily="49" charset="0"/>
                <a:cs typeface="Consolas" panose="020B0609020204030204" pitchFamily="49" charset="0"/>
              </a:rPr>
              <a:t>let mut</a:t>
            </a:r>
            <a:r>
              <a:rPr kumimoji="1" lang="en-US" altLang="ja-JP" dirty="0">
                <a:latin typeface="Consolas" panose="020B0609020204030204" pitchFamily="49" charset="0"/>
                <a:cs typeface="Consolas" panose="020B0609020204030204" pitchFamily="49" charset="0"/>
              </a:rPr>
              <a:t> map = </a:t>
            </a:r>
            <a:r>
              <a:rPr kumimoji="1" lang="en-US" altLang="ja-JP" dirty="0">
                <a:solidFill>
                  <a:srgbClr val="7030A0"/>
                </a:solidFill>
                <a:latin typeface="Consolas" panose="020B0609020204030204" pitchFamily="49" charset="0"/>
                <a:cs typeface="Consolas" panose="020B0609020204030204" pitchFamily="49" charset="0"/>
              </a:rPr>
              <a:t>HashMap</a:t>
            </a:r>
            <a:r>
              <a:rPr kumimoji="1" lang="en-US" altLang="ja-JP" dirty="0">
                <a:latin typeface="Consolas" panose="020B0609020204030204" pitchFamily="49" charset="0"/>
                <a:cs typeface="Consolas" panose="020B0609020204030204" pitchFamily="49" charset="0"/>
              </a:rPr>
              <a:t>::new();</a:t>
            </a:r>
          </a:p>
          <a:p>
            <a:r>
              <a:rPr lang="en-US" altLang="ja-JP" dirty="0">
                <a:solidFill>
                  <a:schemeClr val="bg1">
                    <a:lumMod val="50000"/>
                  </a:schemeClr>
                </a:solidFill>
                <a:latin typeface="Consolas" panose="020B0609020204030204" pitchFamily="49" charset="0"/>
                <a:cs typeface="Consolas" panose="020B0609020204030204" pitchFamily="49" charset="0"/>
              </a:rPr>
              <a:t>// map </a:t>
            </a:r>
            <a:r>
              <a:rPr lang="ja-JP" altLang="en-US">
                <a:solidFill>
                  <a:schemeClr val="bg1">
                    <a:lumMod val="50000"/>
                  </a:schemeClr>
                </a:solidFill>
                <a:latin typeface="Consolas" panose="020B0609020204030204" pitchFamily="49" charset="0"/>
                <a:cs typeface="Consolas" panose="020B0609020204030204" pitchFamily="49" charset="0"/>
              </a:rPr>
              <a:t>に値を追加する。</a:t>
            </a:r>
            <a:endParaRPr lang="en-US" altLang="ja-JP" dirty="0">
              <a:solidFill>
                <a:schemeClr val="bg1">
                  <a:lumMod val="50000"/>
                </a:schemeClr>
              </a:solidFill>
              <a:latin typeface="Consolas" panose="020B0609020204030204" pitchFamily="49" charset="0"/>
              <a:cs typeface="Consolas" panose="020B0609020204030204" pitchFamily="49" charset="0"/>
            </a:endParaRPr>
          </a:p>
          <a:p>
            <a:r>
              <a:rPr lang="en-US" altLang="ja-JP" dirty="0">
                <a:solidFill>
                  <a:srgbClr val="0000FF"/>
                </a:solidFill>
                <a:latin typeface="Consolas" panose="020B0609020204030204" pitchFamily="49" charset="0"/>
                <a:cs typeface="Consolas" panose="020B0609020204030204" pitchFamily="49" charset="0"/>
              </a:rPr>
              <a:t>if let </a:t>
            </a:r>
            <a:r>
              <a:rPr lang="en-US" altLang="ja-JP" dirty="0">
                <a:solidFill>
                  <a:srgbClr val="7030A0"/>
                </a:solidFill>
                <a:latin typeface="Consolas" panose="020B0609020204030204" pitchFamily="49" charset="0"/>
                <a:cs typeface="Consolas" panose="020B0609020204030204" pitchFamily="49" charset="0"/>
              </a:rPr>
              <a:t>Some</a:t>
            </a:r>
            <a:r>
              <a:rPr lang="en-US" altLang="ja-JP" dirty="0">
                <a:latin typeface="Consolas" panose="020B0609020204030204" pitchFamily="49" charset="0"/>
                <a:cs typeface="Consolas" panose="020B0609020204030204" pitchFamily="49" charset="0"/>
              </a:rPr>
              <a:t>(v) = </a:t>
            </a:r>
            <a:r>
              <a:rPr lang="en-US" altLang="ja-JP" dirty="0" err="1">
                <a:latin typeface="Consolas" panose="020B0609020204030204" pitchFamily="49" charset="0"/>
                <a:cs typeface="Consolas" panose="020B0609020204030204" pitchFamily="49" charset="0"/>
              </a:rPr>
              <a:t>map.get</a:t>
            </a:r>
            <a:r>
              <a:rPr lang="en-US" altLang="ja-JP" dirty="0">
                <a:latin typeface="Consolas" panose="020B0609020204030204" pitchFamily="49" charset="0"/>
                <a:cs typeface="Consolas" panose="020B0609020204030204" pitchFamily="49" charset="0"/>
              </a:rPr>
              <a:t>(</a:t>
            </a:r>
            <a:r>
              <a:rPr lang="en-US" altLang="ja-JP" dirty="0">
                <a:solidFill>
                  <a:srgbClr val="C00000"/>
                </a:solidFill>
                <a:latin typeface="Consolas" panose="020B0609020204030204" pitchFamily="49" charset="0"/>
                <a:cs typeface="Consolas" panose="020B0609020204030204" pitchFamily="49" charset="0"/>
              </a:rPr>
              <a:t>"key"</a:t>
            </a:r>
            <a:r>
              <a:rPr lang="en-US" altLang="ja-JP" dirty="0">
                <a:latin typeface="Consolas" panose="020B0609020204030204" pitchFamily="49" charset="0"/>
                <a:cs typeface="Consolas" panose="020B0609020204030204" pitchFamily="49" charset="0"/>
              </a:rPr>
              <a:t>) {</a:t>
            </a:r>
          </a:p>
          <a:p>
            <a:r>
              <a:rPr lang="en-US" altLang="ja-JP" dirty="0">
                <a:solidFill>
                  <a:schemeClr val="bg1">
                    <a:lumMod val="50000"/>
                  </a:schemeClr>
                </a:solidFill>
                <a:latin typeface="Consolas" panose="020B0609020204030204" pitchFamily="49" charset="0"/>
                <a:cs typeface="Consolas" panose="020B0609020204030204" pitchFamily="49" charset="0"/>
              </a:rPr>
              <a:t>  // some process.</a:t>
            </a:r>
          </a:p>
          <a:p>
            <a:r>
              <a:rPr kumimoji="1" lang="en-US" altLang="ja-JP" dirty="0">
                <a:latin typeface="Consolas" panose="020B0609020204030204" pitchFamily="49" charset="0"/>
                <a:cs typeface="Consolas" panose="020B0609020204030204" pitchFamily="49" charset="0"/>
              </a:rPr>
              <a:t>}</a:t>
            </a:r>
            <a:endParaRPr kumimoji="1" lang="ja-JP" altLang="en-US">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8949094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719D3-43E6-D091-C5C7-E86E54F479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6E3AF7-F220-4B6C-886F-80A27388CD75}"/>
              </a:ext>
            </a:extLst>
          </p:cNvPr>
          <p:cNvSpPr>
            <a:spLocks noGrp="1"/>
          </p:cNvSpPr>
          <p:nvPr>
            <p:ph type="title"/>
          </p:nvPr>
        </p:nvSpPr>
        <p:spPr/>
        <p:txBody>
          <a:bodyPr/>
          <a:lstStyle/>
          <a:p>
            <a:r>
              <a:rPr kumimoji="1" lang="ja-JP" altLang="en-US"/>
              <a:t>本日やるこ</a:t>
            </a:r>
            <a:r>
              <a:rPr lang="ja-JP" altLang="en-US"/>
              <a:t>と</a:t>
            </a:r>
            <a:endParaRPr kumimoji="1" lang="ja-JP" altLang="en-US"/>
          </a:p>
        </p:txBody>
      </p:sp>
      <p:sp>
        <p:nvSpPr>
          <p:cNvPr id="3" name="コンテンツ プレースホルダー 2">
            <a:extLst>
              <a:ext uri="{FF2B5EF4-FFF2-40B4-BE49-F238E27FC236}">
                <a16:creationId xmlns:a16="http://schemas.microsoft.com/office/drawing/2014/main" id="{72F2FC46-DAD3-5EAB-1F4F-6F41B935113F}"/>
              </a:ext>
            </a:extLst>
          </p:cNvPr>
          <p:cNvSpPr>
            <a:spLocks noGrp="1"/>
          </p:cNvSpPr>
          <p:nvPr>
            <p:ph sz="half" idx="1"/>
          </p:nvPr>
        </p:nvSpPr>
        <p:spPr/>
        <p:txBody>
          <a:bodyPr numCol="1">
            <a:normAutofit fontScale="70000" lnSpcReduction="20000"/>
          </a:bodyPr>
          <a:lstStyle/>
          <a:p>
            <a:pPr>
              <a:lnSpc>
                <a:spcPct val="120000"/>
              </a:lnSpc>
            </a:pPr>
            <a:r>
              <a:rPr lang="en-US" altLang="ja-JP" dirty="0"/>
              <a:t>Usage</a:t>
            </a:r>
          </a:p>
          <a:p>
            <a:pPr lvl="1">
              <a:lnSpc>
                <a:spcPct val="120000"/>
              </a:lnSpc>
            </a:pPr>
            <a:r>
              <a:rPr lang="en-US" altLang="ja-JP" dirty="0"/>
              <a:t>UNIX</a:t>
            </a:r>
            <a:r>
              <a:rPr lang="ja-JP" altLang="en-US"/>
              <a:t>の思想</a:t>
            </a:r>
            <a:endParaRPr lang="en-US" altLang="ja-JP" dirty="0"/>
          </a:p>
          <a:p>
            <a:pPr lvl="1">
              <a:lnSpc>
                <a:spcPct val="120000"/>
              </a:lnSpc>
            </a:pPr>
            <a:r>
              <a:rPr lang="en-US" altLang="ja-JP" dirty="0"/>
              <a:t>CLI</a:t>
            </a:r>
            <a:r>
              <a:rPr lang="ja-JP" altLang="en-US"/>
              <a:t>のガイドライン</a:t>
            </a:r>
            <a:endParaRPr lang="en-US" altLang="ja-JP" dirty="0"/>
          </a:p>
          <a:p>
            <a:pPr>
              <a:lnSpc>
                <a:spcPct val="120000"/>
              </a:lnSpc>
            </a:pPr>
            <a:r>
              <a:rPr lang="en-US" altLang="ja-JP" dirty="0"/>
              <a:t>README</a:t>
            </a:r>
          </a:p>
          <a:p>
            <a:pPr lvl="1">
              <a:lnSpc>
                <a:spcPct val="120000"/>
              </a:lnSpc>
            </a:pPr>
            <a:r>
              <a:rPr lang="ja-JP" altLang="en-US"/>
              <a:t>書くべき内容．</a:t>
            </a:r>
            <a:endParaRPr lang="en-US" altLang="ja-JP" dirty="0"/>
          </a:p>
          <a:p>
            <a:pPr lvl="1">
              <a:lnSpc>
                <a:spcPct val="120000"/>
              </a:lnSpc>
            </a:pPr>
            <a:r>
              <a:rPr lang="en-US" altLang="ja-JP" dirty="0"/>
              <a:t>Badge</a:t>
            </a:r>
          </a:p>
          <a:p>
            <a:pPr>
              <a:lnSpc>
                <a:spcPct val="120000"/>
              </a:lnSpc>
            </a:pPr>
            <a:endParaRPr lang="en-US" altLang="ja-JP" dirty="0"/>
          </a:p>
        </p:txBody>
      </p:sp>
      <p:sp>
        <p:nvSpPr>
          <p:cNvPr id="7" name="コンテンツ プレースホルダー 6">
            <a:extLst>
              <a:ext uri="{FF2B5EF4-FFF2-40B4-BE49-F238E27FC236}">
                <a16:creationId xmlns:a16="http://schemas.microsoft.com/office/drawing/2014/main" id="{C5A069FF-DCBC-A90C-AABA-B6C80EF740E2}"/>
              </a:ext>
            </a:extLst>
          </p:cNvPr>
          <p:cNvSpPr>
            <a:spLocks noGrp="1"/>
          </p:cNvSpPr>
          <p:nvPr>
            <p:ph sz="half" idx="2"/>
          </p:nvPr>
        </p:nvSpPr>
        <p:spPr/>
        <p:txBody>
          <a:bodyPr>
            <a:normAutofit fontScale="70000" lnSpcReduction="20000"/>
          </a:bodyPr>
          <a:lstStyle/>
          <a:p>
            <a:pPr>
              <a:lnSpc>
                <a:spcPct val="120000"/>
              </a:lnSpc>
            </a:pPr>
            <a:r>
              <a:rPr lang="en-US" altLang="ja-JP" dirty="0"/>
              <a:t>Rust</a:t>
            </a:r>
          </a:p>
          <a:p>
            <a:pPr lvl="1">
              <a:lnSpc>
                <a:spcPct val="120000"/>
              </a:lnSpc>
            </a:pPr>
            <a:r>
              <a:rPr lang="ja-JP" altLang="en-US"/>
              <a:t>プロジェクトを初期化する</a:t>
            </a:r>
            <a:endParaRPr lang="en-US" altLang="ja-JP" dirty="0"/>
          </a:p>
          <a:p>
            <a:pPr lvl="1">
              <a:lnSpc>
                <a:spcPct val="120000"/>
              </a:lnSpc>
            </a:pPr>
            <a:r>
              <a:rPr lang="en-US" altLang="ja-JP" dirty="0"/>
              <a:t>Rust</a:t>
            </a:r>
            <a:r>
              <a:rPr lang="ja-JP" altLang="en-US"/>
              <a:t>の基本</a:t>
            </a:r>
            <a:endParaRPr lang="en-US" altLang="ja-JP" dirty="0"/>
          </a:p>
          <a:p>
            <a:pPr>
              <a:lnSpc>
                <a:spcPct val="120000"/>
              </a:lnSpc>
            </a:pPr>
            <a:r>
              <a:rPr lang="ja-JP" altLang="en-US"/>
              <a:t>その他</a:t>
            </a:r>
            <a:endParaRPr lang="en-US" altLang="ja-JP" dirty="0"/>
          </a:p>
          <a:p>
            <a:pPr lvl="1">
              <a:lnSpc>
                <a:spcPct val="120000"/>
              </a:lnSpc>
            </a:pPr>
            <a:r>
              <a:rPr lang="ja-JP" altLang="en-US"/>
              <a:t>テストについて</a:t>
            </a:r>
            <a:endParaRPr lang="en-US" altLang="ja-JP" dirty="0"/>
          </a:p>
          <a:p>
            <a:pPr lvl="1">
              <a:lnSpc>
                <a:spcPct val="120000"/>
              </a:lnSpc>
            </a:pPr>
            <a:r>
              <a:rPr lang="ja-JP" altLang="en-US"/>
              <a:t>バージョン番号</a:t>
            </a:r>
            <a:endParaRPr lang="en-US" altLang="ja-JP" dirty="0"/>
          </a:p>
          <a:p>
            <a:pPr lvl="1">
              <a:lnSpc>
                <a:spcPct val="120000"/>
              </a:lnSpc>
            </a:pPr>
            <a:r>
              <a:rPr lang="ja-JP" altLang="en-US"/>
              <a:t>コミットコメント</a:t>
            </a:r>
            <a:endParaRPr lang="en-US" altLang="ja-JP" dirty="0"/>
          </a:p>
          <a:p>
            <a:pPr lvl="1">
              <a:lnSpc>
                <a:spcPct val="120000"/>
              </a:lnSpc>
            </a:pPr>
            <a:r>
              <a:rPr lang="en-US" altLang="ja-JP" dirty="0"/>
              <a:t>Git/GitHub</a:t>
            </a:r>
            <a:r>
              <a:rPr lang="ja-JP" altLang="en-US"/>
              <a:t>の使い方</a:t>
            </a:r>
            <a:endParaRPr lang="en-US" altLang="ja-JP" dirty="0"/>
          </a:p>
          <a:p>
            <a:pPr>
              <a:lnSpc>
                <a:spcPct val="120000"/>
              </a:lnSpc>
            </a:pPr>
            <a:endParaRPr lang="ja-JP" altLang="en-US"/>
          </a:p>
        </p:txBody>
      </p:sp>
      <p:sp>
        <p:nvSpPr>
          <p:cNvPr id="4" name="日付プレースホルダー 3">
            <a:extLst>
              <a:ext uri="{FF2B5EF4-FFF2-40B4-BE49-F238E27FC236}">
                <a16:creationId xmlns:a16="http://schemas.microsoft.com/office/drawing/2014/main" id="{21A27882-4E62-0BFB-5333-E179D1D77251}"/>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ED7E6A99-F5DB-6848-7B89-23A2542E7DDA}"/>
              </a:ext>
            </a:extLst>
          </p:cNvPr>
          <p:cNvSpPr>
            <a:spLocks noGrp="1"/>
          </p:cNvSpPr>
          <p:nvPr>
            <p:ph type="sldNum" sz="quarter" idx="12"/>
          </p:nvPr>
        </p:nvSpPr>
        <p:spPr/>
        <p:txBody>
          <a:bodyPr/>
          <a:lstStyle/>
          <a:p>
            <a:fld id="{0B8845E4-5C92-A046-BB66-E5D9CC995B08}" type="slidenum">
              <a:rPr kumimoji="1" lang="ja-JP" altLang="en-US" smtClean="0"/>
              <a:t>28</a:t>
            </a:fld>
            <a:endParaRPr kumimoji="1" lang="ja-JP" altLang="en-US"/>
          </a:p>
        </p:txBody>
      </p:sp>
      <p:sp>
        <p:nvSpPr>
          <p:cNvPr id="6" name="正方形/長方形 5">
            <a:extLst>
              <a:ext uri="{FF2B5EF4-FFF2-40B4-BE49-F238E27FC236}">
                <a16:creationId xmlns:a16="http://schemas.microsoft.com/office/drawing/2014/main" id="{9CBB3954-D192-9183-C529-9FCF9711F682}"/>
              </a:ext>
            </a:extLst>
          </p:cNvPr>
          <p:cNvSpPr/>
          <p:nvPr/>
        </p:nvSpPr>
        <p:spPr>
          <a:xfrm>
            <a:off x="587828" y="1547539"/>
            <a:ext cx="5116285" cy="3647313"/>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
        <p:nvSpPr>
          <p:cNvPr id="8" name="正方形/長方形 7">
            <a:extLst>
              <a:ext uri="{FF2B5EF4-FFF2-40B4-BE49-F238E27FC236}">
                <a16:creationId xmlns:a16="http://schemas.microsoft.com/office/drawing/2014/main" id="{B9D8E3D5-A85B-9B05-574A-9F30A2A8603E}"/>
              </a:ext>
            </a:extLst>
          </p:cNvPr>
          <p:cNvSpPr/>
          <p:nvPr/>
        </p:nvSpPr>
        <p:spPr>
          <a:xfrm>
            <a:off x="5954485" y="1547540"/>
            <a:ext cx="5908766" cy="1725748"/>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09981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F96F6F6-1CAE-B8DB-3F43-5E5829680B03}"/>
              </a:ext>
            </a:extLst>
          </p:cNvPr>
          <p:cNvSpPr>
            <a:spLocks noGrp="1"/>
          </p:cNvSpPr>
          <p:nvPr>
            <p:ph type="title"/>
          </p:nvPr>
        </p:nvSpPr>
        <p:spPr/>
        <p:txBody>
          <a:bodyPr/>
          <a:lstStyle/>
          <a:p>
            <a:r>
              <a:rPr kumimoji="1" lang="ja-JP" altLang="en-US"/>
              <a:t>テストの粒度</a:t>
            </a:r>
          </a:p>
        </p:txBody>
      </p:sp>
      <p:sp>
        <p:nvSpPr>
          <p:cNvPr id="3" name="コンテンツ プレースホルダー 2">
            <a:extLst>
              <a:ext uri="{FF2B5EF4-FFF2-40B4-BE49-F238E27FC236}">
                <a16:creationId xmlns:a16="http://schemas.microsoft.com/office/drawing/2014/main" id="{3D76D372-92EE-243E-C180-8E7F52EFE980}"/>
              </a:ext>
            </a:extLst>
          </p:cNvPr>
          <p:cNvSpPr>
            <a:spLocks noGrp="1"/>
          </p:cNvSpPr>
          <p:nvPr>
            <p:ph sz="half" idx="1"/>
          </p:nvPr>
        </p:nvSpPr>
        <p:spPr>
          <a:xfrm>
            <a:off x="838200" y="1825625"/>
            <a:ext cx="5181600" cy="4667250"/>
          </a:xfrm>
        </p:spPr>
        <p:txBody>
          <a:bodyPr>
            <a:normAutofit fontScale="55000" lnSpcReduction="20000"/>
          </a:bodyPr>
          <a:lstStyle/>
          <a:p>
            <a:pPr>
              <a:lnSpc>
                <a:spcPct val="120000"/>
              </a:lnSpc>
            </a:pPr>
            <a:r>
              <a:rPr kumimoji="1" lang="ja-JP" altLang="en-US"/>
              <a:t>単体テスト</a:t>
            </a:r>
            <a:endParaRPr kumimoji="1" lang="en-US" altLang="ja-JP" dirty="0"/>
          </a:p>
          <a:p>
            <a:pPr lvl="1">
              <a:lnSpc>
                <a:spcPct val="120000"/>
              </a:lnSpc>
            </a:pPr>
            <a:r>
              <a:rPr lang="ja-JP" altLang="en-US"/>
              <a:t>関数単体で動くかを確認するためのテスト．</a:t>
            </a:r>
            <a:endParaRPr kumimoji="1" lang="en-US" altLang="ja-JP" dirty="0"/>
          </a:p>
          <a:p>
            <a:pPr>
              <a:lnSpc>
                <a:spcPct val="120000"/>
              </a:lnSpc>
            </a:pPr>
            <a:r>
              <a:rPr lang="ja-JP" altLang="en-US"/>
              <a:t>結合テスト</a:t>
            </a:r>
            <a:endParaRPr lang="en-US" altLang="ja-JP" dirty="0"/>
          </a:p>
          <a:p>
            <a:pPr lvl="1">
              <a:lnSpc>
                <a:spcPct val="120000"/>
              </a:lnSpc>
            </a:pPr>
            <a:r>
              <a:rPr lang="ja-JP" altLang="en-US"/>
              <a:t>環境（データベースやネットワーク）などを除いて，プログラム全体の動作確認のためのテスト．</a:t>
            </a:r>
            <a:endParaRPr lang="en-US" altLang="ja-JP" dirty="0"/>
          </a:p>
          <a:p>
            <a:pPr>
              <a:lnSpc>
                <a:spcPct val="120000"/>
              </a:lnSpc>
            </a:pPr>
            <a:r>
              <a:rPr kumimoji="1" lang="ja-JP" altLang="en-US"/>
              <a:t>システムテスト</a:t>
            </a:r>
            <a:endParaRPr kumimoji="1" lang="en-US" altLang="ja-JP" dirty="0"/>
          </a:p>
          <a:p>
            <a:pPr lvl="1">
              <a:lnSpc>
                <a:spcPct val="120000"/>
              </a:lnSpc>
            </a:pPr>
            <a:r>
              <a:rPr lang="ja-JP" altLang="en-US"/>
              <a:t>環境も含めた動作確認テスト．</a:t>
            </a:r>
            <a:endParaRPr kumimoji="1" lang="ja-JP" altLang="en-US"/>
          </a:p>
        </p:txBody>
      </p:sp>
      <p:sp>
        <p:nvSpPr>
          <p:cNvPr id="6" name="コンテンツ プレースホルダー 5">
            <a:extLst>
              <a:ext uri="{FF2B5EF4-FFF2-40B4-BE49-F238E27FC236}">
                <a16:creationId xmlns:a16="http://schemas.microsoft.com/office/drawing/2014/main" id="{A45F36D9-5095-7982-546B-F4FD9597C91B}"/>
              </a:ext>
            </a:extLst>
          </p:cNvPr>
          <p:cNvSpPr>
            <a:spLocks noGrp="1"/>
          </p:cNvSpPr>
          <p:nvPr>
            <p:ph sz="half" idx="2"/>
          </p:nvPr>
        </p:nvSpPr>
        <p:spPr>
          <a:xfrm>
            <a:off x="6172200" y="1825624"/>
            <a:ext cx="5181600" cy="4667250"/>
          </a:xfrm>
        </p:spPr>
        <p:txBody>
          <a:bodyPr>
            <a:normAutofit fontScale="55000" lnSpcReduction="20000"/>
          </a:bodyPr>
          <a:lstStyle/>
          <a:p>
            <a:pPr>
              <a:lnSpc>
                <a:spcPct val="120000"/>
              </a:lnSpc>
            </a:pPr>
            <a:r>
              <a:rPr lang="en-US" altLang="ja-JP" dirty="0"/>
              <a:t>Small</a:t>
            </a:r>
            <a:r>
              <a:rPr lang="ja-JP" altLang="en-US"/>
              <a:t>テスト</a:t>
            </a:r>
            <a:endParaRPr lang="en-US" altLang="ja-JP" dirty="0"/>
          </a:p>
          <a:p>
            <a:pPr lvl="1">
              <a:lnSpc>
                <a:spcPct val="120000"/>
              </a:lnSpc>
            </a:pPr>
            <a:r>
              <a:rPr lang="ja-JP" altLang="en-US"/>
              <a:t>外部リソース（ネットワーク，データベースなど）を使わず，単一プロセスのみで行うテスト．意味のある処理単位のテストを行う．</a:t>
            </a:r>
            <a:endParaRPr lang="en-US" altLang="ja-JP" dirty="0"/>
          </a:p>
          <a:p>
            <a:pPr>
              <a:lnSpc>
                <a:spcPct val="120000"/>
              </a:lnSpc>
            </a:pPr>
            <a:r>
              <a:rPr lang="en-US" altLang="ja-JP" dirty="0"/>
              <a:t>Medium</a:t>
            </a:r>
            <a:r>
              <a:rPr lang="ja-JP" altLang="en-US"/>
              <a:t>テスト</a:t>
            </a:r>
            <a:endParaRPr lang="en-US" altLang="ja-JP" dirty="0"/>
          </a:p>
          <a:p>
            <a:pPr lvl="1">
              <a:lnSpc>
                <a:spcPct val="120000"/>
              </a:lnSpc>
            </a:pPr>
            <a:r>
              <a:rPr lang="ja-JP" altLang="en-US"/>
              <a:t>単一マシンで行うテスト．テスト用のデータベースは利用できるが，ネットワークは利用できない．</a:t>
            </a:r>
            <a:endParaRPr lang="en-US" altLang="ja-JP" dirty="0"/>
          </a:p>
          <a:p>
            <a:pPr>
              <a:lnSpc>
                <a:spcPct val="120000"/>
              </a:lnSpc>
            </a:pPr>
            <a:r>
              <a:rPr lang="en-US" altLang="ja-JP" dirty="0"/>
              <a:t>Large</a:t>
            </a:r>
            <a:r>
              <a:rPr lang="ja-JP" altLang="en-US"/>
              <a:t>テスト</a:t>
            </a:r>
            <a:endParaRPr lang="en-US" altLang="ja-JP" dirty="0"/>
          </a:p>
          <a:p>
            <a:pPr lvl="1">
              <a:lnSpc>
                <a:spcPct val="120000"/>
              </a:lnSpc>
            </a:pPr>
            <a:r>
              <a:rPr lang="ja-JP" altLang="en-US"/>
              <a:t>ネットワークアクセスも行った上でのテスト．</a:t>
            </a:r>
          </a:p>
        </p:txBody>
      </p:sp>
      <p:sp>
        <p:nvSpPr>
          <p:cNvPr id="4" name="日付プレースホルダー 3">
            <a:extLst>
              <a:ext uri="{FF2B5EF4-FFF2-40B4-BE49-F238E27FC236}">
                <a16:creationId xmlns:a16="http://schemas.microsoft.com/office/drawing/2014/main" id="{5050071D-F3D3-5268-F297-31A635E7B689}"/>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237FD8A3-9FFD-6CE2-933A-B027BB21975E}"/>
              </a:ext>
            </a:extLst>
          </p:cNvPr>
          <p:cNvSpPr>
            <a:spLocks noGrp="1"/>
          </p:cNvSpPr>
          <p:nvPr>
            <p:ph type="sldNum" sz="quarter" idx="12"/>
          </p:nvPr>
        </p:nvSpPr>
        <p:spPr/>
        <p:txBody>
          <a:bodyPr/>
          <a:lstStyle/>
          <a:p>
            <a:fld id="{0B8845E4-5C92-A046-BB66-E5D9CC995B08}" type="slidenum">
              <a:rPr kumimoji="1" lang="ja-JP" altLang="en-US" smtClean="0"/>
              <a:t>29</a:t>
            </a:fld>
            <a:endParaRPr kumimoji="1" lang="ja-JP" altLang="en-US"/>
          </a:p>
        </p:txBody>
      </p:sp>
    </p:spTree>
    <p:extLst>
      <p:ext uri="{BB962C8B-B14F-4D97-AF65-F5344CB8AC3E}">
        <p14:creationId xmlns:p14="http://schemas.microsoft.com/office/powerpoint/2010/main" val="362653042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824548-9CFD-7EEA-E329-F326DB700F02}"/>
              </a:ext>
            </a:extLst>
          </p:cNvPr>
          <p:cNvSpPr>
            <a:spLocks noGrp="1"/>
          </p:cNvSpPr>
          <p:nvPr>
            <p:ph type="title"/>
          </p:nvPr>
        </p:nvSpPr>
        <p:spPr>
          <a:xfrm>
            <a:off x="838199" y="365125"/>
            <a:ext cx="11728269" cy="1325563"/>
          </a:xfrm>
        </p:spPr>
        <p:txBody>
          <a:bodyPr/>
          <a:lstStyle/>
          <a:p>
            <a:r>
              <a:rPr kumimoji="1" lang="ja-JP" altLang="en-US"/>
              <a:t>カバレッジを計測する（</a:t>
            </a:r>
            <a:r>
              <a:rPr kumimoji="1" lang="en-US" altLang="ja-JP" dirty="0"/>
              <a:t>1</a:t>
            </a:r>
            <a:r>
              <a:rPr lang="en-US" altLang="ja-JP" dirty="0"/>
              <a:t>/2</a:t>
            </a:r>
            <a:r>
              <a:rPr kumimoji="1" lang="ja-JP" altLang="en-US"/>
              <a:t>）</a:t>
            </a:r>
          </a:p>
        </p:txBody>
      </p:sp>
      <p:sp>
        <p:nvSpPr>
          <p:cNvPr id="3" name="コンテンツ プレースホルダー 2">
            <a:extLst>
              <a:ext uri="{FF2B5EF4-FFF2-40B4-BE49-F238E27FC236}">
                <a16:creationId xmlns:a16="http://schemas.microsoft.com/office/drawing/2014/main" id="{7F3AFEBB-001C-825A-A2E4-C79A91DE5856}"/>
              </a:ext>
            </a:extLst>
          </p:cNvPr>
          <p:cNvSpPr>
            <a:spLocks noGrp="1"/>
          </p:cNvSpPr>
          <p:nvPr>
            <p:ph idx="1"/>
          </p:nvPr>
        </p:nvSpPr>
        <p:spPr/>
        <p:txBody>
          <a:bodyPr>
            <a:normAutofit fontScale="62500" lnSpcReduction="20000"/>
          </a:bodyPr>
          <a:lstStyle/>
          <a:p>
            <a:pPr>
              <a:lnSpc>
                <a:spcPct val="120000"/>
              </a:lnSpc>
            </a:pPr>
            <a:r>
              <a:rPr kumimoji="1" lang="ja-JP" altLang="en-US"/>
              <a:t>カバレッジ（網羅率）</a:t>
            </a:r>
            <a:endParaRPr kumimoji="1" lang="en-US" altLang="ja-JP" dirty="0"/>
          </a:p>
          <a:p>
            <a:pPr lvl="1">
              <a:lnSpc>
                <a:spcPct val="120000"/>
              </a:lnSpc>
            </a:pPr>
            <a:r>
              <a:rPr kumimoji="1" lang="ja-JP" altLang="en-US"/>
              <a:t>テストで網羅しているかの</a:t>
            </a:r>
            <a:r>
              <a:rPr lang="ja-JP" altLang="en-US"/>
              <a:t>指標のこと．</a:t>
            </a:r>
            <a:endParaRPr lang="en-US" altLang="ja-JP" dirty="0"/>
          </a:p>
          <a:p>
            <a:pPr lvl="1">
              <a:lnSpc>
                <a:spcPct val="120000"/>
              </a:lnSpc>
            </a:pPr>
            <a:r>
              <a:rPr kumimoji="1" lang="ja-JP" altLang="en-US"/>
              <a:t>命令網羅率（</a:t>
            </a:r>
            <a:r>
              <a:rPr kumimoji="1" lang="en-US" altLang="ja-JP" dirty="0"/>
              <a:t>C0</a:t>
            </a:r>
            <a:r>
              <a:rPr kumimoji="1" lang="ja-JP" altLang="en-US"/>
              <a:t>）</a:t>
            </a:r>
            <a:endParaRPr kumimoji="1" lang="en-US" altLang="ja-JP" dirty="0"/>
          </a:p>
          <a:p>
            <a:pPr lvl="2">
              <a:lnSpc>
                <a:spcPct val="120000"/>
              </a:lnSpc>
            </a:pPr>
            <a:r>
              <a:rPr kumimoji="1" lang="ja-JP" altLang="en-US"/>
              <a:t>各命令が少なくとも１回実行されれば良い．</a:t>
            </a:r>
            <a:endParaRPr kumimoji="1" lang="en-US" altLang="ja-JP" dirty="0"/>
          </a:p>
          <a:p>
            <a:pPr lvl="1">
              <a:lnSpc>
                <a:spcPct val="120000"/>
              </a:lnSpc>
            </a:pPr>
            <a:r>
              <a:rPr lang="ja-JP" altLang="en-US"/>
              <a:t>分岐網羅率（</a:t>
            </a:r>
            <a:r>
              <a:rPr lang="en-US" altLang="ja-JP" dirty="0"/>
              <a:t>C1</a:t>
            </a:r>
            <a:r>
              <a:rPr lang="ja-JP" altLang="en-US"/>
              <a:t>）</a:t>
            </a:r>
            <a:endParaRPr lang="en-US" altLang="ja-JP" dirty="0"/>
          </a:p>
          <a:p>
            <a:pPr lvl="2">
              <a:lnSpc>
                <a:spcPct val="120000"/>
              </a:lnSpc>
            </a:pPr>
            <a:r>
              <a:rPr lang="ja-JP" altLang="en-US"/>
              <a:t>それぞれの条件での真偽が少なくとも１回実行されれば良い．</a:t>
            </a:r>
            <a:endParaRPr lang="en-US" altLang="ja-JP" dirty="0"/>
          </a:p>
          <a:p>
            <a:pPr lvl="1">
              <a:lnSpc>
                <a:spcPct val="120000"/>
              </a:lnSpc>
            </a:pPr>
            <a:r>
              <a:rPr kumimoji="1" lang="ja-JP" altLang="en-US"/>
              <a:t>条件網羅率（</a:t>
            </a:r>
            <a:r>
              <a:rPr kumimoji="1" lang="en-US" altLang="ja-JP" dirty="0"/>
              <a:t>C2</a:t>
            </a:r>
            <a:r>
              <a:rPr kumimoji="1" lang="ja-JP" altLang="en-US"/>
              <a:t>）</a:t>
            </a:r>
            <a:endParaRPr kumimoji="1" lang="en-US" altLang="ja-JP" dirty="0"/>
          </a:p>
          <a:p>
            <a:pPr lvl="2">
              <a:lnSpc>
                <a:spcPct val="120000"/>
              </a:lnSpc>
            </a:pPr>
            <a:r>
              <a:rPr kumimoji="1" lang="ja-JP" altLang="en-US"/>
              <a:t>それぞれの条件文での真偽が少なくとも１回実行されれば良い．</a:t>
            </a:r>
            <a:endParaRPr kumimoji="1" lang="en-US" altLang="ja-JP" dirty="0"/>
          </a:p>
          <a:p>
            <a:pPr lvl="2">
              <a:lnSpc>
                <a:spcPct val="120000"/>
              </a:lnSpc>
            </a:pPr>
            <a:r>
              <a:rPr lang="en-US" altLang="ja-JP" dirty="0"/>
              <a:t>AND, OR</a:t>
            </a:r>
            <a:r>
              <a:rPr lang="ja-JP" altLang="en-US"/>
              <a:t>条件がある場合に，</a:t>
            </a:r>
            <a:r>
              <a:rPr lang="en-US" altLang="ja-JP" dirty="0"/>
              <a:t>C1</a:t>
            </a:r>
            <a:r>
              <a:rPr lang="ja-JP" altLang="en-US"/>
              <a:t>は全体の真偽のみで網羅率を計算し，</a:t>
            </a:r>
            <a:r>
              <a:rPr lang="en-US" altLang="ja-JP" dirty="0"/>
              <a:t>C2</a:t>
            </a:r>
            <a:r>
              <a:rPr lang="ja-JP" altLang="en-US"/>
              <a:t>は各条件で網羅率を計算する．</a:t>
            </a:r>
            <a:endParaRPr kumimoji="1" lang="en-US" altLang="ja-JP" dirty="0"/>
          </a:p>
        </p:txBody>
      </p:sp>
      <p:sp>
        <p:nvSpPr>
          <p:cNvPr id="4" name="日付プレースホルダー 3">
            <a:extLst>
              <a:ext uri="{FF2B5EF4-FFF2-40B4-BE49-F238E27FC236}">
                <a16:creationId xmlns:a16="http://schemas.microsoft.com/office/drawing/2014/main" id="{B3F49DDA-3C59-5488-222B-46D4F38E5A67}"/>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69E87F04-85E7-403C-3FF8-6B6AE5F277E2}"/>
              </a:ext>
            </a:extLst>
          </p:cNvPr>
          <p:cNvSpPr>
            <a:spLocks noGrp="1"/>
          </p:cNvSpPr>
          <p:nvPr>
            <p:ph type="sldNum" sz="quarter" idx="12"/>
          </p:nvPr>
        </p:nvSpPr>
        <p:spPr/>
        <p:txBody>
          <a:bodyPr/>
          <a:lstStyle/>
          <a:p>
            <a:fld id="{0B8845E4-5C92-A046-BB66-E5D9CC995B08}" type="slidenum">
              <a:rPr kumimoji="1" lang="ja-JP" altLang="en-US" smtClean="0"/>
              <a:t>30</a:t>
            </a:fld>
            <a:endParaRPr kumimoji="1" lang="ja-JP" altLang="en-US"/>
          </a:p>
        </p:txBody>
      </p:sp>
      <p:sp>
        <p:nvSpPr>
          <p:cNvPr id="7" name="テキスト ボックス 6">
            <a:extLst>
              <a:ext uri="{FF2B5EF4-FFF2-40B4-BE49-F238E27FC236}">
                <a16:creationId xmlns:a16="http://schemas.microsoft.com/office/drawing/2014/main" id="{1E426EEB-D414-C661-E715-6602D95549A1}"/>
              </a:ext>
            </a:extLst>
          </p:cNvPr>
          <p:cNvSpPr txBox="1"/>
          <p:nvPr/>
        </p:nvSpPr>
        <p:spPr>
          <a:xfrm>
            <a:off x="2871650" y="6356350"/>
            <a:ext cx="7661366" cy="369332"/>
          </a:xfrm>
          <a:prstGeom prst="rect">
            <a:avLst/>
          </a:prstGeom>
          <a:noFill/>
        </p:spPr>
        <p:txBody>
          <a:bodyPr wrap="square">
            <a:spAutoFit/>
          </a:bodyPr>
          <a:lstStyle/>
          <a:p>
            <a:r>
              <a:rPr lang="ja-JP" altLang="en-US">
                <a:latin typeface="Consolas" panose="020B0609020204030204" pitchFamily="49" charset="0"/>
                <a:cs typeface="Consolas" panose="020B0609020204030204" pitchFamily="49" charset="0"/>
                <a:hlinkClick r:id="rId2"/>
              </a:rPr>
              <a:t>https://qiita.com/odekekepeanuts/items/8b6542467d2a0066e5af</a:t>
            </a:r>
            <a:endParaRPr lang="en-US" altLang="ja-JP"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907676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F28655-92D8-6983-908A-9478BBBB6A82}"/>
              </a:ext>
            </a:extLst>
          </p:cNvPr>
          <p:cNvSpPr>
            <a:spLocks noGrp="1"/>
          </p:cNvSpPr>
          <p:nvPr>
            <p:ph type="title"/>
          </p:nvPr>
        </p:nvSpPr>
        <p:spPr>
          <a:xfrm>
            <a:off x="838200" y="365125"/>
            <a:ext cx="11798508" cy="1325563"/>
          </a:xfrm>
        </p:spPr>
        <p:txBody>
          <a:bodyPr/>
          <a:lstStyle/>
          <a:p>
            <a:r>
              <a:rPr kumimoji="1" lang="ja-JP" altLang="en-US"/>
              <a:t>カバレッジを計測する（</a:t>
            </a:r>
            <a:r>
              <a:rPr lang="en-US" altLang="ja-JP" dirty="0"/>
              <a:t>2/2</a:t>
            </a:r>
            <a:r>
              <a:rPr kumimoji="1" lang="ja-JP" altLang="en-US"/>
              <a:t>）</a:t>
            </a:r>
          </a:p>
        </p:txBody>
      </p:sp>
      <p:sp>
        <p:nvSpPr>
          <p:cNvPr id="3" name="コンテンツ プレースホルダー 2">
            <a:extLst>
              <a:ext uri="{FF2B5EF4-FFF2-40B4-BE49-F238E27FC236}">
                <a16:creationId xmlns:a16="http://schemas.microsoft.com/office/drawing/2014/main" id="{F60122F6-678D-2564-1A40-3D5EA385CAF5}"/>
              </a:ext>
            </a:extLst>
          </p:cNvPr>
          <p:cNvSpPr>
            <a:spLocks noGrp="1"/>
          </p:cNvSpPr>
          <p:nvPr>
            <p:ph idx="1"/>
          </p:nvPr>
        </p:nvSpPr>
        <p:spPr/>
        <p:txBody>
          <a:bodyPr>
            <a:normAutofit fontScale="77500" lnSpcReduction="20000"/>
          </a:bodyPr>
          <a:lstStyle/>
          <a:p>
            <a:pPr>
              <a:lnSpc>
                <a:spcPct val="120000"/>
              </a:lnSpc>
            </a:pPr>
            <a:r>
              <a:rPr lang="ja-JP" altLang="en-US"/>
              <a:t>カバレッジを計測するには以下のツールを利用する。</a:t>
            </a:r>
            <a:endParaRPr lang="en-US" altLang="ja-JP" dirty="0">
              <a:latin typeface="Consolas" panose="020B0609020204030204" pitchFamily="49" charset="0"/>
              <a:cs typeface="Consolas" panose="020B0609020204030204" pitchFamily="49" charset="0"/>
            </a:endParaRPr>
          </a:p>
          <a:p>
            <a:pPr lvl="1">
              <a:lnSpc>
                <a:spcPct val="120000"/>
              </a:lnSpc>
            </a:pPr>
            <a:r>
              <a:rPr lang="ja-JP" altLang="en-US">
                <a:latin typeface="Consolas" panose="020B0609020204030204" pitchFamily="49" charset="0"/>
                <a:cs typeface="Consolas" panose="020B0609020204030204" pitchFamily="49" charset="0"/>
              </a:rPr>
              <a:t>インストール方法</a:t>
            </a:r>
            <a:endParaRPr lang="en-US" altLang="ja-JP" dirty="0">
              <a:latin typeface="Consolas" panose="020B0609020204030204" pitchFamily="49" charset="0"/>
              <a:cs typeface="Consolas" panose="020B0609020204030204" pitchFamily="49" charset="0"/>
            </a:endParaRPr>
          </a:p>
          <a:p>
            <a:pPr lvl="2">
              <a:lnSpc>
                <a:spcPct val="120000"/>
              </a:lnSpc>
            </a:pPr>
            <a:r>
              <a:rPr lang="en-US" altLang="ja-JP" dirty="0">
                <a:latin typeface="Consolas" panose="020B0609020204030204" pitchFamily="49" charset="0"/>
                <a:cs typeface="Consolas" panose="020B0609020204030204" pitchFamily="49" charset="0"/>
              </a:rPr>
              <a:t>cargo install cargo-</a:t>
            </a:r>
            <a:r>
              <a:rPr lang="en-US" altLang="ja-JP" dirty="0" err="1">
                <a:latin typeface="Consolas" panose="020B0609020204030204" pitchFamily="49" charset="0"/>
                <a:cs typeface="Consolas" panose="020B0609020204030204" pitchFamily="49" charset="0"/>
              </a:rPr>
              <a:t>llvm</a:t>
            </a:r>
            <a:r>
              <a:rPr lang="en-US" altLang="ja-JP" dirty="0">
                <a:latin typeface="Consolas" panose="020B0609020204030204" pitchFamily="49" charset="0"/>
                <a:cs typeface="Consolas" panose="020B0609020204030204" pitchFamily="49" charset="0"/>
              </a:rPr>
              <a:t>-</a:t>
            </a:r>
            <a:r>
              <a:rPr lang="en-US" altLang="ja-JP" dirty="0" err="1">
                <a:latin typeface="Consolas" panose="020B0609020204030204" pitchFamily="49" charset="0"/>
                <a:cs typeface="Consolas" panose="020B0609020204030204" pitchFamily="49" charset="0"/>
              </a:rPr>
              <a:t>cov</a:t>
            </a:r>
            <a:endParaRPr lang="en-US" altLang="ja-JP" dirty="0">
              <a:latin typeface="Consolas" panose="020B0609020204030204" pitchFamily="49" charset="0"/>
              <a:cs typeface="Consolas" panose="020B0609020204030204" pitchFamily="49" charset="0"/>
            </a:endParaRPr>
          </a:p>
          <a:p>
            <a:pPr lvl="2">
              <a:lnSpc>
                <a:spcPct val="120000"/>
              </a:lnSpc>
            </a:pPr>
            <a:r>
              <a:rPr lang="en-US" altLang="ja-JP" dirty="0" err="1">
                <a:latin typeface="Consolas" panose="020B0609020204030204" pitchFamily="49" charset="0"/>
                <a:cs typeface="Consolas" panose="020B0609020204030204" pitchFamily="49" charset="0"/>
              </a:rPr>
              <a:t>rustup</a:t>
            </a:r>
            <a:r>
              <a:rPr lang="en-US" altLang="ja-JP" dirty="0">
                <a:latin typeface="Consolas" panose="020B0609020204030204" pitchFamily="49" charset="0"/>
                <a:cs typeface="Consolas" panose="020B0609020204030204" pitchFamily="49" charset="0"/>
              </a:rPr>
              <a:t> component add </a:t>
            </a:r>
            <a:r>
              <a:rPr lang="en-US" altLang="ja-JP" dirty="0" err="1">
                <a:latin typeface="Consolas" panose="020B0609020204030204" pitchFamily="49" charset="0"/>
                <a:cs typeface="Consolas" panose="020B0609020204030204" pitchFamily="49" charset="0"/>
              </a:rPr>
              <a:t>llvm</a:t>
            </a:r>
            <a:r>
              <a:rPr lang="en-US" altLang="ja-JP" dirty="0">
                <a:latin typeface="Consolas" panose="020B0609020204030204" pitchFamily="49" charset="0"/>
                <a:cs typeface="Consolas" panose="020B0609020204030204" pitchFamily="49" charset="0"/>
              </a:rPr>
              <a:t>-tools-preview</a:t>
            </a:r>
            <a:endParaRPr kumimoji="1" lang="en-US" altLang="ja-JP" dirty="0">
              <a:latin typeface="Consolas" panose="020B0609020204030204" pitchFamily="49" charset="0"/>
              <a:cs typeface="Consolas" panose="020B0609020204030204" pitchFamily="49" charset="0"/>
            </a:endParaRPr>
          </a:p>
          <a:p>
            <a:pPr>
              <a:lnSpc>
                <a:spcPct val="120000"/>
              </a:lnSpc>
            </a:pPr>
            <a:r>
              <a:rPr kumimoji="1" lang="ja-JP" altLang="en-US">
                <a:latin typeface="Consolas" panose="020B0609020204030204" pitchFamily="49" charset="0"/>
                <a:cs typeface="Consolas" panose="020B0609020204030204" pitchFamily="49" charset="0"/>
              </a:rPr>
              <a:t>カバレッジレポートは</a:t>
            </a:r>
            <a:r>
              <a:rPr lang="en-US" altLang="ja-JP" dirty="0">
                <a:latin typeface="Consolas" panose="020B0609020204030204" pitchFamily="49" charset="0"/>
                <a:cs typeface="Consolas" panose="020B0609020204030204" pitchFamily="49" charset="0"/>
              </a:rPr>
              <a:t>C</a:t>
            </a:r>
            <a:r>
              <a:rPr kumimoji="1" lang="en-US" altLang="ja-JP" dirty="0">
                <a:latin typeface="Consolas" panose="020B0609020204030204" pitchFamily="49" charset="0"/>
                <a:cs typeface="Consolas" panose="020B0609020204030204" pitchFamily="49" charset="0"/>
              </a:rPr>
              <a:t>overalls</a:t>
            </a:r>
            <a:r>
              <a:rPr kumimoji="1" lang="ja-JP" altLang="en-US">
                <a:latin typeface="Consolas" panose="020B0609020204030204" pitchFamily="49" charset="0"/>
                <a:cs typeface="Consolas" panose="020B0609020204030204" pitchFamily="49" charset="0"/>
              </a:rPr>
              <a:t>などで利用する．</a:t>
            </a:r>
            <a:endParaRPr kumimoji="1" lang="en-US" altLang="ja-JP" dirty="0">
              <a:latin typeface="Consolas" panose="020B0609020204030204" pitchFamily="49" charset="0"/>
              <a:cs typeface="Consolas" panose="020B0609020204030204" pitchFamily="49" charset="0"/>
            </a:endParaRPr>
          </a:p>
          <a:p>
            <a:pPr lvl="1">
              <a:lnSpc>
                <a:spcPct val="120000"/>
              </a:lnSpc>
            </a:pPr>
            <a:r>
              <a:rPr lang="ja-JP" altLang="en-US">
                <a:latin typeface="Consolas" panose="020B0609020204030204" pitchFamily="49" charset="0"/>
                <a:cs typeface="Consolas" panose="020B0609020204030204" pitchFamily="49" charset="0"/>
              </a:rPr>
              <a:t>以下のコマンドで出力したカバレッジレポートをアップロードする。</a:t>
            </a:r>
            <a:endParaRPr lang="en-US" altLang="ja-JP" dirty="0">
              <a:latin typeface="Consolas" panose="020B0609020204030204" pitchFamily="49" charset="0"/>
              <a:cs typeface="Consolas" panose="020B0609020204030204" pitchFamily="49" charset="0"/>
            </a:endParaRPr>
          </a:p>
          <a:p>
            <a:pPr lvl="2">
              <a:lnSpc>
                <a:spcPct val="120000"/>
              </a:lnSpc>
            </a:pPr>
            <a:r>
              <a:rPr lang="en-US" altLang="ja-JP" dirty="0">
                <a:latin typeface="Consolas" panose="020B0609020204030204" pitchFamily="49" charset="0"/>
                <a:cs typeface="Consolas" panose="020B0609020204030204" pitchFamily="49" charset="0"/>
              </a:rPr>
              <a:t>cargo </a:t>
            </a:r>
            <a:r>
              <a:rPr lang="en-US" altLang="ja-JP" dirty="0" err="1">
                <a:latin typeface="Consolas" panose="020B0609020204030204" pitchFamily="49" charset="0"/>
                <a:cs typeface="Consolas" panose="020B0609020204030204" pitchFamily="49" charset="0"/>
              </a:rPr>
              <a:t>llvm-cov</a:t>
            </a:r>
            <a:r>
              <a:rPr lang="en-US" altLang="ja-JP" dirty="0">
                <a:latin typeface="Consolas" panose="020B0609020204030204" pitchFamily="49" charset="0"/>
                <a:cs typeface="Consolas" panose="020B0609020204030204" pitchFamily="49" charset="0"/>
              </a:rPr>
              <a:t> -</a:t>
            </a:r>
            <a:r>
              <a:rPr lang="en-US" altLang="ja-JP" dirty="0" err="1">
                <a:latin typeface="Consolas" panose="020B0609020204030204" pitchFamily="49" charset="0"/>
                <a:cs typeface="Consolas" panose="020B0609020204030204" pitchFamily="49" charset="0"/>
              </a:rPr>
              <a:t>lcov</a:t>
            </a:r>
            <a:r>
              <a:rPr lang="en-US" altLang="ja-JP" dirty="0">
                <a:latin typeface="Consolas" panose="020B0609020204030204" pitchFamily="49" charset="0"/>
                <a:cs typeface="Consolas" panose="020B0609020204030204" pitchFamily="49" charset="0"/>
              </a:rPr>
              <a:t> --output </a:t>
            </a:r>
            <a:r>
              <a:rPr lang="en-US" altLang="ja-JP" dirty="0" err="1">
                <a:latin typeface="Consolas" panose="020B0609020204030204" pitchFamily="49" charset="0"/>
                <a:cs typeface="Consolas" panose="020B0609020204030204" pitchFamily="49" charset="0"/>
              </a:rPr>
              <a:t>coverage.lcov</a:t>
            </a:r>
            <a:endParaRPr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8A6BF2AE-0B8A-5FB6-3ADF-A61A9210D50A}"/>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BFD45A3C-180D-8992-28E7-CCF79F369655}"/>
              </a:ext>
            </a:extLst>
          </p:cNvPr>
          <p:cNvSpPr>
            <a:spLocks noGrp="1"/>
          </p:cNvSpPr>
          <p:nvPr>
            <p:ph type="sldNum" sz="quarter" idx="12"/>
          </p:nvPr>
        </p:nvSpPr>
        <p:spPr/>
        <p:txBody>
          <a:bodyPr/>
          <a:lstStyle/>
          <a:p>
            <a:fld id="{0B8845E4-5C92-A046-BB66-E5D9CC995B08}" type="slidenum">
              <a:rPr kumimoji="1" lang="ja-JP" altLang="en-US" smtClean="0"/>
              <a:t>31</a:t>
            </a:fld>
            <a:endParaRPr kumimoji="1" lang="ja-JP" altLang="en-US"/>
          </a:p>
        </p:txBody>
      </p:sp>
      <p:pic>
        <p:nvPicPr>
          <p:cNvPr id="1026" name="Picture 2" descr="coveralls.io からのcoveralls">
            <a:extLst>
              <a:ext uri="{FF2B5EF4-FFF2-40B4-BE49-F238E27FC236}">
                <a16:creationId xmlns:a16="http://schemas.microsoft.com/office/drawing/2014/main" id="{5064051B-18D3-9D85-D628-494661A26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6291" y="5008563"/>
            <a:ext cx="1168400" cy="1168400"/>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DA452611-C58A-057B-D0A3-6C1942B77986}"/>
              </a:ext>
            </a:extLst>
          </p:cNvPr>
          <p:cNvSpPr txBox="1"/>
          <p:nvPr/>
        </p:nvSpPr>
        <p:spPr>
          <a:xfrm>
            <a:off x="2755899" y="6413698"/>
            <a:ext cx="7278915" cy="307777"/>
          </a:xfrm>
          <a:prstGeom prst="rect">
            <a:avLst/>
          </a:prstGeom>
          <a:noFill/>
        </p:spPr>
        <p:txBody>
          <a:bodyPr wrap="square">
            <a:spAutoFit/>
          </a:bodyPr>
          <a:lstStyle/>
          <a:p>
            <a:r>
              <a:rPr lang="en-US" altLang="ja-JP" sz="1400" dirty="0">
                <a:latin typeface="Consolas" panose="020B0609020204030204" pitchFamily="49" charset="0"/>
                <a:cs typeface="Consolas" panose="020B0609020204030204" pitchFamily="49" charset="0"/>
              </a:rPr>
              <a:t>[1] </a:t>
            </a:r>
            <a:r>
              <a:rPr lang="ja-JP" altLang="en-US" sz="1400">
                <a:latin typeface="Consolas" panose="020B0609020204030204" pitchFamily="49" charset="0"/>
                <a:cs typeface="Consolas" panose="020B0609020204030204" pitchFamily="49" charset="0"/>
              </a:rPr>
              <a:t>https://gist.github.com/buzztaiki/6579a14cbf18dcfebec550ebe531c5cf</a:t>
            </a:r>
          </a:p>
        </p:txBody>
      </p:sp>
      <p:sp>
        <p:nvSpPr>
          <p:cNvPr id="6" name="Rectangle 1">
            <a:extLst>
              <a:ext uri="{FF2B5EF4-FFF2-40B4-BE49-F238E27FC236}">
                <a16:creationId xmlns:a16="http://schemas.microsoft.com/office/drawing/2014/main" id="{5A6D7021-7F1F-9F6B-2580-1E79508918B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000" b="0" i="0" u="none" strike="noStrike" cap="none" normalizeH="0" baseline="0">
                <a:ln>
                  <a:noFill/>
                </a:ln>
                <a:solidFill>
                  <a:srgbClr val="9ECBFF"/>
                </a:solidFill>
                <a:effectLst/>
                <a:latin typeface="Arial" panose="020B0604020202020204" pitchFamily="34" charset="0"/>
                <a:ea typeface="SFMono-Regular"/>
              </a:rPr>
              <a:t>cargo install cargo-llvm-cov</a:t>
            </a:r>
            <a:r>
              <a:rPr kumimoji="0" lang="ja-JP" altLang="ja-JP" sz="1000" b="0" i="0" u="none" strike="noStrike" cap="none" normalizeH="0" baseline="0">
                <a:ln>
                  <a:noFill/>
                </a:ln>
                <a:solidFill>
                  <a:srgbClr val="FFFFFF"/>
                </a:solidFill>
                <a:effectLst/>
                <a:latin typeface="Arial" panose="020B0604020202020204" pitchFamily="34" charset="0"/>
                <a:ea typeface="SFMono-Regular"/>
              </a:rPr>
              <a:t> </a:t>
            </a:r>
            <a:br>
              <a:rPr kumimoji="0" lang="ja-JP" altLang="ja-JP" sz="1000" b="0" i="0" u="none" strike="noStrike" cap="none" normalizeH="0" baseline="0">
                <a:ln>
                  <a:noFill/>
                </a:ln>
                <a:solidFill>
                  <a:schemeClr val="tx1"/>
                </a:solidFill>
                <a:effectLst/>
                <a:latin typeface="Arial" panose="020B0604020202020204" pitchFamily="34" charset="0"/>
              </a:rPr>
            </a:br>
            <a:endParaRPr kumimoji="0" lang="ja-JP" altLang="ja-JP" sz="1800" b="0" i="0" u="none" strike="noStrike" cap="none" normalizeH="0" baseline="0">
              <a:ln>
                <a:noFill/>
              </a:ln>
              <a:solidFill>
                <a:schemeClr val="tx1"/>
              </a:solidFill>
              <a:effectLst/>
              <a:latin typeface="Arial" panose="020B0604020202020204" pitchFamily="34" charset="0"/>
            </a:endParaRPr>
          </a:p>
        </p:txBody>
      </p:sp>
      <p:grpSp>
        <p:nvGrpSpPr>
          <p:cNvPr id="15" name="グループ化 14">
            <a:extLst>
              <a:ext uri="{FF2B5EF4-FFF2-40B4-BE49-F238E27FC236}">
                <a16:creationId xmlns:a16="http://schemas.microsoft.com/office/drawing/2014/main" id="{F947ECB8-E1F8-9537-5711-E1221F8F3D13}"/>
              </a:ext>
            </a:extLst>
          </p:cNvPr>
          <p:cNvGrpSpPr/>
          <p:nvPr/>
        </p:nvGrpSpPr>
        <p:grpSpPr>
          <a:xfrm>
            <a:off x="8321968" y="2314175"/>
            <a:ext cx="3702723" cy="864000"/>
            <a:chOff x="8321968" y="2314175"/>
            <a:chExt cx="3702723" cy="864000"/>
          </a:xfrm>
        </p:grpSpPr>
        <p:sp>
          <p:nvSpPr>
            <p:cNvPr id="11" name="角丸四角形 10">
              <a:extLst>
                <a:ext uri="{FF2B5EF4-FFF2-40B4-BE49-F238E27FC236}">
                  <a16:creationId xmlns:a16="http://schemas.microsoft.com/office/drawing/2014/main" id="{013D3F00-CA14-9C92-639F-FF22745EF9BE}"/>
                </a:ext>
              </a:extLst>
            </p:cNvPr>
            <p:cNvSpPr/>
            <p:nvPr/>
          </p:nvSpPr>
          <p:spPr>
            <a:xfrm>
              <a:off x="9178391" y="2314175"/>
              <a:ext cx="2846300" cy="864000"/>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46D7635-0224-7483-305D-C5EA09D7523D}"/>
                </a:ext>
              </a:extLst>
            </p:cNvPr>
            <p:cNvSpPr txBox="1"/>
            <p:nvPr/>
          </p:nvSpPr>
          <p:spPr>
            <a:xfrm>
              <a:off x="9236368" y="2380129"/>
              <a:ext cx="2730346" cy="738664"/>
            </a:xfrm>
            <a:prstGeom prst="rect">
              <a:avLst/>
            </a:prstGeom>
            <a:noFill/>
          </p:spPr>
          <p:txBody>
            <a:bodyPr wrap="square" rtlCol="0">
              <a:spAutoFit/>
            </a:bodyPr>
            <a:lstStyle/>
            <a:p>
              <a:r>
                <a:rPr kumimoji="1" lang="en-US" altLang="ja-JP" sz="1400" dirty="0">
                  <a:latin typeface="Consolas" panose="020B0609020204030204" pitchFamily="49" charset="0"/>
                  <a:cs typeface="Consolas" panose="020B0609020204030204" pitchFamily="49" charset="0"/>
                </a:rPr>
                <a:t>cargo </a:t>
              </a:r>
              <a:r>
                <a:rPr kumimoji="1" lang="en-US" altLang="ja-JP" sz="1400" dirty="0" err="1">
                  <a:latin typeface="Consolas" panose="020B0609020204030204" pitchFamily="49" charset="0"/>
                  <a:cs typeface="Consolas" panose="020B0609020204030204" pitchFamily="49" charset="0"/>
                </a:rPr>
                <a:t>llvm-cov</a:t>
              </a:r>
              <a:r>
                <a:rPr kumimoji="1" lang="en-US" altLang="ja-JP" sz="1400" dirty="0">
                  <a:latin typeface="Consolas" panose="020B0609020204030204" pitchFamily="49" charset="0"/>
                  <a:cs typeface="Consolas" panose="020B0609020204030204" pitchFamily="49" charset="0"/>
                </a:rPr>
                <a:t> </a:t>
              </a:r>
              <a:r>
                <a:rPr kumimoji="1" lang="ja-JP" altLang="en-US" sz="1400">
                  <a:latin typeface="Meiryo" panose="020B0604030504040204" pitchFamily="34" charset="-128"/>
                  <a:ea typeface="Meiryo" panose="020B0604030504040204" pitchFamily="34" charset="-128"/>
                </a:rPr>
                <a:t>でカバレッジ計測ができるサブコマンドをインストールする。</a:t>
              </a:r>
            </a:p>
          </p:txBody>
        </p:sp>
        <p:sp>
          <p:nvSpPr>
            <p:cNvPr id="13" name="三角形 12">
              <a:extLst>
                <a:ext uri="{FF2B5EF4-FFF2-40B4-BE49-F238E27FC236}">
                  <a16:creationId xmlns:a16="http://schemas.microsoft.com/office/drawing/2014/main" id="{8F56BB2D-C22E-9E53-C3BD-FB9048CE4681}"/>
                </a:ext>
              </a:extLst>
            </p:cNvPr>
            <p:cNvSpPr/>
            <p:nvPr/>
          </p:nvSpPr>
          <p:spPr>
            <a:xfrm rot="16200000">
              <a:off x="8599168" y="2401982"/>
              <a:ext cx="360000" cy="914400"/>
            </a:xfrm>
            <a:prstGeom prst="triangle">
              <a:avLst>
                <a:gd name="adj" fmla="val 0"/>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a:extLst>
              <a:ext uri="{FF2B5EF4-FFF2-40B4-BE49-F238E27FC236}">
                <a16:creationId xmlns:a16="http://schemas.microsoft.com/office/drawing/2014/main" id="{82E612D6-FFCD-CDAC-E419-E8CC6AFCC324}"/>
              </a:ext>
            </a:extLst>
          </p:cNvPr>
          <p:cNvGrpSpPr/>
          <p:nvPr/>
        </p:nvGrpSpPr>
        <p:grpSpPr>
          <a:xfrm>
            <a:off x="8945216" y="3235522"/>
            <a:ext cx="3079475" cy="625477"/>
            <a:chOff x="8945216" y="3235522"/>
            <a:chExt cx="3079475" cy="625477"/>
          </a:xfrm>
        </p:grpSpPr>
        <p:sp>
          <p:nvSpPr>
            <p:cNvPr id="12" name="角丸四角形 11">
              <a:extLst>
                <a:ext uri="{FF2B5EF4-FFF2-40B4-BE49-F238E27FC236}">
                  <a16:creationId xmlns:a16="http://schemas.microsoft.com/office/drawing/2014/main" id="{B4CC3F96-5BA3-9A3E-521D-B09BC3FD3D42}"/>
                </a:ext>
              </a:extLst>
            </p:cNvPr>
            <p:cNvSpPr/>
            <p:nvPr/>
          </p:nvSpPr>
          <p:spPr>
            <a:xfrm>
              <a:off x="9178391" y="3235522"/>
              <a:ext cx="2846300" cy="625477"/>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6C383E19-2C95-E0FB-B59E-8BE18DE7BCAC}"/>
                </a:ext>
              </a:extLst>
            </p:cNvPr>
            <p:cNvSpPr txBox="1"/>
            <p:nvPr/>
          </p:nvSpPr>
          <p:spPr>
            <a:xfrm>
              <a:off x="9236368" y="3286650"/>
              <a:ext cx="2730346" cy="523220"/>
            </a:xfrm>
            <a:prstGeom prst="rect">
              <a:avLst/>
            </a:prstGeom>
            <a:noFill/>
          </p:spPr>
          <p:txBody>
            <a:bodyPr wrap="square" rtlCol="0">
              <a:spAutoFit/>
            </a:bodyPr>
            <a:lstStyle/>
            <a:p>
              <a:r>
                <a:rPr kumimoji="1" lang="ja-JP" altLang="en-US" sz="1400">
                  <a:latin typeface="Meiryo" panose="020B0604030504040204" pitchFamily="34" charset="-128"/>
                  <a:ea typeface="Meiryo" panose="020B0604030504040204" pitchFamily="34" charset="-128"/>
                </a:rPr>
                <a:t>実際にカバレッジを計測するエンジンををインストールする。</a:t>
              </a:r>
            </a:p>
          </p:txBody>
        </p:sp>
        <p:sp>
          <p:nvSpPr>
            <p:cNvPr id="14" name="三角形 13">
              <a:extLst>
                <a:ext uri="{FF2B5EF4-FFF2-40B4-BE49-F238E27FC236}">
                  <a16:creationId xmlns:a16="http://schemas.microsoft.com/office/drawing/2014/main" id="{B62194EC-3336-38D8-9D03-311D29F8E618}"/>
                </a:ext>
              </a:extLst>
            </p:cNvPr>
            <p:cNvSpPr/>
            <p:nvPr/>
          </p:nvSpPr>
          <p:spPr>
            <a:xfrm rot="16200000">
              <a:off x="8944691" y="3402685"/>
              <a:ext cx="292202" cy="291151"/>
            </a:xfrm>
            <a:prstGeom prst="triangle">
              <a:avLst>
                <a:gd name="adj" fmla="val 47855"/>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3275866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66FFB55B-C351-3A0B-2C57-102ED66C7FF3}"/>
              </a:ext>
            </a:extLst>
          </p:cNvPr>
          <p:cNvSpPr/>
          <p:nvPr/>
        </p:nvSpPr>
        <p:spPr>
          <a:xfrm>
            <a:off x="1102841" y="1810635"/>
            <a:ext cx="7801315" cy="565859"/>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08AA5EA-4489-92AF-9C04-359EED2C69B7}"/>
              </a:ext>
            </a:extLst>
          </p:cNvPr>
          <p:cNvSpPr>
            <a:spLocks noGrp="1"/>
          </p:cNvSpPr>
          <p:nvPr>
            <p:ph type="title"/>
          </p:nvPr>
        </p:nvSpPr>
        <p:spPr/>
        <p:txBody>
          <a:bodyPr/>
          <a:lstStyle/>
          <a:p>
            <a:r>
              <a:rPr kumimoji="1" lang="ja-JP" altLang="en-US"/>
              <a:t>コミットコメントについて</a:t>
            </a:r>
          </a:p>
        </p:txBody>
      </p:sp>
      <p:sp>
        <p:nvSpPr>
          <p:cNvPr id="3" name="コンテンツ プレースホルダー 2">
            <a:extLst>
              <a:ext uri="{FF2B5EF4-FFF2-40B4-BE49-F238E27FC236}">
                <a16:creationId xmlns:a16="http://schemas.microsoft.com/office/drawing/2014/main" id="{1D6A2193-1D06-9200-8A48-6C6C064CE6EE}"/>
              </a:ext>
            </a:extLst>
          </p:cNvPr>
          <p:cNvSpPr>
            <a:spLocks noGrp="1"/>
          </p:cNvSpPr>
          <p:nvPr>
            <p:ph idx="1"/>
          </p:nvPr>
        </p:nvSpPr>
        <p:spPr/>
        <p:txBody>
          <a:bodyPr>
            <a:normAutofit fontScale="77500" lnSpcReduction="20000"/>
          </a:bodyPr>
          <a:lstStyle/>
          <a:p>
            <a:pPr>
              <a:lnSpc>
                <a:spcPct val="110000"/>
              </a:lnSpc>
            </a:pPr>
            <a:r>
              <a:rPr kumimoji="1" lang="en-US" altLang="ja-JP" dirty="0">
                <a:solidFill>
                  <a:schemeClr val="bg1"/>
                </a:solidFill>
                <a:latin typeface="Consolas" panose="020B0609020204030204" pitchFamily="49" charset="0"/>
                <a:cs typeface="Consolas" panose="020B0609020204030204" pitchFamily="49" charset="0"/>
              </a:rPr>
              <a:t>git commit -m "</a:t>
            </a:r>
            <a:r>
              <a:rPr kumimoji="1" lang="ja-JP" altLang="en-US">
                <a:solidFill>
                  <a:schemeClr val="bg1"/>
                </a:solidFill>
                <a:latin typeface="Consolas" panose="020B0609020204030204" pitchFamily="49" charset="0"/>
                <a:cs typeface="Consolas" panose="020B0609020204030204" pitchFamily="49" charset="0"/>
              </a:rPr>
              <a:t>ここに書くべきもの</a:t>
            </a:r>
            <a:r>
              <a:rPr kumimoji="1" lang="en-US" altLang="ja-JP" dirty="0">
                <a:solidFill>
                  <a:schemeClr val="bg1"/>
                </a:solidFill>
                <a:latin typeface="Consolas" panose="020B0609020204030204" pitchFamily="49" charset="0"/>
                <a:cs typeface="Consolas" panose="020B0609020204030204" pitchFamily="49" charset="0"/>
              </a:rPr>
              <a:t>"</a:t>
            </a:r>
          </a:p>
          <a:p>
            <a:pPr>
              <a:lnSpc>
                <a:spcPct val="110000"/>
              </a:lnSpc>
            </a:pPr>
            <a:r>
              <a:rPr lang="ja-JP" altLang="en-US"/>
              <a:t>どのような修正を入れたのかを具体的に書く．体言止めは使わない．</a:t>
            </a:r>
            <a:endParaRPr kumimoji="1" lang="en-US" altLang="ja-JP" dirty="0"/>
          </a:p>
          <a:p>
            <a:pPr lvl="1">
              <a:lnSpc>
                <a:spcPct val="110000"/>
              </a:lnSpc>
            </a:pPr>
            <a:r>
              <a:rPr lang="ja-JP" altLang="en-US"/>
              <a:t>バグを修正．</a:t>
            </a:r>
            <a:endParaRPr lang="en-US" altLang="ja-JP" dirty="0"/>
          </a:p>
          <a:p>
            <a:pPr lvl="1">
              <a:lnSpc>
                <a:spcPct val="110000"/>
              </a:lnSpc>
            </a:pPr>
            <a:r>
              <a:rPr lang="ja-JP" altLang="en-US"/>
              <a:t>オプション</a:t>
            </a:r>
            <a:r>
              <a:rPr lang="en-US" altLang="ja-JP" dirty="0"/>
              <a:t>-h</a:t>
            </a:r>
            <a:r>
              <a:rPr lang="ja-JP" altLang="en-US"/>
              <a:t>指定時に解析が失敗するバグを修正した．</a:t>
            </a:r>
            <a:endParaRPr lang="en-US" altLang="ja-JP" dirty="0"/>
          </a:p>
          <a:p>
            <a:pPr>
              <a:lnSpc>
                <a:spcPct val="110000"/>
              </a:lnSpc>
            </a:pPr>
            <a:r>
              <a:rPr lang="ja-JP" altLang="en-US"/>
              <a:t>英語の場合，命令形で書く．</a:t>
            </a:r>
            <a:endParaRPr lang="en-US" altLang="ja-JP" dirty="0"/>
          </a:p>
          <a:p>
            <a:pPr lvl="1">
              <a:lnSpc>
                <a:spcPct val="110000"/>
              </a:lnSpc>
            </a:pPr>
            <a:r>
              <a:rPr lang="en-US" altLang="ja-JP" dirty="0"/>
              <a:t>I fixed the bug of option parsing failed on -h.</a:t>
            </a:r>
          </a:p>
          <a:p>
            <a:pPr lvl="1">
              <a:lnSpc>
                <a:spcPct val="110000"/>
              </a:lnSpc>
            </a:pPr>
            <a:r>
              <a:rPr lang="en-US" altLang="ja-JP" dirty="0"/>
              <a:t>fix the bug: option parsing failed on -h.</a:t>
            </a:r>
          </a:p>
        </p:txBody>
      </p:sp>
      <p:sp>
        <p:nvSpPr>
          <p:cNvPr id="4" name="日付プレースホルダー 3">
            <a:extLst>
              <a:ext uri="{FF2B5EF4-FFF2-40B4-BE49-F238E27FC236}">
                <a16:creationId xmlns:a16="http://schemas.microsoft.com/office/drawing/2014/main" id="{7E0BC7EA-8884-F332-D864-C9FEB4DF0856}"/>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7724C476-2E8F-1D81-6DAA-0561B7797909}"/>
              </a:ext>
            </a:extLst>
          </p:cNvPr>
          <p:cNvSpPr>
            <a:spLocks noGrp="1"/>
          </p:cNvSpPr>
          <p:nvPr>
            <p:ph type="sldNum" sz="quarter" idx="12"/>
          </p:nvPr>
        </p:nvSpPr>
        <p:spPr/>
        <p:txBody>
          <a:bodyPr/>
          <a:lstStyle/>
          <a:p>
            <a:fld id="{0B8845E4-5C92-A046-BB66-E5D9CC995B08}" type="slidenum">
              <a:rPr kumimoji="1" lang="ja-JP" altLang="en-US" smtClean="0"/>
              <a:t>32</a:t>
            </a:fld>
            <a:endParaRPr kumimoji="1" lang="ja-JP" altLang="en-US"/>
          </a:p>
        </p:txBody>
      </p:sp>
      <p:sp>
        <p:nvSpPr>
          <p:cNvPr id="6" name="十字形 5">
            <a:extLst>
              <a:ext uri="{FF2B5EF4-FFF2-40B4-BE49-F238E27FC236}">
                <a16:creationId xmlns:a16="http://schemas.microsoft.com/office/drawing/2014/main" id="{F416C347-08A0-BBB8-2228-6FAD9A85C7CF}"/>
              </a:ext>
            </a:extLst>
          </p:cNvPr>
          <p:cNvSpPr>
            <a:spLocks noChangeAspect="1"/>
          </p:cNvSpPr>
          <p:nvPr/>
        </p:nvSpPr>
        <p:spPr>
          <a:xfrm rot="2700000">
            <a:off x="887534" y="3430046"/>
            <a:ext cx="432000" cy="432000"/>
          </a:xfrm>
          <a:prstGeom prst="plus">
            <a:avLst>
              <a:gd name="adj" fmla="val 4246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ドーナツ 6">
            <a:extLst>
              <a:ext uri="{FF2B5EF4-FFF2-40B4-BE49-F238E27FC236}">
                <a16:creationId xmlns:a16="http://schemas.microsoft.com/office/drawing/2014/main" id="{49279908-69AC-CDAF-39A1-7F144CD45780}"/>
              </a:ext>
            </a:extLst>
          </p:cNvPr>
          <p:cNvSpPr>
            <a:spLocks noChangeAspect="1"/>
          </p:cNvSpPr>
          <p:nvPr/>
        </p:nvSpPr>
        <p:spPr>
          <a:xfrm>
            <a:off x="886842" y="3951515"/>
            <a:ext cx="432000" cy="432000"/>
          </a:xfrm>
          <a:prstGeom prst="donut">
            <a:avLst>
              <a:gd name="adj" fmla="val 1469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正方形/長方形 7">
            <a:extLst>
              <a:ext uri="{FF2B5EF4-FFF2-40B4-BE49-F238E27FC236}">
                <a16:creationId xmlns:a16="http://schemas.microsoft.com/office/drawing/2014/main" id="{1793F516-7E27-3A3D-8FAC-0DDEF59FA0BE}"/>
              </a:ext>
            </a:extLst>
          </p:cNvPr>
          <p:cNvSpPr/>
          <p:nvPr/>
        </p:nvSpPr>
        <p:spPr>
          <a:xfrm>
            <a:off x="2859314" y="6352072"/>
            <a:ext cx="6473372" cy="369332"/>
          </a:xfrm>
          <a:prstGeom prst="rect">
            <a:avLst/>
          </a:prstGeom>
        </p:spPr>
        <p:txBody>
          <a:bodyPr wrap="square">
            <a:spAutoFit/>
          </a:bodyPr>
          <a:lstStyle/>
          <a:p>
            <a:pPr algn="ctr"/>
            <a:r>
              <a:rPr lang="en" altLang="ja-JP" dirty="0">
                <a:solidFill>
                  <a:srgbClr val="CC0000"/>
                </a:solidFill>
                <a:latin typeface="Meiryo" panose="020B0604030504040204" pitchFamily="34" charset="-128"/>
                <a:ea typeface="Meiryo" panose="020B0604030504040204" pitchFamily="34" charset="-128"/>
                <a:hlinkClick r:id="rId2"/>
              </a:rPr>
              <a:t>Git</a:t>
            </a:r>
            <a:r>
              <a:rPr lang="ja-JP" altLang="en-US">
                <a:solidFill>
                  <a:srgbClr val="CC0000"/>
                </a:solidFill>
                <a:latin typeface="Meiryo" panose="020B0604030504040204" pitchFamily="34" charset="-128"/>
                <a:ea typeface="Meiryo" panose="020B0604030504040204" pitchFamily="34" charset="-128"/>
                <a:hlinkClick r:id="rId2"/>
              </a:rPr>
              <a:t>のコミットログは過去形ではなく現在形（＝命令形）で</a:t>
            </a:r>
            <a:endParaRPr lang="ja-JP" altLang="en-US" i="0">
              <a:solidFill>
                <a:srgbClr val="3D3D3D"/>
              </a:solidFill>
              <a:effectLst/>
              <a:latin typeface="Meiryo" panose="020B0604030504040204" pitchFamily="34" charset="-128"/>
              <a:ea typeface="Meiryo" panose="020B0604030504040204" pitchFamily="34" charset="-128"/>
            </a:endParaRPr>
          </a:p>
        </p:txBody>
      </p:sp>
      <p:sp>
        <p:nvSpPr>
          <p:cNvPr id="9" name="十字形 8">
            <a:extLst>
              <a:ext uri="{FF2B5EF4-FFF2-40B4-BE49-F238E27FC236}">
                <a16:creationId xmlns:a16="http://schemas.microsoft.com/office/drawing/2014/main" id="{9ADD3E91-97A5-B650-3909-47E148F20147}"/>
              </a:ext>
            </a:extLst>
          </p:cNvPr>
          <p:cNvSpPr>
            <a:spLocks noChangeAspect="1"/>
          </p:cNvSpPr>
          <p:nvPr/>
        </p:nvSpPr>
        <p:spPr>
          <a:xfrm rot="2700000">
            <a:off x="890676" y="4990079"/>
            <a:ext cx="432000" cy="432000"/>
          </a:xfrm>
          <a:prstGeom prst="plus">
            <a:avLst>
              <a:gd name="adj" fmla="val 4246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ドーナツ 9">
            <a:extLst>
              <a:ext uri="{FF2B5EF4-FFF2-40B4-BE49-F238E27FC236}">
                <a16:creationId xmlns:a16="http://schemas.microsoft.com/office/drawing/2014/main" id="{E297243E-47D5-7D06-A3CF-3AD7D86B51FD}"/>
              </a:ext>
            </a:extLst>
          </p:cNvPr>
          <p:cNvSpPr>
            <a:spLocks noChangeAspect="1"/>
          </p:cNvSpPr>
          <p:nvPr/>
        </p:nvSpPr>
        <p:spPr>
          <a:xfrm>
            <a:off x="889984" y="5511548"/>
            <a:ext cx="432000" cy="432000"/>
          </a:xfrm>
          <a:prstGeom prst="donut">
            <a:avLst>
              <a:gd name="adj" fmla="val 1469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8102339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dissolve">
                                      <p:cBhvr>
                                        <p:cTn id="14" dur="500"/>
                                        <p:tgtEl>
                                          <p:spTgt spid="6"/>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dissolve">
                                      <p:cBhvr>
                                        <p:cTn id="25" dur="500"/>
                                        <p:tgtEl>
                                          <p:spTgt spid="3">
                                            <p:txEl>
                                              <p:pRg st="6" end="6"/>
                                            </p:txEl>
                                          </p:spTgt>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F83741-60C3-F3CD-C7C6-FCDCDFC02FF5}"/>
              </a:ext>
            </a:extLst>
          </p:cNvPr>
          <p:cNvSpPr>
            <a:spLocks noGrp="1"/>
          </p:cNvSpPr>
          <p:nvPr>
            <p:ph type="title"/>
          </p:nvPr>
        </p:nvSpPr>
        <p:spPr/>
        <p:txBody>
          <a:bodyPr/>
          <a:lstStyle/>
          <a:p>
            <a:r>
              <a:rPr kumimoji="1" lang="ja-JP" altLang="en-US"/>
              <a:t>バージョン番号</a:t>
            </a:r>
          </a:p>
        </p:txBody>
      </p:sp>
      <p:sp>
        <p:nvSpPr>
          <p:cNvPr id="3" name="コンテンツ プレースホルダー 2">
            <a:extLst>
              <a:ext uri="{FF2B5EF4-FFF2-40B4-BE49-F238E27FC236}">
                <a16:creationId xmlns:a16="http://schemas.microsoft.com/office/drawing/2014/main" id="{306C9FE1-E2B3-E26A-CB57-676D0E78A4AC}"/>
              </a:ext>
            </a:extLst>
          </p:cNvPr>
          <p:cNvSpPr>
            <a:spLocks noGrp="1"/>
          </p:cNvSpPr>
          <p:nvPr>
            <p:ph idx="1"/>
          </p:nvPr>
        </p:nvSpPr>
        <p:spPr>
          <a:xfrm>
            <a:off x="838200" y="1825625"/>
            <a:ext cx="10730408" cy="4351338"/>
          </a:xfrm>
        </p:spPr>
        <p:txBody>
          <a:bodyPr>
            <a:normAutofit fontScale="62500" lnSpcReduction="20000"/>
          </a:bodyPr>
          <a:lstStyle/>
          <a:p>
            <a:pPr>
              <a:lnSpc>
                <a:spcPct val="120000"/>
              </a:lnSpc>
            </a:pPr>
            <a:r>
              <a:rPr kumimoji="1" lang="ja-JP" altLang="en-US"/>
              <a:t>ソフトウェアをリリースするときバージョン番号が付けられる．</a:t>
            </a:r>
            <a:endParaRPr kumimoji="1" lang="en-US" altLang="ja-JP" dirty="0"/>
          </a:p>
          <a:p>
            <a:pPr lvl="1">
              <a:lnSpc>
                <a:spcPct val="120000"/>
              </a:lnSpc>
            </a:pPr>
            <a:r>
              <a:rPr kumimoji="1" lang="ja-JP" altLang="en-US"/>
              <a:t>他のソフトウェアを利用するとき，ソフトウェア名とバージョン番号を指定しなければならない．</a:t>
            </a:r>
            <a:endParaRPr kumimoji="1" lang="en-US" altLang="ja-JP" dirty="0"/>
          </a:p>
          <a:p>
            <a:pPr lvl="2">
              <a:lnSpc>
                <a:spcPct val="120000"/>
              </a:lnSpc>
            </a:pPr>
            <a:r>
              <a:rPr lang="ja-JP" altLang="en-US"/>
              <a:t>バージョン番号が異なると，提供される機能も（多少）異なる．</a:t>
            </a:r>
            <a:endParaRPr lang="en-US" altLang="ja-JP" dirty="0"/>
          </a:p>
          <a:p>
            <a:pPr lvl="2">
              <a:lnSpc>
                <a:spcPct val="120000"/>
              </a:lnSpc>
            </a:pPr>
            <a:r>
              <a:rPr lang="ja-JP" altLang="en-US"/>
              <a:t>バージョン番号の付け方で別のバージョンのものとの互換性の有無を知りたい．</a:t>
            </a:r>
            <a:endParaRPr lang="en-US" altLang="ja-JP" dirty="0"/>
          </a:p>
          <a:p>
            <a:pPr lvl="3">
              <a:lnSpc>
                <a:spcPct val="120000"/>
              </a:lnSpc>
            </a:pPr>
            <a:r>
              <a:rPr lang="en-US" altLang="ja-JP" dirty="0"/>
              <a:t>Semantic Versioning</a:t>
            </a:r>
          </a:p>
          <a:p>
            <a:pPr lvl="1">
              <a:lnSpc>
                <a:spcPct val="120000"/>
              </a:lnSpc>
            </a:pPr>
            <a:r>
              <a:rPr lang="ja-JP" altLang="en-US"/>
              <a:t>昨今のソフトウェアは他のソフトウェアに利用されることがよくある．</a:t>
            </a:r>
            <a:endParaRPr lang="en-US" altLang="ja-JP" dirty="0"/>
          </a:p>
          <a:p>
            <a:pPr lvl="2">
              <a:lnSpc>
                <a:spcPct val="120000"/>
              </a:lnSpc>
            </a:pPr>
            <a:r>
              <a:rPr kumimoji="1" lang="ja-JP" altLang="en-US"/>
              <a:t>適切にバージョン番号を付けてリリースを管理しなければならない．</a:t>
            </a:r>
          </a:p>
        </p:txBody>
      </p:sp>
      <p:sp>
        <p:nvSpPr>
          <p:cNvPr id="4" name="日付プレースホルダー 3">
            <a:extLst>
              <a:ext uri="{FF2B5EF4-FFF2-40B4-BE49-F238E27FC236}">
                <a16:creationId xmlns:a16="http://schemas.microsoft.com/office/drawing/2014/main" id="{253C120E-FF0E-2CF3-2FC0-BD2482FC3819}"/>
              </a:ext>
            </a:extLst>
          </p:cNvPr>
          <p:cNvSpPr>
            <a:spLocks noGrp="1"/>
          </p:cNvSpPr>
          <p:nvPr>
            <p:ph type="dt" sz="half" idx="10"/>
          </p:nvPr>
        </p:nvSpPr>
        <p:spPr/>
        <p:txBody>
          <a:bodyPr/>
          <a:lstStyle/>
          <a:p>
            <a:r>
              <a:rPr lang="en-US" altLang="ja-JP"/>
              <a:t>2026-04-17</a:t>
            </a:r>
            <a:endParaRPr lang="ja-JP" altLang="en-US" sz="1800"/>
          </a:p>
        </p:txBody>
      </p:sp>
      <p:sp>
        <p:nvSpPr>
          <p:cNvPr id="6" name="スライド番号プレースホルダー 5">
            <a:extLst>
              <a:ext uri="{FF2B5EF4-FFF2-40B4-BE49-F238E27FC236}">
                <a16:creationId xmlns:a16="http://schemas.microsoft.com/office/drawing/2014/main" id="{6D7A9A9F-4713-6D3E-A8E6-D89397FFB06A}"/>
              </a:ext>
            </a:extLst>
          </p:cNvPr>
          <p:cNvSpPr>
            <a:spLocks noGrp="1"/>
          </p:cNvSpPr>
          <p:nvPr>
            <p:ph type="sldNum" sz="quarter" idx="12"/>
          </p:nvPr>
        </p:nvSpPr>
        <p:spPr/>
        <p:txBody>
          <a:bodyPr/>
          <a:lstStyle/>
          <a:p>
            <a:fld id="{D2D8002D-B5B0-4BAC-B1F6-782DDCCE6D9C}" type="slidenum">
              <a:rPr lang="ja-JP" altLang="en-US" smtClean="0"/>
              <a:pPr/>
              <a:t>33</a:t>
            </a:fld>
            <a:endParaRPr lang="ja-JP" altLang="en-US" sz="1800"/>
          </a:p>
        </p:txBody>
      </p:sp>
    </p:spTree>
    <p:extLst>
      <p:ext uri="{BB962C8B-B14F-4D97-AF65-F5344CB8AC3E}">
        <p14:creationId xmlns:p14="http://schemas.microsoft.com/office/powerpoint/2010/main" val="4101882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55EF48-28F6-E217-2D94-8A6A3DEEA2CF}"/>
              </a:ext>
            </a:extLst>
          </p:cNvPr>
          <p:cNvSpPr>
            <a:spLocks noGrp="1"/>
          </p:cNvSpPr>
          <p:nvPr>
            <p:ph type="title"/>
          </p:nvPr>
        </p:nvSpPr>
        <p:spPr/>
        <p:txBody>
          <a:bodyPr/>
          <a:lstStyle/>
          <a:p>
            <a:r>
              <a:rPr kumimoji="1" lang="en-US" altLang="ja-JP" dirty="0"/>
              <a:t>Semantic Versioning</a:t>
            </a:r>
            <a:endParaRPr kumimoji="1" lang="ja-JP" altLang="en-US"/>
          </a:p>
        </p:txBody>
      </p:sp>
      <p:sp>
        <p:nvSpPr>
          <p:cNvPr id="3" name="コンテンツ プレースホルダー 2">
            <a:extLst>
              <a:ext uri="{FF2B5EF4-FFF2-40B4-BE49-F238E27FC236}">
                <a16:creationId xmlns:a16="http://schemas.microsoft.com/office/drawing/2014/main" id="{632AC386-AD3B-48E0-0BD2-BFD5520863EC}"/>
              </a:ext>
            </a:extLst>
          </p:cNvPr>
          <p:cNvSpPr>
            <a:spLocks noGrp="1"/>
          </p:cNvSpPr>
          <p:nvPr>
            <p:ph idx="1"/>
          </p:nvPr>
        </p:nvSpPr>
        <p:spPr/>
        <p:txBody>
          <a:bodyPr>
            <a:normAutofit fontScale="62500" lnSpcReduction="20000"/>
          </a:bodyPr>
          <a:lstStyle/>
          <a:p>
            <a:pPr>
              <a:lnSpc>
                <a:spcPct val="120000"/>
              </a:lnSpc>
            </a:pPr>
            <a:r>
              <a:rPr lang="en-US" altLang="ja-JP" dirty="0">
                <a:latin typeface="Consolas" panose="020B0609020204030204" pitchFamily="49" charset="0"/>
                <a:cs typeface="Consolas" panose="020B0609020204030204" pitchFamily="49" charset="0"/>
              </a:rPr>
              <a:t>&lt;major&gt;.&lt;minor&gt;.&lt;patch&gt;</a:t>
            </a:r>
            <a:r>
              <a:rPr lang="ja-JP" altLang="en-US">
                <a:latin typeface="Consolas" panose="020B0609020204030204" pitchFamily="49" charset="0"/>
                <a:cs typeface="Consolas" panose="020B0609020204030204" pitchFamily="49" charset="0"/>
              </a:rPr>
              <a:t>の</a:t>
            </a:r>
            <a:r>
              <a:rPr lang="en-US" altLang="ja-JP" dirty="0">
                <a:latin typeface="Consolas" panose="020B0609020204030204" pitchFamily="49" charset="0"/>
                <a:cs typeface="Consolas" panose="020B0609020204030204" pitchFamily="49" charset="0"/>
              </a:rPr>
              <a:t>3</a:t>
            </a:r>
            <a:r>
              <a:rPr kumimoji="1" lang="ja-JP" altLang="en-US"/>
              <a:t>つの数字でバージョンを表す．</a:t>
            </a:r>
            <a:endParaRPr kumimoji="1" lang="en-US" altLang="ja-JP" dirty="0"/>
          </a:p>
          <a:p>
            <a:pPr>
              <a:lnSpc>
                <a:spcPct val="120000"/>
              </a:lnSpc>
            </a:pPr>
            <a:r>
              <a:rPr lang="ja-JP" altLang="en-US"/>
              <a:t>以下のルールで各数値を更新する．</a:t>
            </a:r>
            <a:endParaRPr lang="en-US" altLang="ja-JP" dirty="0"/>
          </a:p>
          <a:p>
            <a:pPr lvl="1">
              <a:lnSpc>
                <a:spcPct val="120000"/>
              </a:lnSpc>
            </a:pPr>
            <a:r>
              <a:rPr kumimoji="1" lang="ja-JP" altLang="en-US"/>
              <a:t>後方互換を保たず機能を追加する</a:t>
            </a:r>
            <a:r>
              <a:rPr lang="ja-JP" altLang="en-US"/>
              <a:t>：</a:t>
            </a:r>
            <a:r>
              <a:rPr lang="en-US" altLang="ja-JP" dirty="0"/>
              <a:t>major</a:t>
            </a:r>
            <a:r>
              <a:rPr lang="ja-JP" altLang="en-US"/>
              <a:t>を上げる．</a:t>
            </a:r>
            <a:endParaRPr lang="en-US" altLang="ja-JP" dirty="0"/>
          </a:p>
          <a:p>
            <a:pPr lvl="1">
              <a:lnSpc>
                <a:spcPct val="120000"/>
              </a:lnSpc>
            </a:pPr>
            <a:r>
              <a:rPr kumimoji="1" lang="ja-JP" altLang="en-US"/>
              <a:t>後方互換を保ちつつ機能を追加する：</a:t>
            </a:r>
            <a:r>
              <a:rPr kumimoji="1" lang="en-US" altLang="ja-JP" dirty="0"/>
              <a:t>minor </a:t>
            </a:r>
            <a:r>
              <a:rPr kumimoji="1" lang="ja-JP" altLang="en-US"/>
              <a:t>を上げる．</a:t>
            </a:r>
            <a:endParaRPr kumimoji="1" lang="en-US" altLang="ja-JP" dirty="0"/>
          </a:p>
          <a:p>
            <a:pPr lvl="1">
              <a:lnSpc>
                <a:spcPct val="120000"/>
              </a:lnSpc>
            </a:pPr>
            <a:r>
              <a:rPr lang="ja-JP" altLang="en-US"/>
              <a:t>後方互換を伴うバグ修正など：</a:t>
            </a:r>
            <a:r>
              <a:rPr lang="en-US" altLang="ja-JP" dirty="0"/>
              <a:t>patch</a:t>
            </a:r>
            <a:r>
              <a:rPr lang="ja-JP" altLang="en-US"/>
              <a:t>を上げる．</a:t>
            </a:r>
            <a:endParaRPr lang="en-US" altLang="ja-JP" dirty="0"/>
          </a:p>
          <a:p>
            <a:pPr>
              <a:lnSpc>
                <a:spcPct val="120000"/>
              </a:lnSpc>
            </a:pPr>
            <a:r>
              <a:rPr kumimoji="1" lang="ja-JP" altLang="en-US"/>
              <a:t>主なルール．</a:t>
            </a:r>
            <a:endParaRPr kumimoji="1" lang="en-US" altLang="ja-JP" dirty="0"/>
          </a:p>
          <a:p>
            <a:pPr lvl="1">
              <a:lnSpc>
                <a:spcPct val="120000"/>
              </a:lnSpc>
            </a:pPr>
            <a:r>
              <a:rPr kumimoji="1" lang="ja-JP" altLang="en-US"/>
              <a:t>あるバージョンで公開したものは一切変更を加えない．</a:t>
            </a:r>
            <a:endParaRPr kumimoji="1" lang="en-US" altLang="ja-JP" dirty="0"/>
          </a:p>
          <a:p>
            <a:pPr lvl="1">
              <a:lnSpc>
                <a:spcPct val="120000"/>
              </a:lnSpc>
            </a:pPr>
            <a:r>
              <a:rPr lang="en-US" altLang="ja-JP" dirty="0"/>
              <a:t>Major</a:t>
            </a:r>
            <a:r>
              <a:rPr lang="ja-JP" altLang="en-US"/>
              <a:t>が</a:t>
            </a:r>
            <a:r>
              <a:rPr lang="en-US" altLang="ja-JP" dirty="0"/>
              <a:t>0</a:t>
            </a:r>
            <a:r>
              <a:rPr lang="ja-JP" altLang="en-US"/>
              <a:t>のものは如何なる変更もありうるものと考えるべし．</a:t>
            </a:r>
            <a:endParaRPr kumimoji="1" lang="ja-JP" altLang="en-US"/>
          </a:p>
        </p:txBody>
      </p:sp>
      <p:sp>
        <p:nvSpPr>
          <p:cNvPr id="4" name="正方形/長方形 3">
            <a:extLst>
              <a:ext uri="{FF2B5EF4-FFF2-40B4-BE49-F238E27FC236}">
                <a16:creationId xmlns:a16="http://schemas.microsoft.com/office/drawing/2014/main" id="{EEB69E83-DB99-FC23-51AB-031E0C1A0FEF}"/>
              </a:ext>
            </a:extLst>
          </p:cNvPr>
          <p:cNvSpPr/>
          <p:nvPr/>
        </p:nvSpPr>
        <p:spPr>
          <a:xfrm>
            <a:off x="4294064" y="6308209"/>
            <a:ext cx="3603872" cy="369332"/>
          </a:xfrm>
          <a:prstGeom prst="rect">
            <a:avLst/>
          </a:prstGeom>
        </p:spPr>
        <p:txBody>
          <a:bodyPr wrap="none">
            <a:spAutoFit/>
          </a:bodyPr>
          <a:lstStyle/>
          <a:p>
            <a:pPr algn="ctr"/>
            <a:r>
              <a:rPr lang="ja-JP" altLang="en-US">
                <a:latin typeface="Consolas" panose="020B0609020204030204" pitchFamily="49" charset="0"/>
                <a:cs typeface="Consolas" panose="020B0609020204030204" pitchFamily="49" charset="0"/>
                <a:hlinkClick r:id="rId2"/>
              </a:rPr>
              <a:t>https://semver.org/lang/ja/</a:t>
            </a:r>
            <a:endParaRPr lang="ja-JP" altLang="en-US">
              <a:latin typeface="Consolas" panose="020B0609020204030204" pitchFamily="49" charset="0"/>
              <a:cs typeface="Consolas" panose="020B0609020204030204" pitchFamily="49" charset="0"/>
            </a:endParaRPr>
          </a:p>
        </p:txBody>
      </p:sp>
      <p:sp>
        <p:nvSpPr>
          <p:cNvPr id="5" name="日付プレースホルダー 4">
            <a:extLst>
              <a:ext uri="{FF2B5EF4-FFF2-40B4-BE49-F238E27FC236}">
                <a16:creationId xmlns:a16="http://schemas.microsoft.com/office/drawing/2014/main" id="{DA76B2D1-A021-D11E-E43F-4BED8AF7C765}"/>
              </a:ext>
            </a:extLst>
          </p:cNvPr>
          <p:cNvSpPr>
            <a:spLocks noGrp="1"/>
          </p:cNvSpPr>
          <p:nvPr>
            <p:ph type="dt" sz="half" idx="10"/>
          </p:nvPr>
        </p:nvSpPr>
        <p:spPr/>
        <p:txBody>
          <a:bodyPr/>
          <a:lstStyle/>
          <a:p>
            <a:r>
              <a:rPr kumimoji="1" lang="en-US" altLang="ja-JP"/>
              <a:t>2026-04-17</a:t>
            </a:r>
            <a:endParaRPr kumimoji="1" lang="ja-JP" altLang="en-US"/>
          </a:p>
        </p:txBody>
      </p:sp>
      <p:sp>
        <p:nvSpPr>
          <p:cNvPr id="6" name="スライド番号プレースホルダー 5">
            <a:extLst>
              <a:ext uri="{FF2B5EF4-FFF2-40B4-BE49-F238E27FC236}">
                <a16:creationId xmlns:a16="http://schemas.microsoft.com/office/drawing/2014/main" id="{B9C42BF0-D0F2-853E-B94B-A9CBC4B4CDD4}"/>
              </a:ext>
            </a:extLst>
          </p:cNvPr>
          <p:cNvSpPr>
            <a:spLocks noGrp="1"/>
          </p:cNvSpPr>
          <p:nvPr>
            <p:ph type="sldNum" sz="quarter" idx="12"/>
          </p:nvPr>
        </p:nvSpPr>
        <p:spPr/>
        <p:txBody>
          <a:bodyPr/>
          <a:lstStyle/>
          <a:p>
            <a:fld id="{0B8845E4-5C92-A046-BB66-E5D9CC995B08}" type="slidenum">
              <a:rPr kumimoji="1" lang="ja-JP" altLang="en-US" smtClean="0"/>
              <a:t>34</a:t>
            </a:fld>
            <a:endParaRPr kumimoji="1" lang="ja-JP" altLang="en-US"/>
          </a:p>
        </p:txBody>
      </p:sp>
    </p:spTree>
    <p:extLst>
      <p:ext uri="{BB962C8B-B14F-4D97-AF65-F5344CB8AC3E}">
        <p14:creationId xmlns:p14="http://schemas.microsoft.com/office/powerpoint/2010/main" val="3902440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dissolve">
                                      <p:cBhvr>
                                        <p:cTn id="16" dur="500"/>
                                        <p:tgtEl>
                                          <p:spTgt spid="3">
                                            <p:txEl>
                                              <p:pRg st="2" end="2"/>
                                            </p:txEl>
                                          </p:spTgt>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par>
                          <p:cTn id="21" fill="hold">
                            <p:stCondLst>
                              <p:cond delay="1500"/>
                            </p:stCondLst>
                            <p:childTnLst>
                              <p:par>
                                <p:cTn id="22" presetID="9" presetClass="entr" presetSubtype="0"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dissolv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dissolve">
                                      <p:cBhvr>
                                        <p:cTn id="29" dur="500"/>
                                        <p:tgtEl>
                                          <p:spTgt spid="3">
                                            <p:txEl>
                                              <p:pRg st="5" end="5"/>
                                            </p:txEl>
                                          </p:spTgt>
                                        </p:tgtEl>
                                      </p:cBhvr>
                                    </p:animEffec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dissolve">
                                      <p:cBhvr>
                                        <p:cTn id="33" dur="500"/>
                                        <p:tgtEl>
                                          <p:spTgt spid="3">
                                            <p:txEl>
                                              <p:pRg st="6" end="6"/>
                                            </p:txEl>
                                          </p:spTgt>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645C54D-26A0-5BAA-F356-BC1E5B794C17}"/>
              </a:ext>
            </a:extLst>
          </p:cNvPr>
          <p:cNvSpPr>
            <a:spLocks noGrp="1"/>
          </p:cNvSpPr>
          <p:nvPr>
            <p:ph type="title"/>
          </p:nvPr>
        </p:nvSpPr>
        <p:spPr/>
        <p:txBody>
          <a:bodyPr/>
          <a:lstStyle/>
          <a:p>
            <a:r>
              <a:rPr kumimoji="1" lang="en-US" altLang="ja-JP" dirty="0"/>
              <a:t>Conventional Commits</a:t>
            </a:r>
            <a:endParaRPr kumimoji="1" lang="ja-JP" altLang="en-US"/>
          </a:p>
        </p:txBody>
      </p:sp>
      <p:sp>
        <p:nvSpPr>
          <p:cNvPr id="3" name="コンテンツ プレースホルダー 2">
            <a:extLst>
              <a:ext uri="{FF2B5EF4-FFF2-40B4-BE49-F238E27FC236}">
                <a16:creationId xmlns:a16="http://schemas.microsoft.com/office/drawing/2014/main" id="{FF3CF4BA-A462-55EC-5BD7-FAFF91BA58D0}"/>
              </a:ext>
            </a:extLst>
          </p:cNvPr>
          <p:cNvSpPr>
            <a:spLocks noGrp="1"/>
          </p:cNvSpPr>
          <p:nvPr>
            <p:ph idx="1"/>
          </p:nvPr>
        </p:nvSpPr>
        <p:spPr>
          <a:xfrm>
            <a:off x="838200" y="1825625"/>
            <a:ext cx="10642600" cy="4351338"/>
          </a:xfrm>
        </p:spPr>
        <p:txBody>
          <a:bodyPr>
            <a:normAutofit fontScale="62500" lnSpcReduction="20000"/>
          </a:bodyPr>
          <a:lstStyle/>
          <a:p>
            <a:pPr>
              <a:lnSpc>
                <a:spcPct val="120000"/>
              </a:lnSpc>
            </a:pPr>
            <a:r>
              <a:rPr kumimoji="1" lang="ja-JP" altLang="en-US"/>
              <a:t>人間と機械が読みやすく，意味のあるコミットメッセージするための仕様．</a:t>
            </a:r>
            <a:endParaRPr kumimoji="1" lang="en-US" altLang="ja-JP" dirty="0"/>
          </a:p>
          <a:p>
            <a:pPr lvl="1">
              <a:lnSpc>
                <a:spcPct val="120000"/>
              </a:lnSpc>
            </a:pPr>
            <a:r>
              <a:rPr lang="ja-JP" altLang="en-US"/>
              <a:t>コミットコメントの１行目の冒頭に変更のタイプをつけよう．</a:t>
            </a:r>
            <a:endParaRPr lang="en-US" altLang="ja-JP" dirty="0"/>
          </a:p>
          <a:p>
            <a:pPr lvl="1">
              <a:lnSpc>
                <a:spcPct val="120000"/>
              </a:lnSpc>
              <a:tabLst>
                <a:tab pos="3592513" algn="l"/>
              </a:tabLst>
            </a:pPr>
            <a:r>
              <a:rPr lang="en-US" altLang="ja-JP" dirty="0">
                <a:latin typeface="Consolas" panose="020B0609020204030204" pitchFamily="49" charset="0"/>
                <a:cs typeface="Consolas" panose="020B0609020204030204" pitchFamily="49" charset="0"/>
              </a:rPr>
              <a:t>fix</a:t>
            </a:r>
            <a:r>
              <a:rPr lang="en-US" altLang="ja-JP" dirty="0"/>
              <a:t>	</a:t>
            </a:r>
            <a:r>
              <a:rPr lang="ja-JP" altLang="en-US"/>
              <a:t>バグを修正したとき．</a:t>
            </a:r>
            <a:r>
              <a:rPr lang="en-US" altLang="ja-JP" dirty="0"/>
              <a:t>PATCH</a:t>
            </a:r>
            <a:r>
              <a:rPr lang="ja-JP" altLang="en-US"/>
              <a:t>．</a:t>
            </a:r>
            <a:endParaRPr lang="en-US" altLang="ja-JP" dirty="0"/>
          </a:p>
          <a:p>
            <a:pPr lvl="1">
              <a:lnSpc>
                <a:spcPct val="120000"/>
              </a:lnSpc>
              <a:tabLst>
                <a:tab pos="3592513" algn="l"/>
              </a:tabLst>
            </a:pPr>
            <a:r>
              <a:rPr lang="en-US" altLang="ja-JP" dirty="0">
                <a:latin typeface="Consolas" panose="020B0609020204030204" pitchFamily="49" charset="0"/>
                <a:cs typeface="Consolas" panose="020B0609020204030204" pitchFamily="49" charset="0"/>
              </a:rPr>
              <a:t>feat</a:t>
            </a:r>
            <a:r>
              <a:rPr lang="en-US" altLang="ja-JP" dirty="0"/>
              <a:t>	</a:t>
            </a:r>
            <a:r>
              <a:rPr lang="ja-JP" altLang="en-US"/>
              <a:t>新たな機能を追加したとき．</a:t>
            </a:r>
            <a:r>
              <a:rPr lang="en-US" altLang="ja-JP" dirty="0"/>
              <a:t>MINOR</a:t>
            </a:r>
            <a:r>
              <a:rPr lang="ja-JP" altLang="en-US"/>
              <a:t>．</a:t>
            </a:r>
            <a:endParaRPr lang="en-US" altLang="ja-JP" dirty="0"/>
          </a:p>
          <a:p>
            <a:pPr lvl="1">
              <a:lnSpc>
                <a:spcPct val="120000"/>
              </a:lnSpc>
              <a:tabLst>
                <a:tab pos="3592513" algn="l"/>
              </a:tabLst>
            </a:pPr>
            <a:r>
              <a:rPr lang="en-US" altLang="ja-JP" dirty="0">
                <a:latin typeface="Consolas" panose="020B0609020204030204" pitchFamily="49" charset="0"/>
                <a:cs typeface="Consolas" panose="020B0609020204030204" pitchFamily="49" charset="0"/>
              </a:rPr>
              <a:t>BREAKING CHANGE</a:t>
            </a:r>
            <a:r>
              <a:rPr lang="en-US" altLang="ja-JP" dirty="0"/>
              <a:t>	API</a:t>
            </a:r>
            <a:r>
              <a:rPr lang="ja-JP" altLang="en-US"/>
              <a:t>の破壊的変更．</a:t>
            </a:r>
            <a:r>
              <a:rPr lang="en-US" altLang="ja-JP" dirty="0"/>
              <a:t>MAJOR</a:t>
            </a:r>
            <a:r>
              <a:rPr lang="ja-JP" altLang="en-US"/>
              <a:t>．</a:t>
            </a:r>
            <a:endParaRPr lang="en-US" altLang="ja-JP" dirty="0"/>
          </a:p>
          <a:p>
            <a:pPr lvl="2">
              <a:lnSpc>
                <a:spcPct val="120000"/>
              </a:lnSpc>
              <a:tabLst>
                <a:tab pos="2078038" algn="l"/>
                <a:tab pos="4876800" algn="l"/>
              </a:tabLst>
            </a:pPr>
            <a:r>
              <a:rPr lang="ja-JP" altLang="en-US"/>
              <a:t>タイプの後ろに「</a:t>
            </a:r>
            <a:r>
              <a:rPr lang="en-US" altLang="ja-JP" dirty="0">
                <a:latin typeface="Consolas" panose="020B0609020204030204" pitchFamily="49" charset="0"/>
                <a:cs typeface="Consolas" panose="020B0609020204030204" pitchFamily="49" charset="0"/>
              </a:rPr>
              <a:t>!</a:t>
            </a:r>
            <a:r>
              <a:rPr lang="ja-JP" altLang="en-US"/>
              <a:t>」をつけても良い．</a:t>
            </a:r>
            <a:endParaRPr lang="en-US" altLang="ja-JP" dirty="0"/>
          </a:p>
          <a:p>
            <a:pPr lvl="1">
              <a:lnSpc>
                <a:spcPct val="120000"/>
              </a:lnSpc>
              <a:tabLst>
                <a:tab pos="2078038" algn="l"/>
                <a:tab pos="4876800" algn="l"/>
              </a:tabLst>
            </a:pPr>
            <a:r>
              <a:rPr lang="ja-JP" altLang="en-US"/>
              <a:t>他にも，</a:t>
            </a:r>
            <a:r>
              <a:rPr lang="en-US" altLang="ja-JP" dirty="0">
                <a:latin typeface="Consolas" panose="020B0609020204030204" pitchFamily="49" charset="0"/>
                <a:cs typeface="Consolas" panose="020B0609020204030204" pitchFamily="49" charset="0"/>
              </a:rPr>
              <a:t>build</a:t>
            </a:r>
            <a:r>
              <a:rPr lang="en-US" altLang="ja-JP" dirty="0"/>
              <a:t>, </a:t>
            </a:r>
            <a:r>
              <a:rPr lang="en-US" altLang="ja-JP" dirty="0">
                <a:latin typeface="Consolas" panose="020B0609020204030204" pitchFamily="49" charset="0"/>
                <a:cs typeface="Consolas" panose="020B0609020204030204" pitchFamily="49" charset="0"/>
              </a:rPr>
              <a:t>chore</a:t>
            </a:r>
            <a:r>
              <a:rPr lang="en-US" altLang="ja-JP" dirty="0"/>
              <a:t>, </a:t>
            </a:r>
            <a:r>
              <a:rPr lang="en-US" altLang="ja-JP" dirty="0">
                <a:latin typeface="Consolas" panose="020B0609020204030204" pitchFamily="49" charset="0"/>
                <a:cs typeface="Consolas" panose="020B0609020204030204" pitchFamily="49" charset="0"/>
              </a:rPr>
              <a:t>ci</a:t>
            </a:r>
            <a:r>
              <a:rPr lang="en-US" altLang="ja-JP" dirty="0"/>
              <a:t>, </a:t>
            </a:r>
            <a:r>
              <a:rPr lang="en-US" altLang="ja-JP" dirty="0">
                <a:latin typeface="Consolas" panose="020B0609020204030204" pitchFamily="49" charset="0"/>
                <a:cs typeface="Consolas" panose="020B0609020204030204" pitchFamily="49" charset="0"/>
              </a:rPr>
              <a:t>docs</a:t>
            </a:r>
            <a:r>
              <a:rPr lang="en-US" altLang="ja-JP" dirty="0"/>
              <a:t>, </a:t>
            </a:r>
            <a:r>
              <a:rPr lang="en-US" altLang="ja-JP" dirty="0">
                <a:latin typeface="Consolas" panose="020B0609020204030204" pitchFamily="49" charset="0"/>
                <a:cs typeface="Consolas" panose="020B0609020204030204" pitchFamily="49" charset="0"/>
              </a:rPr>
              <a:t>style</a:t>
            </a:r>
            <a:r>
              <a:rPr lang="en-US" altLang="ja-JP" dirty="0"/>
              <a:t>, </a:t>
            </a:r>
            <a:r>
              <a:rPr lang="en-US" altLang="ja-JP" dirty="0">
                <a:latin typeface="Consolas" panose="020B0609020204030204" pitchFamily="49" charset="0"/>
                <a:cs typeface="Consolas" panose="020B0609020204030204" pitchFamily="49" charset="0"/>
              </a:rPr>
              <a:t>refactor</a:t>
            </a:r>
            <a:r>
              <a:rPr lang="en-US" altLang="ja-JP" dirty="0"/>
              <a:t>, </a:t>
            </a:r>
            <a:r>
              <a:rPr lang="en-US" altLang="ja-JP" dirty="0">
                <a:latin typeface="Consolas" panose="020B0609020204030204" pitchFamily="49" charset="0"/>
                <a:cs typeface="Consolas" panose="020B0609020204030204" pitchFamily="49" charset="0"/>
              </a:rPr>
              <a:t>perf</a:t>
            </a:r>
            <a:r>
              <a:rPr lang="en-US" altLang="ja-JP" dirty="0"/>
              <a:t>, </a:t>
            </a:r>
            <a:r>
              <a:rPr lang="en-US" altLang="ja-JP" dirty="0">
                <a:latin typeface="Consolas" panose="020B0609020204030204" pitchFamily="49" charset="0"/>
                <a:cs typeface="Consolas" panose="020B0609020204030204" pitchFamily="49" charset="0"/>
              </a:rPr>
              <a:t>test</a:t>
            </a:r>
            <a:r>
              <a:rPr lang="en-US" altLang="ja-JP" dirty="0"/>
              <a:t> </a:t>
            </a:r>
            <a:r>
              <a:rPr lang="ja-JP" altLang="en-US"/>
              <a:t>など．</a:t>
            </a:r>
            <a:endParaRPr lang="en-US" altLang="ja-JP" dirty="0"/>
          </a:p>
        </p:txBody>
      </p:sp>
      <p:sp>
        <p:nvSpPr>
          <p:cNvPr id="4" name="日付プレースホルダー 3">
            <a:extLst>
              <a:ext uri="{FF2B5EF4-FFF2-40B4-BE49-F238E27FC236}">
                <a16:creationId xmlns:a16="http://schemas.microsoft.com/office/drawing/2014/main" id="{FEF24016-B5AD-C8AC-5595-21A0CC3D2042}"/>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D124BA02-029A-AAD8-A70D-FACFEE2E8ECE}"/>
              </a:ext>
            </a:extLst>
          </p:cNvPr>
          <p:cNvSpPr>
            <a:spLocks noGrp="1"/>
          </p:cNvSpPr>
          <p:nvPr>
            <p:ph type="sldNum" sz="quarter" idx="12"/>
          </p:nvPr>
        </p:nvSpPr>
        <p:spPr/>
        <p:txBody>
          <a:bodyPr/>
          <a:lstStyle/>
          <a:p>
            <a:fld id="{0B8845E4-5C92-A046-BB66-E5D9CC995B08}" type="slidenum">
              <a:rPr kumimoji="1" lang="ja-JP" altLang="en-US" smtClean="0"/>
              <a:t>35</a:t>
            </a:fld>
            <a:endParaRPr kumimoji="1" lang="ja-JP" altLang="en-US"/>
          </a:p>
        </p:txBody>
      </p:sp>
      <p:sp>
        <p:nvSpPr>
          <p:cNvPr id="8" name="正方形/長方形 7">
            <a:extLst>
              <a:ext uri="{FF2B5EF4-FFF2-40B4-BE49-F238E27FC236}">
                <a16:creationId xmlns:a16="http://schemas.microsoft.com/office/drawing/2014/main" id="{821268B8-D40E-47FA-84C8-7D2AA2211113}"/>
              </a:ext>
            </a:extLst>
          </p:cNvPr>
          <p:cNvSpPr/>
          <p:nvPr/>
        </p:nvSpPr>
        <p:spPr>
          <a:xfrm>
            <a:off x="4802216" y="6356350"/>
            <a:ext cx="2587568" cy="369332"/>
          </a:xfrm>
          <a:prstGeom prst="rect">
            <a:avLst/>
          </a:prstGeom>
        </p:spPr>
        <p:txBody>
          <a:bodyPr wrap="none">
            <a:spAutoFit/>
          </a:bodyPr>
          <a:lstStyle/>
          <a:p>
            <a:pPr algn="ctr"/>
            <a:r>
              <a:rPr lang="en-US" altLang="ja-JP" dirty="0">
                <a:hlinkClick r:id="rId3"/>
              </a:rPr>
              <a:t>Conventional Commits</a:t>
            </a:r>
            <a:endParaRPr lang="ja-JP" altLang="en-US"/>
          </a:p>
        </p:txBody>
      </p:sp>
    </p:spTree>
    <p:extLst>
      <p:ext uri="{BB962C8B-B14F-4D97-AF65-F5344CB8AC3E}">
        <p14:creationId xmlns:p14="http://schemas.microsoft.com/office/powerpoint/2010/main" val="3600007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2AB40A-8016-CA9A-2FFD-CBB036979721}"/>
              </a:ext>
            </a:extLst>
          </p:cNvPr>
          <p:cNvSpPr>
            <a:spLocks noGrp="1"/>
          </p:cNvSpPr>
          <p:nvPr>
            <p:ph type="title"/>
          </p:nvPr>
        </p:nvSpPr>
        <p:spPr/>
        <p:txBody>
          <a:bodyPr/>
          <a:lstStyle/>
          <a:p>
            <a:r>
              <a:rPr kumimoji="1" lang="en-US" altLang="ja-JP" dirty="0"/>
              <a:t>GitHub Copilot</a:t>
            </a:r>
            <a:r>
              <a:rPr kumimoji="1" lang="ja-JP" altLang="en-US"/>
              <a:t>を利用する</a:t>
            </a:r>
          </a:p>
        </p:txBody>
      </p:sp>
      <p:sp>
        <p:nvSpPr>
          <p:cNvPr id="3" name="コンテンツ プレースホルダー 2">
            <a:extLst>
              <a:ext uri="{FF2B5EF4-FFF2-40B4-BE49-F238E27FC236}">
                <a16:creationId xmlns:a16="http://schemas.microsoft.com/office/drawing/2014/main" id="{F5212268-3D6C-E3D0-1B49-467B3FE5B2C9}"/>
              </a:ext>
            </a:extLst>
          </p:cNvPr>
          <p:cNvSpPr>
            <a:spLocks noGrp="1"/>
          </p:cNvSpPr>
          <p:nvPr>
            <p:ph idx="1"/>
          </p:nvPr>
        </p:nvSpPr>
        <p:spPr>
          <a:xfrm>
            <a:off x="838199" y="1825625"/>
            <a:ext cx="11198087" cy="4166672"/>
          </a:xfrm>
        </p:spPr>
        <p:txBody>
          <a:bodyPr>
            <a:normAutofit fontScale="77500" lnSpcReduction="20000"/>
          </a:bodyPr>
          <a:lstStyle/>
          <a:p>
            <a:pPr>
              <a:lnSpc>
                <a:spcPct val="120000"/>
              </a:lnSpc>
            </a:pPr>
            <a:r>
              <a:rPr kumimoji="1" lang="en-US" altLang="ja-JP" dirty="0"/>
              <a:t>Visual Studio Code</a:t>
            </a:r>
            <a:r>
              <a:rPr kumimoji="1" lang="ja-JP" altLang="en-US"/>
              <a:t>で</a:t>
            </a:r>
            <a:r>
              <a:rPr kumimoji="1" lang="en-US" altLang="ja-JP" dirty="0"/>
              <a:t>GitHub Copilot</a:t>
            </a:r>
            <a:r>
              <a:rPr kumimoji="1" lang="ja-JP" altLang="en-US"/>
              <a:t>を利用しよう</a:t>
            </a:r>
            <a:r>
              <a:rPr kumimoji="1" lang="en-US" altLang="ja-JP" baseline="30000" dirty="0"/>
              <a:t>[1]</a:t>
            </a:r>
            <a:r>
              <a:rPr kumimoji="1" lang="ja-JP" altLang="en-US"/>
              <a:t>。</a:t>
            </a:r>
            <a:endParaRPr kumimoji="1" lang="en-US" altLang="ja-JP" dirty="0"/>
          </a:p>
          <a:p>
            <a:pPr>
              <a:lnSpc>
                <a:spcPct val="120000"/>
              </a:lnSpc>
            </a:pPr>
            <a:r>
              <a:rPr lang="ja-JP" altLang="en-US"/>
              <a:t>できること</a:t>
            </a:r>
            <a:endParaRPr lang="en-US" altLang="ja-JP" dirty="0"/>
          </a:p>
          <a:p>
            <a:pPr lvl="1">
              <a:lnSpc>
                <a:spcPct val="120000"/>
              </a:lnSpc>
            </a:pPr>
            <a:r>
              <a:rPr kumimoji="1" lang="ja-JP" altLang="en-US"/>
              <a:t>コードの補完。</a:t>
            </a:r>
            <a:endParaRPr kumimoji="1" lang="en-US" altLang="ja-JP" dirty="0"/>
          </a:p>
          <a:p>
            <a:pPr lvl="1">
              <a:lnSpc>
                <a:spcPct val="120000"/>
              </a:lnSpc>
            </a:pPr>
            <a:r>
              <a:rPr kumimoji="1" lang="ja-JP" altLang="en-US"/>
              <a:t>チャット。</a:t>
            </a:r>
            <a:endParaRPr kumimoji="1" lang="en-US" altLang="ja-JP" dirty="0"/>
          </a:p>
          <a:p>
            <a:pPr lvl="1">
              <a:lnSpc>
                <a:spcPct val="120000"/>
              </a:lnSpc>
            </a:pPr>
            <a:r>
              <a:rPr kumimoji="1" lang="ja-JP" altLang="en-US"/>
              <a:t>エラー修正。</a:t>
            </a:r>
            <a:endParaRPr kumimoji="1" lang="en-US" altLang="ja-JP" dirty="0"/>
          </a:p>
          <a:p>
            <a:pPr lvl="1">
              <a:lnSpc>
                <a:spcPct val="120000"/>
              </a:lnSpc>
            </a:pPr>
            <a:r>
              <a:rPr kumimoji="1" lang="ja-JP" altLang="en-US"/>
              <a:t>コミットメッセージの作成など。</a:t>
            </a:r>
          </a:p>
        </p:txBody>
      </p:sp>
      <p:sp>
        <p:nvSpPr>
          <p:cNvPr id="4" name="日付プレースホルダー 3">
            <a:extLst>
              <a:ext uri="{FF2B5EF4-FFF2-40B4-BE49-F238E27FC236}">
                <a16:creationId xmlns:a16="http://schemas.microsoft.com/office/drawing/2014/main" id="{24C9A604-5210-EC0E-98E1-7A2D7AF4C4C2}"/>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7AE1D007-7A9E-DC52-3F67-92727F9D0B25}"/>
              </a:ext>
            </a:extLst>
          </p:cNvPr>
          <p:cNvSpPr>
            <a:spLocks noGrp="1"/>
          </p:cNvSpPr>
          <p:nvPr>
            <p:ph type="sldNum" sz="quarter" idx="12"/>
          </p:nvPr>
        </p:nvSpPr>
        <p:spPr/>
        <p:txBody>
          <a:bodyPr/>
          <a:lstStyle/>
          <a:p>
            <a:fld id="{0B8845E4-5C92-A046-BB66-E5D9CC995B08}" type="slidenum">
              <a:rPr kumimoji="1" lang="ja-JP" altLang="en-US" smtClean="0"/>
              <a:t>36</a:t>
            </a:fld>
            <a:endParaRPr kumimoji="1" lang="ja-JP" altLang="en-US"/>
          </a:p>
        </p:txBody>
      </p:sp>
      <p:sp>
        <p:nvSpPr>
          <p:cNvPr id="7" name="テキスト ボックス 6">
            <a:extLst>
              <a:ext uri="{FF2B5EF4-FFF2-40B4-BE49-F238E27FC236}">
                <a16:creationId xmlns:a16="http://schemas.microsoft.com/office/drawing/2014/main" id="{6D482A93-D5BE-6583-B4E3-7852599A5A2A}"/>
              </a:ext>
            </a:extLst>
          </p:cNvPr>
          <p:cNvSpPr txBox="1"/>
          <p:nvPr/>
        </p:nvSpPr>
        <p:spPr>
          <a:xfrm>
            <a:off x="838200" y="5992297"/>
            <a:ext cx="11198087" cy="369332"/>
          </a:xfrm>
          <a:prstGeom prst="rect">
            <a:avLst/>
          </a:prstGeom>
          <a:noFill/>
        </p:spPr>
        <p:txBody>
          <a:bodyPr wrap="square">
            <a:spAutoFit/>
          </a:bodyPr>
          <a:lstStyle/>
          <a:p>
            <a:r>
              <a:rPr lang="en" altLang="ja-JP" dirty="0">
                <a:latin typeface="Meiryo" panose="020B0604030504040204" pitchFamily="34" charset="-128"/>
                <a:ea typeface="Meiryo" panose="020B0604030504040204" pitchFamily="34" charset="-128"/>
              </a:rPr>
              <a:t>[1] GitHub Copilot </a:t>
            </a:r>
            <a:r>
              <a:rPr lang="ja-JP" altLang="en-US">
                <a:latin typeface="Meiryo" panose="020B0604030504040204" pitchFamily="34" charset="-128"/>
                <a:ea typeface="Meiryo" panose="020B0604030504040204" pitchFamily="34" charset="-128"/>
              </a:rPr>
              <a:t>を極める会、</a:t>
            </a:r>
            <a:r>
              <a:rPr lang="ja-JP" altLang="en-US">
                <a:latin typeface="Consolas" panose="020B0609020204030204" pitchFamily="49" charset="0"/>
                <a:ea typeface="Meiryo" panose="020B0604030504040204" pitchFamily="34" charset="-128"/>
                <a:cs typeface="Consolas" panose="020B0609020204030204" pitchFamily="49" charset="0"/>
              </a:rPr>
              <a:t>https://zenn.dev/microsoft/articles/github_copilot_advanced</a:t>
            </a:r>
          </a:p>
        </p:txBody>
      </p:sp>
      <p:pic>
        <p:nvPicPr>
          <p:cNvPr id="2050" name="Picture 2" descr="GitHub Copilotを使ったプログラミングの自動化 - iCOM技研ブログ">
            <a:extLst>
              <a:ext uri="{FF2B5EF4-FFF2-40B4-BE49-F238E27FC236}">
                <a16:creationId xmlns:a16="http://schemas.microsoft.com/office/drawing/2014/main" id="{DECFF589-4457-D10F-B810-9CCE0A19F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1787" y="2470150"/>
            <a:ext cx="4254500" cy="191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3799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048C08-4F20-FCB3-9CC3-052A57E7D578}"/>
              </a:ext>
            </a:extLst>
          </p:cNvPr>
          <p:cNvSpPr>
            <a:spLocks noGrp="1"/>
          </p:cNvSpPr>
          <p:nvPr>
            <p:ph type="title"/>
          </p:nvPr>
        </p:nvSpPr>
        <p:spPr/>
        <p:txBody>
          <a:bodyPr/>
          <a:lstStyle/>
          <a:p>
            <a:r>
              <a:rPr lang="en-US" altLang="ja-JP" dirty="0"/>
              <a:t>Git/GitHub</a:t>
            </a:r>
            <a:r>
              <a:rPr lang="ja-JP" altLang="en-US"/>
              <a:t>の使い方</a:t>
            </a:r>
            <a:endParaRPr kumimoji="1" lang="ja-JP" altLang="en-US"/>
          </a:p>
        </p:txBody>
      </p:sp>
      <p:sp>
        <p:nvSpPr>
          <p:cNvPr id="3" name="コンテンツ プレースホルダー 2">
            <a:extLst>
              <a:ext uri="{FF2B5EF4-FFF2-40B4-BE49-F238E27FC236}">
                <a16:creationId xmlns:a16="http://schemas.microsoft.com/office/drawing/2014/main" id="{8DD5654A-159A-51AE-E8EE-4EA6CC2E345E}"/>
              </a:ext>
            </a:extLst>
          </p:cNvPr>
          <p:cNvSpPr>
            <a:spLocks noGrp="1"/>
          </p:cNvSpPr>
          <p:nvPr>
            <p:ph idx="1"/>
          </p:nvPr>
        </p:nvSpPr>
        <p:spPr/>
        <p:txBody>
          <a:bodyPr>
            <a:normAutofit fontScale="70000" lnSpcReduction="20000"/>
          </a:bodyPr>
          <a:lstStyle/>
          <a:p>
            <a:pPr>
              <a:lnSpc>
                <a:spcPct val="120000"/>
              </a:lnSpc>
            </a:pPr>
            <a:r>
              <a:rPr lang="en" altLang="ja-JP" i="0" u="none" strike="noStrike" dirty="0">
                <a:solidFill>
                  <a:srgbClr val="161616"/>
                </a:solidFill>
                <a:effectLst/>
                <a:latin typeface="Segoe UI" panose="020B0502040204020203" pitchFamily="34" charset="0"/>
              </a:rPr>
              <a:t>Git </a:t>
            </a:r>
            <a:r>
              <a:rPr lang="ja-JP" altLang="en-US" i="0" u="none" strike="noStrike">
                <a:solidFill>
                  <a:srgbClr val="161616"/>
                </a:solidFill>
                <a:effectLst/>
                <a:latin typeface="Segoe UI" panose="020B0502040204020203" pitchFamily="34" charset="0"/>
              </a:rPr>
              <a:t>でのバージョン コントロールの概要（</a:t>
            </a:r>
            <a:r>
              <a:rPr lang="en-US" altLang="ja-JP" i="0" u="none" strike="noStrike" dirty="0">
                <a:solidFill>
                  <a:srgbClr val="161616"/>
                </a:solidFill>
                <a:effectLst/>
                <a:latin typeface="Segoe UI" panose="020B0502040204020203" pitchFamily="34" charset="0"/>
              </a:rPr>
              <a:t>2</a:t>
            </a:r>
            <a:r>
              <a:rPr lang="ja-JP" altLang="en-US" i="0" u="none" strike="noStrike">
                <a:solidFill>
                  <a:srgbClr val="161616"/>
                </a:solidFill>
                <a:effectLst/>
                <a:latin typeface="Segoe UI" panose="020B0502040204020203" pitchFamily="34" charset="0"/>
              </a:rPr>
              <a:t>時間</a:t>
            </a:r>
            <a:r>
              <a:rPr lang="en-US" altLang="ja-JP" i="0" u="none" strike="noStrike" dirty="0">
                <a:solidFill>
                  <a:srgbClr val="161616"/>
                </a:solidFill>
                <a:effectLst/>
                <a:latin typeface="Segoe UI" panose="020B0502040204020203" pitchFamily="34" charset="0"/>
              </a:rPr>
              <a:t>41</a:t>
            </a:r>
            <a:r>
              <a:rPr lang="ja-JP" altLang="en-US" i="0" u="none" strike="noStrike">
                <a:solidFill>
                  <a:srgbClr val="161616"/>
                </a:solidFill>
                <a:effectLst/>
                <a:latin typeface="Segoe UI" panose="020B0502040204020203" pitchFamily="34" charset="0"/>
              </a:rPr>
              <a:t>分）</a:t>
            </a:r>
          </a:p>
          <a:p>
            <a:pPr lvl="1">
              <a:lnSpc>
                <a:spcPct val="120000"/>
              </a:lnSpc>
            </a:pPr>
            <a:r>
              <a:rPr lang="en-US" altLang="ja-JP" dirty="0">
                <a:hlinkClick r:id="rId2"/>
              </a:rPr>
              <a:t>https://learn.microsoft.com/ja-jp/training/paths/intro-to-vc-git/</a:t>
            </a:r>
            <a:endParaRPr lang="en-US" altLang="ja-JP" dirty="0"/>
          </a:p>
          <a:p>
            <a:pPr>
              <a:lnSpc>
                <a:spcPct val="120000"/>
              </a:lnSpc>
            </a:pPr>
            <a:r>
              <a:rPr lang="en" altLang="ja-JP" i="0" u="none" strike="noStrike" dirty="0">
                <a:solidFill>
                  <a:srgbClr val="161616"/>
                </a:solidFill>
                <a:effectLst/>
                <a:latin typeface="Segoe UI" panose="020B0502040204020203" pitchFamily="34" charset="0"/>
              </a:rPr>
              <a:t>GitHub </a:t>
            </a:r>
            <a:r>
              <a:rPr lang="ja-JP" altLang="en-US" i="0" u="none" strike="noStrike">
                <a:solidFill>
                  <a:srgbClr val="161616"/>
                </a:solidFill>
                <a:effectLst/>
                <a:latin typeface="Segoe UI" panose="020B0502040204020203" pitchFamily="34" charset="0"/>
              </a:rPr>
              <a:t>の基礎 </a:t>
            </a:r>
            <a:r>
              <a:rPr lang="en-US" altLang="ja-JP" i="0" u="none" strike="noStrike" dirty="0">
                <a:solidFill>
                  <a:srgbClr val="161616"/>
                </a:solidFill>
                <a:effectLst/>
                <a:latin typeface="Segoe UI" panose="020B0502040204020203" pitchFamily="34" charset="0"/>
              </a:rPr>
              <a:t>- </a:t>
            </a:r>
            <a:r>
              <a:rPr lang="ja-JP" altLang="en-US" i="0" u="none" strike="noStrike">
                <a:solidFill>
                  <a:srgbClr val="161616"/>
                </a:solidFill>
                <a:effectLst/>
                <a:latin typeface="Segoe UI" panose="020B0502040204020203" pitchFamily="34" charset="0"/>
              </a:rPr>
              <a:t>管理の基本と製品の機能（</a:t>
            </a:r>
            <a:r>
              <a:rPr lang="en-US" altLang="ja-JP" i="0" u="none" strike="noStrike" dirty="0">
                <a:solidFill>
                  <a:srgbClr val="161616"/>
                </a:solidFill>
                <a:effectLst/>
                <a:latin typeface="Segoe UI" panose="020B0502040204020203" pitchFamily="34" charset="0"/>
              </a:rPr>
              <a:t>2</a:t>
            </a:r>
            <a:r>
              <a:rPr lang="ja-JP" altLang="en-US" i="0" u="none" strike="noStrike">
                <a:solidFill>
                  <a:srgbClr val="161616"/>
                </a:solidFill>
                <a:effectLst/>
                <a:latin typeface="Segoe UI" panose="020B0502040204020203" pitchFamily="34" charset="0"/>
              </a:rPr>
              <a:t>時間</a:t>
            </a:r>
            <a:r>
              <a:rPr lang="en-US" altLang="ja-JP" i="0" u="none" strike="noStrike" dirty="0">
                <a:solidFill>
                  <a:srgbClr val="161616"/>
                </a:solidFill>
                <a:effectLst/>
                <a:latin typeface="Segoe UI" panose="020B0502040204020203" pitchFamily="34" charset="0"/>
              </a:rPr>
              <a:t>22</a:t>
            </a:r>
            <a:r>
              <a:rPr lang="ja-JP" altLang="en-US" i="0" u="none" strike="noStrike">
                <a:solidFill>
                  <a:srgbClr val="161616"/>
                </a:solidFill>
                <a:effectLst/>
                <a:latin typeface="Segoe UI" panose="020B0502040204020203" pitchFamily="34" charset="0"/>
              </a:rPr>
              <a:t>分）</a:t>
            </a:r>
          </a:p>
          <a:p>
            <a:pPr lvl="1">
              <a:lnSpc>
                <a:spcPct val="120000"/>
              </a:lnSpc>
            </a:pPr>
            <a:r>
              <a:rPr kumimoji="1" lang="en" altLang="ja-JP" dirty="0">
                <a:hlinkClick r:id="rId3"/>
              </a:rPr>
              <a:t>https://learn.microsoft.com/ja-jp/training/paths/github-administration-products/</a:t>
            </a:r>
            <a:endParaRPr kumimoji="1" lang="en" altLang="ja-JP" dirty="0"/>
          </a:p>
        </p:txBody>
      </p:sp>
      <p:sp>
        <p:nvSpPr>
          <p:cNvPr id="4" name="日付プレースホルダー 3">
            <a:extLst>
              <a:ext uri="{FF2B5EF4-FFF2-40B4-BE49-F238E27FC236}">
                <a16:creationId xmlns:a16="http://schemas.microsoft.com/office/drawing/2014/main" id="{C95D6319-BEA4-F95B-E684-13939A348B13}"/>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0745E19B-D263-BDC2-5CE0-83EC6F786F1C}"/>
              </a:ext>
            </a:extLst>
          </p:cNvPr>
          <p:cNvSpPr>
            <a:spLocks noGrp="1"/>
          </p:cNvSpPr>
          <p:nvPr>
            <p:ph type="sldNum" sz="quarter" idx="12"/>
          </p:nvPr>
        </p:nvSpPr>
        <p:spPr/>
        <p:txBody>
          <a:bodyPr/>
          <a:lstStyle/>
          <a:p>
            <a:fld id="{0B8845E4-5C92-A046-BB66-E5D9CC995B08}" type="slidenum">
              <a:rPr kumimoji="1" lang="ja-JP" altLang="en-US" smtClean="0"/>
              <a:t>37</a:t>
            </a:fld>
            <a:endParaRPr kumimoji="1" lang="ja-JP" altLang="en-US"/>
          </a:p>
        </p:txBody>
      </p:sp>
    </p:spTree>
    <p:extLst>
      <p:ext uri="{BB962C8B-B14F-4D97-AF65-F5344CB8AC3E}">
        <p14:creationId xmlns:p14="http://schemas.microsoft.com/office/powerpoint/2010/main" val="40620270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7ECB89-0A4A-9C8C-AE1D-123B01D2E6A7}"/>
              </a:ext>
            </a:extLst>
          </p:cNvPr>
          <p:cNvSpPr>
            <a:spLocks noGrp="1"/>
          </p:cNvSpPr>
          <p:nvPr>
            <p:ph type="title"/>
          </p:nvPr>
        </p:nvSpPr>
        <p:spPr/>
        <p:txBody>
          <a:bodyPr/>
          <a:lstStyle/>
          <a:p>
            <a:r>
              <a:rPr kumimoji="1" lang="en-US" altLang="ja-JP" dirty="0" err="1">
                <a:latin typeface="Consolas" panose="020B0609020204030204" pitchFamily="49" charset="0"/>
                <a:cs typeface="Consolas" panose="020B0609020204030204" pitchFamily="49" charset="0"/>
              </a:rPr>
              <a:t>spec.md</a:t>
            </a:r>
            <a:endParaRPr kumimoji="1" lang="ja-JP" altLang="en-US">
              <a:latin typeface="Consolas" panose="020B0609020204030204" pitchFamily="49" charset="0"/>
              <a:cs typeface="Consolas" panose="020B0609020204030204" pitchFamily="49" charset="0"/>
            </a:endParaRPr>
          </a:p>
        </p:txBody>
      </p:sp>
      <p:sp>
        <p:nvSpPr>
          <p:cNvPr id="3" name="コンテンツ プレースホルダー 2">
            <a:extLst>
              <a:ext uri="{FF2B5EF4-FFF2-40B4-BE49-F238E27FC236}">
                <a16:creationId xmlns:a16="http://schemas.microsoft.com/office/drawing/2014/main" id="{92FC1DC0-A31F-4770-44EC-E04ABA723E45}"/>
              </a:ext>
            </a:extLst>
          </p:cNvPr>
          <p:cNvSpPr>
            <a:spLocks noGrp="1"/>
          </p:cNvSpPr>
          <p:nvPr>
            <p:ph idx="1"/>
          </p:nvPr>
        </p:nvSpPr>
        <p:spPr/>
        <p:txBody>
          <a:bodyPr/>
          <a:lstStyle/>
          <a:p>
            <a:r>
              <a:rPr kumimoji="1" lang="ja-JP" altLang="en-US"/>
              <a:t>やりたいことをまとめよう。</a:t>
            </a:r>
            <a:endParaRPr kumimoji="1" lang="en-US" altLang="ja-JP" dirty="0"/>
          </a:p>
          <a:p>
            <a:pPr lvl="1"/>
            <a:r>
              <a:rPr lang="ja-JP" altLang="en-US"/>
              <a:t>何をしたいのかを自然言語でまとめよう。</a:t>
            </a:r>
            <a:endParaRPr lang="en-US" altLang="ja-JP" dirty="0"/>
          </a:p>
          <a:p>
            <a:pPr lvl="1"/>
            <a:r>
              <a:rPr kumimoji="1" lang="ja-JP" altLang="en-US"/>
              <a:t>入力は何で、どんな出力を得たいのかを明確に書く。</a:t>
            </a:r>
            <a:endParaRPr kumimoji="1" lang="en-US" altLang="ja-JP" dirty="0"/>
          </a:p>
          <a:p>
            <a:r>
              <a:rPr lang="ja-JP" altLang="en-US"/>
              <a:t>置き場所</a:t>
            </a:r>
            <a:endParaRPr lang="en-US" altLang="ja-JP" dirty="0"/>
          </a:p>
          <a:p>
            <a:pPr lvl="1"/>
            <a:r>
              <a:rPr kumimoji="1" lang="en-US" altLang="ja-JP" dirty="0">
                <a:latin typeface="Consolas" panose="020B0609020204030204" pitchFamily="49" charset="0"/>
                <a:cs typeface="Consolas" panose="020B0609020204030204" pitchFamily="49" charset="0"/>
              </a:rPr>
              <a:t>.</a:t>
            </a:r>
            <a:r>
              <a:rPr kumimoji="1" lang="en-US" altLang="ja-JP" dirty="0" err="1">
                <a:latin typeface="Consolas" panose="020B0609020204030204" pitchFamily="49" charset="0"/>
                <a:cs typeface="Consolas" panose="020B0609020204030204" pitchFamily="49" charset="0"/>
              </a:rPr>
              <a:t>github</a:t>
            </a:r>
            <a:r>
              <a:rPr kumimoji="1" lang="en-US" altLang="ja-JP" dirty="0">
                <a:latin typeface="Consolas" panose="020B0609020204030204" pitchFamily="49" charset="0"/>
                <a:cs typeface="Consolas" panose="020B0609020204030204" pitchFamily="49" charset="0"/>
              </a:rPr>
              <a:t>/assets/</a:t>
            </a:r>
            <a:r>
              <a:rPr lang="en-US" altLang="ja-JP" dirty="0" err="1">
                <a:latin typeface="Consolas" panose="020B0609020204030204" pitchFamily="49" charset="0"/>
                <a:cs typeface="Consolas" panose="020B0609020204030204" pitchFamily="49" charset="0"/>
              </a:rPr>
              <a:t>spec.md</a:t>
            </a:r>
            <a:endParaRPr kumimoji="1" lang="ja-JP" altLang="en-US">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F4B352B5-1086-29F0-4A47-A538FFE74DB6}"/>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D6E94452-C781-57DC-796F-52C5AC2DCEC3}"/>
              </a:ext>
            </a:extLst>
          </p:cNvPr>
          <p:cNvSpPr>
            <a:spLocks noGrp="1"/>
          </p:cNvSpPr>
          <p:nvPr>
            <p:ph type="sldNum" sz="quarter" idx="12"/>
          </p:nvPr>
        </p:nvSpPr>
        <p:spPr/>
        <p:txBody>
          <a:bodyPr/>
          <a:lstStyle/>
          <a:p>
            <a:fld id="{0B8845E4-5C92-A046-BB66-E5D9CC995B08}" type="slidenum">
              <a:rPr kumimoji="1" lang="ja-JP" altLang="en-US" smtClean="0"/>
              <a:t>38</a:t>
            </a:fld>
            <a:endParaRPr kumimoji="1" lang="ja-JP" altLang="en-US"/>
          </a:p>
        </p:txBody>
      </p:sp>
    </p:spTree>
    <p:extLst>
      <p:ext uri="{BB962C8B-B14F-4D97-AF65-F5344CB8AC3E}">
        <p14:creationId xmlns:p14="http://schemas.microsoft.com/office/powerpoint/2010/main" val="22518191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6AE74A-C269-0A19-EF2B-BC060AF26518}"/>
              </a:ext>
            </a:extLst>
          </p:cNvPr>
          <p:cNvSpPr>
            <a:spLocks noGrp="1"/>
          </p:cNvSpPr>
          <p:nvPr>
            <p:ph type="title"/>
          </p:nvPr>
        </p:nvSpPr>
        <p:spPr/>
        <p:txBody>
          <a:bodyPr/>
          <a:lstStyle/>
          <a:p>
            <a:r>
              <a:rPr lang="ja-JP" altLang="en-US"/>
              <a:t>次週までの宿題</a:t>
            </a:r>
            <a:endParaRPr kumimoji="1" lang="ja-JP" altLang="en-US"/>
          </a:p>
        </p:txBody>
      </p:sp>
      <p:sp>
        <p:nvSpPr>
          <p:cNvPr id="3" name="コンテンツ プレースホルダー 2">
            <a:extLst>
              <a:ext uri="{FF2B5EF4-FFF2-40B4-BE49-F238E27FC236}">
                <a16:creationId xmlns:a16="http://schemas.microsoft.com/office/drawing/2014/main" id="{59B9C0CA-3A1E-D9F6-587C-CE920A0BDC24}"/>
              </a:ext>
            </a:extLst>
          </p:cNvPr>
          <p:cNvSpPr>
            <a:spLocks noGrp="1"/>
          </p:cNvSpPr>
          <p:nvPr>
            <p:ph idx="1"/>
          </p:nvPr>
        </p:nvSpPr>
        <p:spPr/>
        <p:txBody>
          <a:bodyPr/>
          <a:lstStyle/>
          <a:p>
            <a:r>
              <a:rPr kumimoji="1" lang="ja-JP" altLang="en-US"/>
              <a:t>以下の変更を</a:t>
            </a:r>
            <a:r>
              <a:rPr kumimoji="1" lang="en-US" altLang="ja-JP" dirty="0"/>
              <a:t>GitHub</a:t>
            </a:r>
            <a:r>
              <a:rPr kumimoji="1" lang="ja-JP" altLang="en-US"/>
              <a:t>に</a:t>
            </a:r>
            <a:r>
              <a:rPr kumimoji="1" lang="en-US" altLang="ja-JP" dirty="0"/>
              <a:t>push</a:t>
            </a:r>
            <a:r>
              <a:rPr kumimoji="1" lang="ja-JP" altLang="en-US"/>
              <a:t>する。</a:t>
            </a:r>
            <a:endParaRPr kumimoji="1" lang="en-US" altLang="ja-JP" dirty="0"/>
          </a:p>
          <a:p>
            <a:pPr lvl="1"/>
            <a:r>
              <a:rPr kumimoji="1" lang="en-US" altLang="ja-JP" dirty="0" err="1">
                <a:latin typeface="Consolas" panose="020B0609020204030204" pitchFamily="49" charset="0"/>
                <a:cs typeface="Consolas" panose="020B0609020204030204" pitchFamily="49" charset="0"/>
              </a:rPr>
              <a:t>README.md</a:t>
            </a:r>
            <a:r>
              <a:rPr kumimoji="1" lang="ja-JP" altLang="en-US"/>
              <a:t>を更新する。</a:t>
            </a:r>
            <a:endParaRPr kumimoji="1" lang="en-US" altLang="ja-JP" dirty="0"/>
          </a:p>
          <a:p>
            <a:pPr lvl="1"/>
            <a:r>
              <a:rPr kumimoji="1" lang="en-US" altLang="ja-JP" dirty="0" err="1">
                <a:latin typeface="Consolas" panose="020B0609020204030204" pitchFamily="49" charset="0"/>
                <a:cs typeface="Consolas" panose="020B0609020204030204" pitchFamily="49" charset="0"/>
              </a:rPr>
              <a:t>spec.md</a:t>
            </a:r>
            <a:r>
              <a:rPr kumimoji="1" lang="ja-JP" altLang="en-US"/>
              <a:t>を書く。</a:t>
            </a:r>
            <a:endParaRPr lang="en-US" altLang="ja-JP" dirty="0"/>
          </a:p>
          <a:p>
            <a:pPr lvl="1"/>
            <a:r>
              <a:rPr kumimoji="1" lang="en-US" altLang="ja-JP" dirty="0"/>
              <a:t>Rust</a:t>
            </a:r>
            <a:r>
              <a:rPr kumimoji="1" lang="ja-JP" altLang="en-US"/>
              <a:t>プロダクトとして保存する。</a:t>
            </a:r>
            <a:endParaRPr kumimoji="1" lang="en-US" altLang="ja-JP" dirty="0"/>
          </a:p>
          <a:p>
            <a:pPr lvl="2"/>
            <a:r>
              <a:rPr lang="en-US" altLang="ja-JP" dirty="0">
                <a:latin typeface="Consolas" panose="020B0609020204030204" pitchFamily="49" charset="0"/>
                <a:cs typeface="Consolas" panose="020B0609020204030204" pitchFamily="49" charset="0"/>
              </a:rPr>
              <a:t>cargo new </a:t>
            </a:r>
            <a:r>
              <a:rPr lang="ja-JP" altLang="en-US"/>
              <a:t>もしくは </a:t>
            </a:r>
            <a:r>
              <a:rPr lang="en-US" altLang="ja-JP" dirty="0">
                <a:latin typeface="Consolas" panose="020B0609020204030204" pitchFamily="49" charset="0"/>
                <a:cs typeface="Consolas" panose="020B0609020204030204" pitchFamily="49" charset="0"/>
              </a:rPr>
              <a:t>cargo </a:t>
            </a:r>
            <a:r>
              <a:rPr lang="en-US" altLang="ja-JP" dirty="0" err="1">
                <a:latin typeface="Consolas" panose="020B0609020204030204" pitchFamily="49" charset="0"/>
                <a:cs typeface="Consolas" panose="020B0609020204030204" pitchFamily="49" charset="0"/>
              </a:rPr>
              <a:t>init</a:t>
            </a:r>
            <a:r>
              <a:rPr lang="ja-JP" altLang="en-US">
                <a:latin typeface="Consolas" panose="020B0609020204030204" pitchFamily="49" charset="0"/>
                <a:cs typeface="Consolas" panose="020B0609020204030204" pitchFamily="49" charset="0"/>
              </a:rPr>
              <a:t>。</a:t>
            </a:r>
            <a:endParaRPr lang="en-US" altLang="ja-JP" dirty="0">
              <a:latin typeface="Consolas" panose="020B0609020204030204" pitchFamily="49" charset="0"/>
              <a:cs typeface="Consolas" panose="020B0609020204030204" pitchFamily="49" charset="0"/>
            </a:endParaRPr>
          </a:p>
          <a:p>
            <a:pPr lvl="1"/>
            <a:endParaRPr kumimoji="1" lang="en-US" altLang="ja-JP" dirty="0">
              <a:latin typeface="Consolas" panose="020B0609020204030204" pitchFamily="49" charset="0"/>
              <a:cs typeface="Consolas" panose="020B0609020204030204" pitchFamily="49" charset="0"/>
            </a:endParaRPr>
          </a:p>
        </p:txBody>
      </p:sp>
      <p:sp>
        <p:nvSpPr>
          <p:cNvPr id="4" name="日付プレースホルダー 3">
            <a:extLst>
              <a:ext uri="{FF2B5EF4-FFF2-40B4-BE49-F238E27FC236}">
                <a16:creationId xmlns:a16="http://schemas.microsoft.com/office/drawing/2014/main" id="{8C412C49-A707-B852-D060-B3C94C3B08C7}"/>
              </a:ext>
            </a:extLst>
          </p:cNvPr>
          <p:cNvSpPr>
            <a:spLocks noGrp="1"/>
          </p:cNvSpPr>
          <p:nvPr>
            <p:ph type="dt" sz="half" idx="10"/>
          </p:nvPr>
        </p:nvSpPr>
        <p:spPr/>
        <p:txBody>
          <a:bodyPr/>
          <a:lstStyle/>
          <a:p>
            <a:r>
              <a:rPr kumimoji="1" lang="en-US" altLang="ja-JP"/>
              <a:t>2026-04-17</a:t>
            </a:r>
            <a:endParaRPr kumimoji="1" lang="ja-JP" altLang="en-US"/>
          </a:p>
        </p:txBody>
      </p:sp>
      <p:sp>
        <p:nvSpPr>
          <p:cNvPr id="5" name="スライド番号プレースホルダー 4">
            <a:extLst>
              <a:ext uri="{FF2B5EF4-FFF2-40B4-BE49-F238E27FC236}">
                <a16:creationId xmlns:a16="http://schemas.microsoft.com/office/drawing/2014/main" id="{E31620AE-3971-039B-C779-9D67B84DD55B}"/>
              </a:ext>
            </a:extLst>
          </p:cNvPr>
          <p:cNvSpPr>
            <a:spLocks noGrp="1"/>
          </p:cNvSpPr>
          <p:nvPr>
            <p:ph type="sldNum" sz="quarter" idx="12"/>
          </p:nvPr>
        </p:nvSpPr>
        <p:spPr/>
        <p:txBody>
          <a:bodyPr/>
          <a:lstStyle/>
          <a:p>
            <a:fld id="{0B8845E4-5C92-A046-BB66-E5D9CC995B08}" type="slidenum">
              <a:rPr kumimoji="1" lang="ja-JP" altLang="en-US" smtClean="0"/>
              <a:t>39</a:t>
            </a:fld>
            <a:endParaRPr kumimoji="1" lang="ja-JP" altLang="en-US"/>
          </a:p>
        </p:txBody>
      </p:sp>
    </p:spTree>
    <p:extLst>
      <p:ext uri="{BB962C8B-B14F-4D97-AF65-F5344CB8AC3E}">
        <p14:creationId xmlns:p14="http://schemas.microsoft.com/office/powerpoint/2010/main" val="5613357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101E-2549-956B-403E-4CE07ACE9D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B80E7E-72F6-C0B7-52F1-3039D56BC0F0}"/>
              </a:ext>
            </a:extLst>
          </p:cNvPr>
          <p:cNvSpPr>
            <a:spLocks noGrp="1"/>
          </p:cNvSpPr>
          <p:nvPr>
            <p:ph type="title"/>
          </p:nvPr>
        </p:nvSpPr>
        <p:spPr/>
        <p:txBody>
          <a:bodyPr/>
          <a:lstStyle/>
          <a:p>
            <a:r>
              <a:rPr kumimoji="1" lang="ja-JP" altLang="en-US"/>
              <a:t>講義スケジュール</a:t>
            </a:r>
          </a:p>
        </p:txBody>
      </p:sp>
      <p:sp>
        <p:nvSpPr>
          <p:cNvPr id="4" name="日付プレースホルダー 3">
            <a:extLst>
              <a:ext uri="{FF2B5EF4-FFF2-40B4-BE49-F238E27FC236}">
                <a16:creationId xmlns:a16="http://schemas.microsoft.com/office/drawing/2014/main" id="{0F448254-32CE-8F35-7D29-86E1CA8D0301}"/>
              </a:ext>
            </a:extLst>
          </p:cNvPr>
          <p:cNvSpPr>
            <a:spLocks noGrp="1"/>
          </p:cNvSpPr>
          <p:nvPr>
            <p:ph type="dt" sz="half" idx="10"/>
          </p:nvPr>
        </p:nvSpPr>
        <p:spPr/>
        <p:txBody>
          <a:bodyPr/>
          <a:lstStyle/>
          <a:p>
            <a:r>
              <a:rPr kumimoji="1" lang="en-US" altLang="ja-JP"/>
              <a:t>2026-04-10</a:t>
            </a:r>
            <a:endParaRPr kumimoji="1" lang="ja-JP" altLang="en-US"/>
          </a:p>
        </p:txBody>
      </p:sp>
      <p:sp>
        <p:nvSpPr>
          <p:cNvPr id="5" name="スライド番号プレースホルダー 4">
            <a:extLst>
              <a:ext uri="{FF2B5EF4-FFF2-40B4-BE49-F238E27FC236}">
                <a16:creationId xmlns:a16="http://schemas.microsoft.com/office/drawing/2014/main" id="{B80A383F-0AE2-6AD8-3700-34B18B79C350}"/>
              </a:ext>
            </a:extLst>
          </p:cNvPr>
          <p:cNvSpPr>
            <a:spLocks noGrp="1"/>
          </p:cNvSpPr>
          <p:nvPr>
            <p:ph type="sldNum" sz="quarter" idx="12"/>
          </p:nvPr>
        </p:nvSpPr>
        <p:spPr/>
        <p:txBody>
          <a:bodyPr/>
          <a:lstStyle/>
          <a:p>
            <a:fld id="{0B8845E4-5C92-A046-BB66-E5D9CC995B08}" type="slidenum">
              <a:rPr kumimoji="1" lang="ja-JP" altLang="en-US" smtClean="0"/>
              <a:t>40</a:t>
            </a:fld>
            <a:endParaRPr kumimoji="1" lang="ja-JP" altLang="en-US"/>
          </a:p>
        </p:txBody>
      </p:sp>
      <p:grpSp>
        <p:nvGrpSpPr>
          <p:cNvPr id="11" name="グループ化 10">
            <a:extLst>
              <a:ext uri="{FF2B5EF4-FFF2-40B4-BE49-F238E27FC236}">
                <a16:creationId xmlns:a16="http://schemas.microsoft.com/office/drawing/2014/main" id="{E1832A0E-FA54-250A-1B06-3A9DBE771032}"/>
              </a:ext>
            </a:extLst>
          </p:cNvPr>
          <p:cNvGrpSpPr/>
          <p:nvPr/>
        </p:nvGrpSpPr>
        <p:grpSpPr>
          <a:xfrm>
            <a:off x="838200" y="1342345"/>
            <a:ext cx="4680000" cy="720000"/>
            <a:chOff x="838200" y="1690688"/>
            <a:chExt cx="4680000" cy="720000"/>
          </a:xfrm>
        </p:grpSpPr>
        <p:sp>
          <p:nvSpPr>
            <p:cNvPr id="7" name="正方形/長方形 6">
              <a:extLst>
                <a:ext uri="{FF2B5EF4-FFF2-40B4-BE49-F238E27FC236}">
                  <a16:creationId xmlns:a16="http://schemas.microsoft.com/office/drawing/2014/main" id="{F695F5CC-2E76-3A9E-D405-F649133282B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 name="角丸四角形 5">
              <a:extLst>
                <a:ext uri="{FF2B5EF4-FFF2-40B4-BE49-F238E27FC236}">
                  <a16:creationId xmlns:a16="http://schemas.microsoft.com/office/drawing/2014/main" id="{A8EB913D-F0AC-8C13-C018-7112650CD9F8}"/>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2026-04-10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 name="正方形/長方形 8">
              <a:extLst>
                <a:ext uri="{FF2B5EF4-FFF2-40B4-BE49-F238E27FC236}">
                  <a16:creationId xmlns:a16="http://schemas.microsoft.com/office/drawing/2014/main" id="{CF8FAEE0-070E-6C33-B194-BE7EB4A0E9CF}"/>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0" name="角丸四角形 9">
              <a:extLst>
                <a:ext uri="{FF2B5EF4-FFF2-40B4-BE49-F238E27FC236}">
                  <a16:creationId xmlns:a16="http://schemas.microsoft.com/office/drawing/2014/main" id="{F47DA7C6-DD92-7E8E-F504-906649FF5918}"/>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全体説明</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22" name="グループ化 21">
            <a:extLst>
              <a:ext uri="{FF2B5EF4-FFF2-40B4-BE49-F238E27FC236}">
                <a16:creationId xmlns:a16="http://schemas.microsoft.com/office/drawing/2014/main" id="{88649EB0-CCF8-CB5C-B8C8-C83BE137893A}"/>
              </a:ext>
            </a:extLst>
          </p:cNvPr>
          <p:cNvGrpSpPr/>
          <p:nvPr/>
        </p:nvGrpSpPr>
        <p:grpSpPr>
          <a:xfrm>
            <a:off x="838200" y="3710689"/>
            <a:ext cx="4680000" cy="720000"/>
            <a:chOff x="838200" y="1690688"/>
            <a:chExt cx="4680000" cy="720000"/>
          </a:xfrm>
        </p:grpSpPr>
        <p:sp>
          <p:nvSpPr>
            <p:cNvPr id="23" name="正方形/長方形 22">
              <a:extLst>
                <a:ext uri="{FF2B5EF4-FFF2-40B4-BE49-F238E27FC236}">
                  <a16:creationId xmlns:a16="http://schemas.microsoft.com/office/drawing/2014/main" id="{BCA52164-7AE7-7FA6-A757-635C574B8F6B}"/>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4" name="角丸四角形 23">
              <a:extLst>
                <a:ext uri="{FF2B5EF4-FFF2-40B4-BE49-F238E27FC236}">
                  <a16:creationId xmlns:a16="http://schemas.microsoft.com/office/drawing/2014/main" id="{68B0A678-875B-E13D-78F1-4B1E78CB22DC}"/>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2026-05-01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5" name="正方形/長方形 24">
              <a:extLst>
                <a:ext uri="{FF2B5EF4-FFF2-40B4-BE49-F238E27FC236}">
                  <a16:creationId xmlns:a16="http://schemas.microsoft.com/office/drawing/2014/main" id="{9AFA8EDD-2A70-6625-82AD-ABBA6F4EA3C9}"/>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6" name="角丸四角形 25">
              <a:extLst>
                <a:ext uri="{FF2B5EF4-FFF2-40B4-BE49-F238E27FC236}">
                  <a16:creationId xmlns:a16="http://schemas.microsoft.com/office/drawing/2014/main" id="{045CC08D-AD61-4CD6-2212-57715018ECC5}"/>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27" name="グループ化 26">
            <a:extLst>
              <a:ext uri="{FF2B5EF4-FFF2-40B4-BE49-F238E27FC236}">
                <a16:creationId xmlns:a16="http://schemas.microsoft.com/office/drawing/2014/main" id="{A0F1F199-23F8-6921-235B-80794C3449A1}"/>
              </a:ext>
            </a:extLst>
          </p:cNvPr>
          <p:cNvGrpSpPr/>
          <p:nvPr/>
        </p:nvGrpSpPr>
        <p:grpSpPr>
          <a:xfrm>
            <a:off x="838200" y="4500137"/>
            <a:ext cx="4680000" cy="720000"/>
            <a:chOff x="838200" y="1690688"/>
            <a:chExt cx="4680000" cy="720000"/>
          </a:xfrm>
        </p:grpSpPr>
        <p:sp>
          <p:nvSpPr>
            <p:cNvPr id="28" name="正方形/長方形 27">
              <a:extLst>
                <a:ext uri="{FF2B5EF4-FFF2-40B4-BE49-F238E27FC236}">
                  <a16:creationId xmlns:a16="http://schemas.microsoft.com/office/drawing/2014/main" id="{C4DB5363-1C02-746F-C1E5-2FE4599FCF1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9" name="角丸四角形 28">
              <a:extLst>
                <a:ext uri="{FF2B5EF4-FFF2-40B4-BE49-F238E27FC236}">
                  <a16:creationId xmlns:a16="http://schemas.microsoft.com/office/drawing/2014/main" id="{220F5107-AD88-D09A-C90F-6C0BFCEF5DC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2026-05-15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05</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0" name="正方形/長方形 29">
              <a:extLst>
                <a:ext uri="{FF2B5EF4-FFF2-40B4-BE49-F238E27FC236}">
                  <a16:creationId xmlns:a16="http://schemas.microsoft.com/office/drawing/2014/main" id="{46028FE5-46FC-34B3-D26B-270E688E4C5D}"/>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1" name="角丸四角形 30">
              <a:extLst>
                <a:ext uri="{FF2B5EF4-FFF2-40B4-BE49-F238E27FC236}">
                  <a16:creationId xmlns:a16="http://schemas.microsoft.com/office/drawing/2014/main" id="{899C2334-026A-A682-2600-EE29A809A749}"/>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2" name="グループ化 31">
            <a:extLst>
              <a:ext uri="{FF2B5EF4-FFF2-40B4-BE49-F238E27FC236}">
                <a16:creationId xmlns:a16="http://schemas.microsoft.com/office/drawing/2014/main" id="{8D36696F-F126-2E35-57FA-379BA6850791}"/>
              </a:ext>
            </a:extLst>
          </p:cNvPr>
          <p:cNvGrpSpPr/>
          <p:nvPr/>
        </p:nvGrpSpPr>
        <p:grpSpPr>
          <a:xfrm>
            <a:off x="838200" y="5289585"/>
            <a:ext cx="4680000" cy="720000"/>
            <a:chOff x="838200" y="1690688"/>
            <a:chExt cx="4680000" cy="720000"/>
          </a:xfrm>
        </p:grpSpPr>
        <p:sp>
          <p:nvSpPr>
            <p:cNvPr id="33" name="正方形/長方形 32">
              <a:extLst>
                <a:ext uri="{FF2B5EF4-FFF2-40B4-BE49-F238E27FC236}">
                  <a16:creationId xmlns:a16="http://schemas.microsoft.com/office/drawing/2014/main" id="{C036140D-4695-DB19-5FE1-3BF88CEEA31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4" name="角丸四角形 33">
              <a:extLst>
                <a:ext uri="{FF2B5EF4-FFF2-40B4-BE49-F238E27FC236}">
                  <a16:creationId xmlns:a16="http://schemas.microsoft.com/office/drawing/2014/main" id="{221EC7B2-46E5-4839-26A1-BE0F18C3F7EC}"/>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2026-05-22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06</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35" name="正方形/長方形 34">
              <a:extLst>
                <a:ext uri="{FF2B5EF4-FFF2-40B4-BE49-F238E27FC236}">
                  <a16:creationId xmlns:a16="http://schemas.microsoft.com/office/drawing/2014/main" id="{C776635F-7B00-DEF7-A49B-A69DC57F754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6" name="角丸四角形 35">
              <a:extLst>
                <a:ext uri="{FF2B5EF4-FFF2-40B4-BE49-F238E27FC236}">
                  <a16:creationId xmlns:a16="http://schemas.microsoft.com/office/drawing/2014/main" id="{7653A61A-97A3-DF72-59FB-D2CEBC92B4B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37" name="グループ化 36">
            <a:extLst>
              <a:ext uri="{FF2B5EF4-FFF2-40B4-BE49-F238E27FC236}">
                <a16:creationId xmlns:a16="http://schemas.microsoft.com/office/drawing/2014/main" id="{8E4F0C08-C1E1-4115-2B1C-8CB405F9220F}"/>
              </a:ext>
            </a:extLst>
          </p:cNvPr>
          <p:cNvGrpSpPr/>
          <p:nvPr/>
        </p:nvGrpSpPr>
        <p:grpSpPr>
          <a:xfrm>
            <a:off x="838200" y="6079032"/>
            <a:ext cx="4680000" cy="720000"/>
            <a:chOff x="838200" y="1690688"/>
            <a:chExt cx="4680000" cy="720000"/>
          </a:xfrm>
        </p:grpSpPr>
        <p:sp>
          <p:nvSpPr>
            <p:cNvPr id="38" name="正方形/長方形 37">
              <a:extLst>
                <a:ext uri="{FF2B5EF4-FFF2-40B4-BE49-F238E27FC236}">
                  <a16:creationId xmlns:a16="http://schemas.microsoft.com/office/drawing/2014/main" id="{1AEE151A-86B9-51A8-EC0F-BD0C22B5D65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39" name="角丸四角形 38">
              <a:extLst>
                <a:ext uri="{FF2B5EF4-FFF2-40B4-BE49-F238E27FC236}">
                  <a16:creationId xmlns:a16="http://schemas.microsoft.com/office/drawing/2014/main" id="{FE1AD7E7-D912-8211-6945-046131F5E04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2026-05-29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07</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0" name="正方形/長方形 39">
              <a:extLst>
                <a:ext uri="{FF2B5EF4-FFF2-40B4-BE49-F238E27FC236}">
                  <a16:creationId xmlns:a16="http://schemas.microsoft.com/office/drawing/2014/main" id="{FF269253-EC82-260C-2806-B00145B791A4}"/>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1" name="角丸四角形 40">
              <a:extLst>
                <a:ext uri="{FF2B5EF4-FFF2-40B4-BE49-F238E27FC236}">
                  <a16:creationId xmlns:a16="http://schemas.microsoft.com/office/drawing/2014/main" id="{D2E01C08-49E7-D2A4-113E-3F951F293F0D}"/>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プログラミング（</a:t>
              </a:r>
              <a:r>
                <a:rPr lang="en-US" altLang="ja-JP" sz="1600" dirty="0">
                  <a:solidFill>
                    <a:schemeClr val="bg1"/>
                  </a:solidFill>
                  <a:latin typeface="Meiryo" panose="020B0604030504040204" pitchFamily="34" charset="-128"/>
                  <a:ea typeface="Meiryo" panose="020B0604030504040204" pitchFamily="34" charset="-128"/>
                </a:rPr>
                <a:t>3/</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1/3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42" name="グループ化 41">
            <a:extLst>
              <a:ext uri="{FF2B5EF4-FFF2-40B4-BE49-F238E27FC236}">
                <a16:creationId xmlns:a16="http://schemas.microsoft.com/office/drawing/2014/main" id="{9E6EA35E-743D-E261-017E-E03B617E1D32}"/>
              </a:ext>
            </a:extLst>
          </p:cNvPr>
          <p:cNvGrpSpPr/>
          <p:nvPr/>
        </p:nvGrpSpPr>
        <p:grpSpPr>
          <a:xfrm>
            <a:off x="6673800" y="1342345"/>
            <a:ext cx="4680000" cy="720000"/>
            <a:chOff x="838200" y="1690688"/>
            <a:chExt cx="4680000" cy="720000"/>
          </a:xfrm>
        </p:grpSpPr>
        <p:sp>
          <p:nvSpPr>
            <p:cNvPr id="43" name="正方形/長方形 42">
              <a:extLst>
                <a:ext uri="{FF2B5EF4-FFF2-40B4-BE49-F238E27FC236}">
                  <a16:creationId xmlns:a16="http://schemas.microsoft.com/office/drawing/2014/main" id="{BB661CE1-F566-9C7F-81FD-B48DF1E2AB14}"/>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4" name="角丸四角形 43">
              <a:extLst>
                <a:ext uri="{FF2B5EF4-FFF2-40B4-BE49-F238E27FC236}">
                  <a16:creationId xmlns:a16="http://schemas.microsoft.com/office/drawing/2014/main" id="{AA7165F4-E4B2-E795-CE16-515859A46B49}"/>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2026-06-05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08</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45" name="正方形/長方形 44">
              <a:extLst>
                <a:ext uri="{FF2B5EF4-FFF2-40B4-BE49-F238E27FC236}">
                  <a16:creationId xmlns:a16="http://schemas.microsoft.com/office/drawing/2014/main" id="{AC10D934-DCDF-21EF-8CB6-A9DC1CD27E6C}"/>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46" name="角丸四角形 45">
              <a:extLst>
                <a:ext uri="{FF2B5EF4-FFF2-40B4-BE49-F238E27FC236}">
                  <a16:creationId xmlns:a16="http://schemas.microsoft.com/office/drawing/2014/main" id="{306CF3BD-CB05-5A88-9AB5-4CFDB3EEF02B}"/>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2" name="グループ化 61">
            <a:extLst>
              <a:ext uri="{FF2B5EF4-FFF2-40B4-BE49-F238E27FC236}">
                <a16:creationId xmlns:a16="http://schemas.microsoft.com/office/drawing/2014/main" id="{64DD2264-9BD3-1B92-B1AC-F0D213F64537}"/>
              </a:ext>
            </a:extLst>
          </p:cNvPr>
          <p:cNvGrpSpPr/>
          <p:nvPr/>
        </p:nvGrpSpPr>
        <p:grpSpPr>
          <a:xfrm>
            <a:off x="6673800" y="2131793"/>
            <a:ext cx="4680000" cy="720000"/>
            <a:chOff x="838200" y="1690688"/>
            <a:chExt cx="4680000" cy="720000"/>
          </a:xfrm>
        </p:grpSpPr>
        <p:sp>
          <p:nvSpPr>
            <p:cNvPr id="63" name="正方形/長方形 62">
              <a:extLst>
                <a:ext uri="{FF2B5EF4-FFF2-40B4-BE49-F238E27FC236}">
                  <a16:creationId xmlns:a16="http://schemas.microsoft.com/office/drawing/2014/main" id="{CF54DB05-C057-8DE2-3212-D2F2016C506B}"/>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4" name="角丸四角形 63">
              <a:extLst>
                <a:ext uri="{FF2B5EF4-FFF2-40B4-BE49-F238E27FC236}">
                  <a16:creationId xmlns:a16="http://schemas.microsoft.com/office/drawing/2014/main" id="{117E83E8-5E28-630C-CB85-C1019912C48C}"/>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2026-06-12 (</a:t>
              </a:r>
              <a:r>
                <a:rPr lang="en-US" altLang="ja-JP" sz="1600" dirty="0">
                  <a:solidFill>
                    <a:sysClr val="windowText" lastClr="000000"/>
                  </a:solidFill>
                  <a:latin typeface="Meiryo" panose="020B0604030504040204" pitchFamily="34" charset="-128"/>
                  <a:ea typeface="Meiryo" panose="020B0604030504040204" pitchFamily="34" charset="-128"/>
                </a:rPr>
                <a:t>Fri</a:t>
              </a:r>
              <a:r>
                <a:rPr kumimoji="1" lang="en-US" altLang="ja-JP" sz="1600" dirty="0">
                  <a:solidFill>
                    <a:sysClr val="windowText" lastClr="000000"/>
                  </a:solidFill>
                  <a:latin typeface="Meiryo" panose="020B0604030504040204" pitchFamily="34" charset="-128"/>
                  <a:ea typeface="Meiryo" panose="020B0604030504040204" pitchFamily="34" charset="-128"/>
                </a:rPr>
                <a:t>)</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09</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65" name="正方形/長方形 64">
              <a:extLst>
                <a:ext uri="{FF2B5EF4-FFF2-40B4-BE49-F238E27FC236}">
                  <a16:creationId xmlns:a16="http://schemas.microsoft.com/office/drawing/2014/main" id="{4DCCB3E7-7FFC-34EA-6C12-2220F75C750F}"/>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6" name="角丸四角形 65">
              <a:extLst>
                <a:ext uri="{FF2B5EF4-FFF2-40B4-BE49-F238E27FC236}">
                  <a16:creationId xmlns:a16="http://schemas.microsoft.com/office/drawing/2014/main" id="{3D7DD1EF-1067-9525-97B7-7D6C8A43DD4A}"/>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自動テスト（</a:t>
              </a:r>
              <a:r>
                <a:rPr kumimoji="1" lang="en-US" altLang="ja-JP" sz="1600" dirty="0">
                  <a:solidFill>
                    <a:schemeClr val="bg1"/>
                  </a:solidFill>
                  <a:latin typeface="Meiryo" panose="020B0604030504040204" pitchFamily="34" charset="-128"/>
                  <a:ea typeface="Meiryo" panose="020B0604030504040204" pitchFamily="34" charset="-128"/>
                </a:rPr>
                <a:t>3/3</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67" name="グループ化 66">
            <a:extLst>
              <a:ext uri="{FF2B5EF4-FFF2-40B4-BE49-F238E27FC236}">
                <a16:creationId xmlns:a16="http://schemas.microsoft.com/office/drawing/2014/main" id="{41FEAF8C-8EBB-0DDE-446B-D456FA664121}"/>
              </a:ext>
            </a:extLst>
          </p:cNvPr>
          <p:cNvGrpSpPr/>
          <p:nvPr/>
        </p:nvGrpSpPr>
        <p:grpSpPr>
          <a:xfrm>
            <a:off x="6673800" y="2921241"/>
            <a:ext cx="4680000" cy="720000"/>
            <a:chOff x="838200" y="1690688"/>
            <a:chExt cx="4680000" cy="720000"/>
          </a:xfrm>
        </p:grpSpPr>
        <p:sp>
          <p:nvSpPr>
            <p:cNvPr id="68" name="正方形/長方形 67">
              <a:extLst>
                <a:ext uri="{FF2B5EF4-FFF2-40B4-BE49-F238E27FC236}">
                  <a16:creationId xmlns:a16="http://schemas.microsoft.com/office/drawing/2014/main" id="{8E50255C-E94C-45BD-8439-49892A71D118}"/>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69" name="角丸四角形 68">
              <a:extLst>
                <a:ext uri="{FF2B5EF4-FFF2-40B4-BE49-F238E27FC236}">
                  <a16:creationId xmlns:a16="http://schemas.microsoft.com/office/drawing/2014/main" id="{2FB7BD59-1D88-5F2B-B466-37F105BA158F}"/>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2026-06-19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10</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0" name="正方形/長方形 69">
              <a:extLst>
                <a:ext uri="{FF2B5EF4-FFF2-40B4-BE49-F238E27FC236}">
                  <a16:creationId xmlns:a16="http://schemas.microsoft.com/office/drawing/2014/main" id="{8B435828-7879-4961-88E0-9F3D351CBF4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1" name="角丸四角形 70">
              <a:extLst>
                <a:ext uri="{FF2B5EF4-FFF2-40B4-BE49-F238E27FC236}">
                  <a16:creationId xmlns:a16="http://schemas.microsoft.com/office/drawing/2014/main" id="{5AD13026-2D0F-BE32-7E18-15BA10BEEB1A}"/>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72" name="グループ化 71">
            <a:extLst>
              <a:ext uri="{FF2B5EF4-FFF2-40B4-BE49-F238E27FC236}">
                <a16:creationId xmlns:a16="http://schemas.microsoft.com/office/drawing/2014/main" id="{5B5AECC8-5565-AD91-DA6B-BEB96E8DC252}"/>
              </a:ext>
            </a:extLst>
          </p:cNvPr>
          <p:cNvGrpSpPr/>
          <p:nvPr/>
        </p:nvGrpSpPr>
        <p:grpSpPr>
          <a:xfrm>
            <a:off x="6673800" y="3710689"/>
            <a:ext cx="4680000" cy="720000"/>
            <a:chOff x="838200" y="1690688"/>
            <a:chExt cx="4680000" cy="720000"/>
          </a:xfrm>
        </p:grpSpPr>
        <p:sp>
          <p:nvSpPr>
            <p:cNvPr id="73" name="正方形/長方形 72">
              <a:extLst>
                <a:ext uri="{FF2B5EF4-FFF2-40B4-BE49-F238E27FC236}">
                  <a16:creationId xmlns:a16="http://schemas.microsoft.com/office/drawing/2014/main" id="{3E6EA405-1207-C96F-0F2B-58729E5DCC70}"/>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4" name="角丸四角形 73">
              <a:extLst>
                <a:ext uri="{FF2B5EF4-FFF2-40B4-BE49-F238E27FC236}">
                  <a16:creationId xmlns:a16="http://schemas.microsoft.com/office/drawing/2014/main" id="{DB31776F-959D-6A2C-D944-D102E703B056}"/>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2026-06-26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11</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75" name="正方形/長方形 74">
              <a:extLst>
                <a:ext uri="{FF2B5EF4-FFF2-40B4-BE49-F238E27FC236}">
                  <a16:creationId xmlns:a16="http://schemas.microsoft.com/office/drawing/2014/main" id="{D85BDCA9-18F8-B50B-026A-948D799AF84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6" name="角丸四角形 75">
              <a:extLst>
                <a:ext uri="{FF2B5EF4-FFF2-40B4-BE49-F238E27FC236}">
                  <a16:creationId xmlns:a16="http://schemas.microsoft.com/office/drawing/2014/main" id="{0DA57DE2-6865-EEE1-D0E1-CA6D9171E4C2}"/>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ドキュメント（</a:t>
              </a:r>
              <a:r>
                <a:rPr lang="en-US" altLang="ja-JP" sz="1600" dirty="0">
                  <a:solidFill>
                    <a:schemeClr val="bg1"/>
                  </a:solidFill>
                  <a:latin typeface="Meiryo" panose="020B0604030504040204" pitchFamily="34" charset="-128"/>
                  <a:ea typeface="Meiryo" panose="020B0604030504040204" pitchFamily="34" charset="-128"/>
                </a:rPr>
                <a:t>2</a:t>
              </a:r>
              <a:r>
                <a:rPr kumimoji="1" lang="en-US" altLang="ja-JP" sz="1600" dirty="0">
                  <a:solidFill>
                    <a:schemeClr val="bg1"/>
                  </a:solidFill>
                  <a:latin typeface="Meiryo" panose="020B0604030504040204" pitchFamily="34" charset="-128"/>
                  <a:ea typeface="Meiryo" panose="020B0604030504040204" pitchFamily="34" charset="-128"/>
                </a:rPr>
                <a:t>/2</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p:txBody>
        </p:sp>
      </p:grpSp>
      <p:grpSp>
        <p:nvGrpSpPr>
          <p:cNvPr id="77" name="グループ化 76">
            <a:extLst>
              <a:ext uri="{FF2B5EF4-FFF2-40B4-BE49-F238E27FC236}">
                <a16:creationId xmlns:a16="http://schemas.microsoft.com/office/drawing/2014/main" id="{6CBCE493-3749-38ED-5C61-58D7EDAEB5BF}"/>
              </a:ext>
            </a:extLst>
          </p:cNvPr>
          <p:cNvGrpSpPr/>
          <p:nvPr/>
        </p:nvGrpSpPr>
        <p:grpSpPr>
          <a:xfrm>
            <a:off x="6673800" y="4500137"/>
            <a:ext cx="4680000" cy="720000"/>
            <a:chOff x="838200" y="1690688"/>
            <a:chExt cx="4680000" cy="720000"/>
          </a:xfrm>
        </p:grpSpPr>
        <p:sp>
          <p:nvSpPr>
            <p:cNvPr id="78" name="正方形/長方形 77">
              <a:extLst>
                <a:ext uri="{FF2B5EF4-FFF2-40B4-BE49-F238E27FC236}">
                  <a16:creationId xmlns:a16="http://schemas.microsoft.com/office/drawing/2014/main" id="{D65C24C0-C93D-7F05-D950-8B10ED634FA2}"/>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79" name="角丸四角形 78">
              <a:extLst>
                <a:ext uri="{FF2B5EF4-FFF2-40B4-BE49-F238E27FC236}">
                  <a16:creationId xmlns:a16="http://schemas.microsoft.com/office/drawing/2014/main" id="{E94DC9CD-ED68-66D5-EE51-01390C1957CC}"/>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2026-07-03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0" name="正方形/長方形 79">
              <a:extLst>
                <a:ext uri="{FF2B5EF4-FFF2-40B4-BE49-F238E27FC236}">
                  <a16:creationId xmlns:a16="http://schemas.microsoft.com/office/drawing/2014/main" id="{6B5AE863-64CB-09EF-CFA3-E31DC23D6FDD}"/>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1" name="角丸四角形 80">
              <a:extLst>
                <a:ext uri="{FF2B5EF4-FFF2-40B4-BE49-F238E27FC236}">
                  <a16:creationId xmlns:a16="http://schemas.microsoft.com/office/drawing/2014/main" id="{21789130-DC49-A919-681C-0B08E0D66A25}"/>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Docker</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2" name="グループ化 81">
            <a:extLst>
              <a:ext uri="{FF2B5EF4-FFF2-40B4-BE49-F238E27FC236}">
                <a16:creationId xmlns:a16="http://schemas.microsoft.com/office/drawing/2014/main" id="{BB2958D1-F2C3-CC0E-1868-842F7AA417C2}"/>
              </a:ext>
            </a:extLst>
          </p:cNvPr>
          <p:cNvGrpSpPr/>
          <p:nvPr/>
        </p:nvGrpSpPr>
        <p:grpSpPr>
          <a:xfrm>
            <a:off x="6673800" y="5289585"/>
            <a:ext cx="4680000" cy="720000"/>
            <a:chOff x="838200" y="1690688"/>
            <a:chExt cx="4680000" cy="720000"/>
          </a:xfrm>
        </p:grpSpPr>
        <p:sp>
          <p:nvSpPr>
            <p:cNvPr id="83" name="正方形/長方形 82">
              <a:extLst>
                <a:ext uri="{FF2B5EF4-FFF2-40B4-BE49-F238E27FC236}">
                  <a16:creationId xmlns:a16="http://schemas.microsoft.com/office/drawing/2014/main" id="{5741B818-B212-076A-45CF-0E61194DDD0D}"/>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4" name="角丸四角形 83">
              <a:extLst>
                <a:ext uri="{FF2B5EF4-FFF2-40B4-BE49-F238E27FC236}">
                  <a16:creationId xmlns:a16="http://schemas.microsoft.com/office/drawing/2014/main" id="{5B0654C6-EE5B-D3A5-42C8-F1BC9C481FC0}"/>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2026-07-10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85" name="正方形/長方形 84">
              <a:extLst>
                <a:ext uri="{FF2B5EF4-FFF2-40B4-BE49-F238E27FC236}">
                  <a16:creationId xmlns:a16="http://schemas.microsoft.com/office/drawing/2014/main" id="{B9F1EDEF-AB29-101B-14CF-0FA4B76D8B4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6" name="角丸四角形 85">
              <a:extLst>
                <a:ext uri="{FF2B5EF4-FFF2-40B4-BE49-F238E27FC236}">
                  <a16:creationId xmlns:a16="http://schemas.microsoft.com/office/drawing/2014/main" id="{AC59946C-04B6-4ED3-CF88-CF138328C46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補完（</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endParaRPr kumimoji="1" lang="en-US" altLang="ja-JP" sz="1600" dirty="0">
                <a:solidFill>
                  <a:schemeClr val="bg1"/>
                </a:solidFill>
                <a:latin typeface="Meiryo" panose="020B0604030504040204" pitchFamily="34" charset="-128"/>
                <a:ea typeface="Meiryo" panose="020B0604030504040204" pitchFamily="34" charset="-128"/>
              </a:endParaRPr>
            </a:p>
            <a:p>
              <a:r>
                <a:rPr kumimoji="1" lang="en-US" altLang="ja-JP" sz="1600" dirty="0">
                  <a:solidFill>
                    <a:schemeClr val="bg1"/>
                  </a:solidFill>
                  <a:latin typeface="Meiryo" panose="020B0604030504040204" pitchFamily="34" charset="-128"/>
                  <a:ea typeface="Meiryo" panose="020B0604030504040204" pitchFamily="34" charset="-128"/>
                </a:rPr>
                <a:t>Homebrew</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1/1</a:t>
              </a:r>
              <a:r>
                <a:rPr kumimoji="1" lang="ja-JP" altLang="en-US" sz="1600">
                  <a:solidFill>
                    <a:schemeClr val="bg1"/>
                  </a:solidFill>
                  <a:latin typeface="Meiryo" panose="020B0604030504040204" pitchFamily="34" charset="-128"/>
                  <a:ea typeface="Meiryo" panose="020B0604030504040204" pitchFamily="34" charset="-128"/>
                </a:rPr>
                <a:t>）</a:t>
              </a:r>
            </a:p>
          </p:txBody>
        </p:sp>
      </p:grpSp>
      <p:grpSp>
        <p:nvGrpSpPr>
          <p:cNvPr id="87" name="グループ化 86">
            <a:extLst>
              <a:ext uri="{FF2B5EF4-FFF2-40B4-BE49-F238E27FC236}">
                <a16:creationId xmlns:a16="http://schemas.microsoft.com/office/drawing/2014/main" id="{A8EC6576-DBB7-90A9-1670-0AD3062DB441}"/>
              </a:ext>
            </a:extLst>
          </p:cNvPr>
          <p:cNvGrpSpPr/>
          <p:nvPr/>
        </p:nvGrpSpPr>
        <p:grpSpPr>
          <a:xfrm>
            <a:off x="6673800" y="6079032"/>
            <a:ext cx="4680000" cy="720000"/>
            <a:chOff x="838200" y="1690688"/>
            <a:chExt cx="4680000" cy="720000"/>
          </a:xfrm>
        </p:grpSpPr>
        <p:sp>
          <p:nvSpPr>
            <p:cNvPr id="88" name="正方形/長方形 87">
              <a:extLst>
                <a:ext uri="{FF2B5EF4-FFF2-40B4-BE49-F238E27FC236}">
                  <a16:creationId xmlns:a16="http://schemas.microsoft.com/office/drawing/2014/main" id="{BB73960E-D9EB-B2E5-B49A-84D3D05B0DD9}"/>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89" name="角丸四角形 88">
              <a:extLst>
                <a:ext uri="{FF2B5EF4-FFF2-40B4-BE49-F238E27FC236}">
                  <a16:creationId xmlns:a16="http://schemas.microsoft.com/office/drawing/2014/main" id="{29C73F8A-3922-87BF-368F-A6B7193E0BB3}"/>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2026-07-17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14</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90" name="正方形/長方形 89">
              <a:extLst>
                <a:ext uri="{FF2B5EF4-FFF2-40B4-BE49-F238E27FC236}">
                  <a16:creationId xmlns:a16="http://schemas.microsoft.com/office/drawing/2014/main" id="{A38A8988-5BC0-B3F6-E19B-AF2919C8D820}"/>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91" name="角丸四角形 90">
              <a:extLst>
                <a:ext uri="{FF2B5EF4-FFF2-40B4-BE49-F238E27FC236}">
                  <a16:creationId xmlns:a16="http://schemas.microsoft.com/office/drawing/2014/main" id="{B0A5CFEF-5BDD-5582-B588-4CFB866BEA75}"/>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600">
                  <a:solidFill>
                    <a:schemeClr val="bg1"/>
                  </a:solidFill>
                  <a:latin typeface="Meiryo" panose="020B0604030504040204" pitchFamily="34" charset="-128"/>
                  <a:ea typeface="Meiryo" panose="020B0604030504040204" pitchFamily="34" charset="-128"/>
                </a:rPr>
                <a:t>成果物</a:t>
              </a:r>
              <a:r>
                <a:rPr lang="ja-JP" altLang="en-US" sz="1600">
                  <a:solidFill>
                    <a:schemeClr val="bg1"/>
                  </a:solidFill>
                  <a:latin typeface="Meiryo" panose="020B0604030504040204" pitchFamily="34" charset="-128"/>
                  <a:ea typeface="Meiryo" panose="020B0604030504040204" pitchFamily="34" charset="-128"/>
                </a:rPr>
                <a:t>の発表会</a:t>
              </a:r>
              <a:endParaRPr kumimoji="1" lang="ja-JP" altLang="en-US" sz="1600">
                <a:solidFill>
                  <a:schemeClr val="bg1"/>
                </a:solidFill>
                <a:latin typeface="Meiryo" panose="020B0604030504040204" pitchFamily="34" charset="-128"/>
                <a:ea typeface="Meiryo" panose="020B0604030504040204" pitchFamily="34" charset="-128"/>
              </a:endParaRPr>
            </a:p>
          </p:txBody>
        </p:sp>
      </p:grpSp>
      <p:grpSp>
        <p:nvGrpSpPr>
          <p:cNvPr id="12" name="グループ化 11">
            <a:extLst>
              <a:ext uri="{FF2B5EF4-FFF2-40B4-BE49-F238E27FC236}">
                <a16:creationId xmlns:a16="http://schemas.microsoft.com/office/drawing/2014/main" id="{E6BF7A90-CC97-DE90-1359-8BD0387525BD}"/>
              </a:ext>
            </a:extLst>
          </p:cNvPr>
          <p:cNvGrpSpPr/>
          <p:nvPr/>
        </p:nvGrpSpPr>
        <p:grpSpPr>
          <a:xfrm>
            <a:off x="838200" y="2131793"/>
            <a:ext cx="4680000" cy="720000"/>
            <a:chOff x="838200" y="1690688"/>
            <a:chExt cx="4680000" cy="720000"/>
          </a:xfrm>
        </p:grpSpPr>
        <p:sp>
          <p:nvSpPr>
            <p:cNvPr id="13" name="正方形/長方形 12">
              <a:extLst>
                <a:ext uri="{FF2B5EF4-FFF2-40B4-BE49-F238E27FC236}">
                  <a16:creationId xmlns:a16="http://schemas.microsoft.com/office/drawing/2014/main" id="{DAB8A9D4-4385-3C9B-140E-A7E9C72BA6EA}"/>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4" name="角丸四角形 13">
              <a:extLst>
                <a:ext uri="{FF2B5EF4-FFF2-40B4-BE49-F238E27FC236}">
                  <a16:creationId xmlns:a16="http://schemas.microsoft.com/office/drawing/2014/main" id="{6F8BB073-3B1C-2A53-8350-E3BFDBE5271A}"/>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2026-04-17 (Fru)</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02</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15" name="正方形/長方形 14">
              <a:extLst>
                <a:ext uri="{FF2B5EF4-FFF2-40B4-BE49-F238E27FC236}">
                  <a16:creationId xmlns:a16="http://schemas.microsoft.com/office/drawing/2014/main" id="{E62AAB78-8607-FF6D-1B15-AC44EE72AFE6}"/>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6" name="角丸四角形 15">
              <a:extLst>
                <a:ext uri="{FF2B5EF4-FFF2-40B4-BE49-F238E27FC236}">
                  <a16:creationId xmlns:a16="http://schemas.microsoft.com/office/drawing/2014/main" id="{0DDDE32C-677D-B6AC-4078-994EE668286C}"/>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a:solidFill>
                    <a:schemeClr val="bg1"/>
                  </a:solidFill>
                  <a:latin typeface="Meiryo" panose="020B0604030504040204" pitchFamily="34" charset="-128"/>
                  <a:ea typeface="Meiryo" panose="020B0604030504040204" pitchFamily="34" charset="-128"/>
                </a:rPr>
                <a:t>Usage/README</a:t>
              </a:r>
              <a:endParaRPr kumimoji="1" lang="ja-JP" altLang="en-US" sz="1600">
                <a:solidFill>
                  <a:schemeClr val="bg1"/>
                </a:solidFill>
                <a:latin typeface="Meiryo" panose="020B0604030504040204" pitchFamily="34" charset="-128"/>
                <a:ea typeface="Meiryo" panose="020B0604030504040204" pitchFamily="34" charset="-128"/>
              </a:endParaRPr>
            </a:p>
          </p:txBody>
        </p:sp>
      </p:grpSp>
      <p:sp>
        <p:nvSpPr>
          <p:cNvPr id="3" name="正方形/長方形 2">
            <a:extLst>
              <a:ext uri="{FF2B5EF4-FFF2-40B4-BE49-F238E27FC236}">
                <a16:creationId xmlns:a16="http://schemas.microsoft.com/office/drawing/2014/main" id="{B2D52BB9-1167-14BE-A2F2-C66AC76CB580}"/>
              </a:ext>
            </a:extLst>
          </p:cNvPr>
          <p:cNvSpPr/>
          <p:nvPr/>
        </p:nvSpPr>
        <p:spPr>
          <a:xfrm>
            <a:off x="712199" y="1300478"/>
            <a:ext cx="10777435" cy="5557521"/>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48112A8B-1870-83DC-3CD2-827228E4D735}"/>
              </a:ext>
            </a:extLst>
          </p:cNvPr>
          <p:cNvGrpSpPr/>
          <p:nvPr/>
        </p:nvGrpSpPr>
        <p:grpSpPr>
          <a:xfrm>
            <a:off x="838200" y="2921241"/>
            <a:ext cx="4680000" cy="720000"/>
            <a:chOff x="838200" y="1690688"/>
            <a:chExt cx="4680000" cy="720000"/>
          </a:xfrm>
        </p:grpSpPr>
        <p:sp>
          <p:nvSpPr>
            <p:cNvPr id="18" name="正方形/長方形 17">
              <a:extLst>
                <a:ext uri="{FF2B5EF4-FFF2-40B4-BE49-F238E27FC236}">
                  <a16:creationId xmlns:a16="http://schemas.microsoft.com/office/drawing/2014/main" id="{8A806249-8211-B2FE-553F-EEBE12D37876}"/>
                </a:ext>
              </a:extLst>
            </p:cNvPr>
            <p:cNvSpPr/>
            <p:nvPr/>
          </p:nvSpPr>
          <p:spPr>
            <a:xfrm>
              <a:off x="2083800" y="1690688"/>
              <a:ext cx="914400" cy="720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19" name="角丸四角形 18">
              <a:extLst>
                <a:ext uri="{FF2B5EF4-FFF2-40B4-BE49-F238E27FC236}">
                  <a16:creationId xmlns:a16="http://schemas.microsoft.com/office/drawing/2014/main" id="{4F93B310-008A-EAC7-09B7-139844709FDC}"/>
                </a:ext>
              </a:extLst>
            </p:cNvPr>
            <p:cNvSpPr/>
            <p:nvPr/>
          </p:nvSpPr>
          <p:spPr>
            <a:xfrm>
              <a:off x="838200" y="1690688"/>
              <a:ext cx="2160000" cy="720000"/>
            </a:xfrm>
            <a:prstGeom prst="round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ysClr val="windowText" lastClr="000000"/>
                  </a:solidFill>
                  <a:latin typeface="Meiryo" panose="020B0604030504040204" pitchFamily="34" charset="-128"/>
                  <a:ea typeface="Meiryo" panose="020B0604030504040204" pitchFamily="34" charset="-128"/>
                </a:rPr>
                <a:t>2026-04-24 (Fri)</a:t>
              </a:r>
            </a:p>
            <a:p>
              <a:r>
                <a:rPr lang="ja-JP" altLang="en-US" sz="1600">
                  <a:solidFill>
                    <a:sysClr val="windowText" lastClr="000000"/>
                  </a:solidFill>
                  <a:latin typeface="Meiryo" panose="020B0604030504040204" pitchFamily="34" charset="-128"/>
                  <a:ea typeface="Meiryo" panose="020B0604030504040204" pitchFamily="34" charset="-128"/>
                </a:rPr>
                <a:t>第</a:t>
              </a:r>
              <a:r>
                <a:rPr lang="en-US" altLang="ja-JP" sz="1600" dirty="0">
                  <a:solidFill>
                    <a:sysClr val="windowText" lastClr="000000"/>
                  </a:solidFill>
                  <a:latin typeface="Meiryo" panose="020B0604030504040204" pitchFamily="34" charset="-128"/>
                  <a:ea typeface="Meiryo" panose="020B0604030504040204" pitchFamily="34" charset="-128"/>
                </a:rPr>
                <a:t>03</a:t>
              </a:r>
              <a:r>
                <a:rPr lang="ja-JP" altLang="en-US" sz="1600">
                  <a:solidFill>
                    <a:sysClr val="windowText" lastClr="000000"/>
                  </a:solidFill>
                  <a:latin typeface="Meiryo" panose="020B0604030504040204" pitchFamily="34" charset="-128"/>
                  <a:ea typeface="Meiryo" panose="020B0604030504040204" pitchFamily="34" charset="-128"/>
                </a:rPr>
                <a:t>講</a:t>
              </a:r>
              <a:endParaRPr kumimoji="1" lang="ja-JP" altLang="en-US" sz="1600">
                <a:solidFill>
                  <a:sysClr val="windowText" lastClr="000000"/>
                </a:solidFill>
                <a:latin typeface="Meiryo" panose="020B0604030504040204" pitchFamily="34" charset="-128"/>
                <a:ea typeface="Meiryo" panose="020B0604030504040204" pitchFamily="34" charset="-128"/>
              </a:endParaRPr>
            </a:p>
          </p:txBody>
        </p:sp>
        <p:sp>
          <p:nvSpPr>
            <p:cNvPr id="20" name="正方形/長方形 19">
              <a:extLst>
                <a:ext uri="{FF2B5EF4-FFF2-40B4-BE49-F238E27FC236}">
                  <a16:creationId xmlns:a16="http://schemas.microsoft.com/office/drawing/2014/main" id="{75827BCE-D2A3-BAF4-A876-4450FF33D05B}"/>
                </a:ext>
              </a:extLst>
            </p:cNvPr>
            <p:cNvSpPr/>
            <p:nvPr/>
          </p:nvSpPr>
          <p:spPr>
            <a:xfrm>
              <a:off x="2998200" y="1690688"/>
              <a:ext cx="914400" cy="720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eiryo" panose="020B0604030504040204" pitchFamily="34" charset="-128"/>
                <a:ea typeface="Meiryo" panose="020B0604030504040204" pitchFamily="34" charset="-128"/>
              </a:endParaRPr>
            </a:p>
          </p:txBody>
        </p:sp>
        <p:sp>
          <p:nvSpPr>
            <p:cNvPr id="21" name="角丸四角形 20">
              <a:extLst>
                <a:ext uri="{FF2B5EF4-FFF2-40B4-BE49-F238E27FC236}">
                  <a16:creationId xmlns:a16="http://schemas.microsoft.com/office/drawing/2014/main" id="{4BCEE773-A963-6415-5967-8612DA4F3713}"/>
                </a:ext>
              </a:extLst>
            </p:cNvPr>
            <p:cNvSpPr/>
            <p:nvPr/>
          </p:nvSpPr>
          <p:spPr>
            <a:xfrm>
              <a:off x="2998200" y="1690688"/>
              <a:ext cx="2520000" cy="720000"/>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600" dirty="0">
                  <a:solidFill>
                    <a:schemeClr val="bg1"/>
                  </a:solidFill>
                  <a:latin typeface="Meiryo" panose="020B0604030504040204" pitchFamily="34" charset="-128"/>
                  <a:ea typeface="Meiryo" panose="020B0604030504040204" pitchFamily="34" charset="-128"/>
                </a:rPr>
                <a:t>CI/CD</a:t>
              </a:r>
              <a:r>
                <a:rPr kumimoji="1" lang="ja-JP" altLang="en-US" sz="1600">
                  <a:solidFill>
                    <a:schemeClr val="bg1"/>
                  </a:solidFill>
                  <a:latin typeface="Meiryo" panose="020B0604030504040204" pitchFamily="34" charset="-128"/>
                  <a:ea typeface="Meiryo" panose="020B0604030504040204" pitchFamily="34" charset="-128"/>
                </a:rPr>
                <a:t>（</a:t>
              </a:r>
              <a:r>
                <a:rPr kumimoji="1" lang="en-US" altLang="ja-JP" sz="1600" dirty="0">
                  <a:solidFill>
                    <a:schemeClr val="bg1"/>
                  </a:solidFill>
                  <a:latin typeface="Meiryo" panose="020B0604030504040204" pitchFamily="34" charset="-128"/>
                  <a:ea typeface="Meiryo" panose="020B0604030504040204" pitchFamily="34" charset="-128"/>
                </a:rPr>
                <a:t>1/2</a:t>
              </a:r>
              <a:r>
                <a:rPr kumimoji="1" lang="ja-JP" altLang="en-US" sz="1600">
                  <a:solidFill>
                    <a:schemeClr val="bg1"/>
                  </a:solidFill>
                  <a:latin typeface="Meiryo" panose="020B0604030504040204" pitchFamily="34" charset="-128"/>
                  <a:ea typeface="Meiryo" panose="020B0604030504040204" pitchFamily="34" charset="-128"/>
                </a:rPr>
                <a:t>）</a:t>
              </a:r>
            </a:p>
          </p:txBody>
        </p:sp>
      </p:grpSp>
    </p:spTree>
    <p:extLst>
      <p:ext uri="{BB962C8B-B14F-4D97-AF65-F5344CB8AC3E}">
        <p14:creationId xmlns:p14="http://schemas.microsoft.com/office/powerpoint/2010/main" val="24064346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9B92DAC1-B206-6E4D-9DDA-F3C380F9C271}" vid="{0ECE7065-281A-B545-8D42-4EC5E612C96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11409</TotalTime>
  <Words>3430</Words>
  <Application>Microsoft Macintosh PowerPoint</Application>
  <PresentationFormat>ワイド画面</PresentationFormat>
  <Paragraphs>569</Paragraphs>
  <Slides>40</Slides>
  <Notes>6</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40</vt:i4>
      </vt:variant>
    </vt:vector>
  </HeadingPairs>
  <TitlesOfParts>
    <vt:vector size="47" baseType="lpstr">
      <vt:lpstr>Meiryo</vt:lpstr>
      <vt:lpstr>游ゴシック</vt:lpstr>
      <vt:lpstr>Arial</vt:lpstr>
      <vt:lpstr>Consolas</vt:lpstr>
      <vt:lpstr>Segoe UI</vt:lpstr>
      <vt:lpstr>Times New Roman</vt:lpstr>
      <vt:lpstr>Office テーマ</vt:lpstr>
      <vt:lpstr>エンピリカル ソフトウェア工学 第02回 Usage/README</vt:lpstr>
      <vt:lpstr>講義スケジュール</vt:lpstr>
      <vt:lpstr>本日やること</vt:lpstr>
      <vt:lpstr>Usage</vt:lpstr>
      <vt:lpstr>Usage</vt:lpstr>
      <vt:lpstr>誰が実行する？</vt:lpstr>
      <vt:lpstr>Usageを改良する．</vt:lpstr>
      <vt:lpstr>UNIXという考え方</vt:lpstr>
      <vt:lpstr>UNIXという考え方</vt:lpstr>
      <vt:lpstr>Command Line Interface Guidelines</vt:lpstr>
      <vt:lpstr>Usageを考える</vt:lpstr>
      <vt:lpstr>本日やること</vt:lpstr>
      <vt:lpstr>READMEの内容の調査結果[1]</vt:lpstr>
      <vt:lpstr>READMEで書くべき内容</vt:lpstr>
      <vt:lpstr>Badgeとは</vt:lpstr>
      <vt:lpstr>READMEにBadgeを貼ろう．</vt:lpstr>
      <vt:lpstr>本日やること</vt:lpstr>
      <vt:lpstr>Rustのインストール</vt:lpstr>
      <vt:lpstr>エディタ/IDE</vt:lpstr>
      <vt:lpstr>GitHub Copilot</vt:lpstr>
      <vt:lpstr>プロジェクトを初期化する</vt:lpstr>
      <vt:lpstr>Rustプロジェクト ディレクトリ構成スタンダード</vt:lpstr>
      <vt:lpstr>.gitignore</vt:lpstr>
      <vt:lpstr>Rust言語 Rust APIガイドライン[1]</vt:lpstr>
      <vt:lpstr>Rustの基本</vt:lpstr>
      <vt:lpstr>Rustの基本</vt:lpstr>
      <vt:lpstr>Result&lt;T, E&gt;とOption&lt;T&gt;</vt:lpstr>
      <vt:lpstr>本日やること</vt:lpstr>
      <vt:lpstr>テストの粒度</vt:lpstr>
      <vt:lpstr>カバレッジを計測する（1/2）</vt:lpstr>
      <vt:lpstr>カバレッジを計測する（2/2）</vt:lpstr>
      <vt:lpstr>コミットコメントについて</vt:lpstr>
      <vt:lpstr>バージョン番号</vt:lpstr>
      <vt:lpstr>Semantic Versioning</vt:lpstr>
      <vt:lpstr>Conventional Commits</vt:lpstr>
      <vt:lpstr>GitHub Copilotを利用する</vt:lpstr>
      <vt:lpstr>Git/GitHubの使い方</vt:lpstr>
      <vt:lpstr>spec.md</vt:lpstr>
      <vt:lpstr>次週までの宿題</vt:lpstr>
      <vt:lpstr>講義スケジュール</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TAMADA HARUAKI</dc:creator>
  <cp:lastModifiedBy>TAMADA HARUAKI</cp:lastModifiedBy>
  <cp:revision>400</cp:revision>
  <dcterms:created xsi:type="dcterms:W3CDTF">2022-04-24T10:54:34Z</dcterms:created>
  <dcterms:modified xsi:type="dcterms:W3CDTF">2026-04-11T06:31:24Z</dcterms:modified>
</cp:coreProperties>
</file>