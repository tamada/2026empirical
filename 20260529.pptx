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543" r:id="rId3"/>
    <p:sldId id="376" r:id="rId4"/>
    <p:sldId id="377" r:id="rId5"/>
    <p:sldId id="367" r:id="rId6"/>
    <p:sldId id="544" r:id="rId7"/>
    <p:sldId id="546" r:id="rId8"/>
    <p:sldId id="389" r:id="rId9"/>
    <p:sldId id="545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7D01"/>
    <a:srgbClr val="0B8659"/>
    <a:srgbClr val="FFC56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4"/>
    <p:restoredTop sz="81164"/>
  </p:normalViewPr>
  <p:slideViewPr>
    <p:cSldViewPr snapToGrid="0" snapToObjects="1">
      <p:cViewPr varScale="1">
        <p:scale>
          <a:sx n="102" d="100"/>
          <a:sy n="102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E0D3F-88AC-AC4C-A850-A113E8478B35}" type="datetimeFigureOut">
              <a:rPr kumimoji="1" lang="ja-JP" altLang="en-US" smtClean="0"/>
              <a:t>2026/5/28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6FEFE4-0067-BE4A-AB74-27D08C16975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8888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103FE-3D04-2660-E2D3-0177F4F72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24271AA-BA4A-8375-62ED-948D378D0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3A5F140-5792-BDFB-04E7-ECD42C22CE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1C15930-96FF-677A-2C2D-7F3E19898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290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67C4-4B1E-6B33-9506-50E93654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C5B9336-34E3-8C4F-BF53-8DA3504D87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7CC4178-29DC-68DA-CBDD-10510677D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0C7DCD6-2B3A-986A-6FC8-A74D34436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6FEFE4-0067-BE4A-AB74-27D08C16975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383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AE3F1-6860-34FB-F2AC-E3181A6AF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4CD0B15-C8B7-00F7-DBE9-D3AD533D2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AC3DEB-6E35-D2D0-EABA-F8A19BBD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835D15-762E-39B0-0A6F-14EFF50B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5DFDF9-92D5-0273-6AA5-EE561AF63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30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8965E4-8E20-9D46-6D12-F877A919C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23E8D2-3A17-78BF-F4C2-CDF62ACF4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D23703-4802-F8D8-D9BF-C6ABE5C8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3C5D23-A2A0-1968-4ACC-1B1357A4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2682BA-033D-1B7D-4861-DDD343E9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4067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9F4E9-7F37-2DF8-78B9-30C3125A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BF7F8-9D3C-A422-471A-C8A1E82F8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5120F65-AA40-72A0-770D-E19A2FA9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681911-2B29-A9AD-E565-FF8CD6242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3A1582B-A53B-0238-DBDB-FB5DBFD8A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362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4232BC-8A6A-9D3A-A1D9-3080F812A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82D8DC-6AD4-FA7E-3F14-DB7C79ACD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DE28B2-EF25-CC14-3531-75FEF0B68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B3A7B7E-A26D-8BA6-BB1E-8237CE6F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B7E107-84C7-8B82-2567-9E3F901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57C7FA1-4591-F30A-BC2B-286C70E6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956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054A32-DEA7-69BE-B62E-A62243835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BEF868-DDA1-C4EB-6743-489DC5F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D539B8F-A2A1-CF4F-742C-F6839C57B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13E432-90C9-F616-1A3C-AE747080A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CAA48B9-2830-0B1B-940E-B2239ADE25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B4728E-F8C1-F17A-C937-B880D97E8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F3C6BA5-320F-AD96-EF9C-4688CD1C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1151E6-2A46-0BFB-C19C-182A2D46D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1560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FCE36-69F6-8D82-66E2-2BE7E5650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B3D72AD-5495-9467-9401-F6186DDB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D62EC51-A3D5-EC3F-7813-ADEA4FCA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3AA073C-2BE4-2466-8413-FEE9DE4D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36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4254B13-A92B-C641-0C83-88C8E8C09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0A961BE-BDDF-24BF-A624-7B4A792F8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82A63C-7150-3E3B-E0A7-4FAFA23A7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417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8DCBFD-B9B9-C88D-4AF2-DA5E9D14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20645C-911D-D877-789A-4ABCA1607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35085C-0945-616B-1D39-35150C87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45E25B3-F458-1F25-BA2A-10D3E7E26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209217E-3F73-CCE8-77EF-A52308AC8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10295A2-6412-27A3-80DB-4DC7AF9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979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AA11E3-5007-3320-F7E6-691E1139D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3AA4DA3-E363-0E1A-C5EE-67CFA080E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CD13344-E496-4753-C58C-D01D8C7BC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156EEBB-B395-8892-612D-06BBEE164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1A73243-636B-AD34-97B8-096CAB4B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1AB26F-070D-AA48-1A17-487ABD43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743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99E654-7E7E-36B3-ADB0-3093EC9FF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79AB095-4BA5-2299-C02F-2E56585C2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B78716-480A-7430-C0FA-4F0DC0168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B42CF7-BBCD-5D04-D7AD-CBC09AA58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8D3898-C8CD-BE96-524B-6C3F92111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7145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81886E9-6CAD-71F6-5345-FA1396703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2359E1-F40F-3D47-6DF2-882BD86EA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18D548-5283-77D1-F67F-6EC5C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CD1D05-E6FD-9267-0EA3-57EE28C4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33F417-24E0-EE42-C260-DDADA437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17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2F236BC-AAF6-B861-739B-86FA3431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550FC96-8BC7-5FBA-D355-BCF93438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 dirty="0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 dirty="0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 dirty="0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 dirty="0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6AD1E11-9D31-C316-E911-911DC842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r>
              <a:rPr lang="en-US" altLang="ja-JP"/>
              <a:t>2026-05-29</a:t>
            </a:r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552398-2A83-C162-F251-7C27A4C8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2060AB-9F59-AB6D-F6F6-574D92AC70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0B8845E4-5C92-A046-BB66-E5D9CC995B08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52976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6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4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Meiryo" panose="020B0604030504040204" pitchFamily="34" charset="-128"/>
          <a:ea typeface="Meiryo" panose="020B060403050404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784E-BEC4-EB82-3848-F83C83012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2" y="1122363"/>
            <a:ext cx="12178937" cy="2387600"/>
          </a:xfrm>
        </p:spPr>
        <p:txBody>
          <a:bodyPr/>
          <a:lstStyle/>
          <a:p>
            <a:r>
              <a:rPr lang="ja-JP" altLang="en-US"/>
              <a:t>エンピリカル</a:t>
            </a:r>
            <a:br>
              <a:rPr lang="en-US" altLang="ja-JP" dirty="0"/>
            </a:br>
            <a:r>
              <a:rPr lang="ja-JP" altLang="en-US"/>
              <a:t>ソフトウェア工学</a:t>
            </a:r>
            <a:br>
              <a:rPr lang="en-US" altLang="ja-JP" dirty="0"/>
            </a:br>
            <a:r>
              <a:rPr lang="ja-JP" altLang="en-US"/>
              <a:t>第</a:t>
            </a:r>
            <a:r>
              <a:rPr lang="en-US" altLang="ja-JP" dirty="0"/>
              <a:t>07</a:t>
            </a:r>
            <a:r>
              <a:rPr lang="ja-JP" altLang="en-US"/>
              <a:t>回</a:t>
            </a:r>
            <a:r>
              <a:rPr lang="en-US" altLang="ja-JP" dirty="0"/>
              <a:t> </a:t>
            </a:r>
            <a:r>
              <a:rPr lang="ja-JP" altLang="en-US"/>
              <a:t>プログラミング</a:t>
            </a:r>
            <a:r>
              <a:rPr lang="en-US" altLang="ja-JP" dirty="0"/>
              <a:t> (3/3)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687755-EB78-813E-2AE5-266F2715E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6682"/>
            <a:ext cx="9144000" cy="1655762"/>
          </a:xfrm>
        </p:spPr>
        <p:txBody>
          <a:bodyPr/>
          <a:lstStyle/>
          <a:p>
            <a:r>
              <a:rPr kumimoji="1" lang="en-US" altLang="ja-JP" dirty="0"/>
              <a:t>2026-05-29</a:t>
            </a:r>
          </a:p>
          <a:p>
            <a:r>
              <a:rPr lang="ja-JP" altLang="en-US"/>
              <a:t>玉田</a:t>
            </a:r>
            <a:r>
              <a:rPr lang="en-US" altLang="ja-JP" dirty="0"/>
              <a:t> </a:t>
            </a:r>
            <a:r>
              <a:rPr lang="ja-JP" altLang="en-US"/>
              <a:t>春昭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5A0BDC-22A6-7CC7-0358-1C2E09153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5D24184-6358-A3E9-85F2-F35BC4F15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049947C-D93C-FABA-2DF9-A17D530D6739}"/>
              </a:ext>
            </a:extLst>
          </p:cNvPr>
          <p:cNvSpPr txBox="1"/>
          <p:nvPr/>
        </p:nvSpPr>
        <p:spPr>
          <a:xfrm>
            <a:off x="4764155" y="3429000"/>
            <a:ext cx="75471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ja-JP" altLang="en-US" sz="6600">
                <a:latin typeface="Meiryo" panose="020B0604030504040204" pitchFamily="34" charset="-128"/>
                <a:ea typeface="Meiryo" panose="020B0604030504040204" pitchFamily="34" charset="-128"/>
              </a:rPr>
              <a:t>自動テスト（</a:t>
            </a:r>
            <a:r>
              <a:rPr lang="en-US" altLang="ja-JP" sz="6600" dirty="0">
                <a:latin typeface="Meiryo" panose="020B0604030504040204" pitchFamily="34" charset="-128"/>
                <a:ea typeface="Meiryo" panose="020B0604030504040204" pitchFamily="34" charset="-128"/>
              </a:rPr>
              <a:t>1/3</a:t>
            </a:r>
            <a:r>
              <a:rPr lang="ja-JP" altLang="en-US" sz="6600">
                <a:latin typeface="Meiryo" panose="020B0604030504040204" pitchFamily="34" charset="-128"/>
                <a:ea typeface="Meiryo" panose="020B0604030504040204" pitchFamily="34" charset="-128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7804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B1183-6512-0658-DC7D-F8E4A793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A51D8F-FDF9-382E-7936-64DC19F94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59F76-C9FE-E21A-CF33-A028C2689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190477-ABC1-A732-486F-13A636F61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2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F42A339A-46C2-3EC3-01AD-55697C9B38A0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309D41AD-E3E8-669D-BC06-DD15F69A7B8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CF520076-C3F6-E6CE-210A-0D98F1B4FFCD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D77194F2-AE43-8638-D2AA-EA64890ACC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02CA2F63-F1DC-D507-E4BD-F8404588EE8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ADA5E8F-EA1C-A9F1-171C-C4147D5111EF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CD1158B1-7C9D-FF28-EB60-E43223242176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05E11F0E-665A-1CCE-201D-B7ACABDA333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781C07F9-0E22-E229-16EE-1CCCC0BCBEB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DD198E45-A400-1BBF-89BE-F6EDE6E5712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4D2B1A6D-1148-C863-5481-34CB4BB19023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43955E4B-AAA9-ADF3-8EE0-6276796531E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311E5817-72E5-6A99-90D3-BA4E54C180D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C624E98C-2448-E467-ABEF-2BD16D99E32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B4D19F41-ACB8-0456-C664-A44C844AFF3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01153808-5448-59E9-2529-11A7C522D29F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6BB426D7-690D-6B2A-46E9-6B37DB9AEF0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835DFD1-002E-5377-CA57-78957DF011D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C66AC1F3-F8ED-DD5A-8B5C-CD5A2286D6C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3BF222F9-09A8-72CE-449B-EB1BF1CAAD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9918CDC8-892E-EAEB-77B9-05C902C2B959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508CD17-1CC5-FED3-2BD2-99379E48D74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A73541E5-F13B-38E1-4202-6FE847E6ECCF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EAE641A-DEE4-AFDD-A4C4-9706D595396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DAEA4FB4-67E3-8D51-018D-60DE20487AD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D5EF1609-65E4-B8E1-4F6B-3B7615127A9A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D8EA1489-5979-6521-A328-A60F1CCC5AC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495BC841-2AFB-8CAF-1C61-2F10768F618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867454CA-7A0C-4890-069B-DD1A6628B95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00A4FBD7-CBFB-150F-D541-E303F666A738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CB9498AE-3F20-F11E-3F63-799D23E0B5CE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04EB4FF7-E963-053F-AF5A-2348C728C2E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6CC565EF-6E65-5E44-6D71-9B41DB0CFCA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2823BFF7-D473-CD9C-E3F8-9D749FD8553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91C50EFE-0288-9881-2176-38F44844EE4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AD65692-51D4-88BA-F7E8-1E4A78C40961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01B3E597-394B-D74D-9078-D4469506816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A215599A-28ED-DB07-B5FA-3DD206391BA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C97D0E3A-93D3-67E6-EFEB-4DFF19BEC83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5A296795-372C-7CCB-58B9-A86CC0A67BB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D81BE804-E16B-87D7-504E-67AB8B62C97A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6B60994E-5176-C20D-8651-CE224A51F50D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8D2FB71C-B113-1D61-5842-4F626BFE3A4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C5EA67EA-3CED-9AB3-9598-6081C148C86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445C71F6-28F0-7498-2B63-EB47F71C6A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9B5FB344-382A-1A2A-B1F6-EF0C09E8EF94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D24976C-9EE6-979A-EFB4-14E4F2A6264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FAF6134F-9BA9-AD22-EDEA-17F08C78C2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FE1D876-6096-1371-7C1E-DBEC35FCEB4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96FAAE3A-8F25-A7C2-72CC-6A9E4743A86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79D8C4C7-4421-16F2-D935-91A6476A130D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46150746-669C-2E95-CE3D-CB8B337F7B3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92BEF3FC-EC0C-60CE-5FC0-4D153E072915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029E2A65-8350-6BC5-FA09-5C2FF480D78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FD409111-474C-9CCC-2522-3C3F1DA513B7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CCC46EF-A9E8-557D-F0F2-CC3F8197BA35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4DE9BF90-249D-526A-39EA-E19A2B0C6CB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D3EFFB42-D554-43A7-11D9-39C5AD4BA479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3C53E9F6-4BAF-1884-4C1D-EF496B8CFF40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41F08E94-A580-E68C-A3C9-A3CB990036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55A44585-9B19-2EFA-3154-8C14BBFDE224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B23564-1458-946C-945B-DA77FB32F05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9BFA32EC-4154-A944-E1BD-F8EDF6FB6047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2B40C7EA-A9F0-F1FE-BFA4-890F0CE79EB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C3204CE9-635B-B6A4-F4F5-59AA3FA471B0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68AB438-07B4-287E-EBB5-3CA610848DBC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DCAD5903-56CC-C164-4686-71AC1F98563D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C5CBD32D-49F4-679F-0765-0B7BB13B8455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7ECBBF9C-A3A7-9541-CC9D-E06CD00F15F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7E5A798-EC59-B471-6D50-8F3528F187A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535908C0-42E8-7BC7-028D-AD00E63F5F71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676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B1118D-2698-FA24-E8F6-B85280B7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自動テストの重要性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3F21BA-FA02-C213-3A4A-30B59CE72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013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自動テストは昨今の開発では必須である．</a:t>
            </a:r>
            <a:endParaRPr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プログラムを修正した時，デグレードを起こしていないか，エンバグしていないかを常に確認するため．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デグレード</a:t>
            </a:r>
            <a:r>
              <a:rPr lang="en-US" altLang="ja-JP" dirty="0"/>
              <a:t>	</a:t>
            </a:r>
            <a:r>
              <a:rPr lang="ja-JP" altLang="en-US"/>
              <a:t>品質，機能などが低下すること．</a:t>
            </a:r>
            <a:endParaRPr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エンバグ</a:t>
            </a:r>
            <a:r>
              <a:rPr kumimoji="1" lang="en-US" altLang="ja-JP" dirty="0"/>
              <a:t>	</a:t>
            </a:r>
            <a:r>
              <a:rPr kumimoji="1" lang="ja-JP" altLang="en-US"/>
              <a:t>バグを埋め込んでしまうこと．</a:t>
            </a:r>
            <a:endParaRPr kumimoji="1" lang="en-US" altLang="ja-JP" dirty="0"/>
          </a:p>
          <a:p>
            <a:pPr>
              <a:lnSpc>
                <a:spcPct val="120000"/>
              </a:lnSpc>
            </a:pPr>
            <a:r>
              <a:rPr kumimoji="1" lang="ja-JP" altLang="en-US"/>
              <a:t>リファクタリングを行うために</a:t>
            </a:r>
            <a:r>
              <a:rPr lang="ja-JP" altLang="en-US"/>
              <a:t>も</a:t>
            </a:r>
            <a:r>
              <a:rPr kumimoji="1" lang="ja-JP" altLang="en-US"/>
              <a:t>自動テストが必要となる．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kumimoji="1" lang="ja-JP" altLang="en-US"/>
              <a:t>自動テストでデグレードやエンバグがないことを確認している．</a:t>
            </a:r>
            <a:endParaRPr kumimoji="1" lang="en-US" altLang="ja-JP" dirty="0"/>
          </a:p>
          <a:p>
            <a:pPr lvl="1">
              <a:lnSpc>
                <a:spcPct val="120000"/>
              </a:lnSpc>
            </a:pPr>
            <a:r>
              <a:rPr lang="ja-JP" altLang="en-US"/>
              <a:t>自動テストがなければリファクタリングは行えない．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0EF917-9BB4-6C33-0556-4ED03A6C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C1A95A0-1232-AF5E-8C12-FF8802D5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968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C5A039-9750-7CCB-6AA7-146070E25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テストの種類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7623E50-D89E-34BC-3002-67AB3C3B67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ja-JP" altLang="en-US"/>
              <a:t>単体テスト</a:t>
            </a:r>
            <a:endParaRPr lang="en-US" altLang="ja-JP" dirty="0"/>
          </a:p>
          <a:p>
            <a:r>
              <a:rPr lang="ja-JP" altLang="en-US"/>
              <a:t>結合テスト</a:t>
            </a:r>
            <a:endParaRPr lang="en-US" altLang="ja-JP" dirty="0"/>
          </a:p>
          <a:p>
            <a:r>
              <a:rPr lang="ja-JP" altLang="en-US"/>
              <a:t>システムテスト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11" name="コンテンツ プレースホルダー 10">
            <a:extLst>
              <a:ext uri="{FF2B5EF4-FFF2-40B4-BE49-F238E27FC236}">
                <a16:creationId xmlns:a16="http://schemas.microsoft.com/office/drawing/2014/main" id="{C0D19F07-7307-E0C1-0AD5-EDBF29E80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5348289"/>
            <a:ext cx="5181600" cy="828673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ja-JP" altLang="en-US"/>
              <a:t>テストの実行環境の規模で分類している．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B9F53-91A4-A37A-949B-D80C4EC9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ACA3F12-134C-46C9-66DD-6A57EFEF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4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E726194-FFC9-EEDC-5CDF-07112D643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5625"/>
            <a:ext cx="6096000" cy="34290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ACB61CB8-51B0-29D3-B005-294682E83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04989"/>
            <a:ext cx="6096000" cy="3429000"/>
          </a:xfrm>
          <a:prstGeom prst="rect">
            <a:avLst/>
          </a:prstGeom>
        </p:spPr>
      </p:pic>
      <p:sp>
        <p:nvSpPr>
          <p:cNvPr id="12" name="コンテンツ プレースホルダー 10">
            <a:extLst>
              <a:ext uri="{FF2B5EF4-FFF2-40B4-BE49-F238E27FC236}">
                <a16:creationId xmlns:a16="http://schemas.microsoft.com/office/drawing/2014/main" id="{12AF36A0-BA0F-98C3-6E72-BD6EBC95CE84}"/>
              </a:ext>
            </a:extLst>
          </p:cNvPr>
          <p:cNvSpPr txBox="1">
            <a:spLocks/>
          </p:cNvSpPr>
          <p:nvPr/>
        </p:nvSpPr>
        <p:spPr>
          <a:xfrm>
            <a:off x="914400" y="5348289"/>
            <a:ext cx="5181600" cy="828673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44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40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36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32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ja-JP" altLang="en-US"/>
              <a:t>テスト対象の規模で分類している．</a:t>
            </a:r>
          </a:p>
        </p:txBody>
      </p:sp>
    </p:spTree>
    <p:extLst>
      <p:ext uri="{BB962C8B-B14F-4D97-AF65-F5344CB8AC3E}">
        <p14:creationId xmlns:p14="http://schemas.microsoft.com/office/powerpoint/2010/main" val="179340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C36D53-AEFC-92F0-8684-C9BA1526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565835" cy="1325563"/>
          </a:xfrm>
        </p:spPr>
        <p:txBody>
          <a:bodyPr/>
          <a:lstStyle/>
          <a:p>
            <a:r>
              <a:rPr lang="en-US" altLang="ja-JP" dirty="0"/>
              <a:t>Rust</a:t>
            </a:r>
            <a:r>
              <a:rPr kumimoji="1" lang="ja-JP" altLang="en-US"/>
              <a:t>でのテストの</a:t>
            </a:r>
            <a:r>
              <a:rPr lang="ja-JP" altLang="en-US"/>
              <a:t>セオリー</a:t>
            </a:r>
            <a:endParaRPr kumimoji="1" lang="ja-JP" altLang="en-US"/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521CBF73-2F16-61F0-F4A8-CD4EEF49A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ja-JP" altLang="en-US"/>
              <a:t>単体テスト（</a:t>
            </a:r>
            <a:r>
              <a:rPr lang="en-US" altLang="ja-JP" dirty="0"/>
              <a:t>S</a:t>
            </a:r>
            <a:r>
              <a:rPr lang="ja-JP" altLang="en-US"/>
              <a:t>テスト）は、ソースコードと同じファイルに書く。</a:t>
            </a:r>
            <a:endParaRPr lang="en-US" altLang="ja-JP" dirty="0"/>
          </a:p>
          <a:p>
            <a:pPr>
              <a:lnSpc>
                <a:spcPct val="110000"/>
              </a:lnSpc>
            </a:pPr>
            <a:r>
              <a:rPr lang="ja-JP" altLang="en-US"/>
              <a:t>結合テスト、システムテスト（</a:t>
            </a:r>
            <a:r>
              <a:rPr lang="en-US" altLang="ja-JP" dirty="0"/>
              <a:t>M, L</a:t>
            </a:r>
            <a:r>
              <a:rPr lang="ja-JP" altLang="en-US"/>
              <a:t>テスト）は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tests</a:t>
            </a:r>
            <a:r>
              <a:rPr lang="ja-JP" altLang="en-US"/>
              <a:t>ディレクトリに置く。</a:t>
            </a:r>
            <a:endParaRPr lang="en-US" altLang="ja-JP" dirty="0"/>
          </a:p>
          <a:p>
            <a:pPr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examples</a:t>
            </a:r>
            <a:r>
              <a:rPr lang="ja-JP" altLang="en-US"/>
              <a:t>ディレクトリには使用例となるプログラムを置く。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9B2D1D-112E-5326-E712-21AFB9246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610D98-E7B2-DA85-C74A-C88B59A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6111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7C84F6-E598-34C1-EBF5-C30939A7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doc</a:t>
            </a:r>
            <a:r>
              <a:rPr lang="ja-JP" altLang="en-US"/>
              <a:t>コメント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509B24B-505B-339A-9E83-305180E74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///</a:t>
            </a:r>
            <a:r>
              <a:rPr lang="ja-JP" altLang="en-US"/>
              <a:t>でのコメントは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cargo doc</a:t>
            </a:r>
            <a:r>
              <a:rPr lang="ja-JP" altLang="en-US"/>
              <a:t>で生成されるドキュメントに利用される。</a:t>
            </a:r>
            <a:endParaRPr lang="en-US" altLang="ja-JP" dirty="0"/>
          </a:p>
          <a:p>
            <a:pPr lvl="1">
              <a:lnSpc>
                <a:spcPct val="100000"/>
              </a:lnSpc>
            </a:pPr>
            <a:r>
              <a:rPr lang="ja-JP" altLang="en-US"/>
              <a:t>関数や変数の前に書く。</a:t>
            </a:r>
            <a:endParaRPr lang="en-US" altLang="ja-JP" dirty="0"/>
          </a:p>
          <a:p>
            <a:pPr>
              <a:lnSpc>
                <a:spcPct val="100000"/>
              </a:lnSpc>
            </a:pPr>
            <a:r>
              <a:rPr lang="ja-JP" altLang="en-US"/>
              <a:t>モジュール（ファイル）全体のコメントは、ファイル冒頭に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//!</a:t>
            </a:r>
            <a:r>
              <a:rPr lang="ja-JP" altLang="en-US"/>
              <a:t>で始まるコメントに書く。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09143C-41CE-470B-32CF-53CE2245D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5A4C14-8D7A-D75F-E619-5502475A5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190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B81FC-CB99-E0E7-9C0D-907C35503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/>
              <a:t>に任せよう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E5862F-A1B6-4B7B-1CCC-8DB57DA8A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テストを書かせよう。</a:t>
            </a:r>
            <a:endParaRPr kumimoji="1" lang="en-US" altLang="ja-JP"/>
          </a:p>
          <a:p>
            <a:pPr lvl="1"/>
            <a:endParaRPr kumimoji="1" lang="en-US" altLang="ja-JP" dirty="0"/>
          </a:p>
          <a:p>
            <a:r>
              <a:rPr lang="ja-JP" altLang="en-US"/>
              <a:t>ドキュメントを書かせよう。</a:t>
            </a:r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EA8E4B1-85FB-2965-CB2A-580A4A935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AB4C102-9413-C5EE-1F62-7DADC9EA3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061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C7FAC-87E0-A587-687A-AD744B13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規定のパスから読み込む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3C3EBB-970B-B8F3-3471-DD552F581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10000"/>
              </a:lnSpc>
            </a:pPr>
            <a:r>
              <a:rPr kumimoji="1" lang="ja-JP" altLang="en-US"/>
              <a:t>規定のパスを知ろう．</a:t>
            </a:r>
            <a:endParaRPr kumimoji="1" lang="en-US" altLang="ja-JP" dirty="0"/>
          </a:p>
          <a:p>
            <a:pPr lvl="1">
              <a:lnSpc>
                <a:spcPct val="110000"/>
              </a:lnSpc>
            </a:pPr>
            <a:r>
              <a:rPr lang="en-US" altLang="ja-JP" dirty="0"/>
              <a:t>Homebrew</a:t>
            </a:r>
            <a:r>
              <a:rPr lang="ja-JP" altLang="en-US"/>
              <a:t>のインストール場所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/opt/homebrew/opt/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appname</a:t>
            </a:r>
            <a:r>
              <a:rPr lang="ja-JP" altLang="en-US"/>
              <a:t>（</a:t>
            </a:r>
            <a:r>
              <a:rPr lang="en-US" altLang="ja-JP" dirty="0"/>
              <a:t>Apple Chip</a:t>
            </a:r>
            <a:r>
              <a:rPr lang="ja-JP" altLang="en-US"/>
              <a:t>）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usr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/local/opt/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appname</a:t>
            </a:r>
            <a:r>
              <a:rPr lang="ja-JP" altLang="en-US"/>
              <a:t>（</a:t>
            </a:r>
            <a:r>
              <a:rPr lang="en-US" altLang="ja-JP" dirty="0"/>
              <a:t>Intel Chip</a:t>
            </a:r>
            <a:r>
              <a:rPr lang="ja-JP" altLang="en-US"/>
              <a:t>）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アプリケーションの設定ファイル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${HOME}/.config/</a:t>
            </a:r>
            <a:r>
              <a:rPr lang="en-US" altLang="ja-JP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appname</a:t>
            </a:r>
            <a:endParaRPr lang="en-US" altLang="ja-JP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3">
              <a:lnSpc>
                <a:spcPct val="110000"/>
              </a:lnSpc>
            </a:pPr>
            <a:r>
              <a:rPr lang="ja-JP" altLang="en-US"/>
              <a:t>従来は</a:t>
            </a: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${HOME}/.</a:t>
            </a:r>
            <a:r>
              <a:rPr lang="en-US" altLang="ja-JP" dirty="0" err="1">
                <a:latin typeface="Consolas" panose="020B0609020204030204" pitchFamily="49" charset="0"/>
                <a:cs typeface="Consolas" panose="020B0609020204030204" pitchFamily="49" charset="0"/>
              </a:rPr>
              <a:t>appname</a:t>
            </a:r>
            <a:r>
              <a:rPr lang="en-US" altLang="ja-JP" dirty="0"/>
              <a:t> </a:t>
            </a:r>
            <a:r>
              <a:rPr lang="ja-JP" altLang="en-US"/>
              <a:t>で保存されていたが近年は上記の場所が推奨されている．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環境変数でインストールパスを設定する．</a:t>
            </a:r>
            <a:endParaRPr lang="en-US" altLang="ja-JP" dirty="0"/>
          </a:p>
          <a:p>
            <a:pPr lvl="2">
              <a:lnSpc>
                <a:spcPct val="110000"/>
              </a:lnSpc>
            </a:pPr>
            <a:r>
              <a:rPr lang="en-US" altLang="ja-JP" dirty="0">
                <a:latin typeface="Consolas" panose="020B0609020204030204" pitchFamily="49" charset="0"/>
                <a:cs typeface="Consolas" panose="020B0609020204030204" pitchFamily="49" charset="0"/>
              </a:rPr>
              <a:t>${APPNAME_HOME}</a:t>
            </a:r>
            <a:r>
              <a:rPr lang="ja-JP" altLang="en-US"/>
              <a:t>など．</a:t>
            </a:r>
            <a:endParaRPr lang="en-US" altLang="ja-JP" dirty="0"/>
          </a:p>
          <a:p>
            <a:pPr lvl="1">
              <a:lnSpc>
                <a:spcPct val="110000"/>
              </a:lnSpc>
            </a:pPr>
            <a:r>
              <a:rPr lang="ja-JP" altLang="en-US"/>
              <a:t>カレントディレクトリがインストール場所．</a:t>
            </a:r>
            <a:endParaRPr lang="en-US" altLang="ja-JP" dirty="0"/>
          </a:p>
          <a:p>
            <a:pPr>
              <a:lnSpc>
                <a:spcPct val="110000"/>
              </a:lnSpc>
            </a:pPr>
            <a:r>
              <a:rPr lang="ja-JP" altLang="en-US"/>
              <a:t>これらのパスを順番に見て，インストールパスを見つける必要がある．</a:t>
            </a:r>
            <a:endParaRPr lang="en-US" altLang="ja-JP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15AA02-D668-E64E-7DED-7A87A60BA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2C818-A6BF-4A18-9260-BE99848A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882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44B54-0BFE-96CB-8DA6-D7368940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465591-FC46-3546-68C1-9578761D1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講義スケジュール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EC11DE2-FE72-B077-C64B-55C634EE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2026-05-29</a:t>
            </a:r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2795C62-E54C-D7DD-540F-7BA73347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8845E4-5C92-A046-BB66-E5D9CC995B08}" type="slidenum">
              <a:rPr kumimoji="1" lang="ja-JP" altLang="en-US" smtClean="0"/>
              <a:t>9</a:t>
            </a:fld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B23926A-F703-9A49-A859-859D704D9412}"/>
              </a:ext>
            </a:extLst>
          </p:cNvPr>
          <p:cNvGrpSpPr/>
          <p:nvPr/>
        </p:nvGrpSpPr>
        <p:grpSpPr>
          <a:xfrm>
            <a:off x="838200" y="1342345"/>
            <a:ext cx="4680000" cy="720000"/>
            <a:chOff x="838200" y="1690688"/>
            <a:chExt cx="4680000" cy="720000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0D1F671-3973-0077-8C64-9F900DD3EB3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" name="角丸四角形 5">
              <a:extLst>
                <a:ext uri="{FF2B5EF4-FFF2-40B4-BE49-F238E27FC236}">
                  <a16:creationId xmlns:a16="http://schemas.microsoft.com/office/drawing/2014/main" id="{9F71BCB2-F228-6E8D-5C47-037D2F44E788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2026-04-10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51681B92-E8E8-D575-1536-1C75F9BAD3A3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0" name="角丸四角形 9">
              <a:extLst>
                <a:ext uri="{FF2B5EF4-FFF2-40B4-BE49-F238E27FC236}">
                  <a16:creationId xmlns:a16="http://schemas.microsoft.com/office/drawing/2014/main" id="{FAB49373-65F4-F3FD-8591-84C94E44F3E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全体説明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4C833507-EFB5-2CC5-768D-BEBD23829895}"/>
              </a:ext>
            </a:extLst>
          </p:cNvPr>
          <p:cNvGrpSpPr/>
          <p:nvPr/>
        </p:nvGrpSpPr>
        <p:grpSpPr>
          <a:xfrm>
            <a:off x="838200" y="5289585"/>
            <a:ext cx="4680000" cy="720000"/>
            <a:chOff x="838200" y="1690688"/>
            <a:chExt cx="4680000" cy="720000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0D8EB235-F4B3-44DF-13F1-28BE74D1E459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4" name="角丸四角形 33">
              <a:extLst>
                <a:ext uri="{FF2B5EF4-FFF2-40B4-BE49-F238E27FC236}">
                  <a16:creationId xmlns:a16="http://schemas.microsoft.com/office/drawing/2014/main" id="{7F8B3770-4E53-E1DD-0D1B-56B72AD47E9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2026-05-22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06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5" name="正方形/長方形 34">
              <a:extLst>
                <a:ext uri="{FF2B5EF4-FFF2-40B4-BE49-F238E27FC236}">
                  <a16:creationId xmlns:a16="http://schemas.microsoft.com/office/drawing/2014/main" id="{34C68C4E-DF53-CEAF-7B15-C2D9216674B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6" name="角丸四角形 35">
              <a:extLst>
                <a:ext uri="{FF2B5EF4-FFF2-40B4-BE49-F238E27FC236}">
                  <a16:creationId xmlns:a16="http://schemas.microsoft.com/office/drawing/2014/main" id="{B954DFB5-CAE0-F909-8193-2760639DCF5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7A5D4CAB-E80A-D3B6-57E4-0CE042201517}"/>
              </a:ext>
            </a:extLst>
          </p:cNvPr>
          <p:cNvGrpSpPr/>
          <p:nvPr/>
        </p:nvGrpSpPr>
        <p:grpSpPr>
          <a:xfrm>
            <a:off x="6673800" y="2131793"/>
            <a:ext cx="4680000" cy="720000"/>
            <a:chOff x="838200" y="1690688"/>
            <a:chExt cx="4680000" cy="720000"/>
          </a:xfrm>
        </p:grpSpPr>
        <p:sp>
          <p:nvSpPr>
            <p:cNvPr id="63" name="正方形/長方形 62">
              <a:extLst>
                <a:ext uri="{FF2B5EF4-FFF2-40B4-BE49-F238E27FC236}">
                  <a16:creationId xmlns:a16="http://schemas.microsoft.com/office/drawing/2014/main" id="{17667359-5574-9F80-EFD9-5B35A1045F5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4" name="角丸四角形 63">
              <a:extLst>
                <a:ext uri="{FF2B5EF4-FFF2-40B4-BE49-F238E27FC236}">
                  <a16:creationId xmlns:a16="http://schemas.microsoft.com/office/drawing/2014/main" id="{BB8DFE84-CBC9-76A1-2A81-D171929AEFC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2026-06-12 (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Fri</a:t>
              </a:r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09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5" name="正方形/長方形 64">
              <a:extLst>
                <a:ext uri="{FF2B5EF4-FFF2-40B4-BE49-F238E27FC236}">
                  <a16:creationId xmlns:a16="http://schemas.microsoft.com/office/drawing/2014/main" id="{88E4BED3-70A7-D4E5-CC75-4E1D7417A691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6" name="角丸四角形 65">
              <a:extLst>
                <a:ext uri="{FF2B5EF4-FFF2-40B4-BE49-F238E27FC236}">
                  <a16:creationId xmlns:a16="http://schemas.microsoft.com/office/drawing/2014/main" id="{2F9338F3-1D84-8F3A-7890-C6562E5D2C4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67" name="グループ化 66">
            <a:extLst>
              <a:ext uri="{FF2B5EF4-FFF2-40B4-BE49-F238E27FC236}">
                <a16:creationId xmlns:a16="http://schemas.microsoft.com/office/drawing/2014/main" id="{C437431A-4429-10D0-B92F-2571F4F4BEFE}"/>
              </a:ext>
            </a:extLst>
          </p:cNvPr>
          <p:cNvGrpSpPr/>
          <p:nvPr/>
        </p:nvGrpSpPr>
        <p:grpSpPr>
          <a:xfrm>
            <a:off x="6673800" y="2921241"/>
            <a:ext cx="4680000" cy="720000"/>
            <a:chOff x="838200" y="1690688"/>
            <a:chExt cx="4680000" cy="720000"/>
          </a:xfrm>
        </p:grpSpPr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7296BB85-87BE-C876-D326-7FB19F4CCBE8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69" name="角丸四角形 68">
              <a:extLst>
                <a:ext uri="{FF2B5EF4-FFF2-40B4-BE49-F238E27FC236}">
                  <a16:creationId xmlns:a16="http://schemas.microsoft.com/office/drawing/2014/main" id="{78BA9BA9-C7B3-7D69-A158-D15894F6F30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2026-06-19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10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6A0FB56B-7E4A-D637-C3BD-F3D90038E4D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1" name="角丸四角形 70">
              <a:extLst>
                <a:ext uri="{FF2B5EF4-FFF2-40B4-BE49-F238E27FC236}">
                  <a16:creationId xmlns:a16="http://schemas.microsoft.com/office/drawing/2014/main" id="{FA672398-2959-4790-AE95-A55716217E12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72" name="グループ化 71">
            <a:extLst>
              <a:ext uri="{FF2B5EF4-FFF2-40B4-BE49-F238E27FC236}">
                <a16:creationId xmlns:a16="http://schemas.microsoft.com/office/drawing/2014/main" id="{EBE824D2-52E5-3B07-BC5D-291BA58D9E81}"/>
              </a:ext>
            </a:extLst>
          </p:cNvPr>
          <p:cNvGrpSpPr/>
          <p:nvPr/>
        </p:nvGrpSpPr>
        <p:grpSpPr>
          <a:xfrm>
            <a:off x="6673800" y="3710689"/>
            <a:ext cx="4680000" cy="720000"/>
            <a:chOff x="838200" y="1690688"/>
            <a:chExt cx="4680000" cy="720000"/>
          </a:xfrm>
        </p:grpSpPr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6826D476-D4A5-7F29-E65F-24C0631F589F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4" name="角丸四角形 73">
              <a:extLst>
                <a:ext uri="{FF2B5EF4-FFF2-40B4-BE49-F238E27FC236}">
                  <a16:creationId xmlns:a16="http://schemas.microsoft.com/office/drawing/2014/main" id="{BFD4D933-472A-5093-C6E8-C40B70B14C00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2026-06-26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11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349106FF-46CB-3081-163D-A38C43CD566F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6" name="角丸四角形 75">
              <a:extLst>
                <a:ext uri="{FF2B5EF4-FFF2-40B4-BE49-F238E27FC236}">
                  <a16:creationId xmlns:a16="http://schemas.microsoft.com/office/drawing/2014/main" id="{7E3D8247-2098-C882-416C-5C606C1505BD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ドキュメント（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B14B9C05-65D1-AA1F-C380-6FFF58B83148}"/>
              </a:ext>
            </a:extLst>
          </p:cNvPr>
          <p:cNvGrpSpPr/>
          <p:nvPr/>
        </p:nvGrpSpPr>
        <p:grpSpPr>
          <a:xfrm>
            <a:off x="6673800" y="4500137"/>
            <a:ext cx="4680000" cy="720000"/>
            <a:chOff x="838200" y="1690688"/>
            <a:chExt cx="4680000" cy="720000"/>
          </a:xfrm>
        </p:grpSpPr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D1AB7295-A728-F844-DF5E-6480A8419F32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79" name="角丸四角形 78">
              <a:extLst>
                <a:ext uri="{FF2B5EF4-FFF2-40B4-BE49-F238E27FC236}">
                  <a16:creationId xmlns:a16="http://schemas.microsoft.com/office/drawing/2014/main" id="{BE9CC353-D5FE-481E-4355-617AABF0D02C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2026-07-03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9FC64C20-89D1-B97E-7920-A8BB765AB98E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1" name="角丸四角形 80">
              <a:extLst>
                <a:ext uri="{FF2B5EF4-FFF2-40B4-BE49-F238E27FC236}">
                  <a16:creationId xmlns:a16="http://schemas.microsoft.com/office/drawing/2014/main" id="{D5AA5BF8-158A-F755-22FC-8BF5A548533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Docker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09451EC3-9558-53E0-DC06-11D6DDCA4C1E}"/>
              </a:ext>
            </a:extLst>
          </p:cNvPr>
          <p:cNvGrpSpPr/>
          <p:nvPr/>
        </p:nvGrpSpPr>
        <p:grpSpPr>
          <a:xfrm>
            <a:off x="6673800" y="5289585"/>
            <a:ext cx="4680000" cy="720000"/>
            <a:chOff x="838200" y="1690688"/>
            <a:chExt cx="4680000" cy="720000"/>
          </a:xfrm>
        </p:grpSpPr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A4C544CB-E7B4-098E-0420-6D2C29F9C20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4" name="角丸四角形 83">
              <a:extLst>
                <a:ext uri="{FF2B5EF4-FFF2-40B4-BE49-F238E27FC236}">
                  <a16:creationId xmlns:a16="http://schemas.microsoft.com/office/drawing/2014/main" id="{215A381B-24C4-04DD-88D2-4783A1E24BE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2026-07-10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5604FA9B-FB68-184A-DA26-615F002435D9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6" name="角丸四角形 85">
              <a:extLst>
                <a:ext uri="{FF2B5EF4-FFF2-40B4-BE49-F238E27FC236}">
                  <a16:creationId xmlns:a16="http://schemas.microsoft.com/office/drawing/2014/main" id="{F10A1618-3C1F-03C9-DBC7-4AC57EDB6A49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補完（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Homebrew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1/1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87" name="グループ化 86">
            <a:extLst>
              <a:ext uri="{FF2B5EF4-FFF2-40B4-BE49-F238E27FC236}">
                <a16:creationId xmlns:a16="http://schemas.microsoft.com/office/drawing/2014/main" id="{AD3C961A-64B5-985E-5AC5-0DB3AA0B74D9}"/>
              </a:ext>
            </a:extLst>
          </p:cNvPr>
          <p:cNvGrpSpPr/>
          <p:nvPr/>
        </p:nvGrpSpPr>
        <p:grpSpPr>
          <a:xfrm>
            <a:off x="6673800" y="6079032"/>
            <a:ext cx="4680000" cy="720000"/>
            <a:chOff x="838200" y="1690688"/>
            <a:chExt cx="4680000" cy="720000"/>
          </a:xfrm>
        </p:grpSpPr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06A44515-FBC8-236C-76ED-AA5AA8A63CDA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9" name="角丸四角形 88">
              <a:extLst>
                <a:ext uri="{FF2B5EF4-FFF2-40B4-BE49-F238E27FC236}">
                  <a16:creationId xmlns:a16="http://schemas.microsoft.com/office/drawing/2014/main" id="{3148136C-F13C-026A-B527-06420F8093FB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2026-07-17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0183204B-E142-76E4-EB8B-6E93DCBB4A97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91" name="角丸四角形 90">
              <a:extLst>
                <a:ext uri="{FF2B5EF4-FFF2-40B4-BE49-F238E27FC236}">
                  <a16:creationId xmlns:a16="http://schemas.microsoft.com/office/drawing/2014/main" id="{8106F35A-909F-8C13-3716-44172AD4271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成果物</a:t>
              </a:r>
              <a:r>
                <a:rPr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の発表会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D4588CD5-A1FF-1F9F-920A-772F9324FF95}"/>
              </a:ext>
            </a:extLst>
          </p:cNvPr>
          <p:cNvGrpSpPr/>
          <p:nvPr/>
        </p:nvGrpSpPr>
        <p:grpSpPr>
          <a:xfrm>
            <a:off x="838200" y="2131793"/>
            <a:ext cx="4680000" cy="720000"/>
            <a:chOff x="838200" y="1690688"/>
            <a:chExt cx="4680000" cy="720000"/>
          </a:xfrm>
        </p:grpSpPr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E748AB57-EFC1-2C6E-690F-23A404390D07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4" name="角丸四角形 13">
              <a:extLst>
                <a:ext uri="{FF2B5EF4-FFF2-40B4-BE49-F238E27FC236}">
                  <a16:creationId xmlns:a16="http://schemas.microsoft.com/office/drawing/2014/main" id="{30CA32EA-F24A-65A2-093D-13B94A950551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2026-04-17 (Fru)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02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7BD1FD55-7018-73EF-D78D-6A7AA59EB27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6" name="角丸四角形 15">
              <a:extLst>
                <a:ext uri="{FF2B5EF4-FFF2-40B4-BE49-F238E27FC236}">
                  <a16:creationId xmlns:a16="http://schemas.microsoft.com/office/drawing/2014/main" id="{8E9DB9F3-58F6-8B32-ED7D-C5F17D23D50E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Usage/README</a:t>
              </a:r>
              <a:endParaRPr kumimoji="1" lang="ja-JP" altLang="en-US" sz="160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CA34267-BDEA-5255-1EF0-68F72C85B578}"/>
              </a:ext>
            </a:extLst>
          </p:cNvPr>
          <p:cNvGrpSpPr/>
          <p:nvPr/>
        </p:nvGrpSpPr>
        <p:grpSpPr>
          <a:xfrm>
            <a:off x="838200" y="2921241"/>
            <a:ext cx="4680000" cy="720000"/>
            <a:chOff x="838200" y="1690688"/>
            <a:chExt cx="4680000" cy="72000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ACBFC70-4F55-2EC0-3C85-BCA68EFEC58E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19" name="角丸四角形 18">
              <a:extLst>
                <a:ext uri="{FF2B5EF4-FFF2-40B4-BE49-F238E27FC236}">
                  <a16:creationId xmlns:a16="http://schemas.microsoft.com/office/drawing/2014/main" id="{789EC621-05DC-AB77-F700-9D22591F72C4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2026-04-24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03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1F7CDDAB-D5CE-87A4-65BF-ECAF12F66A8D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1" name="角丸四角形 20">
              <a:extLst>
                <a:ext uri="{FF2B5EF4-FFF2-40B4-BE49-F238E27FC236}">
                  <a16:creationId xmlns:a16="http://schemas.microsoft.com/office/drawing/2014/main" id="{CC9EE529-0E8F-B4A4-DA0C-D91D60F7975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B38E79A-F511-1F2E-B0E9-9BDF1E425977}"/>
              </a:ext>
            </a:extLst>
          </p:cNvPr>
          <p:cNvGrpSpPr/>
          <p:nvPr/>
        </p:nvGrpSpPr>
        <p:grpSpPr>
          <a:xfrm>
            <a:off x="838200" y="3710689"/>
            <a:ext cx="4680000" cy="720000"/>
            <a:chOff x="838200" y="1690688"/>
            <a:chExt cx="4680000" cy="720000"/>
          </a:xfrm>
        </p:grpSpPr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62B48683-15CD-973E-46FD-002337A15B5C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4" name="角丸四角形 23">
              <a:extLst>
                <a:ext uri="{FF2B5EF4-FFF2-40B4-BE49-F238E27FC236}">
                  <a16:creationId xmlns:a16="http://schemas.microsoft.com/office/drawing/2014/main" id="{A8B08FBF-BFB3-ED35-025D-5F948066F89A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2026-05-01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04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C5676BD0-4EEB-9B97-06DA-3C0EB5366FD4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6" name="角丸四角形 25">
              <a:extLst>
                <a:ext uri="{FF2B5EF4-FFF2-40B4-BE49-F238E27FC236}">
                  <a16:creationId xmlns:a16="http://schemas.microsoft.com/office/drawing/2014/main" id="{9EFE0FD3-3E57-2A81-F458-408BD91577D4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CI/CD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/2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AD141503-1B0E-4746-72F4-159189AEC3AB}"/>
              </a:ext>
            </a:extLst>
          </p:cNvPr>
          <p:cNvGrpSpPr/>
          <p:nvPr/>
        </p:nvGrpSpPr>
        <p:grpSpPr>
          <a:xfrm>
            <a:off x="838200" y="4500137"/>
            <a:ext cx="4680000" cy="720000"/>
            <a:chOff x="838200" y="1690688"/>
            <a:chExt cx="4680000" cy="720000"/>
          </a:xfrm>
        </p:grpSpPr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9D68D5AC-92A4-4043-ED77-D9CA486FF7F3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29" name="角丸四角形 28">
              <a:extLst>
                <a:ext uri="{FF2B5EF4-FFF2-40B4-BE49-F238E27FC236}">
                  <a16:creationId xmlns:a16="http://schemas.microsoft.com/office/drawing/2014/main" id="{D6EE4248-6F05-7499-1A0F-313EDDCF845E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2026-05-15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05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8A2B0D0A-0C7A-F97A-8291-046436B74B96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1" name="角丸四角形 30">
              <a:extLst>
                <a:ext uri="{FF2B5EF4-FFF2-40B4-BE49-F238E27FC236}">
                  <a16:creationId xmlns:a16="http://schemas.microsoft.com/office/drawing/2014/main" id="{F7003044-C963-FFD1-59A5-15552C002A1F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605FC1ED-EBB8-C7E8-2B20-A7D400F87C9A}"/>
              </a:ext>
            </a:extLst>
          </p:cNvPr>
          <p:cNvGrpSpPr/>
          <p:nvPr/>
        </p:nvGrpSpPr>
        <p:grpSpPr>
          <a:xfrm>
            <a:off x="838200" y="6079032"/>
            <a:ext cx="4680000" cy="720000"/>
            <a:chOff x="838200" y="1690688"/>
            <a:chExt cx="4680000" cy="72000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9E5B15D7-5AAE-84A3-83F3-78EB0A362E91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DD2D2453-1AD0-41FE-C4CB-857B3F11A513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2026-05-29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07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91710694-6FDD-CB39-524B-B3B53B9A8EF5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175ED276-7A64-8B8D-9B95-C27CAF479A1B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プログラミング（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3/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  <a:endParaRPr kumimoji="1" lang="en-US" altLang="ja-JP" sz="1600" dirty="0">
                <a:solidFill>
                  <a:schemeClr val="bg1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1/3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49CCC1AF-493A-829F-6007-2703D321E58E}"/>
              </a:ext>
            </a:extLst>
          </p:cNvPr>
          <p:cNvSpPr/>
          <p:nvPr/>
        </p:nvSpPr>
        <p:spPr>
          <a:xfrm>
            <a:off x="712199" y="1300478"/>
            <a:ext cx="10777435" cy="5557521"/>
          </a:xfrm>
          <a:prstGeom prst="rect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6E3E4402-279B-8D83-96B2-7A19E984D9F9}"/>
              </a:ext>
            </a:extLst>
          </p:cNvPr>
          <p:cNvGrpSpPr/>
          <p:nvPr/>
        </p:nvGrpSpPr>
        <p:grpSpPr>
          <a:xfrm>
            <a:off x="6673800" y="1342345"/>
            <a:ext cx="4680000" cy="720000"/>
            <a:chOff x="838200" y="1690688"/>
            <a:chExt cx="4680000" cy="720000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8FF47878-59A6-E0E9-D078-FE13742DBBB0}"/>
                </a:ext>
              </a:extLst>
            </p:cNvPr>
            <p:cNvSpPr/>
            <p:nvPr/>
          </p:nvSpPr>
          <p:spPr>
            <a:xfrm>
              <a:off x="2083800" y="1690688"/>
              <a:ext cx="914400" cy="720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4" name="角丸四角形 43">
              <a:extLst>
                <a:ext uri="{FF2B5EF4-FFF2-40B4-BE49-F238E27FC236}">
                  <a16:creationId xmlns:a16="http://schemas.microsoft.com/office/drawing/2014/main" id="{D3648664-E4AD-AA36-FBC9-E5FD2C314722}"/>
                </a:ext>
              </a:extLst>
            </p:cNvPr>
            <p:cNvSpPr/>
            <p:nvPr/>
          </p:nvSpPr>
          <p:spPr>
            <a:xfrm>
              <a:off x="838200" y="1690688"/>
              <a:ext cx="2160000" cy="7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2026-06-05 (Fri)</a:t>
              </a:r>
            </a:p>
            <a:p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第</a:t>
              </a:r>
              <a:r>
                <a:rPr lang="en-US" altLang="ja-JP" sz="1600" dirty="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08</a:t>
              </a:r>
              <a:r>
                <a:rPr lang="ja-JP" altLang="en-US" sz="1600">
                  <a:solidFill>
                    <a:sysClr val="windowText" lastClr="000000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講</a:t>
              </a:r>
              <a:endParaRPr kumimoji="1" lang="ja-JP" altLang="en-US" sz="1600">
                <a:solidFill>
                  <a:sysClr val="windowText" lastClr="000000"/>
                </a:solidFill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4E5E88E6-D9DF-5001-8287-316807A1D99A}"/>
                </a:ext>
              </a:extLst>
            </p:cNvPr>
            <p:cNvSpPr/>
            <p:nvPr/>
          </p:nvSpPr>
          <p:spPr>
            <a:xfrm>
              <a:off x="2998200" y="1690688"/>
              <a:ext cx="914400" cy="720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0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46" name="角丸四角形 45">
              <a:extLst>
                <a:ext uri="{FF2B5EF4-FFF2-40B4-BE49-F238E27FC236}">
                  <a16:creationId xmlns:a16="http://schemas.microsoft.com/office/drawing/2014/main" id="{F25D5EA0-DF3E-C582-0980-245342B427D6}"/>
                </a:ext>
              </a:extLst>
            </p:cNvPr>
            <p:cNvSpPr/>
            <p:nvPr/>
          </p:nvSpPr>
          <p:spPr>
            <a:xfrm>
              <a:off x="2998200" y="1690688"/>
              <a:ext cx="2520000" cy="720000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自動テスト（</a:t>
              </a:r>
              <a:r>
                <a:rPr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2</a:t>
              </a:r>
              <a:r>
                <a:rPr kumimoji="1" lang="en-US" altLang="ja-JP" sz="1600" dirty="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/3</a:t>
              </a:r>
              <a:r>
                <a:rPr kumimoji="1" lang="ja-JP" altLang="en-US" sz="1600">
                  <a:solidFill>
                    <a:schemeClr val="bg1"/>
                  </a:solidFill>
                  <a:latin typeface="Meiryo" panose="020B0604030504040204" pitchFamily="34" charset="-128"/>
                  <a:ea typeface="Meiryo" panose="020B0604030504040204" pitchFamily="34" charset="-128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502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9B92DAC1-B206-6E4D-9DDA-F3C380F9C271}" vid="{0ECE7065-281A-B545-8D42-4EC5E612C96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20884</TotalTime>
  <Words>675</Words>
  <Application>Microsoft Macintosh PowerPoint</Application>
  <PresentationFormat>ワイド画面</PresentationFormat>
  <Paragraphs>152</Paragraphs>
  <Slides>9</Slides>
  <Notes>2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5" baseType="lpstr">
      <vt:lpstr>Meiryo</vt:lpstr>
      <vt:lpstr>游ゴシック</vt:lpstr>
      <vt:lpstr>Arial</vt:lpstr>
      <vt:lpstr>Consolas</vt:lpstr>
      <vt:lpstr>Times New Roman</vt:lpstr>
      <vt:lpstr>Office テーマ</vt:lpstr>
      <vt:lpstr>エンピリカル ソフトウェア工学 第07回 プログラミング (3/3)</vt:lpstr>
      <vt:lpstr>講義スケジュール</vt:lpstr>
      <vt:lpstr>自動テストの重要性</vt:lpstr>
      <vt:lpstr>テストの種類</vt:lpstr>
      <vt:lpstr>Rustでのテストのセオリー</vt:lpstr>
      <vt:lpstr>docコメント</vt:lpstr>
      <vt:lpstr>AIに任せよう</vt:lpstr>
      <vt:lpstr>規定のパスから読み込む</vt:lpstr>
      <vt:lpstr>講義スケジュール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TAMADA HARUAKI</dc:creator>
  <cp:lastModifiedBy>TAMADA HARUAKI</cp:lastModifiedBy>
  <cp:revision>640</cp:revision>
  <dcterms:created xsi:type="dcterms:W3CDTF">2022-04-24T10:54:34Z</dcterms:created>
  <dcterms:modified xsi:type="dcterms:W3CDTF">2026-05-28T06:50:04Z</dcterms:modified>
</cp:coreProperties>
</file>