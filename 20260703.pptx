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550" r:id="rId3"/>
    <p:sldId id="366" r:id="rId4"/>
    <p:sldId id="368" r:id="rId5"/>
    <p:sldId id="369" r:id="rId6"/>
    <p:sldId id="370" r:id="rId7"/>
    <p:sldId id="545" r:id="rId8"/>
    <p:sldId id="546" r:id="rId9"/>
    <p:sldId id="372" r:id="rId10"/>
    <p:sldId id="547" r:id="rId11"/>
    <p:sldId id="551" r:id="rId12"/>
    <p:sldId id="374" r:id="rId13"/>
    <p:sldId id="375" r:id="rId14"/>
    <p:sldId id="389" r:id="rId15"/>
    <p:sldId id="376" r:id="rId16"/>
    <p:sldId id="378" r:id="rId17"/>
    <p:sldId id="552" r:id="rId18"/>
    <p:sldId id="380" r:id="rId19"/>
    <p:sldId id="381" r:id="rId20"/>
    <p:sldId id="386" r:id="rId21"/>
    <p:sldId id="553" r:id="rId22"/>
    <p:sldId id="284" r:id="rId23"/>
    <p:sldId id="285" r:id="rId24"/>
    <p:sldId id="384" r:id="rId25"/>
    <p:sldId id="554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8C27"/>
    <a:srgbClr val="000000"/>
    <a:srgbClr val="C5E0B4"/>
    <a:srgbClr val="7D98B3"/>
    <a:srgbClr val="8699BF"/>
    <a:srgbClr val="9DBF86"/>
    <a:srgbClr val="A786BF"/>
    <a:srgbClr val="FFB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9"/>
    <p:restoredTop sz="81233"/>
  </p:normalViewPr>
  <p:slideViewPr>
    <p:cSldViewPr snapToGrid="0" snapToObjects="1">
      <p:cViewPr varScale="1">
        <p:scale>
          <a:sx n="97" d="100"/>
          <a:sy n="97" d="100"/>
        </p:scale>
        <p:origin x="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278A6-3D69-3F45-625D-49674D3C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6F71B5-3C80-3EA2-05C4-D60956ECA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FEE8E66-2EFC-C66C-853D-BED96749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7ECAFA-33A9-3DC0-40AF-D8AABF133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93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COMP_REPLY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573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E636-7403-9D23-DEDB-321782A2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EA53B-9505-D5AC-14A8-5B9946C26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C77ACFE-0052-95E1-B73A-B63DEE5FF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COMP_REPLY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870DA2-94F2-0D5F-7111-1FB9AF044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71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3C37-1514-EDD0-3AE0-67322F98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CB4B8D-3B9C-D104-D32B-58E64EDA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12D723-6670-FA7D-65F6-223FC71FF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0CD2F7-EA7B-F303-4E21-798C2FC6F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517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90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930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D13FB-9D81-BDFD-ABD8-381C4A25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BB59A51-365C-DD72-7E17-3D56739F7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8072D3-1C4C-652E-39E5-C16D32289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95E3FC-AD84-94FF-8FB3-4E924A2BF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0096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563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E5CB-AB4B-8082-D55E-B4AEDE75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6D3683-0F6D-BFFC-E471-78E22E633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D4BA7AA-4018-B946-6F24-AD9ADD06A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359440-EDFE-9AF1-71BE-3CA1349B5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216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2026-07-03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mazon.co.jp/dp/477413864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tyaru.hatenablog.com/entry/2023/01/09/00000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tyaru.hatenablog.com/entry/2023/01/09/00000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 sz="4800"/>
              <a:t>第</a:t>
            </a:r>
            <a:r>
              <a:rPr lang="en-US" altLang="ja-JP" sz="4800"/>
              <a:t>13</a:t>
            </a:r>
            <a:r>
              <a:rPr lang="ja-JP" altLang="en-US" sz="4800"/>
              <a:t>回</a:t>
            </a:r>
            <a:r>
              <a:rPr lang="en-US" altLang="ja-JP" sz="4800" dirty="0"/>
              <a:t> </a:t>
            </a:r>
            <a:r>
              <a:rPr lang="ja-JP" altLang="en-US" sz="4800"/>
              <a:t>補完</a:t>
            </a:r>
            <a:r>
              <a:rPr lang="en-US" altLang="ja-JP" sz="4800" dirty="0"/>
              <a:t>/Homebrew</a:t>
            </a:r>
            <a:endParaRPr kumimoji="1" lang="ja-JP" altLang="en-US" sz="480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2026-07-03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3F2D-9EC7-AAA4-916F-D8B10834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2DF32-ED01-EAAD-037C-6EFA13B6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7EFCF6-B548-6460-FF01-1D45622F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2BE71D-DE8B-4B22-0247-E4041A53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98F7DAAB-1C11-D77A-0B19-C3343D7A2487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A934CCB-C4FD-AB81-A889-39A1D5B9BA8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2EDEA52D-86B0-538B-E2FC-BD8862C2E52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E3D89B4-5EC5-D355-B723-803EF7EFE82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2161F351-5199-A7AC-CE11-C84D4A971DC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6A5107D3-0FEA-D2D6-5C24-760B449A505D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10173C9-10A0-5FF7-6254-2CC432AC4D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B9AE4B59-4A56-9661-9346-FC7267B6168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ECC3025-C1F1-EFD4-FF9C-0668D71E9F3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6B7DC040-B271-150B-6A24-2028C606A0A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6BA45C9-68AA-DA6E-5D2E-5CE36EF669CA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723EEA1-3E92-AF4E-A92F-F310813EA4C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BA9CEB57-23B0-6385-CB04-3177B1B115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7FF99B14-889A-1011-F8F4-EC1FFE0274F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68273DFF-8DC8-5034-AACC-7DDB90A2D69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FF37D942-30FB-2C88-1F3E-BFBACE6DA924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CFF1DF8-69CF-5768-5921-EB74B83C800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AB2A8C62-3C9D-B0F3-5E0A-4F830D7B704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4899495C-2906-5558-6601-76BB83FF6C8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AB53A582-0408-FC05-72F8-1BC0647F77D5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B6B5D9-5B28-92C2-6932-DAEBC7EBBC08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A87DBB9C-1292-22B0-CBE7-3C2C506B711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A2028652-ED87-3DC4-39F9-E63C2E0BF8B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4AB6C02-47C6-C0D8-C854-EFDAEDFDE98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C7FFDCFA-5228-2C25-23DA-3FD5130570E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2D497E1-3F52-F24A-162F-2DB2D881BC95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97CDF0D-1A23-EDAA-024C-B924CAF07EA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FC039023-8CF4-7353-1D0A-0E704CF082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B1BD11D-C849-A1FD-5B93-D024923D4AE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41F820FD-9911-B1CF-45FE-9B73A28C8E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B964AD0-EE49-039A-298B-BC40BF1C3762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0978D76B-C677-AABA-B2F9-3A3DF0F4D7A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BDA4636E-EB4D-007B-70EF-29F37B2C74A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40204FF3-3B17-5E31-D137-95FD18CF0DE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F1F40D0B-468A-D2E2-0768-65B8ABACFC8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85C5743-75C7-1BFD-2D9B-FA4ACA5CD3A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8C3186E-A538-937B-8550-F2FD90FC8A3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19361D24-07DA-EBA7-CF0D-2A119454B16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DB04672-EC83-F47C-C267-F34A40837A3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6D412A2E-B04C-34CD-C4DA-DA140FB55A5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FFF3D64E-E565-7A71-E121-CAA7EA31696F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52552EA-FDE9-1532-2DA9-A6A69AEFFE0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C0547561-7FDD-8F1D-D98D-62EC74E0F11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5B2F28D-9C8B-3631-9470-75FEED6294C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60FFC8B6-EB57-3D9B-AACD-AC47A8E24AD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E10B19ED-251C-1BA2-1E99-506F864357BA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13AB1A7D-5E46-F3C4-0E73-E1A6323F5E3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6EE807C3-ECE8-972C-D672-A24FCB4635C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2385214B-5E8C-01D0-2581-73C2E85FA92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3F63C276-92FD-C55C-D76D-B428200203C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E0B23A69-3D0A-30DE-D63A-CFB9F422BBD6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2AB6D48D-57CE-9B33-EC74-9593FB8234B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FA426E4F-2AF5-F1E0-51E9-7BE7B03CF06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8FAD5CBD-77EA-7BA5-BE48-AB384AC12D6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2AD3DBD6-3FCC-C09A-A55F-ECD9B71DED8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23F0E1D2-0FC6-61C8-3079-7BC12F9B54CF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38212CD8-F2B5-E6E5-472E-30540C4BB0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3149CD1E-3B06-017B-3185-8D86BFCFAF3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2E82047E-CB5B-11DA-7510-402ABF9572B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26253C2-AE8C-0499-2B00-8B3768B4162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C32A51A3-AE96-5B7A-7467-E4A2135CEC3E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62FBDF8-6842-66AA-ED02-A976619EAAF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CCEA1C9F-94BA-4D46-AB52-1317364CBCF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2392CD05-FD5D-C26E-ACDC-8760179B53C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50D9C10-83DA-A39D-1712-C7514F9E878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8C48FE-5BC3-19F6-C3A4-109394D6D1F4}"/>
              </a:ext>
            </a:extLst>
          </p:cNvPr>
          <p:cNvSpPr/>
          <p:nvPr/>
        </p:nvSpPr>
        <p:spPr>
          <a:xfrm>
            <a:off x="707282" y="129192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3616966E-8D12-539B-F509-1D1C5F2670A5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2D40E0B1-177D-2F41-E419-3CAB4229554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B57FD160-A512-773F-4232-32F675E5389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3A5809EF-6005-86B2-F1F7-C843F7D7460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5D63E947-E5C0-98D5-ADED-32B7E544E0F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502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CC8A5-F1A0-7A87-A29E-2793B6A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2AACA5-9564-F720-D2B2-6B483FC6D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ja-JP" altLang="en-US"/>
              <a:t>補完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en-US" altLang="ja-JP" dirty="0"/>
              <a:t>Homebrew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847827-2D3D-0762-F2E0-812D21E9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5C61E-FF7C-BCD3-46A2-82E649E9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FDF9D7-DC9F-4D3C-A9E9-AA671B622FC0}"/>
              </a:ext>
            </a:extLst>
          </p:cNvPr>
          <p:cNvSpPr/>
          <p:nvPr/>
        </p:nvSpPr>
        <p:spPr>
          <a:xfrm>
            <a:off x="838200" y="2493818"/>
            <a:ext cx="8485909" cy="1610303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2" descr="upload.wikimedia.org/wikipedia/commons/thumb/9/95/...">
            <a:extLst>
              <a:ext uri="{FF2B5EF4-FFF2-40B4-BE49-F238E27FC236}">
                <a16:creationId xmlns:a16="http://schemas.microsoft.com/office/drawing/2014/main" id="{6A3890C4-1BF3-2AFE-0FE7-4A59F3A13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2349000"/>
            <a:ext cx="71419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980713C-48FA-92F4-4C67-84858053C007}"/>
              </a:ext>
            </a:extLst>
          </p:cNvPr>
          <p:cNvSpPr/>
          <p:nvPr/>
        </p:nvSpPr>
        <p:spPr>
          <a:xfrm>
            <a:off x="4367646" y="1673879"/>
            <a:ext cx="1188028" cy="17551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06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094CD9-097E-E007-53EE-3ADCAE1B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補完（</a:t>
            </a:r>
            <a:r>
              <a:rPr kumimoji="1" lang="en-US" altLang="ja-JP" dirty="0"/>
              <a:t>completion</a:t>
            </a:r>
            <a:r>
              <a:rPr kumimoji="1" lang="ja-JP" altLang="en-US"/>
              <a:t>）とは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0AAE95-F9D1-CE37-7D55-98693D05D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ターミナルでユーザの代わりに入力</a:t>
            </a:r>
            <a:r>
              <a:rPr lang="ja-JP" altLang="en-US"/>
              <a:t>する</a:t>
            </a:r>
            <a:r>
              <a:rPr kumimoji="1" lang="ja-JP" altLang="en-US"/>
              <a:t>シェルの機能．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候補が一つであれば代替入力，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候補が複数であれば一覧表示してくれる．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コマンド，引数，オプションなど様々なものを補完してくれる．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ja-JP" altLang="en-US"/>
              <a:t>コマンドの入力の色々な場面で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ja-JP" altLang="en-US"/>
              <a:t>を入力してみよう．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0F8210-B7C7-24E9-F274-FB4A005D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71D7DC-C53F-6DE5-6C82-85892A07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906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FAD445-4249-2DDA-82DF-0F4EE301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どうやって補完している？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9D24E1-7578-094E-01B7-FAC756D0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complete</a:t>
            </a:r>
            <a:r>
              <a:rPr kumimoji="1" lang="ja-JP" altLang="en-US"/>
              <a:t>コマンドに補完を行うシェル関数を渡すことで実現している．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右図の最下段で登録している．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規定の場所に置き</a:t>
            </a:r>
            <a:r>
              <a:rPr kumimoji="1" lang="en-US" altLang="ja-JP" dirty="0"/>
              <a:t> Shell</a:t>
            </a:r>
            <a:br>
              <a:rPr kumimoji="1" lang="en-US" altLang="ja-JP" dirty="0"/>
            </a:br>
            <a:r>
              <a:rPr kumimoji="1" lang="ja-JP" altLang="en-US"/>
              <a:t>起動時に読み込ませる．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$HOMEBREW_HOME/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bash_completion.d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kumimoji="1" lang="ja-JP" altLang="en-US"/>
              <a:t>が入力されると適切な</a:t>
            </a:r>
            <a:br>
              <a:rPr kumimoji="1" lang="en-US" altLang="ja-JP" dirty="0"/>
            </a:br>
            <a:r>
              <a:rPr kumimoji="1" lang="ja-JP" altLang="en-US"/>
              <a:t>関数が呼び出され，補完</a:t>
            </a:r>
            <a:r>
              <a:rPr lang="ja-JP" altLang="en-US"/>
              <a:t>が</a:t>
            </a:r>
            <a:br>
              <a:rPr lang="en-US" altLang="ja-JP" dirty="0"/>
            </a:br>
            <a:r>
              <a:rPr lang="ja-JP" altLang="en-US"/>
              <a:t>実行</a:t>
            </a:r>
            <a:r>
              <a:rPr kumimoji="1" lang="ja-JP" altLang="en-US"/>
              <a:t>される．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FC20C7-1E9D-A3B0-C858-AB200E05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ED5BF1-6916-9EE2-2E6A-5A98B71A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D8D067-FBF4-8AEC-2069-7948575B4AD2}"/>
              </a:ext>
            </a:extLst>
          </p:cNvPr>
          <p:cNvSpPr txBox="1"/>
          <p:nvPr/>
        </p:nvSpPr>
        <p:spPr>
          <a:xfrm>
            <a:off x="6196333" y="3226237"/>
            <a:ext cx="5995667" cy="3631763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ja-JP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__sibling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local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opts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cmds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cur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COMP_WORDS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[COMP_CWORD]}"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COMP_WORDS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[COMP_CWORD-1]}"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opts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case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"${</a:t>
            </a:r>
            <a:r>
              <a:rPr lang="en" altLang="ja-JP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--type | -t)</a:t>
            </a: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-W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"next previous random"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return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;;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esac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opts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-a -p -P -h -V -t --absolute --progress --parent --help --version --type"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[[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=~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^</a:t>
            </a:r>
            <a:r>
              <a:rPr lang="en" altLang="ja-JP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\-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]]; </a:t>
            </a:r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-W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opts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compopt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filenames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-d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fi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complete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-F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__sibling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bashdefault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sibling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98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44702-84AD-4DA1-5EF6-A7CDD851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Bash</a:t>
            </a:r>
            <a:r>
              <a:rPr kumimoji="1" lang="ja-JP" altLang="en-US" sz="3600"/>
              <a:t>の場合</a:t>
            </a:r>
            <a:br>
              <a:rPr kumimoji="1" lang="en-US" altLang="ja-JP" sz="3600" dirty="0"/>
            </a:br>
            <a:r>
              <a:rPr kumimoji="1" lang="ja-JP" altLang="en-US"/>
              <a:t>シェル関数の中身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4DEFF1-674A-5EA9-123C-F5EAF6CF2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COMPREPLY</a:t>
            </a:r>
            <a:r>
              <a:rPr kumimoji="1" lang="ja-JP" altLang="en-US"/>
              <a:t>変数（配列）の値が補完内容となる．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次の２つの内容から，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COMPREPLY</a:t>
            </a:r>
            <a:r>
              <a:rPr lang="ja-JP" altLang="en-US"/>
              <a:t>の内容を決める．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現在のカーソル位置にある文字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COMP_WORDS[COMP_CWORD]</a:t>
            </a:r>
          </a:p>
          <a:p>
            <a:pPr lvl="1">
              <a:lnSpc>
                <a:spcPct val="110000"/>
              </a:lnSpc>
            </a:pPr>
            <a:r>
              <a:rPr lang="ja-JP" altLang="en-US"/>
              <a:t>前の位置の文字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COMP_WORDS[COMP_CWORD]</a:t>
            </a:r>
          </a:p>
          <a:p>
            <a:pPr>
              <a:lnSpc>
                <a:spcPct val="11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コマンドが補完候補の一覧出力をサポートしてくれる．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81ABE6-8B10-5C84-6E31-EF5E369B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E3E621-9E3E-F002-FACE-C1A8BAFA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78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AF60-BF3F-6195-8269-3F836528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B21E8C-5C5E-56D7-9FCD-AB4B1A75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 err="1"/>
              <a:t>Z</a:t>
            </a:r>
            <a:r>
              <a:rPr kumimoji="1" lang="en-US" altLang="ja-JP" sz="3600" dirty="0" err="1"/>
              <a:t>sh</a:t>
            </a:r>
            <a:r>
              <a:rPr kumimoji="1" lang="ja-JP" altLang="en-US" sz="3600"/>
              <a:t>の場合</a:t>
            </a:r>
            <a:br>
              <a:rPr kumimoji="1" lang="en-US" altLang="ja-JP" sz="3600" dirty="0"/>
            </a:br>
            <a:r>
              <a:rPr kumimoji="1" lang="ja-JP" altLang="en-US"/>
              <a:t>シェル関数の中身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BFD366-54A9-E131-17CC-55D244A0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右の本に詳しい。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シェルごとに補完関数の書き方が違う。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fish,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, elvish, ash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などシェルはいくつもある。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バージョンごとに機能も書き方もちょっとずつ違う。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D53DC6-3B2F-49C0-193A-B2333E73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ED3894-3D2C-E495-74E8-9DD3AD21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B4D2FC3-259E-8C8F-674E-C775BD9BF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0"/>
            <a:ext cx="2222500" cy="3175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C04164-135B-01FA-5EF2-70B682479FF4}"/>
              </a:ext>
            </a:extLst>
          </p:cNvPr>
          <p:cNvSpPr txBox="1"/>
          <p:nvPr/>
        </p:nvSpPr>
        <p:spPr>
          <a:xfrm>
            <a:off x="3048000" y="63563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https://www.amazon.co.jp/dp/4774138649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0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4C396F-1D0D-E29C-7275-258DA291D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920C2-9C25-60A2-9911-048F749B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補完関数を作成する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864B7C-69BC-F07C-D53D-C7151977C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4709" cy="424266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さぁ，シェルスクリプトを頑張って書こう．</a:t>
            </a:r>
            <a:br>
              <a:rPr kumimoji="1" lang="en-US" altLang="ja-JP" dirty="0"/>
            </a:b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CLI</a:t>
            </a:r>
            <a:r>
              <a:rPr lang="ja-JP" altLang="en-US"/>
              <a:t>オプション解析ライブラリに任せよう．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Rust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でのオプション解析のデファクトスタンダードである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clap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は</a:t>
            </a:r>
            <a:r>
              <a:rPr lang="ja-JP" altLang="en-US"/>
              <a:t>補完関数を生成できる。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自作に興味があれば</a:t>
            </a:r>
            <a:r>
              <a:rPr lang="ja-JP" altLang="en-US"/>
              <a:t>以下を参考に．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hlinkClick r:id="rId2"/>
              </a:rPr>
              <a:t>https://ytyaru.hatenablog.com/entry/2023/01/09/000000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DCD68-AE2F-9E2F-4FB7-BEE4091D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5122FE-ACFD-D9AC-F1BA-7C4F4C4B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75F68DE-8C2E-C2A3-F030-85A2447C5D57}"/>
              </a:ext>
            </a:extLst>
          </p:cNvPr>
          <p:cNvSpPr/>
          <p:nvPr/>
        </p:nvSpPr>
        <p:spPr>
          <a:xfrm>
            <a:off x="838200" y="2651919"/>
            <a:ext cx="10750826" cy="3251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91570-BCAD-E0E1-81E3-3464C1D8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補完関数を作成する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C3B9CD-B40D-637A-4581-902F904B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4709" cy="424266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さぁ，シェルスクリプトを頑張って書こう．</a:t>
            </a:r>
            <a:br>
              <a:rPr kumimoji="1" lang="en-US" altLang="ja-JP" dirty="0"/>
            </a:b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CLI</a:t>
            </a:r>
            <a:r>
              <a:rPr lang="ja-JP" altLang="en-US"/>
              <a:t>オプション解析ライブラリに任せよう．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Rust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でのオプション解析のデファクトスタンダードである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clap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は</a:t>
            </a:r>
            <a:r>
              <a:rPr lang="ja-JP" altLang="en-US"/>
              <a:t>補完関数を生成できる。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自作に興味があれば</a:t>
            </a:r>
            <a:r>
              <a:rPr lang="ja-JP" altLang="en-US"/>
              <a:t>以下を参考に．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hlinkClick r:id="rId2"/>
              </a:rPr>
              <a:t>https://ytyaru.hatenablog.com/entry/2023/01/09/000000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4F5037-35DD-69BD-6FEE-9BA3D3D6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113545-9243-AE48-69C4-557B4B6E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58BF47-7DEC-15FC-37A1-660F75C9E5F6}"/>
              </a:ext>
            </a:extLst>
          </p:cNvPr>
          <p:cNvSpPr txBox="1"/>
          <p:nvPr/>
        </p:nvSpPr>
        <p:spPr>
          <a:xfrm>
            <a:off x="1039090" y="2289451"/>
            <a:ext cx="4314787" cy="64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100">
                <a:latin typeface="Meiryo" panose="020B0604030504040204" pitchFamily="34" charset="-128"/>
                <a:ea typeface="Meiryo" panose="020B0604030504040204" pitchFamily="34" charset="-128"/>
              </a:rPr>
              <a:t>・・・</a:t>
            </a:r>
            <a:r>
              <a:rPr kumimoji="1" lang="ja-JP" altLang="en-US" sz="3100">
                <a:latin typeface="Meiryo" panose="020B0604030504040204" pitchFamily="34" charset="-128"/>
                <a:ea typeface="Meiryo" panose="020B0604030504040204" pitchFamily="34" charset="-128"/>
              </a:rPr>
              <a:t>にはならない．</a:t>
            </a:r>
            <a:endParaRPr kumimoji="1" lang="en-US" altLang="ja-JP" sz="3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83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8265D-DCCE-0087-D644-8E26C369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補完ファイルを出力する</a:t>
            </a:r>
            <a:r>
              <a:rPr kumimoji="1" lang="ja-JP" altLang="en-US" sz="3600"/>
              <a:t>（</a:t>
            </a:r>
            <a:r>
              <a:rPr kumimoji="1" lang="en-US" altLang="ja-JP" sz="3600" dirty="0"/>
              <a:t>1/2; </a:t>
            </a:r>
            <a:r>
              <a:rPr kumimoji="1" lang="ja-JP" altLang="en-US" sz="3600"/>
              <a:t>準備）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445D94-F629-DFE6-1811-8FE3B272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コマンドライン引数にオプションが指定されれば、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補完ファイルを出力する。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対応するすべてのシェルに対応したファイルを出力する。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Cargo.toml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ja-JP" altLang="en-US"/>
              <a:t>に</a:t>
            </a:r>
            <a:r>
              <a:rPr kumimoji="1" lang="en-US" altLang="ja-JP" dirty="0"/>
              <a:t>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clap_complete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ja-JP" altLang="en-US"/>
              <a:t>を追加する。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cargo add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clap_complete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ja-JP" altLang="en-US"/>
              <a:t>コマンドラインオプションに</a:t>
            </a:r>
            <a:r>
              <a:rPr lang="en-US" altLang="ja-JP" dirty="0"/>
              <a:t> complete </a:t>
            </a:r>
            <a:r>
              <a:rPr lang="ja-JP" altLang="en-US"/>
              <a:t>を追加する。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#[</a:t>
            </a:r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en-US" altLang="ja-JP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"generate completion files"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ja-JP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default_value_t</a:t>
            </a:r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ja-JP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completions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ja-JP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</a:pP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1752C5-B375-95A8-737B-E36BBD32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9E9840-882E-637F-F722-18317140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076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58131-E232-8691-53D4-7F51B3719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補完ファイルを出力する</a:t>
            </a:r>
            <a:r>
              <a:rPr lang="ja-JP" altLang="en-US" sz="3600"/>
              <a:t>（</a:t>
            </a:r>
            <a:r>
              <a:rPr lang="en-US" altLang="ja-JP" sz="3600" dirty="0"/>
              <a:t>2/2; </a:t>
            </a:r>
            <a:r>
              <a:rPr lang="ja-JP" altLang="en-US" sz="3600"/>
              <a:t>出力）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046C1B-0A05-AF5C-BC4F-A32B53C6E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8497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右のようなファイルを</a:t>
            </a:r>
            <a:r>
              <a:rPr lang="en-US" altLang="ja-JP" dirty="0"/>
              <a:t>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gencomp.rs</a:t>
            </a:r>
            <a:r>
              <a:rPr lang="ja-JP" altLang="en-US"/>
              <a:t>に置く。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main.rs</a:t>
            </a:r>
            <a:r>
              <a:rPr kumimoji="1" lang="ja-JP" altLang="en-US"/>
              <a:t>で引数解析後、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completions</a:t>
            </a:r>
            <a:r>
              <a:rPr lang="en-US" altLang="ja-JP" dirty="0"/>
              <a:t> </a:t>
            </a:r>
            <a:r>
              <a:rPr lang="ja-JP" altLang="en-US"/>
              <a:t>オプションが指定されていれば、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generate("completions") </a:t>
            </a:r>
            <a:r>
              <a:rPr lang="ja-JP" altLang="en-US"/>
              <a:t>を呼び出す。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C07E79-8E8D-5944-B394-B66B234A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6D999C4-3AF5-29D8-6EB7-00E01BBC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61B032-05A4-66D5-5403-692DB7A980AD}"/>
              </a:ext>
            </a:extLst>
          </p:cNvPr>
          <p:cNvSpPr txBox="1"/>
          <p:nvPr/>
        </p:nvSpPr>
        <p:spPr>
          <a:xfrm>
            <a:off x="1510146" y="2994122"/>
            <a:ext cx="9171708" cy="386387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clap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Command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CommandFactory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>
              <a:lnSpc>
                <a:spcPts val="1350"/>
              </a:lnSpc>
              <a:buNone/>
            </a:pPr>
            <a:endParaRPr lang="en-US" altLang="ja-JP" sz="1400" b="0" dirty="0">
              <a:solidFill>
                <a:srgbClr val="FF7B7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generate_impl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Command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destfile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join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create_dir_all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destfile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parent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unwrap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unwrap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Ok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ja-JP" altLang="ja-JP" sz="140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  <a:r>
              <a:rPr lang="ja-JP" altLang="ja-JP" sz="140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destfile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clap_complete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super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>
                <a:solidFill>
                  <a:srgbClr val="4EC9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clap_complete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Elvish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"lis"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crate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command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 u="sng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set_bin_name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generate_impl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format!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"bash/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generate_impl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Elvish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format!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"elvish/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generate_impl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format!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"fish/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generate_impl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format!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"powershell/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generate_impl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Zsh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 u="sng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outdir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format!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"zsh/_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>
              <a:lnSpc>
                <a:spcPts val="1350"/>
              </a:lnSpc>
              <a:buNone/>
            </a:pP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859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CC8A5-F1A0-7A87-A29E-2793B6A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2AACA5-9564-F720-D2B2-6B483FC6D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ja-JP" altLang="en-US"/>
              <a:t>補完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en-US" altLang="ja-JP" dirty="0"/>
              <a:t>Homebrew</a:t>
            </a:r>
          </a:p>
          <a:p>
            <a:pPr>
              <a:lnSpc>
                <a:spcPct val="100000"/>
              </a:lnSpc>
            </a:pPr>
            <a:endParaRPr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847827-2D3D-0762-F2E0-812D21E9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5C61E-FF7C-BCD3-46A2-82E649E9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1026" name="Picture 2" descr="upload.wikimedia.org/wikipedia/commons/thumb/9/95/...">
            <a:extLst>
              <a:ext uri="{FF2B5EF4-FFF2-40B4-BE49-F238E27FC236}">
                <a16:creationId xmlns:a16="http://schemas.microsoft.com/office/drawing/2014/main" id="{0335B247-AE90-D21E-6A1E-A085458C2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2349000"/>
            <a:ext cx="71419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E1C5E67-AE0D-90D8-E555-549A43EBBEA6}"/>
              </a:ext>
            </a:extLst>
          </p:cNvPr>
          <p:cNvSpPr/>
          <p:nvPr/>
        </p:nvSpPr>
        <p:spPr>
          <a:xfrm>
            <a:off x="838199" y="1825625"/>
            <a:ext cx="2874819" cy="806739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504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4D317A-02CE-2AAC-EA50-51E02870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Homebrew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9FDF0-757A-C39C-C965-2A4D3ACCC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en-US" altLang="ja-JP" dirty="0"/>
              <a:t>macOS</a:t>
            </a:r>
            <a:r>
              <a:rPr kumimoji="1" lang="ja-JP" altLang="en-US"/>
              <a:t>用のパッケージマネージャ</a:t>
            </a:r>
            <a:r>
              <a:rPr lang="ja-JP" altLang="en-US"/>
              <a:t>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種々の</a:t>
            </a:r>
            <a:r>
              <a:rPr lang="ja-JP" altLang="en-US"/>
              <a:t>ツールを簡単にインストールできる．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このツールでインストールしたツールのバージョンアップも一括でできる．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kumimoji="1" lang="ja-JP" altLang="en-US"/>
              <a:t>個人ツールも</a:t>
            </a:r>
            <a:r>
              <a:rPr kumimoji="1" lang="en-US" altLang="ja-JP" dirty="0"/>
              <a:t>Homebrew</a:t>
            </a:r>
            <a:r>
              <a:rPr kumimoji="1" lang="ja-JP" altLang="en-US"/>
              <a:t>で管理できる．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個人のリポジトリで提供できる．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もちろん，公式リポジトリからの提供もできる．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A5A150-C787-10D1-7C5F-C51211E2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BA34D0-6A6A-D02F-EBB8-A1A3C9B1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79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48846-5589-96BC-1F9E-5EE165BB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6CDB783F-FE37-2146-186C-6873EA4F8506}"/>
              </a:ext>
            </a:extLst>
          </p:cNvPr>
          <p:cNvSpPr/>
          <p:nvPr/>
        </p:nvSpPr>
        <p:spPr>
          <a:xfrm>
            <a:off x="7199297" y="5023479"/>
            <a:ext cx="4781493" cy="1709152"/>
          </a:xfrm>
          <a:prstGeom prst="roundRect">
            <a:avLst>
              <a:gd name="adj" fmla="val 10053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910A08C-1953-F29A-44E7-6241251BD340}"/>
              </a:ext>
            </a:extLst>
          </p:cNvPr>
          <p:cNvSpPr/>
          <p:nvPr/>
        </p:nvSpPr>
        <p:spPr>
          <a:xfrm>
            <a:off x="6709714" y="5122311"/>
            <a:ext cx="1080000" cy="167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A787B951-FFF3-CEC4-DEB9-350BE4AADDEC}"/>
              </a:ext>
            </a:extLst>
          </p:cNvPr>
          <p:cNvSpPr/>
          <p:nvPr/>
        </p:nvSpPr>
        <p:spPr>
          <a:xfrm>
            <a:off x="9013033" y="381505"/>
            <a:ext cx="2967758" cy="2791185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A6FE6F2-26DC-C325-C587-C02918CBA142}"/>
              </a:ext>
            </a:extLst>
          </p:cNvPr>
          <p:cNvSpPr/>
          <p:nvPr/>
        </p:nvSpPr>
        <p:spPr>
          <a:xfrm>
            <a:off x="8638633" y="1825625"/>
            <a:ext cx="1080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CF9B571-94FC-EBDD-8894-3417CCCF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Homebrew</a:t>
            </a:r>
            <a:r>
              <a:rPr kumimoji="1" lang="ja-JP" altLang="en-US"/>
              <a:t>の用語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82662A-0FCB-089F-F0A2-5379A0D2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0126" cy="4796849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>
                <a:cs typeface="Consolas" panose="020B0609020204030204" pitchFamily="49" charset="0"/>
              </a:rPr>
              <a:t>Tap</a:t>
            </a:r>
            <a:r>
              <a:rPr lang="ja-JP" altLang="en-US">
                <a:cs typeface="Consolas" panose="020B0609020204030204" pitchFamily="49" charset="0"/>
              </a:rPr>
              <a:t>を作成する．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cs typeface="Consolas" panose="020B0609020204030204" pitchFamily="49" charset="0"/>
              </a:rPr>
              <a:t>GitHub</a:t>
            </a:r>
            <a:r>
              <a:rPr lang="ja-JP" altLang="en-US">
                <a:cs typeface="Consolas" panose="020B0609020204030204" pitchFamily="49" charset="0"/>
              </a:rPr>
              <a:t>などで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ja-JP" altLang="en-US">
                <a:cs typeface="Consolas" panose="020B0609020204030204" pitchFamily="49" charset="0"/>
              </a:rPr>
              <a:t>リポジトリを作成する．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ja-JP" altLang="en-US">
                <a:cs typeface="Consolas" panose="020B0609020204030204" pitchFamily="49" charset="0"/>
              </a:rPr>
              <a:t>リポジトリを</a:t>
            </a:r>
            <a:r>
              <a:rPr lang="en-US" altLang="ja-JP" dirty="0">
                <a:cs typeface="Consolas" panose="020B0609020204030204" pitchFamily="49" charset="0"/>
              </a:rPr>
              <a:t>Tap</a:t>
            </a:r>
            <a:r>
              <a:rPr lang="ja-JP" altLang="en-US">
                <a:cs typeface="Consolas" panose="020B0609020204030204" pitchFamily="49" charset="0"/>
              </a:rPr>
              <a:t>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tap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</a:p>
          <a:p>
            <a:pPr>
              <a:lnSpc>
                <a:spcPct val="120000"/>
              </a:lnSpc>
            </a:pPr>
            <a:r>
              <a:rPr lang="en-US" altLang="ja-JP" dirty="0">
                <a:cs typeface="Consolas" panose="020B0609020204030204" pitchFamily="49" charset="0"/>
              </a:rPr>
              <a:t>Formula</a:t>
            </a:r>
            <a:r>
              <a:rPr lang="ja-JP" altLang="en-US">
                <a:cs typeface="Consolas" panose="020B0609020204030204" pitchFamily="49" charset="0"/>
              </a:rPr>
              <a:t>を作成する．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create --tap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/tap &lt;URL&gt;</a:t>
            </a: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/opt/homebrew/Library/Taps/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/Formula/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に作成される．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もしくは，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/Formula/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を作成する．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具体的なレシピは後述する．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BF945E-C1E5-C2D3-0ECF-686A776A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88C7B6-709E-3A0D-4E54-41EC5A7D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2722622E-5CFA-B5D2-894E-5EB9686B2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714" y="5127689"/>
            <a:ext cx="1080000" cy="108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B0073C42-2C29-C0CB-26B9-CFAE97C55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3799" y="5126941"/>
            <a:ext cx="1080000" cy="10800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5F1E3409-8F79-508D-2BC9-E8E3829AE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638958" y="1825625"/>
            <a:ext cx="1080000" cy="1080000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6EDED90D-F728-EB3B-F974-0C5E13A0E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4092" y="3461294"/>
            <a:ext cx="1080000" cy="1080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1ACC30A-5CA9-5595-B578-DAE4BCA13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385" y="47273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tbucket Logo PNG Vector (SVG) Free Download">
            <a:extLst>
              <a:ext uri="{FF2B5EF4-FFF2-40B4-BE49-F238E27FC236}">
                <a16:creationId xmlns:a16="http://schemas.microsoft.com/office/drawing/2014/main" id="{92C421FD-8172-A31D-0C79-AC75C7CD7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433" y="500079"/>
            <a:ext cx="540000" cy="48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56DFB3-C7D9-0EBD-74EB-929EC3BF5952}"/>
              </a:ext>
            </a:extLst>
          </p:cNvPr>
          <p:cNvSpPr txBox="1"/>
          <p:nvPr/>
        </p:nvSpPr>
        <p:spPr>
          <a:xfrm>
            <a:off x="7530312" y="1825625"/>
            <a:ext cx="11079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Tap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蛇口）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FF50EE-F629-1354-362C-7ADBC1005FC9}"/>
              </a:ext>
            </a:extLst>
          </p:cNvPr>
          <p:cNvSpPr txBox="1"/>
          <p:nvPr/>
        </p:nvSpPr>
        <p:spPr>
          <a:xfrm>
            <a:off x="10423767" y="3461294"/>
            <a:ext cx="14067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Formula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レシピ）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1BAA09C-73C2-4B32-A57A-77EAA149316E}"/>
              </a:ext>
            </a:extLst>
          </p:cNvPr>
          <p:cNvSpPr txBox="1"/>
          <p:nvPr/>
        </p:nvSpPr>
        <p:spPr>
          <a:xfrm>
            <a:off x="8993474" y="5126941"/>
            <a:ext cx="22621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Keg</a:t>
            </a: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（インストール先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（熟成用樽）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057F4107-35AE-B579-F862-5525C672726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30"/>
          <a:stretch/>
        </p:blipFill>
        <p:spPr>
          <a:xfrm>
            <a:off x="8299200" y="3461294"/>
            <a:ext cx="539673" cy="108000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D6F04DE-CD1F-4A48-CCBF-A264F0F3B49A}"/>
              </a:ext>
            </a:extLst>
          </p:cNvPr>
          <p:cNvSpPr txBox="1"/>
          <p:nvPr/>
        </p:nvSpPr>
        <p:spPr>
          <a:xfrm>
            <a:off x="5712846" y="3463325"/>
            <a:ext cx="24929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Bottle</a:t>
            </a:r>
          </a:p>
          <a:p>
            <a:pPr algn="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（ビルド済バイナリ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</p:txBody>
      </p:sp>
      <p:sp>
        <p:nvSpPr>
          <p:cNvPr id="22" name="右矢印 21">
            <a:extLst>
              <a:ext uri="{FF2B5EF4-FFF2-40B4-BE49-F238E27FC236}">
                <a16:creationId xmlns:a16="http://schemas.microsoft.com/office/drawing/2014/main" id="{67C1B632-D163-4CA3-9463-5184E79FF114}"/>
              </a:ext>
            </a:extLst>
          </p:cNvPr>
          <p:cNvSpPr/>
          <p:nvPr/>
        </p:nvSpPr>
        <p:spPr>
          <a:xfrm rot="2700000">
            <a:off x="935152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044AA077-9065-C410-9955-2C954B4F88D2}"/>
              </a:ext>
            </a:extLst>
          </p:cNvPr>
          <p:cNvSpPr/>
          <p:nvPr/>
        </p:nvSpPr>
        <p:spPr>
          <a:xfrm rot="18900000" flipH="1">
            <a:off x="855891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3C8C5F0D-426B-9A80-0879-C2DA166353D4}"/>
              </a:ext>
            </a:extLst>
          </p:cNvPr>
          <p:cNvSpPr/>
          <p:nvPr/>
        </p:nvSpPr>
        <p:spPr>
          <a:xfrm rot="18900000" flipH="1">
            <a:off x="935863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右矢印 24">
            <a:extLst>
              <a:ext uri="{FF2B5EF4-FFF2-40B4-BE49-F238E27FC236}">
                <a16:creationId xmlns:a16="http://schemas.microsoft.com/office/drawing/2014/main" id="{629095F1-C54C-20BE-9578-B497579E92F1}"/>
              </a:ext>
            </a:extLst>
          </p:cNvPr>
          <p:cNvSpPr/>
          <p:nvPr/>
        </p:nvSpPr>
        <p:spPr>
          <a:xfrm rot="2700000">
            <a:off x="856602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58E027F-D5B4-F6FE-6F23-2340006D2EE3}"/>
              </a:ext>
            </a:extLst>
          </p:cNvPr>
          <p:cNvSpPr txBox="1"/>
          <p:nvPr/>
        </p:nvSpPr>
        <p:spPr>
          <a:xfrm>
            <a:off x="6580300" y="6176963"/>
            <a:ext cx="1338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Cellar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（貯蔵庫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26" name="Picture 2" descr="MAC OS logo - Free computer icons">
            <a:extLst>
              <a:ext uri="{FF2B5EF4-FFF2-40B4-BE49-F238E27FC236}">
                <a16:creationId xmlns:a16="http://schemas.microsoft.com/office/drawing/2014/main" id="{BE326440-CE57-B5F6-DB58-2CFFBD869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218" y="513459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70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4" grpId="0" animBg="1"/>
      <p:bldP spid="16" grpId="0"/>
      <p:bldP spid="17" grpId="0"/>
      <p:bldP spid="18" grpId="0"/>
      <p:bldP spid="21" grpId="0"/>
      <p:bldP spid="22" grpId="0" animBg="1"/>
      <p:bldP spid="23" grpId="0" animBg="1"/>
      <p:bldP spid="24" grpId="0" animBg="1"/>
      <p:bldP spid="25" grpId="0" animBg="1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7377BA9B-BC61-EBB8-4FA2-79E7453BD8BE}"/>
              </a:ext>
            </a:extLst>
          </p:cNvPr>
          <p:cNvSpPr/>
          <p:nvPr/>
        </p:nvSpPr>
        <p:spPr>
          <a:xfrm>
            <a:off x="7199297" y="5023479"/>
            <a:ext cx="4781493" cy="1709152"/>
          </a:xfrm>
          <a:prstGeom prst="roundRect">
            <a:avLst>
              <a:gd name="adj" fmla="val 10053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4772BF6-2BC2-ADCA-A583-CDBD6F9B49CB}"/>
              </a:ext>
            </a:extLst>
          </p:cNvPr>
          <p:cNvSpPr/>
          <p:nvPr/>
        </p:nvSpPr>
        <p:spPr>
          <a:xfrm>
            <a:off x="6709714" y="5122311"/>
            <a:ext cx="1080000" cy="167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02E0977B-A2A5-4178-5A2F-1A0372F36038}"/>
              </a:ext>
            </a:extLst>
          </p:cNvPr>
          <p:cNvSpPr/>
          <p:nvPr/>
        </p:nvSpPr>
        <p:spPr>
          <a:xfrm>
            <a:off x="9013033" y="381505"/>
            <a:ext cx="2967758" cy="2791185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57B97B-A26B-EA36-95BA-D38A4E683539}"/>
              </a:ext>
            </a:extLst>
          </p:cNvPr>
          <p:cNvSpPr/>
          <p:nvPr/>
        </p:nvSpPr>
        <p:spPr>
          <a:xfrm>
            <a:off x="8638633" y="1825625"/>
            <a:ext cx="1080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55473C5-9FDE-5314-D180-459A9E25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個人の</a:t>
            </a:r>
            <a:r>
              <a:rPr lang="en-US" altLang="ja-JP" dirty="0"/>
              <a:t>Homebrew</a:t>
            </a:r>
            <a:br>
              <a:rPr lang="en-US" altLang="ja-JP" dirty="0"/>
            </a:br>
            <a:r>
              <a:rPr lang="ja-JP" altLang="en-US"/>
              <a:t>リポジトリ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284CA6-3A97-94D2-C758-78614C485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0126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Tap</a:t>
            </a:r>
            <a:r>
              <a:rPr lang="ja-JP" altLang="en-US"/>
              <a:t>を登録する．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tap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/tap</a:t>
            </a:r>
          </a:p>
          <a:p>
            <a:pPr>
              <a:lnSpc>
                <a:spcPct val="120000"/>
              </a:lnSpc>
            </a:pPr>
            <a:r>
              <a:rPr kumimoji="1" lang="en-US" altLang="ja-JP" dirty="0"/>
              <a:t>Tap</a:t>
            </a:r>
            <a:r>
              <a:rPr kumimoji="1" lang="ja-JP" altLang="en-US"/>
              <a:t>から</a:t>
            </a:r>
            <a:r>
              <a:rPr lang="ja-JP" altLang="en-US"/>
              <a:t>インストールする．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/tap/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Cellar</a:t>
            </a:r>
            <a:r>
              <a:rPr kumimoji="1" lang="ja-JP" altLang="en-US"/>
              <a:t>の中の</a:t>
            </a:r>
            <a:r>
              <a:rPr kumimoji="1" lang="en-US" altLang="ja-JP" dirty="0"/>
              <a:t>Keg</a:t>
            </a:r>
            <a:r>
              <a:rPr kumimoji="1" lang="ja-JP" altLang="en-US"/>
              <a:t>に保存される．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/opt/homebrew/Cellar</a:t>
            </a:r>
          </a:p>
          <a:p>
            <a:pPr lvl="2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/opt/homebrew/Cellar/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/0.1.0/</a:t>
            </a:r>
          </a:p>
          <a:p>
            <a:pPr>
              <a:lnSpc>
                <a:spcPct val="120000"/>
              </a:lnSpc>
            </a:pP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37AEE4-282E-C74D-C10E-3A6AFBDC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C90E65-A4CC-5599-F0BC-1FC3F970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8CD16B53-1BFD-9EBD-20CC-ACE0DD832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714" y="5127689"/>
            <a:ext cx="1080000" cy="108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DE20D787-5B8A-6F94-5511-790250CA9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3799" y="5126941"/>
            <a:ext cx="1080000" cy="10800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E088C705-6A41-2EB9-B367-F0C4A0F3C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638958" y="1825625"/>
            <a:ext cx="1080000" cy="1080000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6265E43A-E653-746D-FC3C-F9E6D7B9E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4092" y="3461294"/>
            <a:ext cx="1080000" cy="1080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22E254A-FBC4-B653-9445-E3237FA35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385" y="47273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tbucket Logo PNG Vector (SVG) Free Download">
            <a:extLst>
              <a:ext uri="{FF2B5EF4-FFF2-40B4-BE49-F238E27FC236}">
                <a16:creationId xmlns:a16="http://schemas.microsoft.com/office/drawing/2014/main" id="{DAD058F9-9151-6FE6-60C2-156C11A02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433" y="500079"/>
            <a:ext cx="540000" cy="48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1BC1833-AB1D-F60C-4EDF-697E4290A2E4}"/>
              </a:ext>
            </a:extLst>
          </p:cNvPr>
          <p:cNvSpPr txBox="1"/>
          <p:nvPr/>
        </p:nvSpPr>
        <p:spPr>
          <a:xfrm>
            <a:off x="7530312" y="1825625"/>
            <a:ext cx="11079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Tap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蛇口）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4716A44-9F71-BB0D-17C1-B06C8F56E61A}"/>
              </a:ext>
            </a:extLst>
          </p:cNvPr>
          <p:cNvSpPr txBox="1"/>
          <p:nvPr/>
        </p:nvSpPr>
        <p:spPr>
          <a:xfrm>
            <a:off x="10423767" y="3461294"/>
            <a:ext cx="14067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Formula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レシピ）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8264E55-513F-5D1B-AE53-0802713953D2}"/>
              </a:ext>
            </a:extLst>
          </p:cNvPr>
          <p:cNvSpPr txBox="1"/>
          <p:nvPr/>
        </p:nvSpPr>
        <p:spPr>
          <a:xfrm>
            <a:off x="8993474" y="5126941"/>
            <a:ext cx="22621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Keg</a:t>
            </a: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（インストール先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（熟成用樽）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F3A837AA-0636-5AF5-1F15-9C8D06C95BC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30"/>
          <a:stretch/>
        </p:blipFill>
        <p:spPr>
          <a:xfrm>
            <a:off x="8299200" y="3461294"/>
            <a:ext cx="539673" cy="108000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4793467-577A-5F9F-6F66-D09D4D1ED001}"/>
              </a:ext>
            </a:extLst>
          </p:cNvPr>
          <p:cNvSpPr txBox="1"/>
          <p:nvPr/>
        </p:nvSpPr>
        <p:spPr>
          <a:xfrm>
            <a:off x="5712846" y="3463325"/>
            <a:ext cx="24929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Bottle</a:t>
            </a:r>
          </a:p>
          <a:p>
            <a:pPr algn="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（ビルド済バイナリ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</p:txBody>
      </p:sp>
      <p:sp>
        <p:nvSpPr>
          <p:cNvPr id="22" name="右矢印 21">
            <a:extLst>
              <a:ext uri="{FF2B5EF4-FFF2-40B4-BE49-F238E27FC236}">
                <a16:creationId xmlns:a16="http://schemas.microsoft.com/office/drawing/2014/main" id="{9A2C448B-CE43-711F-1498-1E941515C1B9}"/>
              </a:ext>
            </a:extLst>
          </p:cNvPr>
          <p:cNvSpPr/>
          <p:nvPr/>
        </p:nvSpPr>
        <p:spPr>
          <a:xfrm rot="2700000">
            <a:off x="935152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5DCAB9A4-64D6-B2EA-6C82-08BD9735EAF7}"/>
              </a:ext>
            </a:extLst>
          </p:cNvPr>
          <p:cNvSpPr/>
          <p:nvPr/>
        </p:nvSpPr>
        <p:spPr>
          <a:xfrm rot="18900000" flipH="1">
            <a:off x="855891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68F6C1A2-3EAF-0A47-E2FB-29C0C39ADDEE}"/>
              </a:ext>
            </a:extLst>
          </p:cNvPr>
          <p:cNvSpPr/>
          <p:nvPr/>
        </p:nvSpPr>
        <p:spPr>
          <a:xfrm rot="18900000" flipH="1">
            <a:off x="935863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右矢印 24">
            <a:extLst>
              <a:ext uri="{FF2B5EF4-FFF2-40B4-BE49-F238E27FC236}">
                <a16:creationId xmlns:a16="http://schemas.microsoft.com/office/drawing/2014/main" id="{BE3704E3-CDF0-28D5-07DA-72C23AE75112}"/>
              </a:ext>
            </a:extLst>
          </p:cNvPr>
          <p:cNvSpPr/>
          <p:nvPr/>
        </p:nvSpPr>
        <p:spPr>
          <a:xfrm rot="2700000">
            <a:off x="856602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EF3B92A-4140-5B96-180A-63A9D11D99D6}"/>
              </a:ext>
            </a:extLst>
          </p:cNvPr>
          <p:cNvSpPr txBox="1"/>
          <p:nvPr/>
        </p:nvSpPr>
        <p:spPr>
          <a:xfrm>
            <a:off x="6580300" y="6176963"/>
            <a:ext cx="1338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Cellar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（貯蔵庫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26" name="Picture 2" descr="MAC OS logo - Free computer icons">
            <a:extLst>
              <a:ext uri="{FF2B5EF4-FFF2-40B4-BE49-F238E27FC236}">
                <a16:creationId xmlns:a16="http://schemas.microsoft.com/office/drawing/2014/main" id="{75207839-AB0D-11B3-48A2-82DDBC80C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218" y="513459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343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4A46D-FE86-3745-3539-F89A230B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Formula</a:t>
            </a:r>
            <a:r>
              <a:rPr kumimoji="1" lang="ja-JP" altLang="en-US"/>
              <a:t>の例</a:t>
            </a:r>
            <a:br>
              <a:rPr kumimoji="1" lang="en-US" altLang="ja-JP" dirty="0"/>
            </a:b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/homebrew-tap/blob/main/Formula/</a:t>
            </a:r>
            <a:r>
              <a:rPr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endParaRPr kumimoji="1" lang="ja-JP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C3B27B-ED63-E77A-0956-3A7A5464C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重要なのは，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ja-JP" altLang="en-US"/>
              <a:t>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</a:t>
            </a:r>
            <a:r>
              <a:rPr kumimoji="1" lang="ja-JP" altLang="en-US"/>
              <a:t>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kumimoji="1" lang="ja-JP" altLang="en-US"/>
              <a:t>関数．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</a:t>
            </a:r>
            <a:r>
              <a:rPr kumimoji="1" lang="ja-JP" altLang="en-US"/>
              <a:t>は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ja-JP" altLang="en-US"/>
              <a:t>で得られたバイナリの</a:t>
            </a:r>
            <a:r>
              <a:rPr kumimoji="1" lang="en-US" altLang="ja-JP" dirty="0"/>
              <a:t>SHA256</a:t>
            </a:r>
            <a:r>
              <a:rPr kumimoji="1" lang="ja-JP" altLang="en-US"/>
              <a:t>ハッシュ値．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sha256sum &lt;file&gt;</a:t>
            </a:r>
          </a:p>
          <a:p>
            <a:pPr>
              <a:lnSpc>
                <a:spcPct val="120000"/>
              </a:lnSpc>
            </a:pPr>
            <a:r>
              <a:rPr lang="ja-JP" altLang="en-US"/>
              <a:t>その他は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info</a:t>
            </a:r>
            <a:r>
              <a:rPr lang="ja-JP" altLang="en-US"/>
              <a:t>で表示するための情報．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F6F8B5-4959-FB9C-85B0-1AD168AE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D50285-4A90-F302-8CDB-57F65263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943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EDC2F-770C-5EDF-17D3-ED8AF296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Formula/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lis.rs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BB115-9CBD-DEF6-1A2A-7976E5FED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3983187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-US" altLang="ja-JP" dirty="0" err="1"/>
              <a:t>url</a:t>
            </a:r>
            <a:r>
              <a:rPr lang="ja-JP" altLang="en-US"/>
              <a:t>をダウンロードし、</a:t>
            </a:r>
            <a:r>
              <a:rPr lang="en-US" altLang="ja-JP" dirty="0"/>
              <a:t>sha256</a:t>
            </a:r>
            <a:r>
              <a:rPr lang="ja-JP" altLang="en-US"/>
              <a:t>が正しいかを検証する。</a:t>
            </a:r>
            <a:endParaRPr lang="en-US" altLang="ja-JP" dirty="0"/>
          </a:p>
          <a:p>
            <a:pPr>
              <a:lnSpc>
                <a:spcPct val="110000"/>
              </a:lnSpc>
            </a:pPr>
            <a:r>
              <a:rPr lang="ja-JP" altLang="en-US"/>
              <a:t>正しければ、展開し、</a:t>
            </a:r>
            <a:r>
              <a:rPr lang="en-US" altLang="ja-JP" dirty="0"/>
              <a:t>install</a:t>
            </a:r>
            <a:r>
              <a:rPr lang="ja-JP" altLang="en-US"/>
              <a:t>が呼び出される。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XXX.install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ja-JP" altLang="en-US"/>
              <a:t>がファイルを特定の場所に配置する関数を呼び出している。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95125A-B160-BD99-9513-81311F2E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D4856E-4753-DA2F-0F05-ED416F38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22B315E-2CD2-659F-5CDB-6B915F68AE24}"/>
              </a:ext>
            </a:extLst>
          </p:cNvPr>
          <p:cNvSpPr txBox="1"/>
          <p:nvPr/>
        </p:nvSpPr>
        <p:spPr>
          <a:xfrm>
            <a:off x="3983187" y="1459165"/>
            <a:ext cx="9511143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VERSION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"0.0.11"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b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ja-JP" altLang="ja-JP" sz="1400" b="0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Formula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desc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"Minimal and alternative ls implementation in Rust."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option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"without-completions"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"Disable bash completions"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depends_on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"bash-completion@2"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ja-JP" altLang="ja-JP" sz="1400" b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:optional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homepage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"https://github.com/tamada/lis"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version </a:t>
            </a:r>
            <a:r>
              <a:rPr lang="ja-JP" altLang="ja-JP" sz="1400" b="0">
                <a:solidFill>
                  <a:srgbClr val="79C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VERSION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license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"CC-0"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en-US" altLang="ja-JP" sz="1400" b="0" dirty="0">
              <a:solidFill>
                <a:srgbClr val="C586C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dirty="0">
                <a:solidFill>
                  <a:srgbClr val="C586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"https://github.com/tamada/lis/releases/download/v0.0.11/lis-0.0.11_amd64_darwin.tar.gz"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sha256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"ce72660e3ed81cca82a3a83751c120297a65f67113087bbf36c28ef1f62b4ce7"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b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bin.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"lis"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bash_completion.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"completions/bash/lis"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build.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with?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"completions"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zsh_completion.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"completions/zsh/_lis"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build.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with?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"completions"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fish_completion.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"completions/fish/lis"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build.</a:t>
            </a:r>
            <a:r>
              <a:rPr lang="ja-JP" altLang="ja-JP" sz="1400" b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with?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"completions"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system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#{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bin</a:t>
            </a:r>
            <a:r>
              <a:rPr lang="ja-JP" altLang="ja-JP" sz="1400" b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/lis --version"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ja-JP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ja-JP" altLang="ja-JP" sz="1400" b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01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CBBD63-F6A8-79E1-0902-C7362326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Formula</a:t>
            </a:r>
            <a:r>
              <a:rPr kumimoji="1" lang="ja-JP" altLang="en-US"/>
              <a:t>の</a:t>
            </a:r>
            <a:r>
              <a:rPr lang="ja-JP" altLang="en-US"/>
              <a:t>公開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49C97-5F8D-0CAB-4DDF-69042E75B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/Formula/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r>
              <a:rPr lang="ja-JP" altLang="en-US"/>
              <a:t>が完成すれば</a:t>
            </a:r>
            <a:r>
              <a:rPr lang="en-US" altLang="ja-JP" dirty="0"/>
              <a:t>commit, push</a:t>
            </a:r>
            <a:r>
              <a:rPr lang="ja-JP" altLang="en-US"/>
              <a:t>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Push</a:t>
            </a:r>
            <a:r>
              <a:rPr kumimoji="1" lang="ja-JP" altLang="en-US"/>
              <a:t>できれば公開が完了する。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公開できればインストールできることを確認しよう。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tap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kumimoji="1"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endParaRPr kumimoji="1" lang="en-US" altLang="ja-JP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20000"/>
              </a:lnSpc>
            </a:pPr>
            <a:r>
              <a:rPr lang="en-US" altLang="ja-JP" dirty="0"/>
              <a:t>Tap</a:t>
            </a:r>
            <a:r>
              <a:rPr lang="ja-JP" altLang="en-US"/>
              <a:t>してからインストールする。ツール名のみでインストールできる。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t</a:t>
            </a:r>
            <a:r>
              <a:rPr kumimoji="1" lang="en-US" altLang="ja-JP" dirty="0"/>
              <a:t>ap</a:t>
            </a:r>
            <a:r>
              <a:rPr kumimoji="1" lang="ja-JP" altLang="en-US"/>
              <a:t>の実行は初回のみ。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endParaRPr lang="en-US" altLang="ja-JP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20000"/>
              </a:lnSpc>
            </a:pPr>
            <a:r>
              <a:rPr lang="ja-JP" altLang="en-US"/>
              <a:t>上記の</a:t>
            </a:r>
            <a:r>
              <a:rPr lang="en-US" altLang="ja-JP" dirty="0"/>
              <a:t>2</a:t>
            </a:r>
            <a:r>
              <a:rPr lang="ja-JP" altLang="en-US"/>
              <a:t>行を一度に実行する。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6D4E53-0B52-D61A-6155-8BEF709D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EB1FD4-D30E-422A-B2B0-16F75BA5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979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86646-2E97-E115-07E4-43383D71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kumimoji="1" lang="ja-JP" altLang="en-US"/>
              <a:t>関数</a:t>
            </a:r>
            <a:r>
              <a:rPr kumimoji="1" lang="en-US" altLang="ja-JP" dirty="0"/>
              <a:t> (Formula)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238EDF-4640-2946-B530-F1E065FC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ja-JP" altLang="en-US"/>
              <a:t>でダウンロードして展開したディレクトリからの相対パスで指定する．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lang="ja-JP" altLang="en-US"/>
              <a:t>全て，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$(brew --prefix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ja-JP" dirty="0"/>
              <a:t> </a:t>
            </a:r>
            <a:r>
              <a:rPr lang="ja-JP" altLang="en-US"/>
              <a:t>以下のディレクトリに置く．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bin.install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prefix.install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bash_completion.install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zsh_completion.install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BF73F0-4A42-1F35-DF4C-A7F4F101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517DD6-05D5-5721-5705-645B138A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117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8CFA1-A2D2-2570-E97E-3BA6BC8C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65125"/>
            <a:ext cx="10183090" cy="1325563"/>
          </a:xfrm>
        </p:spPr>
        <p:txBody>
          <a:bodyPr/>
          <a:lstStyle/>
          <a:p>
            <a:pPr marL="12700"/>
            <a:r>
              <a:rPr kumimoji="1" lang="en-US" altLang="ja-JP" sz="6000" dirty="0"/>
              <a:t>OS</a:t>
            </a:r>
            <a:r>
              <a:rPr kumimoji="1" lang="ja-JP" altLang="en-US" sz="6000"/>
              <a:t>や</a:t>
            </a:r>
            <a:r>
              <a:rPr kumimoji="1" lang="en-US" altLang="ja-JP" sz="6000" dirty="0"/>
              <a:t>CPU</a:t>
            </a:r>
            <a:r>
              <a:rPr kumimoji="1" lang="ja-JP" altLang="en-US" sz="6000"/>
              <a:t>でインストール</a:t>
            </a:r>
            <a:br>
              <a:rPr kumimoji="1" lang="en-US" altLang="ja-JP" sz="6000" dirty="0"/>
            </a:br>
            <a:r>
              <a:rPr kumimoji="1" lang="ja-JP" altLang="en-US" sz="6000"/>
              <a:t>対象を切り替える．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853283-E515-0C3A-BE8A-499ECE50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以下のように，</a:t>
            </a:r>
            <a:r>
              <a:rPr lang="en-US" altLang="ja-JP" dirty="0"/>
              <a:t>OS</a:t>
            </a:r>
            <a:r>
              <a:rPr lang="ja-JP" altLang="en-US"/>
              <a:t>，</a:t>
            </a:r>
            <a:r>
              <a:rPr lang="en-US" altLang="ja-JP" dirty="0"/>
              <a:t>CPU</a:t>
            </a:r>
            <a:r>
              <a:rPr lang="ja-JP" altLang="en-US"/>
              <a:t>で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ja-JP" altLang="en-US"/>
              <a:t>と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</a:t>
            </a:r>
            <a:r>
              <a:rPr lang="ja-JP" altLang="en-US"/>
              <a:t>を切り替える．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81B0CF-C22D-8ACB-F6CB-26B2E094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64640-E14E-953E-F657-E63E8FC8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DF0886FA-DB4C-FC33-EAD4-6C9B596E1855}"/>
              </a:ext>
            </a:extLst>
          </p:cNvPr>
          <p:cNvSpPr>
            <a:spLocks noChangeAspect="1"/>
          </p:cNvSpPr>
          <p:nvPr/>
        </p:nvSpPr>
        <p:spPr>
          <a:xfrm rot="5400000">
            <a:off x="0" y="0"/>
            <a:ext cx="1800000" cy="1800000"/>
          </a:xfrm>
          <a:prstGeom prst="triangle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DFBDC7-F0B6-6C3E-D375-E033453F73F4}"/>
              </a:ext>
            </a:extLst>
          </p:cNvPr>
          <p:cNvSpPr txBox="1"/>
          <p:nvPr/>
        </p:nvSpPr>
        <p:spPr>
          <a:xfrm rot="18900000">
            <a:off x="80196" y="214804"/>
            <a:ext cx="1309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Tips</a:t>
            </a:r>
            <a:endParaRPr kumimoji="1" lang="ja-JP" altLang="en-US" sz="440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F24F7F-300D-9394-1B5A-C44AA313BCF9}"/>
              </a:ext>
            </a:extLst>
          </p:cNvPr>
          <p:cNvSpPr txBox="1"/>
          <p:nvPr/>
        </p:nvSpPr>
        <p:spPr>
          <a:xfrm>
            <a:off x="931719" y="3811012"/>
            <a:ext cx="10328563" cy="304698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.mac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.intel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_darwin_amd64.tar.gz"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"72865931aea7ea1231e8dc100468d54393a4f1c485ab636b9f8a479dc8aa9928"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b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.mac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.arm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dirty="0">
                <a:solidFill>
                  <a:srgbClr val="CE9178"/>
                </a:solidFill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_darwin_arm64.tar.gz"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"af98f0d6699203531139815de9223a71d543d14446b1e60f5b77a005eeca7454"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b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.linux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.intel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_linux_amd64.tar.gz"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"42f0d6e75dc6215f95d4309895a6eea91f93d4400ab9d06497227dbcf186aa6d"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b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.linux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.arm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_linux_arm64.tar.gz"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"b35bed4f8570966d9cefeb673b37ccfd3685a3fe922821143243b9b73671a02c"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452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F0A5A-E9EA-DCFB-17D5-42751B1D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1027B-A048-B0A0-C503-A9CE849C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BC2BB3-EA63-4BFB-CF36-3A5B38B3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2A68DC-FDBF-C8C5-BBF8-A45D4334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21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894351C-D2AC-45F6-0254-F7CDEB7D3BD5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F5C49F7-E44B-4F4B-088F-39C3EDB0197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0D04FD9D-3BBB-876B-965F-E1DE8DF23EF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80F1773-0B29-2879-BEFE-03813B9581E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ED66EAEF-CA00-5607-C2BD-20CFFF3D7AF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3D579B3-06AF-9559-03DF-8968C8248192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8E1A680-0F7F-6BAC-7B4D-64AE1B94730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03E918BB-C8C1-C3A2-194F-ED223BF94D3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905B6367-D909-E161-0EDB-C1CE7EF8DDE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81A07134-2153-CAB7-CCE2-C7ADED183BA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C70B467-5A19-7F15-F639-D58A99BBF289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FC1E64F-F026-412C-E767-87799EFF503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63C2F46D-BEB5-D50B-B0F8-A42138F57C1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AFCE5FF8-1813-CF83-5707-E1962454307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96009999-9B17-FBDC-96F0-3613EC87C44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8036A87-3AC8-8143-32F1-B9ADB4761F6B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5F132BF-BFB4-B1B6-391A-E71F6E29FF1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35729C3A-20CE-12B2-7E19-440FFEC79E9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890437D-D8A8-1D39-31CF-CA2F2563DF2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D989629F-5902-8E7C-06EA-B1C3097DD9B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524E77E-781E-C325-0E7C-54A1250A0AA0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83AAF0B-8E58-2508-44BD-8B8C9700CA0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FED40375-42AF-97E5-56FA-3F4E4A9EB28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1054A00-F27F-C402-8A9B-5B03641583C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459D0CC5-697A-B48E-A715-5AE930A28BE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18E0A3D-12C8-24AD-A126-8FFE87652E41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753B1F7-5749-F3D1-D1DB-EFC4DC83B46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089C6A29-0451-7524-8C1F-2DFF0493BB0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745EDE63-6909-BC1C-9151-7C377835E5E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9DA98CB3-8F48-6473-26C5-D6C11702ECD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E68F23D-6B8E-A494-9B8D-F446541A05B8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99B9FAC-9583-77F2-34A9-E7755BF74A9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43CAE369-651B-02C6-182B-8A6620C4EF3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E64F51BD-0D8E-11F7-719E-C549F60277D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2F8C9E49-393D-B30A-4E29-C0C1CA4BF63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937DCBFA-CDB6-F499-AED0-F59C07DA2E5A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E0813B8F-6A4D-189C-E2D4-198F52A1E88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E4092732-DFA6-057A-214F-601D74A5837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137909A-3132-86C1-8632-337630D83EE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AA0C3D3E-673E-88FB-3B70-69B5EA8664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20B23EDB-C11E-D7C3-2275-5362DDAD8510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24B97679-D813-1FD0-9844-82A8F7E9787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D818217A-5BB6-DC2E-F9A0-4AA288980A0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EA9D23B9-0B6B-08D4-F68D-B3B19E54D7D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7149D892-F7E1-ADD0-C517-17FD5FD9C2C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F9EF3637-0F63-45F0-3E15-16F85B9CE3E3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EB94587D-1D46-D45F-4CAC-AB830AF8213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4427C1A9-468D-1E70-6646-F034B4A6703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07D1A6D7-DA11-8BE6-AAA4-10B94F401DD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D89376E2-2793-70EA-8DA0-F7C1C2F26AC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C963038B-43AE-D7A9-1445-B3A965ABC33C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CEA2FA8A-AB1D-A328-26CF-D7E4451FEFA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1996FD70-D7F1-5E91-1CB4-E7CC7B4556A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F32BE37E-8BCB-B204-9878-F2A6FA4C443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37E24AB9-FF1B-F383-0C91-9BC91C19463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E3228A4-3AB5-03F6-82F8-C00F4EBB6E98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69F35EAB-2C4E-AE29-BC7E-ABC72877E62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42647444-DB22-2ECC-1352-4BBEAEA1F3F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FC3ED56-58D0-2B20-5D60-E611F55FA74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37401849-373B-F425-523F-4472A101D6D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851DAA11-A902-BA24-2CD4-3486F9F3EA6C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6B3F56A0-BD36-8804-A47D-800025D2527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3D3D3873-30C0-2E04-3C2E-6345AF55A87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DE340508-8648-48AE-C5CB-9E009982731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D63B3F0C-FCF5-CCC7-9F91-B0CCA728599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45EDCF7-2560-B07B-6667-B3F1EBC888FB}"/>
              </a:ext>
            </a:extLst>
          </p:cNvPr>
          <p:cNvSpPr/>
          <p:nvPr/>
        </p:nvSpPr>
        <p:spPr>
          <a:xfrm>
            <a:off x="707282" y="129192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FFF9AC51-2B77-6995-B493-6FC95BD3AA21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0A7A982B-4047-A030-7F31-46201C1E7D5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E444CFED-01B2-2953-B756-2BCB79E6301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14660DE9-4912-7421-0FD3-23A83AC538E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5AC1ACC3-08BC-F230-4A3C-C268E05926F5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397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EBEB7-4D0B-7AF6-02CB-D2D44C4D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2026-07-17 </a:t>
            </a:r>
            <a:r>
              <a:rPr kumimoji="1" lang="ja-JP" altLang="en-US"/>
              <a:t>発表会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CB55D9-89E6-8243-CC81-B231D797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ja-JP" dirty="0"/>
              <a:t>5</a:t>
            </a:r>
            <a:r>
              <a:rPr lang="ja-JP" altLang="en-US"/>
              <a:t>分程度</a:t>
            </a:r>
            <a:r>
              <a:rPr lang="en-US" altLang="ja-JP" dirty="0"/>
              <a:t>/</a:t>
            </a:r>
            <a:r>
              <a:rPr lang="ja-JP" altLang="en-US"/>
              <a:t>人で作成したものについてプレゼンしてもらう．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作成したドキュメント（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README</a:t>
            </a:r>
            <a:r>
              <a:rPr kumimoji="1" lang="ja-JP" altLang="en-US"/>
              <a:t>，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kumimoji="1" lang="ja-JP" altLang="en-US"/>
              <a:t>）やソースコードも発表に利用して良い．</a:t>
            </a:r>
            <a:endParaRPr kumimoji="1"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/>
              <a:t>発表資料は</a:t>
            </a:r>
            <a:r>
              <a:rPr lang="en-US" altLang="ja-JP" dirty="0"/>
              <a:t>Moodle</a:t>
            </a:r>
            <a:r>
              <a:rPr lang="ja-JP" altLang="en-US"/>
              <a:t>に提出する．</a:t>
            </a:r>
            <a:endParaRPr lang="en-US" altLang="ja-JP" dirty="0"/>
          </a:p>
          <a:p>
            <a:pPr lvl="2">
              <a:lnSpc>
                <a:spcPct val="100000"/>
              </a:lnSpc>
            </a:pPr>
            <a:r>
              <a:rPr kumimoji="1" lang="en-US" altLang="ja-JP" dirty="0"/>
              <a:t>2026-07-17 (Fri) </a:t>
            </a:r>
            <a:r>
              <a:rPr lang="en-US" altLang="ja-JP" dirty="0"/>
              <a:t>10</a:t>
            </a:r>
            <a:r>
              <a:rPr kumimoji="1" lang="en-US" altLang="ja-JP" dirty="0"/>
              <a:t>:30</a:t>
            </a:r>
            <a:r>
              <a:rPr kumimoji="1" lang="ja-JP" altLang="en-US"/>
              <a:t>〆切．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236CBF-2A48-58AA-04CE-3154E99A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75BD10-51B4-4BB5-06CF-5D23C903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5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40A56-610E-B806-09D9-1F3B977C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発表資料で書くべきこと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5B3839-418A-0CB1-CB79-91B7CCBC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作成しようとしたソフトウェアの概要．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名前，その由来，</a:t>
            </a:r>
            <a:r>
              <a:rPr kumimoji="1" lang="en-US" altLang="ja-JP" dirty="0"/>
              <a:t>tagline</a:t>
            </a:r>
            <a:r>
              <a:rPr kumimoji="1" lang="ja-JP" altLang="en-US"/>
              <a:t>，リポジトリの</a:t>
            </a:r>
            <a:r>
              <a:rPr kumimoji="1" lang="en-US" altLang="ja-JP" dirty="0"/>
              <a:t>URL</a:t>
            </a:r>
            <a:r>
              <a:rPr kumimoji="1" lang="ja-JP" altLang="en-US"/>
              <a:t>など．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当初の予定の機能．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完成したものの機能との差．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その原因はどこにあるかまで分析できていると良い．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この講義で学んだことの中で特に印象に残ったものとその内容．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ソフトウェア開発の一連の流れに携わってみた感想．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F052CB-A6B5-D2F0-219D-DC2942FE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778296-77FE-005D-95F4-D0B2DAA9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448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D1E6A-D4DC-C79B-974B-B4DB676D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この講義で行ったこと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E26A4172-F59A-FEE5-773D-4CF85C52B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53418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CI/CD</a:t>
            </a:r>
            <a:r>
              <a:rPr kumimoji="1" lang="ja-JP" altLang="en-US"/>
              <a:t>スクリプトを充実させる．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ビルドする．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バージョンを上げる．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プルリクエストを作成する．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リリースを作成する．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ドキュメントを作成する．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配布用ファイルを準備し，アップロードする．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DOI</a:t>
            </a:r>
            <a:r>
              <a:rPr lang="ja-JP" altLang="en-US"/>
              <a:t>を発行する．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kumimoji="1" lang="ja-JP" altLang="en-US"/>
          </a:p>
          <a:p>
            <a:pPr>
              <a:lnSpc>
                <a:spcPct val="120000"/>
              </a:lnSpc>
            </a:pPr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2B1623-B71E-68AC-AA88-9A605144B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618" y="1825625"/>
            <a:ext cx="5062182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実装する．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コマンドラインオプションを解析する．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テストを充実させる．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ドキュメントを書く．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Docker</a:t>
            </a:r>
            <a:r>
              <a:rPr lang="ja-JP" altLang="en-US"/>
              <a:t>イメージを構築する．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補完スクリプトを生成する．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Homebrew</a:t>
            </a:r>
            <a:r>
              <a:rPr lang="ja-JP" altLang="en-US"/>
              <a:t>で配布する．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3D18B-A867-7D3B-A26E-3B46F4A0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AADD52-16DE-6222-D471-EAD63B58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775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EFD9-3A67-9ECA-35AF-FD872A1C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AEB6D-7B6B-32F9-00BA-6F7802EF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D547F5-697A-2DB1-72DD-5BDC9FD1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2026-07-03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FE2CF02-F7CA-8716-0016-B004D0B3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25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96632B22-070D-4E51-6B9A-2A3DF784053B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C91665B-F17B-58CB-5F93-318854E3A1F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3266B536-6CAE-95F6-0A95-955FC1F60A3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F6BFE9E-06AC-9881-5751-D87C17518F8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CA701E81-6E47-BBA4-0C37-A3FE4A7F4D3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4DFD81FB-8A58-D2E6-4C72-4C3AEA04B6BE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490B9549-8054-91D3-AA61-AF3BD8F8E2B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6209A667-963E-3207-49C2-366A4291F39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635395CC-58AA-81DD-0A1A-23093B57478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2F9D1652-53B1-D869-874B-40B74AC072F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99C0EF16-A605-45E4-244A-43C2BFB8194D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3C5DB2AC-B773-790A-3B35-FC0482B4AB0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F13404BD-95AD-3236-4608-826DFDE332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9434E333-DDF6-390E-03DA-F66D7C99AFD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911D9A6C-8A6E-5C8E-935B-2F1421D1487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0C8E423-3D7E-5175-EC8D-0D6D962997C9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A9BEBA5-D53A-2E7E-111B-E97944E8EE3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10D6052C-917F-16B1-55E0-1A058421AC61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947AA69-006E-F874-CD8F-A6895B67C68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2A87C0EE-DFCB-5A0D-4C91-BE38F696875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5EB35AE-781D-6103-46AD-05197CDDECB7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CB9EC5A-39A0-2104-1A7F-2F27299A39A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2DBA5D85-984D-DF70-64C0-F846D503168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1C1FA07-C1D2-20AB-8CCE-ADC419800D9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2C7EC992-F6A5-4A90-13A6-4031A6EFE9F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325BCC2-56D8-61A1-1A1F-D5533B2477DA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A8475F8-DD75-1D19-5196-25CDAB50B9A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4E429E7F-EEF1-88F5-3961-FF23DDD1A07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422E75D-349E-C398-9F83-6CEFC1D1AB1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7138C23B-A64D-9686-DDDB-4AAC10CBAC6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897F5A6B-6C7E-67D7-1B26-3A86128F27D8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889713FA-7BB2-866B-5B01-C05A8BB6314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181794D7-6DF5-AA6C-B048-836270DE376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991CEDE1-DDAC-BF1F-8C03-2A5CEB9F369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65449089-C998-CD9E-C1D4-209361ED48E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9DD44361-3DA9-6C73-83F2-C46959BCB3F7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7D59CE5F-D453-1428-86BC-1588BC08B1E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D5A3C9D9-BCF7-BC81-F1C9-3A731DD1C64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028A44EF-3E1F-DD3B-D6AF-5184EDAC682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36CC268F-E7F6-EB75-F261-A80F9F87E4C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46AC870A-8D05-2813-D3C6-63FC58CEE741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964EA59B-B112-510C-E97B-85C5FF65D52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DC50EBEC-97C2-94C0-58FC-FC8CCFDA65B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E99B3C0C-8E8B-B347-109D-A999ACAF37E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732DA1D3-EF16-1BF8-69E1-48509390305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90020EC2-98C1-71ED-E6A9-BA9B0AB805E6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A030AEBD-D034-EC24-C780-F54A2F6BBDE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0321CDF-8237-A6CE-B4A5-E4E77F1177E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09D4335F-B441-B149-35D6-8FBCD42762A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5402E388-F0D7-82FC-34A6-65B0D04640C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32915B21-C045-F773-0112-BE102781705A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F3B6EB66-1584-F119-AB73-E25B8AEA62A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8E916238-47A6-B90E-7680-991E8C072F7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675830AA-F7A9-9604-DFA1-8EDB28F645D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BA15800D-CDAF-907C-9BC3-B11569E52B1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9121C811-D110-BE49-85CA-C748F9ED9E75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CA2FF43E-91EC-BBB8-A212-1EB71978B61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05035E6D-A59A-ACED-CAF5-FCA20733FBE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764DBCCF-BBE4-FA09-6671-D37C269D52A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14D08E61-8D49-BCBD-7DE1-E0629A18401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F5D1E7B4-D2BA-840B-1234-E9A099D3B762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4E8A61F4-90DB-2332-8DA1-EA90EBFB2BF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7E3A83DA-0C4D-1663-950A-53E60F55905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DFBA7579-4D6F-48BA-982A-EC4EBBE67AC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C260A7F2-875B-B55B-2EC0-BA7444F81A0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5375C3F7-60AA-98A1-6292-EC682A880033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F23A7AC8-68A7-4ACD-3517-FF6FE916C27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C4B6DF50-143E-9A0C-F857-FE7C9C777D4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29C8B729-68D5-6D35-FFEC-EEA639CF553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9624CC72-1F0E-0A98-9399-B9FBE710204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64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28439</TotalTime>
  <Words>2687</Words>
  <Application>Microsoft Macintosh PowerPoint</Application>
  <PresentationFormat>ワイド画面</PresentationFormat>
  <Paragraphs>438</Paragraphs>
  <Slides>25</Slides>
  <Notes>9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1" baseType="lpstr">
      <vt:lpstr>Meiryo</vt:lpstr>
      <vt:lpstr>游ゴシック</vt:lpstr>
      <vt:lpstr>Arial</vt:lpstr>
      <vt:lpstr>Consolas</vt:lpstr>
      <vt:lpstr>Menlo</vt:lpstr>
      <vt:lpstr>Office テーマ</vt:lpstr>
      <vt:lpstr>エンピリカル ソフトウェア工学 第13回 補完/Homebrew</vt:lpstr>
      <vt:lpstr>講義スケジュール</vt:lpstr>
      <vt:lpstr>本日の内容</vt:lpstr>
      <vt:lpstr>補完（completion）とは</vt:lpstr>
      <vt:lpstr>どうやって補完している？</vt:lpstr>
      <vt:lpstr>Bashの場合 シェル関数の中身</vt:lpstr>
      <vt:lpstr>Zshの場合 シェル関数の中身</vt:lpstr>
      <vt:lpstr>補完関数を作成する</vt:lpstr>
      <vt:lpstr>補完関数を作成する</vt:lpstr>
      <vt:lpstr>補完ファイルを出力する（1/2; 準備）</vt:lpstr>
      <vt:lpstr>補完ファイルを出力する（2/2; 出力）</vt:lpstr>
      <vt:lpstr>本日の内容</vt:lpstr>
      <vt:lpstr>Homebrew</vt:lpstr>
      <vt:lpstr>Homebrewの用語</vt:lpstr>
      <vt:lpstr>個人のHomebrew リポジトリ</vt:lpstr>
      <vt:lpstr>Formulaの例 https://github.com/tamada/homebrew-tap/blob/main/Formula/lis.rb</vt:lpstr>
      <vt:lpstr>Formula/lis.rs</vt:lpstr>
      <vt:lpstr>Formulaの公開</vt:lpstr>
      <vt:lpstr>install関数 (Formula)</vt:lpstr>
      <vt:lpstr>OSやCPUでインストール 対象を切り替える．</vt:lpstr>
      <vt:lpstr>講義スケジュール</vt:lpstr>
      <vt:lpstr>2026-07-17 発表会</vt:lpstr>
      <vt:lpstr>発表資料で書くべきこと</vt:lpstr>
      <vt:lpstr>この講義で行ったこと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926</cp:revision>
  <dcterms:created xsi:type="dcterms:W3CDTF">2022-04-24T10:54:34Z</dcterms:created>
  <dcterms:modified xsi:type="dcterms:W3CDTF">2026-06-22T06:33:12Z</dcterms:modified>
</cp:coreProperties>
</file>